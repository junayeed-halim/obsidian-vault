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5"/>
  </p:notesMasterIdLst>
  <p:handoutMasterIdLst>
    <p:handoutMasterId r:id="rId26"/>
  </p:handoutMasterIdLst>
  <p:sldIdLst>
    <p:sldId id="399" r:id="rId2"/>
    <p:sldId id="384" r:id="rId3"/>
    <p:sldId id="383" r:id="rId4"/>
    <p:sldId id="520" r:id="rId5"/>
    <p:sldId id="519" r:id="rId6"/>
    <p:sldId id="491" r:id="rId7"/>
    <p:sldId id="497" r:id="rId8"/>
    <p:sldId id="521" r:id="rId9"/>
    <p:sldId id="517" r:id="rId10"/>
    <p:sldId id="506" r:id="rId11"/>
    <p:sldId id="492" r:id="rId12"/>
    <p:sldId id="493" r:id="rId13"/>
    <p:sldId id="499" r:id="rId14"/>
    <p:sldId id="498" r:id="rId15"/>
    <p:sldId id="500" r:id="rId16"/>
    <p:sldId id="503" r:id="rId17"/>
    <p:sldId id="515" r:id="rId18"/>
    <p:sldId id="502" r:id="rId19"/>
    <p:sldId id="507" r:id="rId20"/>
    <p:sldId id="516" r:id="rId21"/>
    <p:sldId id="518" r:id="rId22"/>
    <p:sldId id="512" r:id="rId23"/>
    <p:sldId id="514" r:id="rId24"/>
  </p:sldIdLst>
  <p:sldSz cx="12192000" cy="6858000"/>
  <p:notesSz cx="6858000" cy="9144000"/>
  <p:custDataLst>
    <p:tags r:id="rId27"/>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3817" userDrawn="1">
          <p15:clr>
            <a:srgbClr val="A4A3A4"/>
          </p15:clr>
        </p15:guide>
        <p15:guide id="2" orient="horz" pos="2183"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9260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8281F93-3FC8-4FF4-B3C2-E552951ED966}" v="3" dt="2023-10-06T03:54:19.344"/>
  </p1510:revLst>
</p1510:revInfo>
</file>

<file path=ppt/tableStyles.xml><?xml version="1.0" encoding="utf-8"?>
<a:tblStyleLst xmlns:a="http://schemas.openxmlformats.org/drawingml/2006/main" def="{B301B821-A1FF-4177-AEE7-76D212191A09}">
  <a:tblStyle styleId="{B301B821-A1FF-4177-AEE7-76D212191A09}" styleName="中度样式 1 - 强调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D7AC3CCA-C797-4891-BE02-D94E43425B78}" styleName="中度样式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0000" autoAdjust="0"/>
    <p:restoredTop sz="69615" autoAdjust="0"/>
  </p:normalViewPr>
  <p:slideViewPr>
    <p:cSldViewPr snapToGrid="0">
      <p:cViewPr varScale="1">
        <p:scale>
          <a:sx n="72" d="100"/>
          <a:sy n="72" d="100"/>
        </p:scale>
        <p:origin x="902" y="58"/>
      </p:cViewPr>
      <p:guideLst>
        <p:guide pos="3817"/>
        <p:guide orient="horz" pos="2183"/>
      </p:guideLst>
    </p:cSldViewPr>
  </p:slideViewPr>
  <p:notesTextViewPr>
    <p:cViewPr>
      <p:scale>
        <a:sx n="1" d="1"/>
        <a:sy n="1" d="1"/>
      </p:scale>
      <p:origin x="0" y="0"/>
    </p:cViewPr>
  </p:notesTextViewPr>
  <p:notesViewPr>
    <p:cSldViewPr snapToGrid="0">
      <p:cViewPr varScale="1">
        <p:scale>
          <a:sx n="63" d="100"/>
          <a:sy n="63" d="100"/>
        </p:scale>
        <p:origin x="1986" y="108"/>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handoutMaster" Target="handoutMasters/handout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33"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gs" Target="tags/tag1.xml"/><Relationship Id="rId30" Type="http://schemas.openxmlformats.org/officeDocument/2006/relationships/theme" Target="theme/theme1.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hui Yu" userId="c938b994-a30e-4cc7-a189-187a9b224868" providerId="ADAL" clId="{48281F93-3FC8-4FF4-B3C2-E552951ED966}"/>
    <pc:docChg chg="undo custSel addSld delSld modSld">
      <pc:chgData name="Shui Yu" userId="c938b994-a30e-4cc7-a189-187a9b224868" providerId="ADAL" clId="{48281F93-3FC8-4FF4-B3C2-E552951ED966}" dt="2023-10-06T05:13:03.678" v="831" actId="1076"/>
      <pc:docMkLst>
        <pc:docMk/>
      </pc:docMkLst>
      <pc:sldChg chg="modSp mod">
        <pc:chgData name="Shui Yu" userId="c938b994-a30e-4cc7-a189-187a9b224868" providerId="ADAL" clId="{48281F93-3FC8-4FF4-B3C2-E552951ED966}" dt="2023-09-29T08:01:35.070" v="19" actId="20577"/>
        <pc:sldMkLst>
          <pc:docMk/>
          <pc:sldMk cId="0" sldId="383"/>
        </pc:sldMkLst>
        <pc:spChg chg="mod">
          <ac:chgData name="Shui Yu" userId="c938b994-a30e-4cc7-a189-187a9b224868" providerId="ADAL" clId="{48281F93-3FC8-4FF4-B3C2-E552951ED966}" dt="2023-09-29T08:01:35.070" v="19" actId="20577"/>
          <ac:spMkLst>
            <pc:docMk/>
            <pc:sldMk cId="0" sldId="383"/>
            <ac:spMk id="4" creationId="{00000000-0000-0000-0000-000000000000}"/>
          </ac:spMkLst>
        </pc:spChg>
      </pc:sldChg>
      <pc:sldChg chg="modSp mod">
        <pc:chgData name="Shui Yu" userId="c938b994-a30e-4cc7-a189-187a9b224868" providerId="ADAL" clId="{48281F93-3FC8-4FF4-B3C2-E552951ED966}" dt="2023-09-29T08:01:23.155" v="9" actId="20577"/>
        <pc:sldMkLst>
          <pc:docMk/>
          <pc:sldMk cId="0" sldId="384"/>
        </pc:sldMkLst>
        <pc:spChg chg="mod">
          <ac:chgData name="Shui Yu" userId="c938b994-a30e-4cc7-a189-187a9b224868" providerId="ADAL" clId="{48281F93-3FC8-4FF4-B3C2-E552951ED966}" dt="2023-09-29T08:01:23.155" v="9" actId="20577"/>
          <ac:spMkLst>
            <pc:docMk/>
            <pc:sldMk cId="0" sldId="384"/>
            <ac:spMk id="3" creationId="{00000000-0000-0000-0000-000000000000}"/>
          </ac:spMkLst>
        </pc:spChg>
      </pc:sldChg>
      <pc:sldChg chg="add del">
        <pc:chgData name="Shui Yu" userId="c938b994-a30e-4cc7-a189-187a9b224868" providerId="ADAL" clId="{48281F93-3FC8-4FF4-B3C2-E552951ED966}" dt="2023-10-06T03:59:17.577" v="766" actId="47"/>
        <pc:sldMkLst>
          <pc:docMk/>
          <pc:sldMk cId="1044571805" sldId="494"/>
        </pc:sldMkLst>
      </pc:sldChg>
      <pc:sldChg chg="modSp mod">
        <pc:chgData name="Shui Yu" userId="c938b994-a30e-4cc7-a189-187a9b224868" providerId="ADAL" clId="{48281F93-3FC8-4FF4-B3C2-E552951ED966}" dt="2023-10-06T05:13:03.678" v="831" actId="1076"/>
        <pc:sldMkLst>
          <pc:docMk/>
          <pc:sldMk cId="3203785364" sldId="502"/>
        </pc:sldMkLst>
        <pc:spChg chg="mod">
          <ac:chgData name="Shui Yu" userId="c938b994-a30e-4cc7-a189-187a9b224868" providerId="ADAL" clId="{48281F93-3FC8-4FF4-B3C2-E552951ED966}" dt="2023-10-06T05:13:03.678" v="831" actId="1076"/>
          <ac:spMkLst>
            <pc:docMk/>
            <pc:sldMk cId="3203785364" sldId="502"/>
            <ac:spMk id="2" creationId="{00000000-0000-0000-0000-000000000000}"/>
          </ac:spMkLst>
        </pc:spChg>
        <pc:spChg chg="mod">
          <ac:chgData name="Shui Yu" userId="c938b994-a30e-4cc7-a189-187a9b224868" providerId="ADAL" clId="{48281F93-3FC8-4FF4-B3C2-E552951ED966}" dt="2023-10-06T05:12:59.476" v="830" actId="1076"/>
          <ac:spMkLst>
            <pc:docMk/>
            <pc:sldMk cId="3203785364" sldId="502"/>
            <ac:spMk id="50" creationId="{00000000-0000-0000-0000-000000000000}"/>
          </ac:spMkLst>
        </pc:spChg>
      </pc:sldChg>
      <pc:sldChg chg="modSp mod">
        <pc:chgData name="Shui Yu" userId="c938b994-a30e-4cc7-a189-187a9b224868" providerId="ADAL" clId="{48281F93-3FC8-4FF4-B3C2-E552951ED966}" dt="2023-10-06T05:06:59.622" v="803" actId="1076"/>
        <pc:sldMkLst>
          <pc:docMk/>
          <pc:sldMk cId="181409415" sldId="503"/>
        </pc:sldMkLst>
        <pc:spChg chg="mod">
          <ac:chgData name="Shui Yu" userId="c938b994-a30e-4cc7-a189-187a9b224868" providerId="ADAL" clId="{48281F93-3FC8-4FF4-B3C2-E552951ED966}" dt="2023-10-06T05:06:59.622" v="803" actId="1076"/>
          <ac:spMkLst>
            <pc:docMk/>
            <pc:sldMk cId="181409415" sldId="503"/>
            <ac:spMk id="2" creationId="{00000000-0000-0000-0000-000000000000}"/>
          </ac:spMkLst>
        </pc:spChg>
      </pc:sldChg>
      <pc:sldChg chg="modSp mod">
        <pc:chgData name="Shui Yu" userId="c938b994-a30e-4cc7-a189-187a9b224868" providerId="ADAL" clId="{48281F93-3FC8-4FF4-B3C2-E552951ED966}" dt="2023-10-06T04:00:14.323" v="768" actId="27636"/>
        <pc:sldMkLst>
          <pc:docMk/>
          <pc:sldMk cId="3841951879" sldId="506"/>
        </pc:sldMkLst>
        <pc:spChg chg="mod">
          <ac:chgData name="Shui Yu" userId="c938b994-a30e-4cc7-a189-187a9b224868" providerId="ADAL" clId="{48281F93-3FC8-4FF4-B3C2-E552951ED966}" dt="2023-10-06T04:00:14.323" v="768" actId="27636"/>
          <ac:spMkLst>
            <pc:docMk/>
            <pc:sldMk cId="3841951879" sldId="506"/>
            <ac:spMk id="50" creationId="{00000000-0000-0000-0000-000000000000}"/>
          </ac:spMkLst>
        </pc:spChg>
      </pc:sldChg>
      <pc:sldChg chg="del">
        <pc:chgData name="Shui Yu" userId="c938b994-a30e-4cc7-a189-187a9b224868" providerId="ADAL" clId="{48281F93-3FC8-4FF4-B3C2-E552951ED966}" dt="2023-10-06T05:11:05.515" v="812" actId="47"/>
        <pc:sldMkLst>
          <pc:docMk/>
          <pc:sldMk cId="3826083365" sldId="508"/>
        </pc:sldMkLst>
      </pc:sldChg>
      <pc:sldChg chg="del">
        <pc:chgData name="Shui Yu" userId="c938b994-a30e-4cc7-a189-187a9b224868" providerId="ADAL" clId="{48281F93-3FC8-4FF4-B3C2-E552951ED966}" dt="2023-10-06T05:11:05.515" v="812" actId="47"/>
        <pc:sldMkLst>
          <pc:docMk/>
          <pc:sldMk cId="2766272508" sldId="509"/>
        </pc:sldMkLst>
      </pc:sldChg>
      <pc:sldChg chg="del">
        <pc:chgData name="Shui Yu" userId="c938b994-a30e-4cc7-a189-187a9b224868" providerId="ADAL" clId="{48281F93-3FC8-4FF4-B3C2-E552951ED966}" dt="2023-10-06T05:11:05.515" v="812" actId="47"/>
        <pc:sldMkLst>
          <pc:docMk/>
          <pc:sldMk cId="3032930630" sldId="510"/>
        </pc:sldMkLst>
      </pc:sldChg>
      <pc:sldChg chg="del">
        <pc:chgData name="Shui Yu" userId="c938b994-a30e-4cc7-a189-187a9b224868" providerId="ADAL" clId="{48281F93-3FC8-4FF4-B3C2-E552951ED966}" dt="2023-10-06T05:11:05.515" v="812" actId="47"/>
        <pc:sldMkLst>
          <pc:docMk/>
          <pc:sldMk cId="1604261474" sldId="511"/>
        </pc:sldMkLst>
      </pc:sldChg>
      <pc:sldChg chg="modSp mod">
        <pc:chgData name="Shui Yu" userId="c938b994-a30e-4cc7-a189-187a9b224868" providerId="ADAL" clId="{48281F93-3FC8-4FF4-B3C2-E552951ED966}" dt="2023-10-06T05:11:46.753" v="820" actId="1076"/>
        <pc:sldMkLst>
          <pc:docMk/>
          <pc:sldMk cId="179367929" sldId="512"/>
        </pc:sldMkLst>
        <pc:spChg chg="mod">
          <ac:chgData name="Shui Yu" userId="c938b994-a30e-4cc7-a189-187a9b224868" providerId="ADAL" clId="{48281F93-3FC8-4FF4-B3C2-E552951ED966}" dt="2023-10-06T05:11:46.753" v="820" actId="1076"/>
          <ac:spMkLst>
            <pc:docMk/>
            <pc:sldMk cId="179367929" sldId="512"/>
            <ac:spMk id="2" creationId="{00000000-0000-0000-0000-000000000000}"/>
          </ac:spMkLst>
        </pc:spChg>
        <pc:spChg chg="mod">
          <ac:chgData name="Shui Yu" userId="c938b994-a30e-4cc7-a189-187a9b224868" providerId="ADAL" clId="{48281F93-3FC8-4FF4-B3C2-E552951ED966}" dt="2023-10-06T05:11:42.346" v="819" actId="1076"/>
          <ac:spMkLst>
            <pc:docMk/>
            <pc:sldMk cId="179367929" sldId="512"/>
            <ac:spMk id="50" creationId="{00000000-0000-0000-0000-000000000000}"/>
          </ac:spMkLst>
        </pc:spChg>
      </pc:sldChg>
      <pc:sldChg chg="modSp mod">
        <pc:chgData name="Shui Yu" userId="c938b994-a30e-4cc7-a189-187a9b224868" providerId="ADAL" clId="{48281F93-3FC8-4FF4-B3C2-E552951ED966}" dt="2023-10-06T05:06:49.265" v="802" actId="1076"/>
        <pc:sldMkLst>
          <pc:docMk/>
          <pc:sldMk cId="1697058713" sldId="515"/>
        </pc:sldMkLst>
        <pc:spChg chg="mod">
          <ac:chgData name="Shui Yu" userId="c938b994-a30e-4cc7-a189-187a9b224868" providerId="ADAL" clId="{48281F93-3FC8-4FF4-B3C2-E552951ED966}" dt="2023-10-06T05:06:49.265" v="802" actId="1076"/>
          <ac:spMkLst>
            <pc:docMk/>
            <pc:sldMk cId="1697058713" sldId="515"/>
            <ac:spMk id="2" creationId="{00000000-0000-0000-0000-000000000000}"/>
          </ac:spMkLst>
        </pc:spChg>
        <pc:spChg chg="mod">
          <ac:chgData name="Shui Yu" userId="c938b994-a30e-4cc7-a189-187a9b224868" providerId="ADAL" clId="{48281F93-3FC8-4FF4-B3C2-E552951ED966}" dt="2023-10-06T05:06:40.827" v="801" actId="1076"/>
          <ac:spMkLst>
            <pc:docMk/>
            <pc:sldMk cId="1697058713" sldId="515"/>
            <ac:spMk id="50" creationId="{00000000-0000-0000-0000-000000000000}"/>
          </ac:spMkLst>
        </pc:spChg>
      </pc:sldChg>
      <pc:sldChg chg="modSp mod">
        <pc:chgData name="Shui Yu" userId="c938b994-a30e-4cc7-a189-187a9b224868" providerId="ADAL" clId="{48281F93-3FC8-4FF4-B3C2-E552951ED966}" dt="2023-10-06T05:12:46.761" v="828" actId="1076"/>
        <pc:sldMkLst>
          <pc:docMk/>
          <pc:sldMk cId="2778453594" sldId="516"/>
        </pc:sldMkLst>
        <pc:spChg chg="mod">
          <ac:chgData name="Shui Yu" userId="c938b994-a30e-4cc7-a189-187a9b224868" providerId="ADAL" clId="{48281F93-3FC8-4FF4-B3C2-E552951ED966}" dt="2023-10-06T05:12:46.761" v="828" actId="1076"/>
          <ac:spMkLst>
            <pc:docMk/>
            <pc:sldMk cId="2778453594" sldId="516"/>
            <ac:spMk id="2" creationId="{00000000-0000-0000-0000-000000000000}"/>
          </ac:spMkLst>
        </pc:spChg>
        <pc:spChg chg="mod">
          <ac:chgData name="Shui Yu" userId="c938b994-a30e-4cc7-a189-187a9b224868" providerId="ADAL" clId="{48281F93-3FC8-4FF4-B3C2-E552951ED966}" dt="2023-10-06T05:12:42.815" v="827" actId="1076"/>
          <ac:spMkLst>
            <pc:docMk/>
            <pc:sldMk cId="2778453594" sldId="516"/>
            <ac:spMk id="50" creationId="{00000000-0000-0000-0000-000000000000}"/>
          </ac:spMkLst>
        </pc:spChg>
        <pc:picChg chg="mod">
          <ac:chgData name="Shui Yu" userId="c938b994-a30e-4cc7-a189-187a9b224868" providerId="ADAL" clId="{48281F93-3FC8-4FF4-B3C2-E552951ED966}" dt="2023-10-06T05:08:12.520" v="809" actId="14100"/>
          <ac:picMkLst>
            <pc:docMk/>
            <pc:sldMk cId="2778453594" sldId="516"/>
            <ac:picMk id="7" creationId="{167D84AA-132F-1FC4-EBAE-DA2AC9FC93A3}"/>
          </ac:picMkLst>
        </pc:picChg>
      </pc:sldChg>
      <pc:sldChg chg="modSp mod">
        <pc:chgData name="Shui Yu" userId="c938b994-a30e-4cc7-a189-187a9b224868" providerId="ADAL" clId="{48281F93-3FC8-4FF4-B3C2-E552951ED966}" dt="2023-10-06T05:12:31.200" v="826" actId="14100"/>
        <pc:sldMkLst>
          <pc:docMk/>
          <pc:sldMk cId="2789089899" sldId="518"/>
        </pc:sldMkLst>
        <pc:spChg chg="mod">
          <ac:chgData name="Shui Yu" userId="c938b994-a30e-4cc7-a189-187a9b224868" providerId="ADAL" clId="{48281F93-3FC8-4FF4-B3C2-E552951ED966}" dt="2023-10-06T05:12:18.885" v="824" actId="1076"/>
          <ac:spMkLst>
            <pc:docMk/>
            <pc:sldMk cId="2789089899" sldId="518"/>
            <ac:spMk id="2" creationId="{00000000-0000-0000-0000-000000000000}"/>
          </ac:spMkLst>
        </pc:spChg>
        <pc:spChg chg="mod">
          <ac:chgData name="Shui Yu" userId="c938b994-a30e-4cc7-a189-187a9b224868" providerId="ADAL" clId="{48281F93-3FC8-4FF4-B3C2-E552951ED966}" dt="2023-10-06T05:11:59.346" v="821" actId="1076"/>
          <ac:spMkLst>
            <pc:docMk/>
            <pc:sldMk cId="2789089899" sldId="518"/>
            <ac:spMk id="30" creationId="{96D74C1F-EE18-A31C-C569-537B31FFCEBE}"/>
          </ac:spMkLst>
        </pc:spChg>
        <pc:spChg chg="mod">
          <ac:chgData name="Shui Yu" userId="c938b994-a30e-4cc7-a189-187a9b224868" providerId="ADAL" clId="{48281F93-3FC8-4FF4-B3C2-E552951ED966}" dt="2023-10-06T05:12:12.927" v="823" actId="1076"/>
          <ac:spMkLst>
            <pc:docMk/>
            <pc:sldMk cId="2789089899" sldId="518"/>
            <ac:spMk id="50" creationId="{00000000-0000-0000-0000-000000000000}"/>
          </ac:spMkLst>
        </pc:spChg>
        <pc:picChg chg="mod">
          <ac:chgData name="Shui Yu" userId="c938b994-a30e-4cc7-a189-187a9b224868" providerId="ADAL" clId="{48281F93-3FC8-4FF4-B3C2-E552951ED966}" dt="2023-10-06T05:12:31.200" v="826" actId="14100"/>
          <ac:picMkLst>
            <pc:docMk/>
            <pc:sldMk cId="2789089899" sldId="518"/>
            <ac:picMk id="23" creationId="{F5D3826E-6232-A73B-69E3-CFF3D873F7EA}"/>
          </ac:picMkLst>
        </pc:picChg>
      </pc:sldChg>
      <pc:sldChg chg="modSp add mod">
        <pc:chgData name="Shui Yu" userId="c938b994-a30e-4cc7-a189-187a9b224868" providerId="ADAL" clId="{48281F93-3FC8-4FF4-B3C2-E552951ED966}" dt="2023-10-06T03:50:01.776" v="443" actId="20577"/>
        <pc:sldMkLst>
          <pc:docMk/>
          <pc:sldMk cId="2709669995" sldId="519"/>
        </pc:sldMkLst>
        <pc:spChg chg="mod">
          <ac:chgData name="Shui Yu" userId="c938b994-a30e-4cc7-a189-187a9b224868" providerId="ADAL" clId="{48281F93-3FC8-4FF4-B3C2-E552951ED966}" dt="2023-10-06T03:43:46.904" v="53" actId="20577"/>
          <ac:spMkLst>
            <pc:docMk/>
            <pc:sldMk cId="2709669995" sldId="519"/>
            <ac:spMk id="2" creationId="{00000000-0000-0000-0000-000000000000}"/>
          </ac:spMkLst>
        </pc:spChg>
        <pc:spChg chg="mod">
          <ac:chgData name="Shui Yu" userId="c938b994-a30e-4cc7-a189-187a9b224868" providerId="ADAL" clId="{48281F93-3FC8-4FF4-B3C2-E552951ED966}" dt="2023-10-06T03:50:01.776" v="443" actId="20577"/>
          <ac:spMkLst>
            <pc:docMk/>
            <pc:sldMk cId="2709669995" sldId="519"/>
            <ac:spMk id="3" creationId="{00000000-0000-0000-0000-000000000000}"/>
          </ac:spMkLst>
        </pc:spChg>
      </pc:sldChg>
      <pc:sldChg chg="modSp add mod">
        <pc:chgData name="Shui Yu" userId="c938b994-a30e-4cc7-a189-187a9b224868" providerId="ADAL" clId="{48281F93-3FC8-4FF4-B3C2-E552951ED966}" dt="2023-10-06T03:49:16.164" v="378" actId="5793"/>
        <pc:sldMkLst>
          <pc:docMk/>
          <pc:sldMk cId="3920979807" sldId="520"/>
        </pc:sldMkLst>
        <pc:spChg chg="mod">
          <ac:chgData name="Shui Yu" userId="c938b994-a30e-4cc7-a189-187a9b224868" providerId="ADAL" clId="{48281F93-3FC8-4FF4-B3C2-E552951ED966}" dt="2023-10-06T03:48:38.073" v="318" actId="20577"/>
          <ac:spMkLst>
            <pc:docMk/>
            <pc:sldMk cId="3920979807" sldId="520"/>
            <ac:spMk id="2" creationId="{00000000-0000-0000-0000-000000000000}"/>
          </ac:spMkLst>
        </pc:spChg>
        <pc:spChg chg="mod">
          <ac:chgData name="Shui Yu" userId="c938b994-a30e-4cc7-a189-187a9b224868" providerId="ADAL" clId="{48281F93-3FC8-4FF4-B3C2-E552951ED966}" dt="2023-10-06T03:49:16.164" v="378" actId="5793"/>
          <ac:spMkLst>
            <pc:docMk/>
            <pc:sldMk cId="3920979807" sldId="520"/>
            <ac:spMk id="3" creationId="{00000000-0000-0000-0000-000000000000}"/>
          </ac:spMkLst>
        </pc:spChg>
      </pc:sldChg>
      <pc:sldChg chg="delSp modSp add mod modNotesTx">
        <pc:chgData name="Shui Yu" userId="c938b994-a30e-4cc7-a189-187a9b224868" providerId="ADAL" clId="{48281F93-3FC8-4FF4-B3C2-E552951ED966}" dt="2023-10-06T03:59:05.859" v="765" actId="27636"/>
        <pc:sldMkLst>
          <pc:docMk/>
          <pc:sldMk cId="3707366060" sldId="521"/>
        </pc:sldMkLst>
        <pc:spChg chg="mod">
          <ac:chgData name="Shui Yu" userId="c938b994-a30e-4cc7-a189-187a9b224868" providerId="ADAL" clId="{48281F93-3FC8-4FF4-B3C2-E552951ED966}" dt="2023-10-06T03:54:43.706" v="451" actId="20577"/>
          <ac:spMkLst>
            <pc:docMk/>
            <pc:sldMk cId="3707366060" sldId="521"/>
            <ac:spMk id="3" creationId="{42D41DA7-63C2-A12C-A3FB-2050EDF5AF00}"/>
          </ac:spMkLst>
        </pc:spChg>
        <pc:spChg chg="mod">
          <ac:chgData name="Shui Yu" userId="c938b994-a30e-4cc7-a189-187a9b224868" providerId="ADAL" clId="{48281F93-3FC8-4FF4-B3C2-E552951ED966}" dt="2023-10-06T03:59:05.859" v="765" actId="27636"/>
          <ac:spMkLst>
            <pc:docMk/>
            <pc:sldMk cId="3707366060" sldId="521"/>
            <ac:spMk id="7" creationId="{76BAFCFC-F53D-7681-E49B-2C0D9360F347}"/>
          </ac:spMkLst>
        </pc:spChg>
        <pc:spChg chg="del">
          <ac:chgData name="Shui Yu" userId="c938b994-a30e-4cc7-a189-187a9b224868" providerId="ADAL" clId="{48281F93-3FC8-4FF4-B3C2-E552951ED966}" dt="2023-10-06T03:54:32.873" v="449" actId="478"/>
          <ac:spMkLst>
            <pc:docMk/>
            <pc:sldMk cId="3707366060" sldId="521"/>
            <ac:spMk id="9" creationId="{C57F284E-E9A4-AC7E-91D4-2AB61005D3AB}"/>
          </ac:spMkLst>
        </pc:spChg>
        <pc:spChg chg="del">
          <ac:chgData name="Shui Yu" userId="c938b994-a30e-4cc7-a189-187a9b224868" providerId="ADAL" clId="{48281F93-3FC8-4FF4-B3C2-E552951ED966}" dt="2023-10-06T03:54:28.004" v="448" actId="478"/>
          <ac:spMkLst>
            <pc:docMk/>
            <pc:sldMk cId="3707366060" sldId="521"/>
            <ac:spMk id="11" creationId="{2FF98D7B-7007-1262-E4AC-E36D4F7A6456}"/>
          </ac:spMkLst>
        </pc:spChg>
        <pc:picChg chg="del">
          <ac:chgData name="Shui Yu" userId="c938b994-a30e-4cc7-a189-187a9b224868" providerId="ADAL" clId="{48281F93-3FC8-4FF4-B3C2-E552951ED966}" dt="2023-10-06T03:54:23.445" v="447" actId="478"/>
          <ac:picMkLst>
            <pc:docMk/>
            <pc:sldMk cId="3707366060" sldId="521"/>
            <ac:picMk id="6" creationId="{E14DB45C-8C14-D7B3-49D9-702872B17F42}"/>
          </ac:picMkLst>
        </pc:pic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0EA5F0D-C1DC-412F-A146-DDB3A74B588F}" type="datetimeFigureOut">
              <a:rPr lang="en-US"/>
              <a:t>10/6/2023</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BAE14B8-3CC9-472D-9BC5-A84D80684DE2}" type="slidenum">
              <a:rPr/>
              <a:t>‹#›</a:t>
            </a:fld>
            <a:endParaRPr/>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8CDE508-72C8-4AB5-AA9C-1584D31690E0}" type="datetimeFigureOut">
              <a:rPr lang="en-US"/>
              <a:t>10/6/2023</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685800" y="4400550"/>
            <a:ext cx="5486400" cy="3086100"/>
          </a:xfrm>
          <a:prstGeom prst="rect">
            <a:avLst/>
          </a:prstGeom>
        </p:spPr>
        <p:txBody>
          <a:bodyPr vert="horz" lIns="91440" tIns="45720" rIns="91440" bIns="45720" rtlCol="0"/>
          <a:lstStyle/>
          <a:p>
            <a:pPr lvl="0"/>
            <a:r>
              <a:t>Click to edit Master text styles</a:t>
            </a:r>
          </a:p>
          <a:p>
            <a:pPr lvl="1"/>
            <a:r>
              <a:t>Second level</a:t>
            </a:r>
          </a:p>
          <a:p>
            <a:pPr lvl="2"/>
            <a:r>
              <a:t>Third level</a:t>
            </a:r>
          </a:p>
          <a:p>
            <a:pPr lvl="3"/>
            <a:r>
              <a:t>Fourth level</a:t>
            </a:r>
          </a:p>
          <a:p>
            <a:pPr lvl="4"/>
            <a:r>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FB667E1-E601-4AAF-B95C-B25720D70A60}" type="slidenum">
              <a:rPr/>
              <a:t>‹#›</a:t>
            </a:fld>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10"/>
          </p:nvPr>
        </p:nvSpPr>
        <p:spPr/>
        <p:txBody>
          <a:bodyPr/>
          <a:lstStyle/>
          <a:p>
            <a:fld id="{2128C508-9378-416B-A78D-286D55287404}" type="slidenum">
              <a:rPr lang="en-US" smtClean="0"/>
              <a:pPr/>
              <a:t>1</a:t>
            </a:fld>
            <a:endParaRPr lang="en-US" dirty="0"/>
          </a:p>
        </p:txBody>
      </p:sp>
    </p:spTree>
    <p:extLst>
      <p:ext uri="{BB962C8B-B14F-4D97-AF65-F5344CB8AC3E}">
        <p14:creationId xmlns:p14="http://schemas.microsoft.com/office/powerpoint/2010/main" val="65186875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Machine learning can be divided into supervised learning and unsupervised learning based on whether the training dataset is labeled or not. The training samples of supervised learning are labeled with corresponding classes. The goal of supervised learning algorithm is to learn knowledge instructed by the sample-label pairs. The training dataset of unsupervised learning contains only samples. Therefore, the learning algorithm needs to mine the class information by themselves. </a:t>
            </a:r>
          </a:p>
          <a:p>
            <a:r>
              <a:rPr lang="en-US" dirty="0"/>
              <a:t>In recent years, the security vulnerabilities of supervised learning attracts more attentions than unsupervised learning, due to their wide applications. Therefore, the main research object of this survey is poisoning attack in supervised learning scenario.</a:t>
            </a:r>
          </a:p>
          <a:p>
            <a:endParaRPr lang="en-US" dirty="0"/>
          </a:p>
          <a:p>
            <a:r>
              <a:rPr lang="en-US" dirty="0"/>
              <a:t>Due to privacy concerns, users are unwilling to share their private data. To protect users' privacy, federated learning is introduced. There are two roles in a federated learning system: server and client. The task of clients is to train local models with their own private data and upload the training results to the server. Meanwhile, the task of server is to train a global model based on the received updates. Through this design, the private data of clients is kept storing locally and does not need to be shared with others. This architecture improves the protection of clients' privacy.</a:t>
            </a:r>
          </a:p>
          <a:p>
            <a:r>
              <a:rPr lang="en-US" dirty="0"/>
              <a:t>However, it reduces the transparency of training data and exacerbates the threat of poisoning attacks, leading to poisoning attacks becoming a major security threat in federated learning.</a:t>
            </a:r>
          </a:p>
          <a:p>
            <a:endParaRPr lang="en-US" dirty="0"/>
          </a:p>
          <a:p>
            <a:r>
              <a:rPr lang="en-US" dirty="0"/>
              <a:t>As a data-driven threat, poisoning attacks are insensitive to target models. They can be applied to both supervised learning and unsupervised learning. Moreover, carefully constructed poisoning samples show transferability against various learning algorithms. Therefore, in this survey, we also highlight the connection between different poisoning attacks.</a:t>
            </a:r>
          </a:p>
          <a:p>
            <a:endParaRPr lang="en-US" dirty="0"/>
          </a:p>
          <a:p>
            <a:endParaRPr lang="en-US" dirty="0"/>
          </a:p>
          <a:p>
            <a:r>
              <a:rPr lang="en-US" altLang="zh-CN" dirty="0"/>
              <a:t>The prerequisite for the implementation of a poisoning attack is that the adversary has the capabilities to influence the training dataset.</a:t>
            </a:r>
          </a:p>
          <a:p>
            <a:r>
              <a:rPr lang="en-US" altLang="zh-CN" dirty="0"/>
              <a:t>As shown in this slide, in a poisoning attack, the necessary capabilities of adversaries are to inject and modify a certain amount of training data. </a:t>
            </a:r>
          </a:p>
          <a:p>
            <a:r>
              <a:rPr lang="en-US" altLang="zh-CN" dirty="0"/>
              <a:t>In contrast to other attacks, poisoning attacks require capabilities only related to the dataset. It is easy to obtain these capabilities, since training datasets are usually collected from public resources.</a:t>
            </a:r>
          </a:p>
          <a:p>
            <a:r>
              <a:rPr lang="en-US" altLang="zh-CN" dirty="0"/>
              <a:t>The situation is slightly different in federated learning, where the poisoning attacks are launched through poisoning updates rather than poisoning data. </a:t>
            </a:r>
          </a:p>
          <a:p>
            <a:r>
              <a:rPr lang="en-US" altLang="zh-CN" dirty="0"/>
              <a:t>Furthermore, the adversaries' knowledge of the target model also affects poisoning attacks. In general, the more the adversary knows, the more successful the attack will be.</a:t>
            </a:r>
          </a:p>
          <a:p>
            <a:r>
              <a:rPr lang="en-US" altLang="zh-CN" dirty="0"/>
              <a:t>They could be classified as perfect-knowledge adversaries, limited-knowledge adversaries and no-knowledge adversaries.</a:t>
            </a:r>
            <a:endParaRPr lang="en-AU" altLang="zh-CN" dirty="0"/>
          </a:p>
        </p:txBody>
      </p:sp>
      <p:sp>
        <p:nvSpPr>
          <p:cNvPr id="4" name="Slide Number Placeholder 3"/>
          <p:cNvSpPr>
            <a:spLocks noGrp="1"/>
          </p:cNvSpPr>
          <p:nvPr>
            <p:ph type="sldNum" sz="quarter" idx="10"/>
          </p:nvPr>
        </p:nvSpPr>
        <p:spPr/>
        <p:txBody>
          <a:bodyPr/>
          <a:lstStyle/>
          <a:p>
            <a:fld id="{EFCA3D6A-2D2A-4013-9C66-3B37E953BCDE}" type="slidenum">
              <a:rPr lang="zh-CN" altLang="en-US" smtClean="0"/>
              <a:t>6</a:t>
            </a:fld>
            <a:endParaRPr lang="zh-CN" altLang="en-US"/>
          </a:p>
        </p:txBody>
      </p:sp>
    </p:spTree>
    <p:extLst>
      <p:ext uri="{BB962C8B-B14F-4D97-AF65-F5344CB8AC3E}">
        <p14:creationId xmlns:p14="http://schemas.microsoft.com/office/powerpoint/2010/main" val="324696943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We classify backdoor poisoning attacks as a subclass of targeted poisoning attacks. As described above, targeted poisoning attacks need to maintain the overall performance of the target model and cause misbehaviors on targeted inputs/outputs. Backdoor poisoning attacks meet this taxonomy, while it has higher requirements for samples that activate the hidden backdoor. Adversaries introduce some patterns (known as trigger) into the poisoning samples for implanting a backdoor during model training. Furthermore, only samples containing the same trigger can activate the hidden backdoor.</a:t>
            </a:r>
          </a:p>
        </p:txBody>
      </p:sp>
      <p:sp>
        <p:nvSpPr>
          <p:cNvPr id="4" name="Slide Number Placeholder 3"/>
          <p:cNvSpPr>
            <a:spLocks noGrp="1"/>
          </p:cNvSpPr>
          <p:nvPr>
            <p:ph type="sldNum" sz="quarter" idx="10"/>
          </p:nvPr>
        </p:nvSpPr>
        <p:spPr/>
        <p:txBody>
          <a:bodyPr/>
          <a:lstStyle/>
          <a:p>
            <a:fld id="{EFCA3D6A-2D2A-4013-9C66-3B37E953BCDE}" type="slidenum">
              <a:rPr lang="zh-CN" altLang="en-US" smtClean="0"/>
              <a:t>7</a:t>
            </a:fld>
            <a:endParaRPr lang="zh-CN" altLang="en-US"/>
          </a:p>
        </p:txBody>
      </p:sp>
    </p:spTree>
    <p:extLst>
      <p:ext uri="{BB962C8B-B14F-4D97-AF65-F5344CB8AC3E}">
        <p14:creationId xmlns:p14="http://schemas.microsoft.com/office/powerpoint/2010/main" val="49859143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EFCA3D6A-2D2A-4013-9C66-3B37E953BCDE}" type="slidenum">
              <a:rPr lang="zh-CN" altLang="en-US" smtClean="0"/>
              <a:t>8</a:t>
            </a:fld>
            <a:endParaRPr lang="zh-CN" altLang="en-US"/>
          </a:p>
        </p:txBody>
      </p:sp>
    </p:spTree>
    <p:extLst>
      <p:ext uri="{BB962C8B-B14F-4D97-AF65-F5344CB8AC3E}">
        <p14:creationId xmlns:p14="http://schemas.microsoft.com/office/powerpoint/2010/main" val="208654898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EFCA3D6A-2D2A-4013-9C66-3B37E953BCDE}" type="slidenum">
              <a:rPr lang="zh-CN" altLang="en-US" smtClean="0"/>
              <a:t>9</a:t>
            </a:fld>
            <a:endParaRPr lang="zh-CN" altLang="en-US"/>
          </a:p>
        </p:txBody>
      </p:sp>
    </p:spTree>
    <p:extLst>
      <p:ext uri="{BB962C8B-B14F-4D97-AF65-F5344CB8AC3E}">
        <p14:creationId xmlns:p14="http://schemas.microsoft.com/office/powerpoint/2010/main" val="416681532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Federated learning is designed to protect users' privacy, however, the distributed architecture makes it vulnerable to poisoning attacks. </a:t>
            </a:r>
          </a:p>
          <a:p>
            <a:r>
              <a:rPr lang="en-US" dirty="0"/>
              <a:t>This architecture prevents the server from accessing the training data of clients, and datasets between clients are usually not independent identically distributed (non-</a:t>
            </a:r>
            <a:r>
              <a:rPr lang="en-US" dirty="0" err="1"/>
              <a:t>iid</a:t>
            </a:r>
            <a:r>
              <a:rPr lang="en-US" dirty="0"/>
              <a:t>). This makes it more difficult for the server to detect poisoning attacks, because the training results updated by different clients are inherently different.</a:t>
            </a:r>
          </a:p>
          <a:p>
            <a:r>
              <a:rPr lang="en-US" dirty="0"/>
              <a:t>The target in federated learning is usually the global model aggregated by a trusted server. The adversary's goals are the same as poisoning attacks in centralized learning, which is to force the global model unable to converge or perform abnormally on designated inputs.</a:t>
            </a:r>
          </a:p>
          <a:p>
            <a:endParaRPr lang="en-US" dirty="0"/>
          </a:p>
        </p:txBody>
      </p:sp>
      <p:sp>
        <p:nvSpPr>
          <p:cNvPr id="4" name="Slide Number Placeholder 3"/>
          <p:cNvSpPr>
            <a:spLocks noGrp="1"/>
          </p:cNvSpPr>
          <p:nvPr>
            <p:ph type="sldNum" sz="quarter" idx="10"/>
          </p:nvPr>
        </p:nvSpPr>
        <p:spPr/>
        <p:txBody>
          <a:bodyPr/>
          <a:lstStyle/>
          <a:p>
            <a:fld id="{EFCA3D6A-2D2A-4013-9C66-3B37E953BCDE}" type="slidenum">
              <a:rPr lang="zh-CN" altLang="en-US" smtClean="0"/>
              <a:t>10</a:t>
            </a:fld>
            <a:endParaRPr lang="zh-CN" altLang="en-US"/>
          </a:p>
        </p:txBody>
      </p:sp>
    </p:spTree>
    <p:extLst>
      <p:ext uri="{BB962C8B-B14F-4D97-AF65-F5344CB8AC3E}">
        <p14:creationId xmlns:p14="http://schemas.microsoft.com/office/powerpoint/2010/main" val="11888354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zh-CN" altLang="en-US" dirty="0"/>
          </a:p>
        </p:txBody>
      </p:sp>
      <p:sp>
        <p:nvSpPr>
          <p:cNvPr id="4" name="Slide Number Placeholder 3"/>
          <p:cNvSpPr>
            <a:spLocks noGrp="1"/>
          </p:cNvSpPr>
          <p:nvPr>
            <p:ph type="sldNum" sz="quarter" idx="5"/>
          </p:nvPr>
        </p:nvSpPr>
        <p:spPr/>
        <p:txBody>
          <a:bodyPr/>
          <a:lstStyle/>
          <a:p>
            <a:fld id="{7FB667E1-E601-4AAF-B95C-B25720D70A60}" type="slidenum">
              <a:rPr lang="en-US" altLang="zh-CN" smtClean="0"/>
              <a:t>11</a:t>
            </a:fld>
            <a:endParaRPr lang="en-US" altLang="zh-CN"/>
          </a:p>
        </p:txBody>
      </p:sp>
    </p:spTree>
    <p:extLst>
      <p:ext uri="{BB962C8B-B14F-4D97-AF65-F5344CB8AC3E}">
        <p14:creationId xmlns:p14="http://schemas.microsoft.com/office/powerpoint/2010/main" val="19645697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A commonly used poisoning technique is label manipulation. The knowledge learned by machine learning is mainly from sample-label pairs. Therefore, the performance of the machine learning model deteriorates as long as the true patterns in the sample-label pairs are disrupted. An intuitive strategy is to flip labels of training samples. An adversary can flip labels of random samples to launch a poisoning attack.</a:t>
            </a:r>
          </a:p>
          <a:p>
            <a:endParaRPr lang="en-US" dirty="0"/>
          </a:p>
          <a:p>
            <a:r>
              <a:rPr lang="en-US" dirty="0"/>
              <a:t>Deep learning algorithms perform similarly when training datasets are poisoned by label-flipping samples.</a:t>
            </a:r>
          </a:p>
          <a:p>
            <a:r>
              <a:rPr lang="en-US" dirty="0"/>
              <a:t>Deep learning algorithms can be forced to learn the misleading knowledge in the random label-sample pairs. This is a typical over-fitting phenomenon. The victim can perceive this denial-of-service attack in the training process through the abnormal behavior of the model on the test dataset. However, at that time, a lot of computing resources and time have been consumed. The adversarial goal has been achieved already.</a:t>
            </a:r>
          </a:p>
          <a:p>
            <a:endParaRPr lang="en-AU" dirty="0"/>
          </a:p>
          <a:p>
            <a:endParaRPr lang="en-AU" dirty="0"/>
          </a:p>
          <a:p>
            <a:r>
              <a:rPr lang="en-US" dirty="0"/>
              <a:t>The attacking potential is limited, if adversaries are only able to modify the label information of training dataset. Therefore, they need to find the most harmful labels or data points to amplify the poisoning impact.</a:t>
            </a:r>
            <a:endParaRPr lang="en-AU" dirty="0"/>
          </a:p>
        </p:txBody>
      </p:sp>
      <p:sp>
        <p:nvSpPr>
          <p:cNvPr id="4" name="Slide Number Placeholder 3"/>
          <p:cNvSpPr>
            <a:spLocks noGrp="1"/>
          </p:cNvSpPr>
          <p:nvPr>
            <p:ph type="sldNum" sz="quarter" idx="10"/>
          </p:nvPr>
        </p:nvSpPr>
        <p:spPr/>
        <p:txBody>
          <a:bodyPr/>
          <a:lstStyle/>
          <a:p>
            <a:fld id="{EFCA3D6A-2D2A-4013-9C66-3B37E953BCDE}" type="slidenum">
              <a:rPr lang="zh-CN" altLang="en-US" smtClean="0"/>
              <a:t>12</a:t>
            </a:fld>
            <a:endParaRPr lang="zh-CN" altLang="en-US"/>
          </a:p>
        </p:txBody>
      </p:sp>
    </p:spTree>
    <p:extLst>
      <p:ext uri="{BB962C8B-B14F-4D97-AF65-F5344CB8AC3E}">
        <p14:creationId xmlns:p14="http://schemas.microsoft.com/office/powerpoint/2010/main" val="163026946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an adversary can poison the target model by inserting a certain pattern (white box in the upper left of the sample) into training samples.</a:t>
            </a:r>
            <a:endParaRPr lang="en-AU" dirty="0"/>
          </a:p>
        </p:txBody>
      </p:sp>
      <p:sp>
        <p:nvSpPr>
          <p:cNvPr id="4" name="Slide Number Placeholder 3"/>
          <p:cNvSpPr>
            <a:spLocks noGrp="1"/>
          </p:cNvSpPr>
          <p:nvPr>
            <p:ph type="sldNum" sz="quarter" idx="10"/>
          </p:nvPr>
        </p:nvSpPr>
        <p:spPr/>
        <p:txBody>
          <a:bodyPr/>
          <a:lstStyle/>
          <a:p>
            <a:fld id="{EFCA3D6A-2D2A-4013-9C66-3B37E953BCDE}" type="slidenum">
              <a:rPr lang="zh-CN" altLang="en-US" smtClean="0"/>
              <a:t>13</a:t>
            </a:fld>
            <a:endParaRPr lang="zh-CN" altLang="en-US"/>
          </a:p>
        </p:txBody>
      </p:sp>
    </p:spTree>
    <p:extLst>
      <p:ext uri="{BB962C8B-B14F-4D97-AF65-F5344CB8AC3E}">
        <p14:creationId xmlns:p14="http://schemas.microsoft.com/office/powerpoint/2010/main" val="259541970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EFCA3D6A-2D2A-4013-9C66-3B37E953BCDE}" type="slidenum">
              <a:rPr lang="zh-CN" altLang="en-US" smtClean="0"/>
              <a:t>14</a:t>
            </a:fld>
            <a:endParaRPr lang="zh-CN" altLang="en-US"/>
          </a:p>
        </p:txBody>
      </p:sp>
    </p:spTree>
    <p:extLst>
      <p:ext uri="{BB962C8B-B14F-4D97-AF65-F5344CB8AC3E}">
        <p14:creationId xmlns:p14="http://schemas.microsoft.com/office/powerpoint/2010/main" val="422301478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Optimization-based data manipulation, as the name implies, is a kind of method to generate poisoning samples by optimizing an objective function.</a:t>
            </a:r>
          </a:p>
          <a:p>
            <a:r>
              <a:rPr lang="en-US" dirty="0"/>
              <a:t>The goal is to generate samples that have negative influence on the training of the target model. First, an adversary designs an objective function. Then, some optimization methods could be used to optimize this objective function. The two key points are the design of the objective function and the optimization method. </a:t>
            </a:r>
          </a:p>
        </p:txBody>
      </p:sp>
      <p:sp>
        <p:nvSpPr>
          <p:cNvPr id="4" name="Slide Number Placeholder 3"/>
          <p:cNvSpPr>
            <a:spLocks noGrp="1"/>
          </p:cNvSpPr>
          <p:nvPr>
            <p:ph type="sldNum" sz="quarter" idx="10"/>
          </p:nvPr>
        </p:nvSpPr>
        <p:spPr/>
        <p:txBody>
          <a:bodyPr/>
          <a:lstStyle/>
          <a:p>
            <a:fld id="{EFCA3D6A-2D2A-4013-9C66-3B37E953BCDE}" type="slidenum">
              <a:rPr lang="zh-CN" altLang="en-US" smtClean="0"/>
              <a:t>15</a:t>
            </a:fld>
            <a:endParaRPr lang="zh-CN" altLang="en-US"/>
          </a:p>
        </p:txBody>
      </p:sp>
    </p:spTree>
    <p:extLst>
      <p:ext uri="{BB962C8B-B14F-4D97-AF65-F5344CB8AC3E}">
        <p14:creationId xmlns:p14="http://schemas.microsoft.com/office/powerpoint/2010/main" val="425214257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Optimization-based data manipulation, as the name implies, is a kind of method to generate poisoning samples by optimizing an objective function.</a:t>
            </a:r>
          </a:p>
          <a:p>
            <a:r>
              <a:rPr lang="en-US" dirty="0"/>
              <a:t>The goal is to generate samples that have negative influence on the training of the target model. First, an adversary designs an objective function. Then, some optimization methods could be used to optimize this objective function. The two key points are the design of the objective function and the optimization method. </a:t>
            </a:r>
          </a:p>
          <a:p>
            <a:endParaRPr lang="en-US" dirty="0"/>
          </a:p>
          <a:p>
            <a:r>
              <a:rPr lang="en-US" altLang="zh-CN" b="0" i="0" dirty="0">
                <a:solidFill>
                  <a:srgbClr val="222222"/>
                </a:solidFill>
                <a:effectLst/>
                <a:latin typeface="Arial" panose="020B0604020202020204" pitchFamily="34" charset="0"/>
              </a:rPr>
              <a:t>Saha, A., Subramanya, A., &amp; </a:t>
            </a:r>
            <a:r>
              <a:rPr lang="en-US" altLang="zh-CN" b="0" i="0" dirty="0" err="1">
                <a:solidFill>
                  <a:srgbClr val="222222"/>
                </a:solidFill>
                <a:effectLst/>
                <a:latin typeface="Arial" panose="020B0604020202020204" pitchFamily="34" charset="0"/>
              </a:rPr>
              <a:t>Pirsiavash</a:t>
            </a:r>
            <a:r>
              <a:rPr lang="en-US" altLang="zh-CN" b="0" i="0" dirty="0">
                <a:solidFill>
                  <a:srgbClr val="222222"/>
                </a:solidFill>
                <a:effectLst/>
                <a:latin typeface="Arial" panose="020B0604020202020204" pitchFamily="34" charset="0"/>
              </a:rPr>
              <a:t>, H. (2020, April). Hidden trigger backdoor attacks. In </a:t>
            </a:r>
            <a:r>
              <a:rPr lang="en-US" altLang="zh-CN" b="0" i="1" dirty="0">
                <a:solidFill>
                  <a:srgbClr val="222222"/>
                </a:solidFill>
                <a:effectLst/>
                <a:latin typeface="Arial" panose="020B0604020202020204" pitchFamily="34" charset="0"/>
              </a:rPr>
              <a:t>Proceedings of the AAAI conference on artificial intelligence</a:t>
            </a:r>
            <a:r>
              <a:rPr lang="en-US" altLang="zh-CN" b="0" i="0" dirty="0">
                <a:solidFill>
                  <a:srgbClr val="222222"/>
                </a:solidFill>
                <a:effectLst/>
                <a:latin typeface="Arial" panose="020B0604020202020204" pitchFamily="34" charset="0"/>
              </a:rPr>
              <a:t> (Vol. 34, No. 07, pp. 11957-11965).</a:t>
            </a:r>
            <a:endParaRPr lang="en-US" dirty="0"/>
          </a:p>
        </p:txBody>
      </p:sp>
      <p:sp>
        <p:nvSpPr>
          <p:cNvPr id="4" name="Slide Number Placeholder 3"/>
          <p:cNvSpPr>
            <a:spLocks noGrp="1"/>
          </p:cNvSpPr>
          <p:nvPr>
            <p:ph type="sldNum" sz="quarter" idx="10"/>
          </p:nvPr>
        </p:nvSpPr>
        <p:spPr/>
        <p:txBody>
          <a:bodyPr/>
          <a:lstStyle/>
          <a:p>
            <a:fld id="{EFCA3D6A-2D2A-4013-9C66-3B37E953BCDE}" type="slidenum">
              <a:rPr lang="zh-CN" altLang="en-US" smtClean="0"/>
              <a:t>16</a:t>
            </a:fld>
            <a:endParaRPr lang="zh-CN" altLang="en-US"/>
          </a:p>
        </p:txBody>
      </p:sp>
    </p:spTree>
    <p:extLst>
      <p:ext uri="{BB962C8B-B14F-4D97-AF65-F5344CB8AC3E}">
        <p14:creationId xmlns:p14="http://schemas.microsoft.com/office/powerpoint/2010/main" val="304890850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In training-based data manipulation, an adversary leverages an auxiliary model to help generate poisoning samples. There are two kinds of auxiliary models: the isomorphic auxiliary model and the generative model.</a:t>
            </a:r>
          </a:p>
          <a:p>
            <a:r>
              <a:rPr lang="en-US" dirty="0"/>
              <a:t>It is hard for adversaries to access the target model without restriction during the attack in a real-world scenario.</a:t>
            </a:r>
          </a:p>
          <a:p>
            <a:r>
              <a:rPr lang="en-US" dirty="0"/>
              <a:t>Therefore, to generate a better poisoning sample, an adversary can train an isomorphic auxiliary model to simulate potential target models. Then, construct poisoning samples based on its performance.</a:t>
            </a:r>
          </a:p>
        </p:txBody>
      </p:sp>
      <p:sp>
        <p:nvSpPr>
          <p:cNvPr id="4" name="Slide Number Placeholder 3"/>
          <p:cNvSpPr>
            <a:spLocks noGrp="1"/>
          </p:cNvSpPr>
          <p:nvPr>
            <p:ph type="sldNum" sz="quarter" idx="10"/>
          </p:nvPr>
        </p:nvSpPr>
        <p:spPr/>
        <p:txBody>
          <a:bodyPr/>
          <a:lstStyle/>
          <a:p>
            <a:fld id="{EFCA3D6A-2D2A-4013-9C66-3B37E953BCDE}" type="slidenum">
              <a:rPr lang="zh-CN" altLang="en-US" smtClean="0"/>
              <a:t>17</a:t>
            </a:fld>
            <a:endParaRPr lang="zh-CN" altLang="en-US"/>
          </a:p>
        </p:txBody>
      </p:sp>
    </p:spTree>
    <p:extLst>
      <p:ext uri="{BB962C8B-B14F-4D97-AF65-F5344CB8AC3E}">
        <p14:creationId xmlns:p14="http://schemas.microsoft.com/office/powerpoint/2010/main" val="238992778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EFCA3D6A-2D2A-4013-9C66-3B37E953BCDE}" type="slidenum">
              <a:rPr lang="zh-CN" altLang="en-US" smtClean="0"/>
              <a:t>18</a:t>
            </a:fld>
            <a:endParaRPr lang="zh-CN" altLang="en-US"/>
          </a:p>
        </p:txBody>
      </p:sp>
    </p:spTree>
    <p:extLst>
      <p:ext uri="{BB962C8B-B14F-4D97-AF65-F5344CB8AC3E}">
        <p14:creationId xmlns:p14="http://schemas.microsoft.com/office/powerpoint/2010/main" val="327950771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zh-CN" altLang="en-US" dirty="0"/>
          </a:p>
        </p:txBody>
      </p:sp>
      <p:sp>
        <p:nvSpPr>
          <p:cNvPr id="4" name="Slide Number Placeholder 3"/>
          <p:cNvSpPr>
            <a:spLocks noGrp="1"/>
          </p:cNvSpPr>
          <p:nvPr>
            <p:ph type="sldNum" sz="quarter" idx="5"/>
          </p:nvPr>
        </p:nvSpPr>
        <p:spPr/>
        <p:txBody>
          <a:bodyPr/>
          <a:lstStyle/>
          <a:p>
            <a:fld id="{7FB667E1-E601-4AAF-B95C-B25720D70A60}" type="slidenum">
              <a:rPr lang="en-US" altLang="zh-CN" smtClean="0"/>
              <a:t>19</a:t>
            </a:fld>
            <a:endParaRPr lang="en-US" altLang="zh-CN"/>
          </a:p>
        </p:txBody>
      </p:sp>
    </p:spTree>
    <p:extLst>
      <p:ext uri="{BB962C8B-B14F-4D97-AF65-F5344CB8AC3E}">
        <p14:creationId xmlns:p14="http://schemas.microsoft.com/office/powerpoint/2010/main" val="240129266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EFCA3D6A-2D2A-4013-9C66-3B37E953BCDE}" type="slidenum">
              <a:rPr lang="zh-CN" altLang="en-US" smtClean="0"/>
              <a:t>20</a:t>
            </a:fld>
            <a:endParaRPr lang="zh-CN" altLang="en-US"/>
          </a:p>
        </p:txBody>
      </p:sp>
    </p:spTree>
    <p:extLst>
      <p:ext uri="{BB962C8B-B14F-4D97-AF65-F5344CB8AC3E}">
        <p14:creationId xmlns:p14="http://schemas.microsoft.com/office/powerpoint/2010/main" val="289175435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EFCA3D6A-2D2A-4013-9C66-3B37E953BCDE}" type="slidenum">
              <a:rPr lang="zh-CN" altLang="en-US" smtClean="0"/>
              <a:t>21</a:t>
            </a:fld>
            <a:endParaRPr lang="zh-CN" altLang="en-US"/>
          </a:p>
        </p:txBody>
      </p:sp>
    </p:spTree>
    <p:extLst>
      <p:ext uri="{BB962C8B-B14F-4D97-AF65-F5344CB8AC3E}">
        <p14:creationId xmlns:p14="http://schemas.microsoft.com/office/powerpoint/2010/main" val="214896150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EFCA3D6A-2D2A-4013-9C66-3B37E953BCDE}" type="slidenum">
              <a:rPr lang="zh-CN" altLang="en-US" smtClean="0"/>
              <a:t>22</a:t>
            </a:fld>
            <a:endParaRPr lang="zh-CN" altLang="en-US"/>
          </a:p>
        </p:txBody>
      </p:sp>
    </p:spTree>
    <p:extLst>
      <p:ext uri="{BB962C8B-B14F-4D97-AF65-F5344CB8AC3E}">
        <p14:creationId xmlns:p14="http://schemas.microsoft.com/office/powerpoint/2010/main" val="350459670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EFCA3D6A-2D2A-4013-9C66-3B37E953BCDE}" type="slidenum">
              <a:rPr lang="zh-CN" altLang="en-US" smtClean="0"/>
              <a:t>23</a:t>
            </a:fld>
            <a:endParaRPr lang="zh-CN" altLang="en-US"/>
          </a:p>
        </p:txBody>
      </p:sp>
    </p:spTree>
    <p:extLst>
      <p:ext uri="{BB962C8B-B14F-4D97-AF65-F5344CB8AC3E}">
        <p14:creationId xmlns:p14="http://schemas.microsoft.com/office/powerpoint/2010/main" val="361635546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endParaRPr lang="en-AU"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p:cNvSpPr>
            <a:spLocks noGrp="1"/>
          </p:cNvSpPr>
          <p:nvPr>
            <p:ph type="dt" sz="half" idx="10"/>
          </p:nvPr>
        </p:nvSpPr>
        <p:spPr/>
        <p:txBody>
          <a:bodyPr/>
          <a:lstStyle/>
          <a:p>
            <a:fld id="{DFEA4663-1CE8-46CA-8819-117DC9D2A481}" type="datetimeFigureOut">
              <a:rPr lang="en-AU" smtClean="0"/>
              <a:t>6/10/2023</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98AD7488-9259-4D32-8D43-C85FF87DB2DF}" type="slidenum">
              <a:rPr lang="en-AU" smtClean="0"/>
              <a:t>‹#›</a:t>
            </a:fld>
            <a:endParaRPr lang="en-AU"/>
          </a:p>
        </p:txBody>
      </p:sp>
      <p:sp>
        <p:nvSpPr>
          <p:cNvPr id="8" name="AutoShape 4" descr="Image result for uts"/>
          <p:cNvSpPr>
            <a:spLocks noChangeAspect="1" noChangeArrowheads="1"/>
          </p:cNvSpPr>
          <p:nvPr userDrawn="1"/>
        </p:nvSpPr>
        <p:spPr bwMode="auto">
          <a:xfrm>
            <a:off x="155575" y="-144463"/>
            <a:ext cx="1715106" cy="1715112"/>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AU"/>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AU"/>
          </a:p>
        </p:txBody>
      </p:sp>
      <p:sp>
        <p:nvSpPr>
          <p:cNvPr id="3" name="Content Placeholder 2"/>
          <p:cNvSpPr>
            <a:spLocks noGrp="1"/>
          </p:cNvSpPr>
          <p:nvPr>
            <p:ph idx="1"/>
          </p:nvPr>
        </p:nvSpPr>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4" name="Date Placeholder 3"/>
          <p:cNvSpPr>
            <a:spLocks noGrp="1"/>
          </p:cNvSpPr>
          <p:nvPr>
            <p:ph type="dt" sz="half" idx="10"/>
          </p:nvPr>
        </p:nvSpPr>
        <p:spPr/>
        <p:txBody>
          <a:bodyPr/>
          <a:lstStyle/>
          <a:p>
            <a:fld id="{63D17C4A-3502-4E24-8C6F-E642403B27FB}" type="datetime1">
              <a:rPr lang="en-US" smtClean="0"/>
              <a:t>10/6/2023</a:t>
            </a:fld>
            <a:endParaRPr lang="en-US"/>
          </a:p>
        </p:txBody>
      </p:sp>
      <p:sp>
        <p:nvSpPr>
          <p:cNvPr id="5" name="Footer Placeholder 4"/>
          <p:cNvSpPr>
            <a:spLocks noGrp="1"/>
          </p:cNvSpPr>
          <p:nvPr>
            <p:ph type="ftr" sz="quarter" idx="11"/>
          </p:nvPr>
        </p:nvSpPr>
        <p:spPr/>
        <p:txBody>
          <a:bodyPr/>
          <a:lstStyle/>
          <a:p>
            <a:r>
              <a:rPr lang="en-US"/>
              <a:t>Add a footer</a:t>
            </a:r>
          </a:p>
        </p:txBody>
      </p:sp>
      <p:sp>
        <p:nvSpPr>
          <p:cNvPr id="6" name="Slide Number Placeholder 5"/>
          <p:cNvSpPr>
            <a:spLocks noGrp="1"/>
          </p:cNvSpPr>
          <p:nvPr>
            <p:ph type="sldNum" sz="quarter" idx="12"/>
          </p:nvPr>
        </p:nvSpPr>
        <p:spPr/>
        <p:txBody>
          <a:bodyPr/>
          <a:lstStyle/>
          <a:p>
            <a:fld id="{CA8D9AD5-F248-4919-864A-CFD76CC027D6}" type="slidenum">
              <a:rPr lang="en-AU" smtClean="0"/>
              <a:t>‹#›</a:t>
            </a:fld>
            <a:endParaRPr lang="en-AU"/>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BF4ABAEC-7446-49C8-B0D5-31A58A4BB276}" type="datetime1">
              <a:rPr lang="en-US" smtClean="0"/>
              <a:t>10/6/2023</a:t>
            </a:fld>
            <a:endParaRPr lang="en-US"/>
          </a:p>
        </p:txBody>
      </p:sp>
      <p:sp>
        <p:nvSpPr>
          <p:cNvPr id="5" name="Footer Placeholder 4"/>
          <p:cNvSpPr>
            <a:spLocks noGrp="1"/>
          </p:cNvSpPr>
          <p:nvPr>
            <p:ph type="ftr" sz="quarter" idx="11"/>
          </p:nvPr>
        </p:nvSpPr>
        <p:spPr/>
        <p:txBody>
          <a:bodyPr/>
          <a:lstStyle/>
          <a:p>
            <a:r>
              <a:rPr lang="en-US"/>
              <a:t>Add a footer</a:t>
            </a:r>
          </a:p>
        </p:txBody>
      </p:sp>
      <p:sp>
        <p:nvSpPr>
          <p:cNvPr id="6" name="Slide Number Placeholder 5"/>
          <p:cNvSpPr>
            <a:spLocks noGrp="1"/>
          </p:cNvSpPr>
          <p:nvPr>
            <p:ph type="sldNum" sz="quarter" idx="12"/>
          </p:nvPr>
        </p:nvSpPr>
        <p:spPr/>
        <p:txBody>
          <a:bodyPr/>
          <a:lstStyle/>
          <a:p>
            <a:fld id="{CA8D9AD5-F248-4919-864A-CFD76CC027D6}" type="slidenum">
              <a:rPr lang="en-AU" smtClean="0"/>
              <a:t>‹#›</a:t>
            </a:fld>
            <a:endParaRPr lang="en-AU"/>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AU"/>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p:cNvSpPr>
            <a:spLocks noGrp="1"/>
          </p:cNvSpPr>
          <p:nvPr>
            <p:ph type="dt" sz="half" idx="10"/>
          </p:nvPr>
        </p:nvSpPr>
        <p:spPr/>
        <p:txBody>
          <a:bodyPr/>
          <a:lstStyle/>
          <a:p>
            <a:fld id="{5881462B-FDFA-48A2-9E92-099F175D8C42}" type="datetime1">
              <a:rPr lang="en-US" smtClean="0"/>
              <a:t>10/6/2023</a:t>
            </a:fld>
            <a:endParaRPr lang="en-US"/>
          </a:p>
        </p:txBody>
      </p:sp>
      <p:sp>
        <p:nvSpPr>
          <p:cNvPr id="6" name="Footer Placeholder 5"/>
          <p:cNvSpPr>
            <a:spLocks noGrp="1"/>
          </p:cNvSpPr>
          <p:nvPr>
            <p:ph type="ftr" sz="quarter" idx="11"/>
          </p:nvPr>
        </p:nvSpPr>
        <p:spPr/>
        <p:txBody>
          <a:bodyPr/>
          <a:lstStyle/>
          <a:p>
            <a:r>
              <a:rPr lang="en-US"/>
              <a:t>Add a footer</a:t>
            </a:r>
          </a:p>
        </p:txBody>
      </p:sp>
      <p:sp>
        <p:nvSpPr>
          <p:cNvPr id="7" name="Slide Number Placeholder 6"/>
          <p:cNvSpPr>
            <a:spLocks noGrp="1"/>
          </p:cNvSpPr>
          <p:nvPr>
            <p:ph type="sldNum" sz="quarter" idx="12"/>
          </p:nvPr>
        </p:nvSpPr>
        <p:spPr/>
        <p:txBody>
          <a:bodyPr/>
          <a:lstStyle/>
          <a:p>
            <a:fld id="{0D06EF73-9DB8-4763-865F-2F88181A4732}" type="slidenum">
              <a:rPr lang="en-AU" smtClean="0"/>
              <a:t>‹#›</a:t>
            </a:fld>
            <a:endParaRPr lang="en-AU"/>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p:cNvSpPr>
            <a:spLocks noGrp="1"/>
          </p:cNvSpPr>
          <p:nvPr>
            <p:ph type="dt" sz="half" idx="10"/>
          </p:nvPr>
        </p:nvSpPr>
        <p:spPr/>
        <p:txBody>
          <a:bodyPr/>
          <a:lstStyle/>
          <a:p>
            <a:fld id="{A8621470-B14F-47C0-87A3-4D1A7132748F}" type="datetime1">
              <a:rPr lang="en-US" smtClean="0"/>
              <a:t>10/6/2023</a:t>
            </a:fld>
            <a:endParaRPr lang="en-US"/>
          </a:p>
        </p:txBody>
      </p:sp>
      <p:sp>
        <p:nvSpPr>
          <p:cNvPr id="8" name="Footer Placeholder 7"/>
          <p:cNvSpPr>
            <a:spLocks noGrp="1"/>
          </p:cNvSpPr>
          <p:nvPr>
            <p:ph type="ftr" sz="quarter" idx="11"/>
          </p:nvPr>
        </p:nvSpPr>
        <p:spPr/>
        <p:txBody>
          <a:bodyPr/>
          <a:lstStyle/>
          <a:p>
            <a:r>
              <a:rPr lang="en-US"/>
              <a:t>Add a footer</a:t>
            </a:r>
          </a:p>
        </p:txBody>
      </p:sp>
      <p:sp>
        <p:nvSpPr>
          <p:cNvPr id="9" name="Slide Number Placeholder 8"/>
          <p:cNvSpPr>
            <a:spLocks noGrp="1"/>
          </p:cNvSpPr>
          <p:nvPr>
            <p:ph type="sldNum" sz="quarter" idx="12"/>
          </p:nvPr>
        </p:nvSpPr>
        <p:spPr/>
        <p:txBody>
          <a:bodyPr/>
          <a:lstStyle/>
          <a:p>
            <a:fld id="{CA8D9AD5-F248-4919-864A-CFD76CC027D6}" type="slidenum">
              <a:rPr lang="en-AU" smtClean="0"/>
              <a:t>‹#›</a:t>
            </a:fld>
            <a:endParaRPr lang="en-AU"/>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AU"/>
          </a:p>
        </p:txBody>
      </p:sp>
      <p:sp>
        <p:nvSpPr>
          <p:cNvPr id="3" name="Date Placeholder 2"/>
          <p:cNvSpPr>
            <a:spLocks noGrp="1"/>
          </p:cNvSpPr>
          <p:nvPr>
            <p:ph type="dt" sz="half" idx="10"/>
          </p:nvPr>
        </p:nvSpPr>
        <p:spPr/>
        <p:txBody>
          <a:bodyPr/>
          <a:lstStyle/>
          <a:p>
            <a:fld id="{175803D0-9D57-40DF-874D-3488A0B526B0}" type="datetime1">
              <a:rPr lang="en-US" smtClean="0"/>
              <a:t>10/6/2023</a:t>
            </a:fld>
            <a:endParaRPr lang="en-US"/>
          </a:p>
        </p:txBody>
      </p:sp>
      <p:sp>
        <p:nvSpPr>
          <p:cNvPr id="4" name="Footer Placeholder 3"/>
          <p:cNvSpPr>
            <a:spLocks noGrp="1"/>
          </p:cNvSpPr>
          <p:nvPr>
            <p:ph type="ftr" sz="quarter" idx="11"/>
          </p:nvPr>
        </p:nvSpPr>
        <p:spPr/>
        <p:txBody>
          <a:bodyPr/>
          <a:lstStyle/>
          <a:p>
            <a:r>
              <a:rPr lang="en-US"/>
              <a:t>Add a footer</a:t>
            </a:r>
          </a:p>
        </p:txBody>
      </p:sp>
      <p:sp>
        <p:nvSpPr>
          <p:cNvPr id="5" name="Slide Number Placeholder 4"/>
          <p:cNvSpPr>
            <a:spLocks noGrp="1"/>
          </p:cNvSpPr>
          <p:nvPr>
            <p:ph type="sldNum" sz="quarter" idx="12"/>
          </p:nvPr>
        </p:nvSpPr>
        <p:spPr/>
        <p:txBody>
          <a:bodyPr/>
          <a:lstStyle/>
          <a:p>
            <a:fld id="{CA8D9AD5-F248-4919-864A-CFD76CC027D6}" type="slidenum">
              <a:rPr lang="en-AU" smtClean="0"/>
              <a:t>‹#›</a:t>
            </a:fld>
            <a:endParaRPr lang="en-AU"/>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ED5D7B-1E2C-43F2-BD41-097E059973F7}" type="datetime1">
              <a:rPr lang="en-US" smtClean="0"/>
              <a:t>10/6/2023</a:t>
            </a:fld>
            <a:endParaRPr lang="en-US"/>
          </a:p>
        </p:txBody>
      </p:sp>
      <p:sp>
        <p:nvSpPr>
          <p:cNvPr id="3" name="Footer Placeholder 2"/>
          <p:cNvSpPr>
            <a:spLocks noGrp="1"/>
          </p:cNvSpPr>
          <p:nvPr>
            <p:ph type="ftr" sz="quarter" idx="11"/>
          </p:nvPr>
        </p:nvSpPr>
        <p:spPr/>
        <p:txBody>
          <a:bodyPr/>
          <a:lstStyle/>
          <a:p>
            <a:r>
              <a:rPr lang="en-US"/>
              <a:t>Add a footer</a:t>
            </a:r>
          </a:p>
        </p:txBody>
      </p:sp>
      <p:sp>
        <p:nvSpPr>
          <p:cNvPr id="4" name="Slide Number Placeholder 3"/>
          <p:cNvSpPr>
            <a:spLocks noGrp="1"/>
          </p:cNvSpPr>
          <p:nvPr>
            <p:ph type="sldNum" sz="quarter" idx="12"/>
          </p:nvPr>
        </p:nvSpPr>
        <p:spPr/>
        <p:txBody>
          <a:bodyPr/>
          <a:lstStyle/>
          <a:p>
            <a:fld id="{CA8D9AD5-F248-4919-864A-CFD76CC027D6}" type="slidenum">
              <a:rPr lang="en-AU" smtClean="0"/>
              <a:t>‹#›</a:t>
            </a:fld>
            <a:endParaRPr lang="en-AU"/>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userDrawn="1">
  <p:cSld name="Title Slide_with image">
    <p:spTree>
      <p:nvGrpSpPr>
        <p:cNvPr id="1" name=""/>
        <p:cNvGrpSpPr/>
        <p:nvPr/>
      </p:nvGrpSpPr>
      <p:grpSpPr>
        <a:xfrm>
          <a:off x="0" y="0"/>
          <a:ext cx="0" cy="0"/>
          <a:chOff x="0" y="0"/>
          <a:chExt cx="0" cy="0"/>
        </a:xfrm>
      </p:grpSpPr>
      <p:pic>
        <p:nvPicPr>
          <p:cNvPr id="3" name="Picture 2" descr="17417 UTS Corp PPT 16x9_new logo.jpg"/>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68160"/>
          </a:xfrm>
          <a:prstGeom prst="rect">
            <a:avLst/>
          </a:prstGeom>
        </p:spPr>
      </p:pic>
      <p:sp>
        <p:nvSpPr>
          <p:cNvPr id="2" name="Title 1"/>
          <p:cNvSpPr>
            <a:spLocks noGrp="1"/>
          </p:cNvSpPr>
          <p:nvPr userDrawn="1">
            <p:ph type="ctrTitle"/>
          </p:nvPr>
        </p:nvSpPr>
        <p:spPr>
          <a:xfrm>
            <a:off x="3490513" y="3039415"/>
            <a:ext cx="7344912" cy="1231107"/>
          </a:xfrm>
        </p:spPr>
        <p:txBody>
          <a:bodyPr/>
          <a:lstStyle>
            <a:lvl1pPr>
              <a:lnSpc>
                <a:spcPts val="4800"/>
              </a:lnSpc>
              <a:defRPr sz="4267">
                <a:solidFill>
                  <a:schemeClr val="bg1"/>
                </a:solidFill>
              </a:defRPr>
            </a:lvl1pPr>
          </a:lstStyle>
          <a:p>
            <a:r>
              <a:rPr lang="en-US" noProof="0"/>
              <a:t>Click to edit Master title style</a:t>
            </a:r>
            <a:endParaRPr lang="en-AU" noProof="0" dirty="0"/>
          </a:p>
        </p:txBody>
      </p:sp>
      <p:sp>
        <p:nvSpPr>
          <p:cNvPr id="5" name="Footer Placeholder 4"/>
          <p:cNvSpPr>
            <a:spLocks noGrp="1"/>
          </p:cNvSpPr>
          <p:nvPr userDrawn="1">
            <p:ph type="ftr" sz="quarter" idx="11"/>
          </p:nvPr>
        </p:nvSpPr>
        <p:spPr>
          <a:xfrm>
            <a:off x="7934313" y="6370147"/>
            <a:ext cx="3860800" cy="307776"/>
          </a:xfrm>
        </p:spPr>
        <p:txBody>
          <a:bodyPr/>
          <a:lstStyle>
            <a:lvl1pPr>
              <a:defRPr>
                <a:solidFill>
                  <a:schemeClr val="tx1"/>
                </a:solidFill>
              </a:defRPr>
            </a:lvl1pPr>
          </a:lstStyle>
          <a:p>
            <a:r>
              <a:rPr lang="en-AU" dirty="0"/>
              <a:t>uts.edu.au</a:t>
            </a:r>
          </a:p>
        </p:txBody>
      </p:sp>
      <p:sp>
        <p:nvSpPr>
          <p:cNvPr id="29" name="TextBox 28"/>
          <p:cNvSpPr txBox="1"/>
          <p:nvPr userDrawn="1"/>
        </p:nvSpPr>
        <p:spPr>
          <a:xfrm>
            <a:off x="3434369" y="6429884"/>
            <a:ext cx="3777801" cy="222818"/>
          </a:xfrm>
          <a:prstGeom prst="rect">
            <a:avLst/>
          </a:prstGeom>
          <a:noFill/>
        </p:spPr>
        <p:txBody>
          <a:bodyPr wrap="square" lIns="0" tIns="0" rIns="0" bIns="0" rtlCol="0">
            <a:spAutoFit/>
          </a:bodyPr>
          <a:lstStyle/>
          <a:p>
            <a:pPr>
              <a:lnSpc>
                <a:spcPts val="1760"/>
              </a:lnSpc>
            </a:pPr>
            <a:r>
              <a:rPr lang="en-AU" sz="1467" cap="all" baseline="0" noProof="0" dirty="0">
                <a:solidFill>
                  <a:schemeClr val="bg1"/>
                </a:solidFill>
              </a:rPr>
              <a:t>uts cricos provider code: 00099f</a:t>
            </a:r>
          </a:p>
        </p:txBody>
      </p:sp>
    </p:spTree>
    <p:extLst>
      <p:ext uri="{BB962C8B-B14F-4D97-AF65-F5344CB8AC3E}">
        <p14:creationId xmlns:p14="http://schemas.microsoft.com/office/powerpoint/2010/main" val="416900973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421FD2E-BAAA-472C-961C-5C714F86B7CB}" type="datetime1">
              <a:rPr lang="en-US" smtClean="0"/>
              <a:t>10/6/2023</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Add a footer</a:t>
            </a:r>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A8D9AD5-F248-4919-864A-CFD76CC027D6}"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8.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3.svg"/></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13.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15.sv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3.svg"/><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4.png"/><Relationship Id="rId7" Type="http://schemas.openxmlformats.org/officeDocument/2006/relationships/image" Target="../media/image15.sv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8.svg"/><Relationship Id="rId4" Type="http://schemas.openxmlformats.org/officeDocument/2006/relationships/image" Target="../media/image17.png"/><Relationship Id="rId9" Type="http://schemas.microsoft.com/office/2007/relationships/hdphoto" Target="../media/hdphoto1.wdp"/></Relationships>
</file>

<file path=ppt/slides/_rels/slide1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ctrTitle"/>
          </p:nvPr>
        </p:nvSpPr>
        <p:spPr>
          <a:xfrm>
            <a:off x="3950741" y="2000132"/>
            <a:ext cx="8176665" cy="1231107"/>
          </a:xfrm>
        </p:spPr>
        <p:txBody>
          <a:bodyPr/>
          <a:lstStyle/>
          <a:p>
            <a:r>
              <a:rPr lang="en-US" dirty="0"/>
              <a:t>41183 PRIVACY PRESERVING</a:t>
            </a:r>
          </a:p>
        </p:txBody>
      </p:sp>
      <p:sp>
        <p:nvSpPr>
          <p:cNvPr id="4" name="Footer Placeholder 3"/>
          <p:cNvSpPr>
            <a:spLocks noGrp="1"/>
          </p:cNvSpPr>
          <p:nvPr>
            <p:ph type="ftr" sz="quarter" idx="11"/>
          </p:nvPr>
        </p:nvSpPr>
        <p:spPr/>
        <p:txBody>
          <a:bodyPr/>
          <a:lstStyle/>
          <a:p>
            <a:r>
              <a:rPr lang="en-AU" dirty="0"/>
              <a:t>uts.edu.au</a:t>
            </a:r>
          </a:p>
        </p:txBody>
      </p:sp>
      <p:sp>
        <p:nvSpPr>
          <p:cNvPr id="6" name="Title 4"/>
          <p:cNvSpPr txBox="1">
            <a:spLocks/>
          </p:cNvSpPr>
          <p:nvPr/>
        </p:nvSpPr>
        <p:spPr>
          <a:xfrm>
            <a:off x="4114800" y="3404008"/>
            <a:ext cx="8077199" cy="445507"/>
          </a:xfrm>
          <a:prstGeom prst="rect">
            <a:avLst/>
          </a:prstGeom>
        </p:spPr>
        <p:txBody>
          <a:bodyPr vert="horz" wrap="square" lIns="0" tIns="0" rIns="0" bIns="0" rtlCol="0" anchor="t" anchorCtr="0">
            <a:spAutoFit/>
          </a:bodyPr>
          <a:lstStyle>
            <a:lvl1pPr algn="l" defTabSz="914400" rtl="0" eaLnBrk="1" latinLnBrk="0" hangingPunct="1">
              <a:lnSpc>
                <a:spcPts val="3600"/>
              </a:lnSpc>
              <a:spcBef>
                <a:spcPct val="0"/>
              </a:spcBef>
              <a:buNone/>
              <a:defRPr sz="3200" b="1" i="0" kern="1200" cap="all" baseline="0">
                <a:solidFill>
                  <a:schemeClr val="bg1"/>
                </a:solidFill>
                <a:latin typeface="+mj-lt"/>
                <a:ea typeface="+mj-ea"/>
                <a:cs typeface="+mj-cs"/>
              </a:defRPr>
            </a:lvl1pPr>
          </a:lstStyle>
          <a:p>
            <a:r>
              <a:rPr lang="en-US" sz="2933" cap="none" dirty="0"/>
              <a:t>Lecture 10. Poisoning Attacks and Countermeasures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dirty="0"/>
              <a:t>Outline</a:t>
            </a:r>
          </a:p>
        </p:txBody>
      </p:sp>
      <p:sp>
        <p:nvSpPr>
          <p:cNvPr id="3" name="Content Placeholder 2"/>
          <p:cNvSpPr>
            <a:spLocks noGrp="1"/>
          </p:cNvSpPr>
          <p:nvPr>
            <p:ph idx="1"/>
          </p:nvPr>
        </p:nvSpPr>
        <p:spPr/>
        <p:txBody>
          <a:bodyPr/>
          <a:lstStyle/>
          <a:p>
            <a:r>
              <a:rPr lang="en-AU" dirty="0"/>
              <a:t>Poisoning attacks background</a:t>
            </a:r>
          </a:p>
          <a:p>
            <a:r>
              <a:rPr lang="en-US" dirty="0"/>
              <a:t>Poisoning attacks techniques</a:t>
            </a:r>
          </a:p>
          <a:p>
            <a:r>
              <a:rPr lang="en-AU" dirty="0"/>
              <a:t>Countermeasures against poisoning attacks</a:t>
            </a:r>
          </a:p>
          <a:p>
            <a:endParaRPr lang="en-AU" dirty="0"/>
          </a:p>
        </p:txBody>
      </p:sp>
      <p:sp>
        <p:nvSpPr>
          <p:cNvPr id="4" name="Slide Number Placeholder 3"/>
          <p:cNvSpPr>
            <a:spLocks noGrp="1"/>
          </p:cNvSpPr>
          <p:nvPr>
            <p:ph type="sldNum" sz="quarter" idx="12"/>
          </p:nvPr>
        </p:nvSpPr>
        <p:spPr/>
        <p:txBody>
          <a:bodyPr/>
          <a:lstStyle/>
          <a:p>
            <a:fld id="{CA8D9AD5-F248-4919-864A-CFD76CC027D6}" type="slidenum">
              <a:rPr lang="en-AU" smtClean="0"/>
              <a:t>2</a:t>
            </a:fld>
            <a:endParaRPr lang="en-AU"/>
          </a:p>
        </p:txBody>
      </p:sp>
    </p:spTree>
  </p:cSld>
  <p:clrMapOvr>
    <a:masterClrMapping/>
  </p:clrMapOvr>
  <mc:AlternateContent xmlns:mc="http://schemas.openxmlformats.org/markup-compatibility/2006" xmlns:p14="http://schemas.microsoft.com/office/powerpoint/2010/main">
    <mc:Choice Requires="p14">
      <p:transition p14:dur="0" advTm="33644"/>
    </mc:Choice>
    <mc:Fallback xmlns="">
      <p:transition advTm="33644"/>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AU" altLang="zh-CN" dirty="0"/>
              <a:t>Poisoning attacks background</a:t>
            </a:r>
          </a:p>
        </p:txBody>
      </p:sp>
      <p:sp>
        <p:nvSpPr>
          <p:cNvPr id="5" name="Text Placeholder 4"/>
          <p:cNvSpPr>
            <a:spLocks noGrp="1"/>
          </p:cNvSpPr>
          <p:nvPr>
            <p:ph type="body" idx="1"/>
          </p:nvPr>
        </p:nvSpPr>
        <p:spPr/>
        <p:txBody>
          <a:bodyPr/>
          <a:lstStyle/>
          <a:p>
            <a:endParaRPr lang="en-US"/>
          </a:p>
        </p:txBody>
      </p:sp>
      <p:sp>
        <p:nvSpPr>
          <p:cNvPr id="2" name="Slide Number Placeholder 1"/>
          <p:cNvSpPr>
            <a:spLocks noGrp="1"/>
          </p:cNvSpPr>
          <p:nvPr>
            <p:ph type="sldNum" sz="quarter" idx="12"/>
          </p:nvPr>
        </p:nvSpPr>
        <p:spPr/>
        <p:txBody>
          <a:bodyPr/>
          <a:lstStyle/>
          <a:p>
            <a:fld id="{CA8D9AD5-F248-4919-864A-CFD76CC027D6}" type="slidenum">
              <a:rPr lang="en-AU" smtClean="0"/>
              <a:t>3</a:t>
            </a:fld>
            <a:endParaRPr lang="en-AU"/>
          </a:p>
        </p:txBody>
      </p:sp>
    </p:spTree>
  </p:cSld>
  <p:clrMapOvr>
    <a:masterClrMapping/>
  </p:clrMapOvr>
  <mc:AlternateContent xmlns:mc="http://schemas.openxmlformats.org/markup-compatibility/2006" xmlns:p14="http://schemas.microsoft.com/office/powerpoint/2010/main">
    <mc:Choice Requires="p14">
      <p:transition p14:dur="0" advTm="3691"/>
    </mc:Choice>
    <mc:Fallback xmlns="">
      <p:transition advTm="3691"/>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dirty="0"/>
              <a:t>The environment of deep learning</a:t>
            </a:r>
          </a:p>
        </p:txBody>
      </p:sp>
      <p:sp>
        <p:nvSpPr>
          <p:cNvPr id="3" name="Content Placeholder 2"/>
          <p:cNvSpPr>
            <a:spLocks noGrp="1"/>
          </p:cNvSpPr>
          <p:nvPr>
            <p:ph idx="1"/>
          </p:nvPr>
        </p:nvSpPr>
        <p:spPr>
          <a:xfrm>
            <a:off x="702275" y="2203900"/>
            <a:ext cx="10515600" cy="3121861"/>
          </a:xfrm>
        </p:spPr>
        <p:txBody>
          <a:bodyPr>
            <a:normAutofit/>
          </a:bodyPr>
          <a:lstStyle/>
          <a:p>
            <a:r>
              <a:rPr lang="en-AU" dirty="0"/>
              <a:t>Large scale of training dataset</a:t>
            </a:r>
          </a:p>
          <a:p>
            <a:r>
              <a:rPr lang="en-US" dirty="0"/>
              <a:t>Open nature (especially in federated learning)</a:t>
            </a:r>
          </a:p>
          <a:p>
            <a:endParaRPr lang="en-US" dirty="0"/>
          </a:p>
          <a:p>
            <a:pPr marL="0" indent="0">
              <a:buNone/>
            </a:pPr>
            <a:r>
              <a:rPr lang="en-US" dirty="0"/>
              <a:t>As a result, it is vulnerable to poisoning attacks</a:t>
            </a:r>
          </a:p>
        </p:txBody>
      </p:sp>
      <p:sp>
        <p:nvSpPr>
          <p:cNvPr id="4" name="Slide Number Placeholder 3"/>
          <p:cNvSpPr>
            <a:spLocks noGrp="1"/>
          </p:cNvSpPr>
          <p:nvPr>
            <p:ph type="sldNum" sz="quarter" idx="12"/>
          </p:nvPr>
        </p:nvSpPr>
        <p:spPr/>
        <p:txBody>
          <a:bodyPr/>
          <a:lstStyle/>
          <a:p>
            <a:fld id="{CA8D9AD5-F248-4919-864A-CFD76CC027D6}" type="slidenum">
              <a:rPr lang="en-AU" smtClean="0"/>
              <a:t>4</a:t>
            </a:fld>
            <a:endParaRPr lang="en-AU"/>
          </a:p>
        </p:txBody>
      </p:sp>
    </p:spTree>
    <p:extLst>
      <p:ext uri="{BB962C8B-B14F-4D97-AF65-F5344CB8AC3E}">
        <p14:creationId xmlns:p14="http://schemas.microsoft.com/office/powerpoint/2010/main" val="3920979807"/>
      </p:ext>
    </p:extLst>
  </p:cSld>
  <p:clrMapOvr>
    <a:masterClrMapping/>
  </p:clrMapOvr>
  <mc:AlternateContent xmlns:mc="http://schemas.openxmlformats.org/markup-compatibility/2006" xmlns:p14="http://schemas.microsoft.com/office/powerpoint/2010/main">
    <mc:Choice Requires="p14">
      <p:transition p14:dur="0" advTm="33644"/>
    </mc:Choice>
    <mc:Fallback xmlns="">
      <p:transition advTm="33644"/>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dirty="0"/>
              <a:t>Purpose of poisoning attack</a:t>
            </a:r>
          </a:p>
        </p:txBody>
      </p:sp>
      <p:sp>
        <p:nvSpPr>
          <p:cNvPr id="3" name="Content Placeholder 2"/>
          <p:cNvSpPr>
            <a:spLocks noGrp="1"/>
          </p:cNvSpPr>
          <p:nvPr>
            <p:ph idx="1"/>
          </p:nvPr>
        </p:nvSpPr>
        <p:spPr>
          <a:xfrm>
            <a:off x="838200" y="1825624"/>
            <a:ext cx="10515600" cy="4241543"/>
          </a:xfrm>
        </p:spPr>
        <p:txBody>
          <a:bodyPr>
            <a:normAutofit/>
          </a:bodyPr>
          <a:lstStyle/>
          <a:p>
            <a:r>
              <a:rPr lang="en-AU" dirty="0"/>
              <a:t>Deny the convergence of the model training</a:t>
            </a:r>
          </a:p>
          <a:p>
            <a:r>
              <a:rPr lang="en-US" dirty="0"/>
              <a:t>Degrade the model utility</a:t>
            </a:r>
          </a:p>
          <a:p>
            <a:r>
              <a:rPr lang="en-AU" dirty="0"/>
              <a:t>Setup backdoors</a:t>
            </a:r>
          </a:p>
          <a:p>
            <a:endParaRPr lang="en-AU" dirty="0"/>
          </a:p>
          <a:p>
            <a:endParaRPr lang="en-AU" dirty="0"/>
          </a:p>
          <a:p>
            <a:endParaRPr lang="en-AU" dirty="0"/>
          </a:p>
          <a:p>
            <a:pPr marL="0" indent="0">
              <a:buNone/>
            </a:pPr>
            <a:r>
              <a:rPr lang="en-AU" dirty="0"/>
              <a:t>* Poisoning attack happens at the training stage</a:t>
            </a:r>
          </a:p>
          <a:p>
            <a:endParaRPr lang="en-AU" dirty="0"/>
          </a:p>
        </p:txBody>
      </p:sp>
      <p:sp>
        <p:nvSpPr>
          <p:cNvPr id="4" name="Slide Number Placeholder 3"/>
          <p:cNvSpPr>
            <a:spLocks noGrp="1"/>
          </p:cNvSpPr>
          <p:nvPr>
            <p:ph type="sldNum" sz="quarter" idx="12"/>
          </p:nvPr>
        </p:nvSpPr>
        <p:spPr/>
        <p:txBody>
          <a:bodyPr/>
          <a:lstStyle/>
          <a:p>
            <a:fld id="{CA8D9AD5-F248-4919-864A-CFD76CC027D6}" type="slidenum">
              <a:rPr lang="en-AU" smtClean="0"/>
              <a:t>5</a:t>
            </a:fld>
            <a:endParaRPr lang="en-AU"/>
          </a:p>
        </p:txBody>
      </p:sp>
    </p:spTree>
    <p:extLst>
      <p:ext uri="{BB962C8B-B14F-4D97-AF65-F5344CB8AC3E}">
        <p14:creationId xmlns:p14="http://schemas.microsoft.com/office/powerpoint/2010/main" val="2709669995"/>
      </p:ext>
    </p:extLst>
  </p:cSld>
  <p:clrMapOvr>
    <a:masterClrMapping/>
  </p:clrMapOvr>
  <mc:AlternateContent xmlns:mc="http://schemas.openxmlformats.org/markup-compatibility/2006" xmlns:p14="http://schemas.microsoft.com/office/powerpoint/2010/main">
    <mc:Choice Requires="p14">
      <p:transition p14:dur="0" advTm="33644"/>
    </mc:Choice>
    <mc:Fallback xmlns="">
      <p:transition advTm="33644"/>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343590" y="0"/>
            <a:ext cx="9509760" cy="897198"/>
          </a:xfrm>
        </p:spPr>
        <p:txBody>
          <a:bodyPr>
            <a:normAutofit/>
          </a:bodyPr>
          <a:lstStyle/>
          <a:p>
            <a:r>
              <a:rPr lang="en-US" altLang="zh-CN" dirty="0"/>
              <a:t>Target of Poisoning Attacks</a:t>
            </a:r>
            <a:endParaRPr lang="zh-CN" altLang="en-US" dirty="0"/>
          </a:p>
        </p:txBody>
      </p:sp>
      <p:sp>
        <p:nvSpPr>
          <p:cNvPr id="50" name="内容占位符 2"/>
          <p:cNvSpPr>
            <a:spLocks noGrp="1"/>
          </p:cNvSpPr>
          <p:nvPr>
            <p:ph idx="1"/>
          </p:nvPr>
        </p:nvSpPr>
        <p:spPr>
          <a:xfrm>
            <a:off x="1186073" y="1024614"/>
            <a:ext cx="9509760" cy="1083247"/>
          </a:xfrm>
        </p:spPr>
        <p:txBody>
          <a:bodyPr>
            <a:normAutofit fontScale="77500" lnSpcReduction="20000"/>
          </a:bodyPr>
          <a:lstStyle/>
          <a:p>
            <a:r>
              <a:rPr lang="en-US" dirty="0"/>
              <a:t>Supervised Learning (primary target)</a:t>
            </a:r>
          </a:p>
          <a:p>
            <a:r>
              <a:rPr lang="en-US" altLang="zh-CN" dirty="0"/>
              <a:t>Unsupervised Learning (secondary target)</a:t>
            </a:r>
          </a:p>
          <a:p>
            <a:r>
              <a:rPr lang="en-US" altLang="zh-CN" dirty="0"/>
              <a:t>Federated Learning (hot target)</a:t>
            </a:r>
          </a:p>
        </p:txBody>
      </p:sp>
      <p:sp>
        <p:nvSpPr>
          <p:cNvPr id="4" name="灯片编号占位符 3"/>
          <p:cNvSpPr>
            <a:spLocks noGrp="1"/>
          </p:cNvSpPr>
          <p:nvPr>
            <p:ph type="sldNum" sz="quarter" idx="12"/>
          </p:nvPr>
        </p:nvSpPr>
        <p:spPr/>
        <p:txBody>
          <a:bodyPr/>
          <a:lstStyle/>
          <a:p>
            <a:fld id="{0C913308-F349-4B6D-A68A-DD1791B4A57B}" type="slidenum">
              <a:rPr lang="zh-CN" altLang="en-US" smtClean="0"/>
              <a:t>6</a:t>
            </a:fld>
            <a:endParaRPr lang="zh-CN" altLang="en-US"/>
          </a:p>
        </p:txBody>
      </p:sp>
      <p:sp>
        <p:nvSpPr>
          <p:cNvPr id="8" name="标题 1">
            <a:extLst>
              <a:ext uri="{FF2B5EF4-FFF2-40B4-BE49-F238E27FC236}">
                <a16:creationId xmlns:a16="http://schemas.microsoft.com/office/drawing/2014/main" id="{134A2112-4CC1-1C8A-A2EE-5D35A89F5E06}"/>
              </a:ext>
            </a:extLst>
          </p:cNvPr>
          <p:cNvSpPr txBox="1">
            <a:spLocks/>
          </p:cNvSpPr>
          <p:nvPr/>
        </p:nvSpPr>
        <p:spPr>
          <a:xfrm>
            <a:off x="343590" y="2235277"/>
            <a:ext cx="11386589" cy="897198"/>
          </a:xfrm>
          <a:prstGeom prst="rect">
            <a:avLst/>
          </a:prstGeom>
        </p:spPr>
        <p:txBody>
          <a:bodyPr vert="horz" lIns="91440" tIns="45720" rIns="91440" bIns="45720" rtlCol="0" anchor="ctr">
            <a:normAutofit fontScale="9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altLang="zh-CN"/>
              <a:t>Capabilities of adversaries required in different attacks</a:t>
            </a:r>
            <a:endParaRPr lang="zh-CN" altLang="en-US" dirty="0"/>
          </a:p>
        </p:txBody>
      </p:sp>
      <p:sp>
        <p:nvSpPr>
          <p:cNvPr id="9" name="矩形 16">
            <a:extLst>
              <a:ext uri="{FF2B5EF4-FFF2-40B4-BE49-F238E27FC236}">
                <a16:creationId xmlns:a16="http://schemas.microsoft.com/office/drawing/2014/main" id="{12DF6B7E-9DA4-B749-5870-541C6BB6EFE4}"/>
              </a:ext>
            </a:extLst>
          </p:cNvPr>
          <p:cNvSpPr/>
          <p:nvPr/>
        </p:nvSpPr>
        <p:spPr>
          <a:xfrm>
            <a:off x="8753491" y="4898268"/>
            <a:ext cx="1027028" cy="245696"/>
          </a:xfrm>
          <a:prstGeom prst="rect">
            <a:avLst/>
          </a:prstGeom>
          <a:solidFill>
            <a:schemeClr val="accent3">
              <a:lumMod val="40000"/>
              <a:lumOff val="60000"/>
            </a:schemeClr>
          </a:solidFill>
          <a:ln>
            <a:solidFill>
              <a:schemeClr val="accent3">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Times New Roman" panose="02020603050405020304" pitchFamily="18" charset="0"/>
              <a:cs typeface="Times New Roman" panose="02020603050405020304" pitchFamily="18" charset="0"/>
            </a:endParaRPr>
          </a:p>
        </p:txBody>
      </p:sp>
      <p:pic>
        <p:nvPicPr>
          <p:cNvPr id="10" name="图形 197" descr="区块链 纯色填充">
            <a:extLst>
              <a:ext uri="{FF2B5EF4-FFF2-40B4-BE49-F238E27FC236}">
                <a16:creationId xmlns:a16="http://schemas.microsoft.com/office/drawing/2014/main" id="{2EE13FF4-142A-3A77-FE2D-68FB35CF6C24}"/>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758367" y="3132475"/>
            <a:ext cx="1478233" cy="1478233"/>
          </a:xfrm>
          <a:prstGeom prst="rect">
            <a:avLst/>
          </a:prstGeom>
        </p:spPr>
      </p:pic>
      <p:sp>
        <p:nvSpPr>
          <p:cNvPr id="11" name="文本框 200">
            <a:extLst>
              <a:ext uri="{FF2B5EF4-FFF2-40B4-BE49-F238E27FC236}">
                <a16:creationId xmlns:a16="http://schemas.microsoft.com/office/drawing/2014/main" id="{2C44C4AE-E672-8E8F-0E44-0939A9B5F481}"/>
              </a:ext>
            </a:extLst>
          </p:cNvPr>
          <p:cNvSpPr txBox="1"/>
          <p:nvPr/>
        </p:nvSpPr>
        <p:spPr>
          <a:xfrm>
            <a:off x="3651449" y="3581901"/>
            <a:ext cx="979755" cy="707886"/>
          </a:xfrm>
          <a:prstGeom prst="rect">
            <a:avLst/>
          </a:prstGeom>
          <a:noFill/>
        </p:spPr>
        <p:txBody>
          <a:bodyPr wrap="none" rtlCol="0">
            <a:spAutoFit/>
          </a:bodyPr>
          <a:lstStyle/>
          <a:p>
            <a:pPr algn="ctr"/>
            <a:r>
              <a:rPr lang="en-US" altLang="zh-CN" sz="2000" dirty="0">
                <a:latin typeface="Times New Roman" panose="02020603050405020304" pitchFamily="18" charset="0"/>
                <a:cs typeface="Times New Roman" panose="02020603050405020304" pitchFamily="18" charset="0"/>
              </a:rPr>
              <a:t>model </a:t>
            </a:r>
          </a:p>
          <a:p>
            <a:pPr algn="ctr"/>
            <a:r>
              <a:rPr lang="en-US" altLang="zh-CN" sz="2000" dirty="0">
                <a:latin typeface="Times New Roman" panose="02020603050405020304" pitchFamily="18" charset="0"/>
                <a:cs typeface="Times New Roman" panose="02020603050405020304" pitchFamily="18" charset="0"/>
              </a:rPr>
              <a:t>training</a:t>
            </a:r>
            <a:endParaRPr lang="zh-CN" altLang="en-US" sz="2000" dirty="0">
              <a:latin typeface="Times New Roman" panose="02020603050405020304" pitchFamily="18" charset="0"/>
              <a:cs typeface="Times New Roman" panose="02020603050405020304" pitchFamily="18" charset="0"/>
            </a:endParaRPr>
          </a:p>
        </p:txBody>
      </p:sp>
      <p:pic>
        <p:nvPicPr>
          <p:cNvPr id="12" name="图片 203">
            <a:extLst>
              <a:ext uri="{FF2B5EF4-FFF2-40B4-BE49-F238E27FC236}">
                <a16:creationId xmlns:a16="http://schemas.microsoft.com/office/drawing/2014/main" id="{990EC6E4-099D-A573-F35D-9B0D895BC522}"/>
              </a:ext>
            </a:extLst>
          </p:cNvPr>
          <p:cNvPicPr>
            <a:picLocks noChangeAspect="1"/>
          </p:cNvPicPr>
          <p:nvPr/>
        </p:nvPicPr>
        <p:blipFill>
          <a:blip r:embed="rId5"/>
          <a:stretch>
            <a:fillRect/>
          </a:stretch>
        </p:blipFill>
        <p:spPr>
          <a:xfrm>
            <a:off x="5091370" y="3295305"/>
            <a:ext cx="1770107" cy="1233448"/>
          </a:xfrm>
          <a:prstGeom prst="rect">
            <a:avLst/>
          </a:prstGeom>
        </p:spPr>
      </p:pic>
      <p:sp>
        <p:nvSpPr>
          <p:cNvPr id="13" name="文本框 200">
            <a:extLst>
              <a:ext uri="{FF2B5EF4-FFF2-40B4-BE49-F238E27FC236}">
                <a16:creationId xmlns:a16="http://schemas.microsoft.com/office/drawing/2014/main" id="{9C3A9657-8DED-BBD1-2CBB-932EDD723A4D}"/>
              </a:ext>
            </a:extLst>
          </p:cNvPr>
          <p:cNvSpPr txBox="1"/>
          <p:nvPr/>
        </p:nvSpPr>
        <p:spPr>
          <a:xfrm>
            <a:off x="7160658" y="3593409"/>
            <a:ext cx="1151277" cy="400110"/>
          </a:xfrm>
          <a:prstGeom prst="rect">
            <a:avLst/>
          </a:prstGeom>
          <a:noFill/>
        </p:spPr>
        <p:txBody>
          <a:bodyPr wrap="none" rtlCol="0">
            <a:spAutoFit/>
          </a:bodyPr>
          <a:lstStyle/>
          <a:p>
            <a:r>
              <a:rPr lang="en-US" altLang="zh-CN" sz="2000" dirty="0">
                <a:latin typeface="Times New Roman" panose="02020603050405020304" pitchFamily="18" charset="0"/>
                <a:cs typeface="Times New Roman" panose="02020603050405020304" pitchFamily="18" charset="0"/>
              </a:rPr>
              <a:t>inference</a:t>
            </a:r>
          </a:p>
        </p:txBody>
      </p:sp>
      <p:grpSp>
        <p:nvGrpSpPr>
          <p:cNvPr id="14" name="Group 13">
            <a:extLst>
              <a:ext uri="{FF2B5EF4-FFF2-40B4-BE49-F238E27FC236}">
                <a16:creationId xmlns:a16="http://schemas.microsoft.com/office/drawing/2014/main" id="{011474BD-BAF6-7B00-2F86-BA3511CB587D}"/>
              </a:ext>
            </a:extLst>
          </p:cNvPr>
          <p:cNvGrpSpPr/>
          <p:nvPr/>
        </p:nvGrpSpPr>
        <p:grpSpPr>
          <a:xfrm>
            <a:off x="1872861" y="4768334"/>
            <a:ext cx="1856932" cy="1073326"/>
            <a:chOff x="2638108" y="2356893"/>
            <a:chExt cx="1856932" cy="1073326"/>
          </a:xfrm>
        </p:grpSpPr>
        <p:sp>
          <p:nvSpPr>
            <p:cNvPr id="15" name="矩形 38">
              <a:extLst>
                <a:ext uri="{FF2B5EF4-FFF2-40B4-BE49-F238E27FC236}">
                  <a16:creationId xmlns:a16="http://schemas.microsoft.com/office/drawing/2014/main" id="{FA41B58C-B059-0498-B213-530E8B8E2D9B}"/>
                </a:ext>
              </a:extLst>
            </p:cNvPr>
            <p:cNvSpPr/>
            <p:nvPr/>
          </p:nvSpPr>
          <p:spPr>
            <a:xfrm>
              <a:off x="2692048" y="2452759"/>
              <a:ext cx="1459460" cy="549064"/>
            </a:xfrm>
            <a:prstGeom prst="rect">
              <a:avLst/>
            </a:prstGeom>
            <a:solidFill>
              <a:srgbClr val="FFABAB"/>
            </a:solidFill>
            <a:ln>
              <a:solidFill>
                <a:srgbClr val="FFABAB"/>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latin typeface="Times New Roman" panose="02020603050405020304" pitchFamily="18" charset="0"/>
                <a:cs typeface="Times New Roman" panose="02020603050405020304" pitchFamily="18" charset="0"/>
              </a:endParaRPr>
            </a:p>
          </p:txBody>
        </p:sp>
        <p:cxnSp>
          <p:nvCxnSpPr>
            <p:cNvPr id="16" name="直接箭头连接符 249">
              <a:extLst>
                <a:ext uri="{FF2B5EF4-FFF2-40B4-BE49-F238E27FC236}">
                  <a16:creationId xmlns:a16="http://schemas.microsoft.com/office/drawing/2014/main" id="{740508D2-DCAD-2398-9F32-88718CE4F992}"/>
                </a:ext>
              </a:extLst>
            </p:cNvPr>
            <p:cNvCxnSpPr>
              <a:cxnSpLocks/>
            </p:cNvCxnSpPr>
            <p:nvPr/>
          </p:nvCxnSpPr>
          <p:spPr>
            <a:xfrm flipV="1">
              <a:off x="2692048" y="2464809"/>
              <a:ext cx="5" cy="575412"/>
            </a:xfrm>
            <a:prstGeom prst="straightConnector1">
              <a:avLst/>
            </a:prstGeom>
            <a:ln w="38100">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7" name="文本框 37">
              <a:extLst>
                <a:ext uri="{FF2B5EF4-FFF2-40B4-BE49-F238E27FC236}">
                  <a16:creationId xmlns:a16="http://schemas.microsoft.com/office/drawing/2014/main" id="{8E4DDFBE-9CE4-9D09-E207-DCB1C2A82B40}"/>
                </a:ext>
              </a:extLst>
            </p:cNvPr>
            <p:cNvSpPr txBox="1"/>
            <p:nvPr/>
          </p:nvSpPr>
          <p:spPr>
            <a:xfrm>
              <a:off x="2638108" y="2356893"/>
              <a:ext cx="1612460" cy="707886"/>
            </a:xfrm>
            <a:prstGeom prst="rect">
              <a:avLst/>
            </a:prstGeom>
            <a:noFill/>
          </p:spPr>
          <p:txBody>
            <a:bodyPr wrap="square">
              <a:spAutoFit/>
            </a:bodyPr>
            <a:lstStyle/>
            <a:p>
              <a:r>
                <a:rPr lang="en-US" altLang="zh-CN" sz="2000" dirty="0" err="1">
                  <a:latin typeface="Times New Roman" panose="02020603050405020304" pitchFamily="18" charset="0"/>
                  <a:cs typeface="Times New Roman" panose="02020603050405020304" pitchFamily="18" charset="0"/>
                </a:rPr>
                <a:t>i</a:t>
              </a:r>
              <a:r>
                <a:rPr lang="zh-CN" altLang="en-US" sz="2000" dirty="0">
                  <a:latin typeface="Times New Roman" panose="02020603050405020304" pitchFamily="18" charset="0"/>
                  <a:cs typeface="Times New Roman" panose="02020603050405020304" pitchFamily="18" charset="0"/>
                </a:rPr>
                <a:t>njection</a:t>
              </a:r>
              <a:endParaRPr lang="zh-CN" altLang="en-US" sz="1600" dirty="0">
                <a:latin typeface="Times New Roman" panose="02020603050405020304" pitchFamily="18" charset="0"/>
                <a:cs typeface="Times New Roman" panose="02020603050405020304" pitchFamily="18" charset="0"/>
              </a:endParaRPr>
            </a:p>
            <a:p>
              <a:r>
                <a:rPr lang="en-US" altLang="zh-CN" sz="2000" dirty="0">
                  <a:latin typeface="Times New Roman" panose="02020603050405020304" pitchFamily="18" charset="0"/>
                  <a:cs typeface="Times New Roman" panose="02020603050405020304" pitchFamily="18" charset="0"/>
                </a:rPr>
                <a:t>m</a:t>
              </a:r>
              <a:r>
                <a:rPr lang="zh-CN" altLang="en-US" sz="2000" dirty="0">
                  <a:latin typeface="Times New Roman" panose="02020603050405020304" pitchFamily="18" charset="0"/>
                  <a:cs typeface="Times New Roman" panose="02020603050405020304" pitchFamily="18" charset="0"/>
                </a:rPr>
                <a:t>odificaiton</a:t>
              </a:r>
              <a:r>
                <a:rPr lang="zh-CN" altLang="en-US" dirty="0">
                  <a:latin typeface="Times New Roman" panose="02020603050405020304" pitchFamily="18" charset="0"/>
                  <a:cs typeface="Times New Roman" panose="02020603050405020304" pitchFamily="18" charset="0"/>
                </a:rPr>
                <a:t> </a:t>
              </a:r>
              <a:endParaRPr lang="en-US" altLang="zh-CN" dirty="0">
                <a:latin typeface="Times New Roman" panose="02020603050405020304" pitchFamily="18" charset="0"/>
                <a:cs typeface="Times New Roman" panose="02020603050405020304" pitchFamily="18" charset="0"/>
              </a:endParaRPr>
            </a:p>
          </p:txBody>
        </p:sp>
        <p:sp>
          <p:nvSpPr>
            <p:cNvPr id="18" name="矩形: 圆角 28">
              <a:extLst>
                <a:ext uri="{FF2B5EF4-FFF2-40B4-BE49-F238E27FC236}">
                  <a16:creationId xmlns:a16="http://schemas.microsoft.com/office/drawing/2014/main" id="{8640CA92-A813-0BCE-473A-D6E9FFA25162}"/>
                </a:ext>
              </a:extLst>
            </p:cNvPr>
            <p:cNvSpPr/>
            <p:nvPr/>
          </p:nvSpPr>
          <p:spPr>
            <a:xfrm>
              <a:off x="2650866" y="3061340"/>
              <a:ext cx="1844174" cy="368879"/>
            </a:xfrm>
            <a:prstGeom prst="roundRect">
              <a:avLst/>
            </a:prstGeom>
            <a:noFill/>
            <a:ln>
              <a:solidFill>
                <a:srgbClr val="0070C0"/>
              </a:solidFill>
              <a:prstDash val="lg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latin typeface="Times New Roman" panose="02020603050405020304" pitchFamily="18" charset="0"/>
                  <a:cs typeface="Times New Roman" panose="02020603050405020304" pitchFamily="18" charset="0"/>
                </a:rPr>
                <a:t>poisoning attack</a:t>
              </a:r>
              <a:endParaRPr lang="zh-CN" altLang="en-US" dirty="0">
                <a:solidFill>
                  <a:schemeClr val="tx1"/>
                </a:solidFill>
                <a:latin typeface="Times New Roman" panose="02020603050405020304" pitchFamily="18" charset="0"/>
                <a:cs typeface="Times New Roman" panose="02020603050405020304" pitchFamily="18" charset="0"/>
              </a:endParaRPr>
            </a:p>
          </p:txBody>
        </p:sp>
      </p:grpSp>
      <p:grpSp>
        <p:nvGrpSpPr>
          <p:cNvPr id="19" name="Group 18">
            <a:extLst>
              <a:ext uri="{FF2B5EF4-FFF2-40B4-BE49-F238E27FC236}">
                <a16:creationId xmlns:a16="http://schemas.microsoft.com/office/drawing/2014/main" id="{C327A613-C4D9-CDA2-EBB3-5E555A2AA1BD}"/>
              </a:ext>
            </a:extLst>
          </p:cNvPr>
          <p:cNvGrpSpPr/>
          <p:nvPr/>
        </p:nvGrpSpPr>
        <p:grpSpPr>
          <a:xfrm>
            <a:off x="5091370" y="4772818"/>
            <a:ext cx="2367985" cy="1452338"/>
            <a:chOff x="5851297" y="2356893"/>
            <a:chExt cx="2367985" cy="1452338"/>
          </a:xfrm>
        </p:grpSpPr>
        <p:sp>
          <p:nvSpPr>
            <p:cNvPr id="20" name="矩形 16">
              <a:extLst>
                <a:ext uri="{FF2B5EF4-FFF2-40B4-BE49-F238E27FC236}">
                  <a16:creationId xmlns:a16="http://schemas.microsoft.com/office/drawing/2014/main" id="{FDCA5F88-E93B-DA21-2ACE-723E7B812B9C}"/>
                </a:ext>
              </a:extLst>
            </p:cNvPr>
            <p:cNvSpPr/>
            <p:nvPr/>
          </p:nvSpPr>
          <p:spPr>
            <a:xfrm>
              <a:off x="5919153" y="2997339"/>
              <a:ext cx="2133928" cy="477931"/>
            </a:xfrm>
            <a:prstGeom prst="rect">
              <a:avLst/>
            </a:prstGeom>
            <a:solidFill>
              <a:schemeClr val="accent3">
                <a:lumMod val="40000"/>
                <a:lumOff val="60000"/>
              </a:schemeClr>
            </a:solidFill>
            <a:ln>
              <a:solidFill>
                <a:schemeClr val="accent3">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Times New Roman" panose="02020603050405020304" pitchFamily="18" charset="0"/>
                <a:cs typeface="Times New Roman" panose="02020603050405020304" pitchFamily="18" charset="0"/>
              </a:endParaRPr>
            </a:p>
          </p:txBody>
        </p:sp>
        <p:sp>
          <p:nvSpPr>
            <p:cNvPr id="21" name="文本框 7">
              <a:extLst>
                <a:ext uri="{FF2B5EF4-FFF2-40B4-BE49-F238E27FC236}">
                  <a16:creationId xmlns:a16="http://schemas.microsoft.com/office/drawing/2014/main" id="{9B7FB869-7500-1E27-6904-C23E662C527D}"/>
                </a:ext>
              </a:extLst>
            </p:cNvPr>
            <p:cNvSpPr txBox="1"/>
            <p:nvPr/>
          </p:nvSpPr>
          <p:spPr>
            <a:xfrm>
              <a:off x="5883410" y="2356893"/>
              <a:ext cx="1901359" cy="1200329"/>
            </a:xfrm>
            <a:prstGeom prst="rect">
              <a:avLst/>
            </a:prstGeom>
            <a:noFill/>
          </p:spPr>
          <p:txBody>
            <a:bodyPr wrap="square">
              <a:spAutoFit/>
            </a:bodyPr>
            <a:lstStyle/>
            <a:p>
              <a:r>
                <a:rPr lang="en-US" altLang="zh-CN" dirty="0">
                  <a:latin typeface="Times New Roman" panose="02020603050405020304" pitchFamily="18" charset="0"/>
                  <a:cs typeface="Times New Roman" panose="02020603050405020304" pitchFamily="18" charset="0"/>
                </a:rPr>
                <a:t>a</a:t>
              </a:r>
              <a:r>
                <a:rPr lang="zh-CN" altLang="en-US" dirty="0">
                  <a:latin typeface="Times New Roman" panose="02020603050405020304" pitchFamily="18" charset="0"/>
                  <a:cs typeface="Times New Roman" panose="02020603050405020304" pitchFamily="18" charset="0"/>
                </a:rPr>
                <a:t>rchitecture</a:t>
              </a:r>
            </a:p>
            <a:p>
              <a:r>
                <a:rPr lang="en-US" altLang="zh-CN" dirty="0">
                  <a:latin typeface="Times New Roman" panose="02020603050405020304" pitchFamily="18" charset="0"/>
                  <a:cs typeface="Times New Roman" panose="02020603050405020304" pitchFamily="18" charset="0"/>
                </a:rPr>
                <a:t>p</a:t>
              </a:r>
              <a:r>
                <a:rPr lang="zh-CN" altLang="en-US" dirty="0">
                  <a:latin typeface="Times New Roman" panose="02020603050405020304" pitchFamily="18" charset="0"/>
                  <a:cs typeface="Times New Roman" panose="02020603050405020304" pitchFamily="18" charset="0"/>
                </a:rPr>
                <a:t>arameters </a:t>
              </a:r>
              <a:endParaRPr lang="en-US" altLang="zh-CN" dirty="0">
                <a:latin typeface="Times New Roman" panose="02020603050405020304" pitchFamily="18" charset="0"/>
                <a:cs typeface="Times New Roman" panose="02020603050405020304" pitchFamily="18" charset="0"/>
              </a:endParaRPr>
            </a:p>
            <a:p>
              <a:r>
                <a:rPr lang="en-US" altLang="zh-CN" dirty="0">
                  <a:latin typeface="Times New Roman" panose="02020603050405020304" pitchFamily="18" charset="0"/>
                  <a:cs typeface="Times New Roman" panose="02020603050405020304" pitchFamily="18" charset="0"/>
                </a:rPr>
                <a:t>p</a:t>
              </a:r>
              <a:r>
                <a:rPr lang="zh-CN" altLang="en-US" dirty="0">
                  <a:latin typeface="Times New Roman" panose="02020603050405020304" pitchFamily="18" charset="0"/>
                  <a:cs typeface="Times New Roman" panose="02020603050405020304" pitchFamily="18" charset="0"/>
                </a:rPr>
                <a:t>ipeline</a:t>
              </a:r>
            </a:p>
            <a:p>
              <a:r>
                <a:rPr lang="en-US" altLang="zh-CN" dirty="0">
                  <a:latin typeface="Times New Roman" panose="02020603050405020304" pitchFamily="18" charset="0"/>
                  <a:cs typeface="Times New Roman" panose="02020603050405020304" pitchFamily="18" charset="0"/>
                </a:rPr>
                <a:t>m</a:t>
              </a:r>
              <a:r>
                <a:rPr lang="zh-CN" altLang="en-US" dirty="0">
                  <a:latin typeface="Times New Roman" panose="02020603050405020304" pitchFamily="18" charset="0"/>
                  <a:cs typeface="Times New Roman" panose="02020603050405020304" pitchFamily="18" charset="0"/>
                </a:rPr>
                <a:t>odel</a:t>
              </a:r>
            </a:p>
          </p:txBody>
        </p:sp>
        <p:sp>
          <p:nvSpPr>
            <p:cNvPr id="22" name="文本框 13">
              <a:extLst>
                <a:ext uri="{FF2B5EF4-FFF2-40B4-BE49-F238E27FC236}">
                  <a16:creationId xmlns:a16="http://schemas.microsoft.com/office/drawing/2014/main" id="{8CFBFBA6-A60A-9E92-0C96-EABDD680CFBF}"/>
                </a:ext>
              </a:extLst>
            </p:cNvPr>
            <p:cNvSpPr txBox="1"/>
            <p:nvPr/>
          </p:nvSpPr>
          <p:spPr>
            <a:xfrm>
              <a:off x="7051780" y="3117627"/>
              <a:ext cx="1167502" cy="369332"/>
            </a:xfrm>
            <a:prstGeom prst="rect">
              <a:avLst/>
            </a:prstGeom>
            <a:noFill/>
          </p:spPr>
          <p:txBody>
            <a:bodyPr wrap="square">
              <a:spAutoFit/>
            </a:bodyPr>
            <a:lstStyle/>
            <a:p>
              <a:r>
                <a:rPr lang="zh-CN" altLang="en-US" dirty="0">
                  <a:latin typeface="Times New Roman" panose="02020603050405020304" pitchFamily="18" charset="0"/>
                  <a:cs typeface="Times New Roman" panose="02020603050405020304" pitchFamily="18" charset="0"/>
                </a:rPr>
                <a:t>black box</a:t>
              </a:r>
            </a:p>
          </p:txBody>
        </p:sp>
        <p:sp>
          <p:nvSpPr>
            <p:cNvPr id="23" name="文本框 15">
              <a:extLst>
                <a:ext uri="{FF2B5EF4-FFF2-40B4-BE49-F238E27FC236}">
                  <a16:creationId xmlns:a16="http://schemas.microsoft.com/office/drawing/2014/main" id="{F2064497-88AC-FD50-2EA1-531C8CDF9C05}"/>
                </a:ext>
              </a:extLst>
            </p:cNvPr>
            <p:cNvSpPr txBox="1"/>
            <p:nvPr/>
          </p:nvSpPr>
          <p:spPr>
            <a:xfrm>
              <a:off x="7042573" y="2666405"/>
              <a:ext cx="1093630" cy="369332"/>
            </a:xfrm>
            <a:prstGeom prst="rect">
              <a:avLst/>
            </a:prstGeom>
            <a:noFill/>
          </p:spPr>
          <p:txBody>
            <a:bodyPr wrap="square">
              <a:spAutoFit/>
            </a:bodyPr>
            <a:lstStyle/>
            <a:p>
              <a:r>
                <a:rPr lang="zh-CN" altLang="en-US" dirty="0">
                  <a:latin typeface="Times New Roman" panose="02020603050405020304" pitchFamily="18" charset="0"/>
                  <a:cs typeface="Times New Roman" panose="02020603050405020304" pitchFamily="18" charset="0"/>
                </a:rPr>
                <a:t>white box</a:t>
              </a:r>
            </a:p>
          </p:txBody>
        </p:sp>
        <p:cxnSp>
          <p:nvCxnSpPr>
            <p:cNvPr id="24" name="直接箭头连接符 249">
              <a:extLst>
                <a:ext uri="{FF2B5EF4-FFF2-40B4-BE49-F238E27FC236}">
                  <a16:creationId xmlns:a16="http://schemas.microsoft.com/office/drawing/2014/main" id="{8F38D412-038A-4489-721A-62203D3238C4}"/>
                </a:ext>
              </a:extLst>
            </p:cNvPr>
            <p:cNvCxnSpPr>
              <a:cxnSpLocks/>
            </p:cNvCxnSpPr>
            <p:nvPr/>
          </p:nvCxnSpPr>
          <p:spPr>
            <a:xfrm flipV="1">
              <a:off x="5895863" y="2420819"/>
              <a:ext cx="0" cy="1070052"/>
            </a:xfrm>
            <a:prstGeom prst="straightConnector1">
              <a:avLst/>
            </a:prstGeom>
            <a:ln w="38100">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5" name="矩形: 圆角 28">
              <a:extLst>
                <a:ext uri="{FF2B5EF4-FFF2-40B4-BE49-F238E27FC236}">
                  <a16:creationId xmlns:a16="http://schemas.microsoft.com/office/drawing/2014/main" id="{CF606150-4DE8-81F9-0F47-282C914AFEFA}"/>
                </a:ext>
              </a:extLst>
            </p:cNvPr>
            <p:cNvSpPr/>
            <p:nvPr/>
          </p:nvSpPr>
          <p:spPr>
            <a:xfrm>
              <a:off x="5851297" y="3486959"/>
              <a:ext cx="2201783" cy="322272"/>
            </a:xfrm>
            <a:prstGeom prst="roundRect">
              <a:avLst/>
            </a:prstGeom>
            <a:noFill/>
            <a:ln>
              <a:solidFill>
                <a:srgbClr val="0070C0"/>
              </a:solidFill>
              <a:prstDash val="lg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latin typeface="Times New Roman" panose="02020603050405020304" pitchFamily="18" charset="0"/>
                  <a:cs typeface="Times New Roman" panose="02020603050405020304" pitchFamily="18" charset="0"/>
                </a:rPr>
                <a:t>adversarial examples</a:t>
              </a:r>
              <a:endParaRPr lang="zh-CN" altLang="en-US" dirty="0">
                <a:solidFill>
                  <a:schemeClr val="tx1"/>
                </a:solidFill>
                <a:latin typeface="Times New Roman" panose="02020603050405020304" pitchFamily="18" charset="0"/>
                <a:cs typeface="Times New Roman" panose="02020603050405020304" pitchFamily="18" charset="0"/>
              </a:endParaRPr>
            </a:p>
          </p:txBody>
        </p:sp>
      </p:grpSp>
      <p:sp>
        <p:nvSpPr>
          <p:cNvPr id="26" name="矩形: 圆角 28">
            <a:extLst>
              <a:ext uri="{FF2B5EF4-FFF2-40B4-BE49-F238E27FC236}">
                <a16:creationId xmlns:a16="http://schemas.microsoft.com/office/drawing/2014/main" id="{5F0C0101-841F-F6FC-0862-30A0A4D6029D}"/>
              </a:ext>
            </a:extLst>
          </p:cNvPr>
          <p:cNvSpPr/>
          <p:nvPr/>
        </p:nvSpPr>
        <p:spPr>
          <a:xfrm>
            <a:off x="8747008" y="5426456"/>
            <a:ext cx="2357343" cy="358018"/>
          </a:xfrm>
          <a:prstGeom prst="roundRect">
            <a:avLst/>
          </a:prstGeom>
          <a:noFill/>
          <a:ln>
            <a:solidFill>
              <a:srgbClr val="0070C0"/>
            </a:solidFill>
            <a:prstDash val="lg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latin typeface="Times New Roman" panose="02020603050405020304" pitchFamily="18" charset="0"/>
                <a:cs typeface="Times New Roman" panose="02020603050405020304" pitchFamily="18" charset="0"/>
              </a:rPr>
              <a:t>membership inference</a:t>
            </a:r>
            <a:endParaRPr lang="zh-CN" altLang="en-US" dirty="0">
              <a:solidFill>
                <a:schemeClr val="tx1"/>
              </a:solidFill>
              <a:latin typeface="Times New Roman" panose="02020603050405020304" pitchFamily="18" charset="0"/>
              <a:cs typeface="Times New Roman" panose="02020603050405020304" pitchFamily="18" charset="0"/>
            </a:endParaRPr>
          </a:p>
        </p:txBody>
      </p:sp>
      <p:sp>
        <p:nvSpPr>
          <p:cNvPr id="27" name="矩形: 圆角 28">
            <a:extLst>
              <a:ext uri="{FF2B5EF4-FFF2-40B4-BE49-F238E27FC236}">
                <a16:creationId xmlns:a16="http://schemas.microsoft.com/office/drawing/2014/main" id="{20BB764D-9A97-95D2-16D4-79D806DAEA02}"/>
              </a:ext>
            </a:extLst>
          </p:cNvPr>
          <p:cNvSpPr/>
          <p:nvPr/>
        </p:nvSpPr>
        <p:spPr>
          <a:xfrm>
            <a:off x="8764509" y="5888120"/>
            <a:ext cx="2357343" cy="358018"/>
          </a:xfrm>
          <a:prstGeom prst="roundRect">
            <a:avLst/>
          </a:prstGeom>
          <a:noFill/>
          <a:ln>
            <a:solidFill>
              <a:srgbClr val="0070C0"/>
            </a:solidFill>
            <a:prstDash val="lg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latin typeface="Times New Roman" panose="02020603050405020304" pitchFamily="18" charset="0"/>
                <a:cs typeface="Times New Roman" panose="02020603050405020304" pitchFamily="18" charset="0"/>
              </a:rPr>
              <a:t>model inversion</a:t>
            </a:r>
            <a:endParaRPr lang="zh-CN" altLang="en-US" dirty="0">
              <a:solidFill>
                <a:schemeClr val="tx1"/>
              </a:solidFill>
              <a:latin typeface="Times New Roman" panose="02020603050405020304" pitchFamily="18" charset="0"/>
              <a:cs typeface="Times New Roman" panose="02020603050405020304" pitchFamily="18" charset="0"/>
            </a:endParaRPr>
          </a:p>
        </p:txBody>
      </p:sp>
      <p:cxnSp>
        <p:nvCxnSpPr>
          <p:cNvPr id="28" name="直接箭头连接符 249">
            <a:extLst>
              <a:ext uri="{FF2B5EF4-FFF2-40B4-BE49-F238E27FC236}">
                <a16:creationId xmlns:a16="http://schemas.microsoft.com/office/drawing/2014/main" id="{C5930683-625B-18CA-4EA4-EC635E750A93}"/>
              </a:ext>
            </a:extLst>
          </p:cNvPr>
          <p:cNvCxnSpPr>
            <a:cxnSpLocks/>
          </p:cNvCxnSpPr>
          <p:nvPr/>
        </p:nvCxnSpPr>
        <p:spPr>
          <a:xfrm flipV="1">
            <a:off x="8747005" y="4888340"/>
            <a:ext cx="0" cy="513308"/>
          </a:xfrm>
          <a:prstGeom prst="straightConnector1">
            <a:avLst/>
          </a:prstGeom>
          <a:ln w="38100">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E116349F-0BE8-A66D-0E7B-627F12A23240}"/>
              </a:ext>
            </a:extLst>
          </p:cNvPr>
          <p:cNvSpPr txBox="1"/>
          <p:nvPr/>
        </p:nvSpPr>
        <p:spPr>
          <a:xfrm>
            <a:off x="8721608" y="4836747"/>
            <a:ext cx="2318786" cy="646331"/>
          </a:xfrm>
          <a:prstGeom prst="rect">
            <a:avLst/>
          </a:prstGeom>
          <a:noFill/>
        </p:spPr>
        <p:txBody>
          <a:bodyPr wrap="square">
            <a:spAutoFit/>
          </a:bodyPr>
          <a:lstStyle/>
          <a:p>
            <a:r>
              <a:rPr lang="en-US" altLang="zh-CN" dirty="0">
                <a:latin typeface="Times New Roman" panose="02020603050405020304" pitchFamily="18" charset="0"/>
                <a:cs typeface="Times New Roman" panose="02020603050405020304" pitchFamily="18" charset="0"/>
              </a:rPr>
              <a:t>b</a:t>
            </a:r>
            <a:r>
              <a:rPr lang="zh-CN" altLang="en-US" dirty="0">
                <a:latin typeface="Times New Roman" panose="02020603050405020304" pitchFamily="18" charset="0"/>
                <a:cs typeface="Times New Roman" panose="02020603050405020304" pitchFamily="18" charset="0"/>
              </a:rPr>
              <a:t>lack box </a:t>
            </a:r>
            <a:endParaRPr lang="en-US" altLang="zh-CN" dirty="0">
              <a:latin typeface="Times New Roman" panose="02020603050405020304" pitchFamily="18" charset="0"/>
              <a:cs typeface="Times New Roman" panose="02020603050405020304" pitchFamily="18" charset="0"/>
            </a:endParaRPr>
          </a:p>
          <a:p>
            <a:r>
              <a:rPr lang="en-US" altLang="zh-CN" dirty="0">
                <a:latin typeface="Times New Roman" panose="02020603050405020304" pitchFamily="18" charset="0"/>
                <a:cs typeface="Times New Roman" panose="02020603050405020304" pitchFamily="18" charset="0"/>
              </a:rPr>
              <a:t>white box</a:t>
            </a:r>
            <a:endParaRPr lang="zh-CN" altLang="en-US" dirty="0">
              <a:latin typeface="Times New Roman" panose="02020603050405020304" pitchFamily="18" charset="0"/>
              <a:cs typeface="Times New Roman" panose="02020603050405020304" pitchFamily="18" charset="0"/>
            </a:endParaRPr>
          </a:p>
        </p:txBody>
      </p:sp>
      <p:cxnSp>
        <p:nvCxnSpPr>
          <p:cNvPr id="30" name="直接箭头连接符 218">
            <a:extLst>
              <a:ext uri="{FF2B5EF4-FFF2-40B4-BE49-F238E27FC236}">
                <a16:creationId xmlns:a16="http://schemas.microsoft.com/office/drawing/2014/main" id="{26E2D2A9-21A9-030F-BB77-DE563063259A}"/>
              </a:ext>
            </a:extLst>
          </p:cNvPr>
          <p:cNvCxnSpPr>
            <a:cxnSpLocks/>
          </p:cNvCxnSpPr>
          <p:nvPr/>
        </p:nvCxnSpPr>
        <p:spPr>
          <a:xfrm>
            <a:off x="3387305" y="3949189"/>
            <a:ext cx="1546761" cy="1588"/>
          </a:xfrm>
          <a:prstGeom prst="straightConnector1">
            <a:avLst/>
          </a:prstGeom>
          <a:ln w="38100">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1" name="直接箭头连接符 218">
            <a:extLst>
              <a:ext uri="{FF2B5EF4-FFF2-40B4-BE49-F238E27FC236}">
                <a16:creationId xmlns:a16="http://schemas.microsoft.com/office/drawing/2014/main" id="{EFFE5916-B11B-C737-37DB-26C3C373A0D6}"/>
              </a:ext>
            </a:extLst>
          </p:cNvPr>
          <p:cNvCxnSpPr>
            <a:cxnSpLocks/>
          </p:cNvCxnSpPr>
          <p:nvPr/>
        </p:nvCxnSpPr>
        <p:spPr>
          <a:xfrm>
            <a:off x="6986602" y="3991837"/>
            <a:ext cx="1546761" cy="1588"/>
          </a:xfrm>
          <a:prstGeom prst="straightConnector1">
            <a:avLst/>
          </a:prstGeom>
          <a:ln w="38100">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32" name="Group 31">
            <a:extLst>
              <a:ext uri="{FF2B5EF4-FFF2-40B4-BE49-F238E27FC236}">
                <a16:creationId xmlns:a16="http://schemas.microsoft.com/office/drawing/2014/main" id="{4CC53D2E-D0E8-842C-20D6-D24E4A8347F2}"/>
              </a:ext>
            </a:extLst>
          </p:cNvPr>
          <p:cNvGrpSpPr/>
          <p:nvPr/>
        </p:nvGrpSpPr>
        <p:grpSpPr>
          <a:xfrm>
            <a:off x="8716247" y="3679314"/>
            <a:ext cx="1663187" cy="580659"/>
            <a:chOff x="6309892" y="4009563"/>
            <a:chExt cx="1663187" cy="580659"/>
          </a:xfrm>
        </p:grpSpPr>
        <p:cxnSp>
          <p:nvCxnSpPr>
            <p:cNvPr id="33" name="直接连接符 221">
              <a:extLst>
                <a:ext uri="{FF2B5EF4-FFF2-40B4-BE49-F238E27FC236}">
                  <a16:creationId xmlns:a16="http://schemas.microsoft.com/office/drawing/2014/main" id="{0AD55E35-4CBE-C6AE-0605-D3E0014EE94D}"/>
                </a:ext>
              </a:extLst>
            </p:cNvPr>
            <p:cNvCxnSpPr>
              <a:cxnSpLocks/>
            </p:cNvCxnSpPr>
            <p:nvPr/>
          </p:nvCxnSpPr>
          <p:spPr>
            <a:xfrm>
              <a:off x="6309892" y="4009563"/>
              <a:ext cx="1663186" cy="0"/>
            </a:xfrm>
            <a:prstGeom prst="line">
              <a:avLst/>
            </a:prstGeom>
            <a:ln w="57150">
              <a:solidFill>
                <a:schemeClr val="accent6">
                  <a:lumMod val="75000"/>
                </a:schemeClr>
              </a:solidFill>
              <a:prstDash val="lgDashDot"/>
            </a:ln>
          </p:spPr>
          <p:style>
            <a:lnRef idx="1">
              <a:schemeClr val="accent1"/>
            </a:lnRef>
            <a:fillRef idx="0">
              <a:schemeClr val="accent1"/>
            </a:fillRef>
            <a:effectRef idx="0">
              <a:schemeClr val="accent1"/>
            </a:effectRef>
            <a:fontRef idx="minor">
              <a:schemeClr val="tx1"/>
            </a:fontRef>
          </p:style>
        </p:cxnSp>
        <p:cxnSp>
          <p:nvCxnSpPr>
            <p:cNvPr id="34" name="直接连接符 222">
              <a:extLst>
                <a:ext uri="{FF2B5EF4-FFF2-40B4-BE49-F238E27FC236}">
                  <a16:creationId xmlns:a16="http://schemas.microsoft.com/office/drawing/2014/main" id="{EB2A7E53-8D24-843D-2D4E-936470C6F78A}"/>
                </a:ext>
              </a:extLst>
            </p:cNvPr>
            <p:cNvCxnSpPr>
              <a:cxnSpLocks/>
            </p:cNvCxnSpPr>
            <p:nvPr/>
          </p:nvCxnSpPr>
          <p:spPr>
            <a:xfrm>
              <a:off x="6309892" y="4203116"/>
              <a:ext cx="1663187" cy="0"/>
            </a:xfrm>
            <a:prstGeom prst="line">
              <a:avLst/>
            </a:prstGeom>
            <a:ln w="57150">
              <a:solidFill>
                <a:schemeClr val="accent6">
                  <a:lumMod val="75000"/>
                </a:schemeClr>
              </a:solidFill>
              <a:prstDash val="dashDot"/>
            </a:ln>
          </p:spPr>
          <p:style>
            <a:lnRef idx="1">
              <a:schemeClr val="accent1"/>
            </a:lnRef>
            <a:fillRef idx="0">
              <a:schemeClr val="accent1"/>
            </a:fillRef>
            <a:effectRef idx="0">
              <a:schemeClr val="accent1"/>
            </a:effectRef>
            <a:fontRef idx="minor">
              <a:schemeClr val="tx1"/>
            </a:fontRef>
          </p:style>
        </p:cxnSp>
        <p:cxnSp>
          <p:nvCxnSpPr>
            <p:cNvPr id="35" name="直接连接符 221">
              <a:extLst>
                <a:ext uri="{FF2B5EF4-FFF2-40B4-BE49-F238E27FC236}">
                  <a16:creationId xmlns:a16="http://schemas.microsoft.com/office/drawing/2014/main" id="{3C346021-4323-5299-BE93-A7FCBFD0F755}"/>
                </a:ext>
              </a:extLst>
            </p:cNvPr>
            <p:cNvCxnSpPr>
              <a:cxnSpLocks/>
            </p:cNvCxnSpPr>
            <p:nvPr/>
          </p:nvCxnSpPr>
          <p:spPr>
            <a:xfrm>
              <a:off x="6309892" y="4396669"/>
              <a:ext cx="1663186" cy="0"/>
            </a:xfrm>
            <a:prstGeom prst="line">
              <a:avLst/>
            </a:prstGeom>
            <a:ln w="57150">
              <a:solidFill>
                <a:schemeClr val="accent6">
                  <a:lumMod val="75000"/>
                </a:schemeClr>
              </a:solidFill>
              <a:prstDash val="lgDashDot"/>
            </a:ln>
          </p:spPr>
          <p:style>
            <a:lnRef idx="1">
              <a:schemeClr val="accent1"/>
            </a:lnRef>
            <a:fillRef idx="0">
              <a:schemeClr val="accent1"/>
            </a:fillRef>
            <a:effectRef idx="0">
              <a:schemeClr val="accent1"/>
            </a:effectRef>
            <a:fontRef idx="minor">
              <a:schemeClr val="tx1"/>
            </a:fontRef>
          </p:style>
        </p:cxnSp>
        <p:cxnSp>
          <p:nvCxnSpPr>
            <p:cNvPr id="36" name="直接连接符 222">
              <a:extLst>
                <a:ext uri="{FF2B5EF4-FFF2-40B4-BE49-F238E27FC236}">
                  <a16:creationId xmlns:a16="http://schemas.microsoft.com/office/drawing/2014/main" id="{5F723608-32B4-E1FA-9B56-5B252162004C}"/>
                </a:ext>
              </a:extLst>
            </p:cNvPr>
            <p:cNvCxnSpPr>
              <a:cxnSpLocks/>
            </p:cNvCxnSpPr>
            <p:nvPr/>
          </p:nvCxnSpPr>
          <p:spPr>
            <a:xfrm>
              <a:off x="6309892" y="4590222"/>
              <a:ext cx="1663187" cy="0"/>
            </a:xfrm>
            <a:prstGeom prst="line">
              <a:avLst/>
            </a:prstGeom>
            <a:ln w="57150">
              <a:solidFill>
                <a:schemeClr val="accent6">
                  <a:lumMod val="75000"/>
                </a:schemeClr>
              </a:solidFill>
              <a:prstDash val="dashDot"/>
            </a:ln>
          </p:spPr>
          <p:style>
            <a:lnRef idx="1">
              <a:schemeClr val="accent1"/>
            </a:lnRef>
            <a:fillRef idx="0">
              <a:schemeClr val="accent1"/>
            </a:fillRef>
            <a:effectRef idx="0">
              <a:schemeClr val="accent1"/>
            </a:effectRef>
            <a:fontRef idx="minor">
              <a:schemeClr val="tx1"/>
            </a:fontRef>
          </p:style>
        </p:cxnSp>
      </p:grpSp>
      <p:grpSp>
        <p:nvGrpSpPr>
          <p:cNvPr id="37" name="Group 36">
            <a:extLst>
              <a:ext uri="{FF2B5EF4-FFF2-40B4-BE49-F238E27FC236}">
                <a16:creationId xmlns:a16="http://schemas.microsoft.com/office/drawing/2014/main" id="{10A219E2-2243-5C5B-4AE3-CEE3B3DD83E2}"/>
              </a:ext>
            </a:extLst>
          </p:cNvPr>
          <p:cNvGrpSpPr/>
          <p:nvPr/>
        </p:nvGrpSpPr>
        <p:grpSpPr>
          <a:xfrm>
            <a:off x="552466" y="4688070"/>
            <a:ext cx="1429890" cy="1652635"/>
            <a:chOff x="1403299" y="2181105"/>
            <a:chExt cx="1285140" cy="1652635"/>
          </a:xfrm>
        </p:grpSpPr>
        <p:sp>
          <p:nvSpPr>
            <p:cNvPr id="38" name="矩形 229">
              <a:extLst>
                <a:ext uri="{FF2B5EF4-FFF2-40B4-BE49-F238E27FC236}">
                  <a16:creationId xmlns:a16="http://schemas.microsoft.com/office/drawing/2014/main" id="{EBACF6BB-B390-94B0-3F0C-379F46625E16}"/>
                </a:ext>
              </a:extLst>
            </p:cNvPr>
            <p:cNvSpPr/>
            <p:nvPr/>
          </p:nvSpPr>
          <p:spPr>
            <a:xfrm rot="16200000">
              <a:off x="1200685" y="2670839"/>
              <a:ext cx="1612463" cy="646331"/>
            </a:xfrm>
            <a:prstGeom prst="rect">
              <a:avLst/>
            </a:prstGeom>
          </p:spPr>
          <p:txBody>
            <a:bodyPr wrap="square">
              <a:spAutoFit/>
            </a:bodyPr>
            <a:lstStyle/>
            <a:p>
              <a:pPr algn="ctr"/>
              <a:r>
                <a:rPr lang="en-US" altLang="zh-CN" dirty="0">
                  <a:latin typeface="Times New Roman" panose="02020603050405020304" pitchFamily="18" charset="0"/>
                  <a:cs typeface="Times New Roman" panose="02020603050405020304" pitchFamily="18" charset="0"/>
                </a:rPr>
                <a:t>Adversary Setting</a:t>
              </a:r>
              <a:endParaRPr lang="en-US" altLang="zh-CN" sz="2000" dirty="0">
                <a:latin typeface="Times New Roman" panose="02020603050405020304" pitchFamily="18" charset="0"/>
                <a:cs typeface="Times New Roman" panose="02020603050405020304" pitchFamily="18" charset="0"/>
              </a:endParaRPr>
            </a:p>
          </p:txBody>
        </p:sp>
        <p:sp>
          <p:nvSpPr>
            <p:cNvPr id="39" name="文本框 9">
              <a:extLst>
                <a:ext uri="{FF2B5EF4-FFF2-40B4-BE49-F238E27FC236}">
                  <a16:creationId xmlns:a16="http://schemas.microsoft.com/office/drawing/2014/main" id="{664D4C9E-F371-5D11-193D-F22FAB079F38}"/>
                </a:ext>
              </a:extLst>
            </p:cNvPr>
            <p:cNvSpPr txBox="1"/>
            <p:nvPr/>
          </p:nvSpPr>
          <p:spPr>
            <a:xfrm>
              <a:off x="1524467" y="2181105"/>
              <a:ext cx="1163972" cy="369332"/>
            </a:xfrm>
            <a:prstGeom prst="rect">
              <a:avLst/>
            </a:prstGeom>
            <a:noFill/>
          </p:spPr>
          <p:txBody>
            <a:bodyPr wrap="square">
              <a:spAutoFit/>
            </a:bodyPr>
            <a:lstStyle/>
            <a:p>
              <a:r>
                <a:rPr lang="zh-CN" altLang="en-US" dirty="0">
                  <a:latin typeface="Times New Roman" panose="02020603050405020304" pitchFamily="18" charset="0"/>
                  <a:cs typeface="Times New Roman" panose="02020603050405020304" pitchFamily="18" charset="0"/>
                </a:rPr>
                <a:t>(weaker)</a:t>
              </a:r>
            </a:p>
          </p:txBody>
        </p:sp>
        <p:sp>
          <p:nvSpPr>
            <p:cNvPr id="40" name="文本框 11">
              <a:extLst>
                <a:ext uri="{FF2B5EF4-FFF2-40B4-BE49-F238E27FC236}">
                  <a16:creationId xmlns:a16="http://schemas.microsoft.com/office/drawing/2014/main" id="{54F7B9A5-A464-5AD6-0F90-9FA1C7B7D159}"/>
                </a:ext>
              </a:extLst>
            </p:cNvPr>
            <p:cNvSpPr txBox="1"/>
            <p:nvPr/>
          </p:nvSpPr>
          <p:spPr>
            <a:xfrm>
              <a:off x="1503995" y="3464408"/>
              <a:ext cx="1163972" cy="369332"/>
            </a:xfrm>
            <a:prstGeom prst="rect">
              <a:avLst/>
            </a:prstGeom>
            <a:noFill/>
          </p:spPr>
          <p:txBody>
            <a:bodyPr wrap="square">
              <a:spAutoFit/>
            </a:bodyPr>
            <a:lstStyle/>
            <a:p>
              <a:r>
                <a:rPr lang="zh-CN" altLang="en-US" dirty="0">
                  <a:latin typeface="Times New Roman" panose="02020603050405020304" pitchFamily="18" charset="0"/>
                  <a:cs typeface="Times New Roman" panose="02020603050405020304" pitchFamily="18" charset="0"/>
                </a:rPr>
                <a:t>(stronger)</a:t>
              </a:r>
            </a:p>
          </p:txBody>
        </p:sp>
        <p:sp>
          <p:nvSpPr>
            <p:cNvPr id="41" name="箭头: 下 17">
              <a:extLst>
                <a:ext uri="{FF2B5EF4-FFF2-40B4-BE49-F238E27FC236}">
                  <a16:creationId xmlns:a16="http://schemas.microsoft.com/office/drawing/2014/main" id="{09D973F8-F4D0-D2C4-E8C0-09442EF623A1}"/>
                </a:ext>
              </a:extLst>
            </p:cNvPr>
            <p:cNvSpPr/>
            <p:nvPr/>
          </p:nvSpPr>
          <p:spPr>
            <a:xfrm>
              <a:off x="1403299" y="2504922"/>
              <a:ext cx="1137997" cy="1094103"/>
            </a:xfrm>
            <a:prstGeom prst="downArrow">
              <a:avLst/>
            </a:prstGeom>
            <a:noFill/>
            <a:ln>
              <a:solidFill>
                <a:srgbClr val="0070C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Times New Roman" panose="02020603050405020304" pitchFamily="18" charset="0"/>
                <a:cs typeface="Times New Roman" panose="02020603050405020304" pitchFamily="18" charset="0"/>
              </a:endParaRPr>
            </a:p>
          </p:txBody>
        </p:sp>
      </p:grpSp>
      <p:sp>
        <p:nvSpPr>
          <p:cNvPr id="42" name="TextBox 41">
            <a:extLst>
              <a:ext uri="{FF2B5EF4-FFF2-40B4-BE49-F238E27FC236}">
                <a16:creationId xmlns:a16="http://schemas.microsoft.com/office/drawing/2014/main" id="{8E8F1E35-0E97-A307-B245-5E854F092B48}"/>
              </a:ext>
            </a:extLst>
          </p:cNvPr>
          <p:cNvSpPr txBox="1"/>
          <p:nvPr/>
        </p:nvSpPr>
        <p:spPr>
          <a:xfrm>
            <a:off x="593627" y="3349003"/>
            <a:ext cx="1183852" cy="1015663"/>
          </a:xfrm>
          <a:prstGeom prst="rect">
            <a:avLst/>
          </a:prstGeom>
          <a:noFill/>
        </p:spPr>
        <p:txBody>
          <a:bodyPr wrap="square">
            <a:spAutoFit/>
          </a:bodyPr>
          <a:lstStyle/>
          <a:p>
            <a:pPr algn="ctr"/>
            <a:r>
              <a:rPr lang="en-US" altLang="zh-CN" sz="2000" dirty="0">
                <a:latin typeface="Times New Roman" panose="02020603050405020304" pitchFamily="18" charset="0"/>
                <a:cs typeface="Times New Roman" panose="02020603050405020304" pitchFamily="18" charset="0"/>
              </a:rPr>
              <a:t>machine learning </a:t>
            </a:r>
            <a:r>
              <a:rPr lang="zh-CN" altLang="en-US" sz="2000" dirty="0">
                <a:latin typeface="Times New Roman" panose="02020603050405020304" pitchFamily="18" charset="0"/>
                <a:cs typeface="Times New Roman" panose="02020603050405020304" pitchFamily="18" charset="0"/>
              </a:rPr>
              <a:t>life cycle</a:t>
            </a:r>
          </a:p>
        </p:txBody>
      </p:sp>
      <p:cxnSp>
        <p:nvCxnSpPr>
          <p:cNvPr id="43" name="直接连接符 231">
            <a:extLst>
              <a:ext uri="{FF2B5EF4-FFF2-40B4-BE49-F238E27FC236}">
                <a16:creationId xmlns:a16="http://schemas.microsoft.com/office/drawing/2014/main" id="{3B0A0167-AFC2-457E-4750-1AFD127634E1}"/>
              </a:ext>
            </a:extLst>
          </p:cNvPr>
          <p:cNvCxnSpPr>
            <a:cxnSpLocks/>
          </p:cNvCxnSpPr>
          <p:nvPr/>
        </p:nvCxnSpPr>
        <p:spPr>
          <a:xfrm>
            <a:off x="427245" y="4688482"/>
            <a:ext cx="11098357" cy="0"/>
          </a:xfrm>
          <a:prstGeom prst="line">
            <a:avLst/>
          </a:prstGeom>
          <a:ln w="38100">
            <a:solidFill>
              <a:schemeClr val="accent2">
                <a:lumMod val="50000"/>
              </a:schemeClr>
            </a:solidFill>
            <a:prstDash val="lg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00658328"/>
      </p:ext>
    </p:extLst>
  </p:cSld>
  <p:clrMapOvr>
    <a:masterClrMapping/>
  </p:clrMapOvr>
  <mc:AlternateContent xmlns:mc="http://schemas.openxmlformats.org/markup-compatibility/2006" xmlns:p14="http://schemas.microsoft.com/office/powerpoint/2010/main">
    <mc:Choice Requires="p14">
      <p:transition p14:dur="0" advTm="26890"/>
    </mc:Choice>
    <mc:Fallback xmlns="">
      <p:transition advTm="2689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2"/>
          </p:nvPr>
        </p:nvSpPr>
        <p:spPr/>
        <p:txBody>
          <a:bodyPr/>
          <a:lstStyle/>
          <a:p>
            <a:fld id="{0C913308-F349-4B6D-A68A-DD1791B4A57B}" type="slidenum">
              <a:rPr lang="zh-CN" altLang="en-US" smtClean="0"/>
              <a:t>7</a:t>
            </a:fld>
            <a:endParaRPr lang="zh-CN" altLang="en-US"/>
          </a:p>
        </p:txBody>
      </p:sp>
      <p:sp>
        <p:nvSpPr>
          <p:cNvPr id="3" name="标题 1">
            <a:extLst>
              <a:ext uri="{FF2B5EF4-FFF2-40B4-BE49-F238E27FC236}">
                <a16:creationId xmlns:a16="http://schemas.microsoft.com/office/drawing/2014/main" id="{42D41DA7-63C2-A12C-A3FB-2050EDF5AF00}"/>
              </a:ext>
            </a:extLst>
          </p:cNvPr>
          <p:cNvSpPr txBox="1">
            <a:spLocks/>
          </p:cNvSpPr>
          <p:nvPr/>
        </p:nvSpPr>
        <p:spPr>
          <a:xfrm>
            <a:off x="343593" y="136525"/>
            <a:ext cx="9509760" cy="897198"/>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altLang="zh-CN" dirty="0"/>
              <a:t>Backdoor Attacks</a:t>
            </a:r>
            <a:endParaRPr lang="zh-CN" altLang="en-US" dirty="0"/>
          </a:p>
        </p:txBody>
      </p:sp>
      <p:sp>
        <p:nvSpPr>
          <p:cNvPr id="7" name="内容占位符 2">
            <a:extLst>
              <a:ext uri="{FF2B5EF4-FFF2-40B4-BE49-F238E27FC236}">
                <a16:creationId xmlns:a16="http://schemas.microsoft.com/office/drawing/2014/main" id="{76BAFCFC-F53D-7681-E49B-2C0D9360F347}"/>
              </a:ext>
            </a:extLst>
          </p:cNvPr>
          <p:cNvSpPr txBox="1">
            <a:spLocks/>
          </p:cNvSpPr>
          <p:nvPr/>
        </p:nvSpPr>
        <p:spPr>
          <a:xfrm>
            <a:off x="1186076" y="1033723"/>
            <a:ext cx="9509760" cy="1083247"/>
          </a:xfrm>
          <a:prstGeom prst="rect">
            <a:avLst/>
          </a:prstGeom>
        </p:spPr>
        <p:txBody>
          <a:bodyPr vert="horz" lIns="91440" tIns="45720" rIns="91440" bIns="45720" rtlCol="0">
            <a:normAutofit fontScale="2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8800" dirty="0"/>
              <a:t>Mainly for deep learning </a:t>
            </a:r>
          </a:p>
          <a:p>
            <a:pPr algn="l">
              <a:buFont typeface="Arial" panose="020B0604020202020204" pitchFamily="34" charset="0"/>
              <a:buChar char="•"/>
            </a:pPr>
            <a:r>
              <a:rPr lang="en-US" altLang="zh-CN" sz="8800" dirty="0"/>
              <a:t>Hard to implement</a:t>
            </a:r>
          </a:p>
          <a:p>
            <a:r>
              <a:rPr lang="en-US" altLang="zh-CN" sz="8800" dirty="0"/>
              <a:t>The most difficult to be detected</a:t>
            </a:r>
          </a:p>
          <a:p>
            <a:r>
              <a:rPr lang="en-US" altLang="zh-CN" sz="8800" dirty="0"/>
              <a:t>The hotted topic</a:t>
            </a:r>
          </a:p>
          <a:p>
            <a:endParaRPr lang="en-US" altLang="zh-CN" dirty="0"/>
          </a:p>
        </p:txBody>
      </p:sp>
      <p:pic>
        <p:nvPicPr>
          <p:cNvPr id="6" name="Picture 5">
            <a:extLst>
              <a:ext uri="{FF2B5EF4-FFF2-40B4-BE49-F238E27FC236}">
                <a16:creationId xmlns:a16="http://schemas.microsoft.com/office/drawing/2014/main" id="{E14DB45C-8C14-D7B3-49D9-702872B17F42}"/>
              </a:ext>
            </a:extLst>
          </p:cNvPr>
          <p:cNvPicPr>
            <a:picLocks noChangeAspect="1"/>
          </p:cNvPicPr>
          <p:nvPr/>
        </p:nvPicPr>
        <p:blipFill>
          <a:blip r:embed="rId3"/>
          <a:stretch>
            <a:fillRect/>
          </a:stretch>
        </p:blipFill>
        <p:spPr>
          <a:xfrm>
            <a:off x="101601" y="2383144"/>
            <a:ext cx="8134350" cy="3562350"/>
          </a:xfrm>
          <a:prstGeom prst="rect">
            <a:avLst/>
          </a:prstGeom>
        </p:spPr>
      </p:pic>
      <p:sp>
        <p:nvSpPr>
          <p:cNvPr id="9" name="TextBox 8">
            <a:extLst>
              <a:ext uri="{FF2B5EF4-FFF2-40B4-BE49-F238E27FC236}">
                <a16:creationId xmlns:a16="http://schemas.microsoft.com/office/drawing/2014/main" id="{C57F284E-E9A4-AC7E-91D4-2AB61005D3AB}"/>
              </a:ext>
            </a:extLst>
          </p:cNvPr>
          <p:cNvSpPr txBox="1"/>
          <p:nvPr/>
        </p:nvSpPr>
        <p:spPr>
          <a:xfrm>
            <a:off x="7989581" y="2770600"/>
            <a:ext cx="4100817" cy="2862322"/>
          </a:xfrm>
          <a:prstGeom prst="rect">
            <a:avLst/>
          </a:prstGeom>
          <a:noFill/>
        </p:spPr>
        <p:txBody>
          <a:bodyPr wrap="square">
            <a:spAutoFit/>
          </a:bodyPr>
          <a:lstStyle/>
          <a:p>
            <a:r>
              <a:rPr lang="zh-CN" altLang="en-US" dirty="0"/>
              <a:t>An illustrating example of backdoor attacks. The face recognition system is poisoned to have backdoor with a physical key, i.e., a pair of commodity reading glasses. Different people wearing the glasses in front of the camera from different angles can trigger the backdoor to be recognized as the target label, but wearing a different pair of glasses will not trigger the backdoor </a:t>
            </a:r>
            <a:r>
              <a:rPr lang="en-US" altLang="zh-CN" dirty="0"/>
              <a:t>[1].</a:t>
            </a:r>
            <a:endParaRPr lang="zh-CN" altLang="en-US" dirty="0"/>
          </a:p>
        </p:txBody>
      </p:sp>
      <p:sp>
        <p:nvSpPr>
          <p:cNvPr id="11" name="TextBox 10">
            <a:extLst>
              <a:ext uri="{FF2B5EF4-FFF2-40B4-BE49-F238E27FC236}">
                <a16:creationId xmlns:a16="http://schemas.microsoft.com/office/drawing/2014/main" id="{2FF98D7B-7007-1262-E4AC-E36D4F7A6456}"/>
              </a:ext>
            </a:extLst>
          </p:cNvPr>
          <p:cNvSpPr txBox="1"/>
          <p:nvPr/>
        </p:nvSpPr>
        <p:spPr>
          <a:xfrm>
            <a:off x="0" y="6211669"/>
            <a:ext cx="12192000" cy="646331"/>
          </a:xfrm>
          <a:prstGeom prst="rect">
            <a:avLst/>
          </a:prstGeom>
          <a:noFill/>
        </p:spPr>
        <p:txBody>
          <a:bodyPr wrap="square">
            <a:spAutoFit/>
          </a:bodyPr>
          <a:lstStyle/>
          <a:p>
            <a:r>
              <a:rPr lang="en-US" altLang="zh-CN" dirty="0"/>
              <a:t>[1] Chen, X., Liu, C., Li, B., Lu, K., &amp; Song, D. (2017). Targeted backdoor attacks on deep learning systems using data poisoning. </a:t>
            </a:r>
            <a:r>
              <a:rPr lang="en-US" altLang="zh-CN" dirty="0" err="1"/>
              <a:t>arXiv</a:t>
            </a:r>
            <a:r>
              <a:rPr lang="en-US" altLang="zh-CN" dirty="0"/>
              <a:t> preprint arXiv:1712.05526.</a:t>
            </a:r>
            <a:endParaRPr lang="zh-CN" altLang="en-US" dirty="0"/>
          </a:p>
        </p:txBody>
      </p:sp>
    </p:spTree>
    <p:extLst>
      <p:ext uri="{BB962C8B-B14F-4D97-AF65-F5344CB8AC3E}">
        <p14:creationId xmlns:p14="http://schemas.microsoft.com/office/powerpoint/2010/main" val="2952231103"/>
      </p:ext>
    </p:extLst>
  </p:cSld>
  <p:clrMapOvr>
    <a:masterClrMapping/>
  </p:clrMapOvr>
  <mc:AlternateContent xmlns:mc="http://schemas.openxmlformats.org/markup-compatibility/2006" xmlns:p14="http://schemas.microsoft.com/office/powerpoint/2010/main">
    <mc:Choice Requires="p14">
      <p:transition p14:dur="0" advTm="26890"/>
    </mc:Choice>
    <mc:Fallback xmlns="">
      <p:transition advTm="2689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2"/>
          </p:nvPr>
        </p:nvSpPr>
        <p:spPr/>
        <p:txBody>
          <a:bodyPr/>
          <a:lstStyle/>
          <a:p>
            <a:fld id="{0C913308-F349-4B6D-A68A-DD1791B4A57B}" type="slidenum">
              <a:rPr lang="zh-CN" altLang="en-US" smtClean="0"/>
              <a:t>8</a:t>
            </a:fld>
            <a:endParaRPr lang="zh-CN" altLang="en-US"/>
          </a:p>
        </p:txBody>
      </p:sp>
      <p:sp>
        <p:nvSpPr>
          <p:cNvPr id="3" name="标题 1">
            <a:extLst>
              <a:ext uri="{FF2B5EF4-FFF2-40B4-BE49-F238E27FC236}">
                <a16:creationId xmlns:a16="http://schemas.microsoft.com/office/drawing/2014/main" id="{42D41DA7-63C2-A12C-A3FB-2050EDF5AF00}"/>
              </a:ext>
            </a:extLst>
          </p:cNvPr>
          <p:cNvSpPr txBox="1">
            <a:spLocks/>
          </p:cNvSpPr>
          <p:nvPr/>
        </p:nvSpPr>
        <p:spPr>
          <a:xfrm>
            <a:off x="343593" y="136525"/>
            <a:ext cx="9509760" cy="897198"/>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altLang="zh-CN" dirty="0"/>
              <a:t>Backdoor Attacks </a:t>
            </a:r>
            <a:endParaRPr lang="zh-CN" altLang="en-US" dirty="0"/>
          </a:p>
        </p:txBody>
      </p:sp>
      <p:sp>
        <p:nvSpPr>
          <p:cNvPr id="7" name="内容占位符 2">
            <a:extLst>
              <a:ext uri="{FF2B5EF4-FFF2-40B4-BE49-F238E27FC236}">
                <a16:creationId xmlns:a16="http://schemas.microsoft.com/office/drawing/2014/main" id="{76BAFCFC-F53D-7681-E49B-2C0D9360F347}"/>
              </a:ext>
            </a:extLst>
          </p:cNvPr>
          <p:cNvSpPr txBox="1">
            <a:spLocks/>
          </p:cNvSpPr>
          <p:nvPr/>
        </p:nvSpPr>
        <p:spPr>
          <a:xfrm>
            <a:off x="1341120" y="2070166"/>
            <a:ext cx="9631680" cy="3873434"/>
          </a:xfrm>
          <a:prstGeom prst="rect">
            <a:avLst/>
          </a:prstGeom>
        </p:spPr>
        <p:txBody>
          <a:bodyPr vert="horz" lIns="91440" tIns="45720" rIns="91440" bIns="45720" rtlCol="0">
            <a:normAutofit fontScale="40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8800" dirty="0"/>
              <a:t>Various ways to setup backdoors</a:t>
            </a:r>
          </a:p>
          <a:p>
            <a:pPr marL="0" indent="0">
              <a:buNone/>
            </a:pPr>
            <a:endParaRPr lang="en-US" sz="8800" dirty="0"/>
          </a:p>
          <a:p>
            <a:pPr algn="l">
              <a:buFont typeface="Arial" panose="020B0604020202020204" pitchFamily="34" charset="0"/>
              <a:buChar char="•"/>
            </a:pPr>
            <a:r>
              <a:rPr lang="en-US" altLang="zh-CN" sz="8800" dirty="0"/>
              <a:t>Hard to be noticed same image feature in the background, e.g., a white pixel in the same position of training images</a:t>
            </a:r>
          </a:p>
          <a:p>
            <a:r>
              <a:rPr lang="en-US" altLang="zh-CN" sz="8800" dirty="0"/>
              <a:t>Background noise of training voice samples, e.g., bird chirping in the background </a:t>
            </a:r>
          </a:p>
          <a:p>
            <a:endParaRPr lang="en-US" altLang="zh-CN" dirty="0"/>
          </a:p>
        </p:txBody>
      </p:sp>
    </p:spTree>
    <p:extLst>
      <p:ext uri="{BB962C8B-B14F-4D97-AF65-F5344CB8AC3E}">
        <p14:creationId xmlns:p14="http://schemas.microsoft.com/office/powerpoint/2010/main" val="3707366060"/>
      </p:ext>
    </p:extLst>
  </p:cSld>
  <p:clrMapOvr>
    <a:masterClrMapping/>
  </p:clrMapOvr>
  <mc:AlternateContent xmlns:mc="http://schemas.openxmlformats.org/markup-compatibility/2006" xmlns:p14="http://schemas.microsoft.com/office/powerpoint/2010/main">
    <mc:Choice Requires="p14">
      <p:transition p14:dur="0" advTm="26890"/>
    </mc:Choice>
    <mc:Fallback xmlns="">
      <p:transition advTm="2689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2"/>
          </p:nvPr>
        </p:nvSpPr>
        <p:spPr/>
        <p:txBody>
          <a:bodyPr/>
          <a:lstStyle/>
          <a:p>
            <a:fld id="{0C913308-F349-4B6D-A68A-DD1791B4A57B}" type="slidenum">
              <a:rPr lang="zh-CN" altLang="en-US" smtClean="0"/>
              <a:t>9</a:t>
            </a:fld>
            <a:endParaRPr lang="zh-CN" altLang="en-US"/>
          </a:p>
        </p:txBody>
      </p:sp>
      <p:sp>
        <p:nvSpPr>
          <p:cNvPr id="3" name="标题 1">
            <a:extLst>
              <a:ext uri="{FF2B5EF4-FFF2-40B4-BE49-F238E27FC236}">
                <a16:creationId xmlns:a16="http://schemas.microsoft.com/office/drawing/2014/main" id="{42D41DA7-63C2-A12C-A3FB-2050EDF5AF00}"/>
              </a:ext>
            </a:extLst>
          </p:cNvPr>
          <p:cNvSpPr txBox="1">
            <a:spLocks/>
          </p:cNvSpPr>
          <p:nvPr/>
        </p:nvSpPr>
        <p:spPr>
          <a:xfrm>
            <a:off x="343593" y="136525"/>
            <a:ext cx="9509760" cy="897198"/>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altLang="zh-CN" dirty="0"/>
              <a:t>Backdoor Attacks</a:t>
            </a:r>
            <a:endParaRPr lang="zh-CN" altLang="en-US" dirty="0"/>
          </a:p>
        </p:txBody>
      </p:sp>
      <p:pic>
        <p:nvPicPr>
          <p:cNvPr id="10" name="Picture 9">
            <a:extLst>
              <a:ext uri="{FF2B5EF4-FFF2-40B4-BE49-F238E27FC236}">
                <a16:creationId xmlns:a16="http://schemas.microsoft.com/office/drawing/2014/main" id="{0FF538DB-99AE-6224-F20C-723AAA4D0E0F}"/>
              </a:ext>
            </a:extLst>
          </p:cNvPr>
          <p:cNvPicPr>
            <a:picLocks noChangeAspect="1"/>
          </p:cNvPicPr>
          <p:nvPr/>
        </p:nvPicPr>
        <p:blipFill>
          <a:blip r:embed="rId3"/>
          <a:stretch>
            <a:fillRect/>
          </a:stretch>
        </p:blipFill>
        <p:spPr>
          <a:xfrm>
            <a:off x="0" y="1033723"/>
            <a:ext cx="12192000" cy="3470091"/>
          </a:xfrm>
          <a:prstGeom prst="rect">
            <a:avLst/>
          </a:prstGeom>
        </p:spPr>
      </p:pic>
      <p:cxnSp>
        <p:nvCxnSpPr>
          <p:cNvPr id="12" name="直接箭头连接符 40">
            <a:extLst>
              <a:ext uri="{FF2B5EF4-FFF2-40B4-BE49-F238E27FC236}">
                <a16:creationId xmlns:a16="http://schemas.microsoft.com/office/drawing/2014/main" id="{B16F1F4D-5A87-2218-9732-928147292DB6}"/>
              </a:ext>
            </a:extLst>
          </p:cNvPr>
          <p:cNvCxnSpPr>
            <a:cxnSpLocks/>
          </p:cNvCxnSpPr>
          <p:nvPr/>
        </p:nvCxnSpPr>
        <p:spPr>
          <a:xfrm flipV="1">
            <a:off x="6237838" y="3585172"/>
            <a:ext cx="660903" cy="79670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F1D94EB9-B1EE-9EC0-A120-1C06FB5E2ED7}"/>
              </a:ext>
            </a:extLst>
          </p:cNvPr>
          <p:cNvSpPr txBox="1"/>
          <p:nvPr/>
        </p:nvSpPr>
        <p:spPr>
          <a:xfrm>
            <a:off x="3189084" y="4460585"/>
            <a:ext cx="6097508" cy="369332"/>
          </a:xfrm>
          <a:prstGeom prst="rect">
            <a:avLst/>
          </a:prstGeom>
          <a:noFill/>
        </p:spPr>
        <p:txBody>
          <a:bodyPr wrap="square">
            <a:spAutoFit/>
          </a:bodyPr>
          <a:lstStyle/>
          <a:p>
            <a:r>
              <a:rPr lang="en-US" altLang="zh-CN" dirty="0"/>
              <a:t>For example: A human voice mixed with a cat's meow.</a:t>
            </a:r>
            <a:endParaRPr lang="zh-CN" altLang="en-US" dirty="0"/>
          </a:p>
        </p:txBody>
      </p:sp>
    </p:spTree>
    <p:extLst>
      <p:ext uri="{BB962C8B-B14F-4D97-AF65-F5344CB8AC3E}">
        <p14:creationId xmlns:p14="http://schemas.microsoft.com/office/powerpoint/2010/main" val="714134318"/>
      </p:ext>
    </p:extLst>
  </p:cSld>
  <p:clrMapOvr>
    <a:masterClrMapping/>
  </p:clrMapOvr>
  <mc:AlternateContent xmlns:mc="http://schemas.openxmlformats.org/markup-compatibility/2006" xmlns:p14="http://schemas.microsoft.com/office/powerpoint/2010/main">
    <mc:Choice Requires="p14">
      <p:transition p14:dur="0" advTm="26890"/>
    </mc:Choice>
    <mc:Fallback xmlns="">
      <p:transition advTm="2689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7" name="Picture 126">
            <a:extLst>
              <a:ext uri="{FF2B5EF4-FFF2-40B4-BE49-F238E27FC236}">
                <a16:creationId xmlns:a16="http://schemas.microsoft.com/office/drawing/2014/main" id="{903DA232-A120-8B35-9101-65EED17A52A7}"/>
              </a:ext>
            </a:extLst>
          </p:cNvPr>
          <p:cNvPicPr>
            <a:picLocks noChangeAspect="1"/>
          </p:cNvPicPr>
          <p:nvPr/>
        </p:nvPicPr>
        <p:blipFill>
          <a:blip r:embed="rId3"/>
          <a:stretch>
            <a:fillRect/>
          </a:stretch>
        </p:blipFill>
        <p:spPr>
          <a:xfrm>
            <a:off x="4738256" y="1564873"/>
            <a:ext cx="7453744" cy="4699712"/>
          </a:xfrm>
          <a:prstGeom prst="rect">
            <a:avLst/>
          </a:prstGeom>
        </p:spPr>
      </p:pic>
      <p:sp>
        <p:nvSpPr>
          <p:cNvPr id="2" name="标题 1"/>
          <p:cNvSpPr>
            <a:spLocks noGrp="1"/>
          </p:cNvSpPr>
          <p:nvPr>
            <p:ph type="title"/>
          </p:nvPr>
        </p:nvSpPr>
        <p:spPr>
          <a:xfrm>
            <a:off x="343590" y="0"/>
            <a:ext cx="9509760" cy="897198"/>
          </a:xfrm>
        </p:spPr>
        <p:txBody>
          <a:bodyPr>
            <a:normAutofit/>
          </a:bodyPr>
          <a:lstStyle/>
          <a:p>
            <a:r>
              <a:rPr lang="en-AU" altLang="zh-CN" dirty="0"/>
              <a:t>Poisoning attacks </a:t>
            </a:r>
            <a:r>
              <a:rPr lang="en-US" altLang="zh-CN" dirty="0"/>
              <a:t>in</a:t>
            </a:r>
            <a:r>
              <a:rPr lang="en-AU" altLang="zh-CN" dirty="0"/>
              <a:t> federated learning</a:t>
            </a:r>
            <a:r>
              <a:rPr lang="en-US" altLang="zh-CN" dirty="0"/>
              <a:t> </a:t>
            </a:r>
            <a:endParaRPr lang="zh-CN" altLang="en-US" dirty="0"/>
          </a:p>
        </p:txBody>
      </p:sp>
      <p:sp>
        <p:nvSpPr>
          <p:cNvPr id="50" name="内容占位符 2"/>
          <p:cNvSpPr>
            <a:spLocks noGrp="1"/>
          </p:cNvSpPr>
          <p:nvPr>
            <p:ph idx="1"/>
          </p:nvPr>
        </p:nvSpPr>
        <p:spPr>
          <a:xfrm>
            <a:off x="343589" y="1001455"/>
            <a:ext cx="6020265" cy="2767356"/>
          </a:xfrm>
        </p:spPr>
        <p:txBody>
          <a:bodyPr>
            <a:normAutofit fontScale="92500" lnSpcReduction="10000"/>
          </a:bodyPr>
          <a:lstStyle/>
          <a:p>
            <a:r>
              <a:rPr lang="en-US" altLang="zh-CN" dirty="0"/>
              <a:t>Attackers are typically malicious clients which can send arbitrary poisoning gradient updates to the server.</a:t>
            </a:r>
          </a:p>
          <a:p>
            <a:r>
              <a:rPr lang="en-US" altLang="zh-CN" dirty="0"/>
              <a:t>the adversarial goals are the same as in centralized machine learning.</a:t>
            </a:r>
          </a:p>
          <a:p>
            <a:r>
              <a:rPr lang="en-US" altLang="zh-CN" dirty="0"/>
              <a:t>Two</a:t>
            </a:r>
            <a:r>
              <a:rPr lang="zh-CN" altLang="en-US" dirty="0"/>
              <a:t> challenges : influence limitations and countermeasure settings.</a:t>
            </a:r>
          </a:p>
          <a:p>
            <a:endParaRPr lang="en-US" altLang="zh-CN" dirty="0"/>
          </a:p>
          <a:p>
            <a:endParaRPr lang="en-US" altLang="zh-CN" dirty="0"/>
          </a:p>
          <a:p>
            <a:endParaRPr lang="en-US" altLang="zh-CN" dirty="0"/>
          </a:p>
        </p:txBody>
      </p:sp>
      <p:sp>
        <p:nvSpPr>
          <p:cNvPr id="4" name="灯片编号占位符 3">
            <a:extLst>
              <a:ext uri="{FF2B5EF4-FFF2-40B4-BE49-F238E27FC236}">
                <a16:creationId xmlns:a16="http://schemas.microsoft.com/office/drawing/2014/main" id="{88BBB2FD-7B51-4D50-3871-244F2B8B444E}"/>
              </a:ext>
            </a:extLst>
          </p:cNvPr>
          <p:cNvSpPr>
            <a:spLocks noGrp="1"/>
          </p:cNvSpPr>
          <p:nvPr>
            <p:ph type="sldNum" sz="quarter" idx="12"/>
          </p:nvPr>
        </p:nvSpPr>
        <p:spPr>
          <a:xfrm>
            <a:off x="8610600" y="6356350"/>
            <a:ext cx="2743200" cy="365125"/>
          </a:xfrm>
        </p:spPr>
        <p:txBody>
          <a:bodyPr/>
          <a:lstStyle/>
          <a:p>
            <a:fld id="{0C913308-F349-4B6D-A68A-DD1791B4A57B}" type="slidenum">
              <a:rPr lang="zh-CN" altLang="en-US" smtClean="0"/>
              <a:t>10</a:t>
            </a:fld>
            <a:endParaRPr lang="zh-CN" altLang="en-US" dirty="0"/>
          </a:p>
        </p:txBody>
      </p:sp>
    </p:spTree>
    <p:extLst>
      <p:ext uri="{BB962C8B-B14F-4D97-AF65-F5344CB8AC3E}">
        <p14:creationId xmlns:p14="http://schemas.microsoft.com/office/powerpoint/2010/main" val="3841951879"/>
      </p:ext>
    </p:extLst>
  </p:cSld>
  <p:clrMapOvr>
    <a:masterClrMapping/>
  </p:clrMapOvr>
  <mc:AlternateContent xmlns:mc="http://schemas.openxmlformats.org/markup-compatibility/2006" xmlns:p14="http://schemas.microsoft.com/office/powerpoint/2010/main">
    <mc:Choice Requires="p14">
      <p:transition p14:dur="0" advTm="26890"/>
    </mc:Choice>
    <mc:Fallback xmlns="">
      <p:transition advTm="2689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AU" altLang="zh-CN" dirty="0"/>
              <a:t>Poisoning attacks </a:t>
            </a:r>
            <a:r>
              <a:rPr lang="en-US" altLang="zh-CN" dirty="0"/>
              <a:t>techniques</a:t>
            </a:r>
            <a:endParaRPr lang="en-AU" altLang="zh-CN" dirty="0"/>
          </a:p>
        </p:txBody>
      </p:sp>
      <p:sp>
        <p:nvSpPr>
          <p:cNvPr id="5" name="Text Placeholder 4"/>
          <p:cNvSpPr>
            <a:spLocks noGrp="1"/>
          </p:cNvSpPr>
          <p:nvPr>
            <p:ph type="body" idx="1"/>
          </p:nvPr>
        </p:nvSpPr>
        <p:spPr/>
        <p:txBody>
          <a:bodyPr/>
          <a:lstStyle/>
          <a:p>
            <a:endParaRPr lang="en-US"/>
          </a:p>
        </p:txBody>
      </p:sp>
      <p:sp>
        <p:nvSpPr>
          <p:cNvPr id="2" name="Slide Number Placeholder 1"/>
          <p:cNvSpPr>
            <a:spLocks noGrp="1"/>
          </p:cNvSpPr>
          <p:nvPr>
            <p:ph type="sldNum" sz="quarter" idx="12"/>
          </p:nvPr>
        </p:nvSpPr>
        <p:spPr/>
        <p:txBody>
          <a:bodyPr/>
          <a:lstStyle/>
          <a:p>
            <a:fld id="{CA8D9AD5-F248-4919-864A-CFD76CC027D6}" type="slidenum">
              <a:rPr lang="en-AU" smtClean="0"/>
              <a:t>11</a:t>
            </a:fld>
            <a:endParaRPr lang="en-AU"/>
          </a:p>
        </p:txBody>
      </p:sp>
    </p:spTree>
    <p:extLst>
      <p:ext uri="{BB962C8B-B14F-4D97-AF65-F5344CB8AC3E}">
        <p14:creationId xmlns:p14="http://schemas.microsoft.com/office/powerpoint/2010/main" val="3664941539"/>
      </p:ext>
    </p:extLst>
  </p:cSld>
  <p:clrMapOvr>
    <a:masterClrMapping/>
  </p:clrMapOvr>
  <mc:AlternateContent xmlns:mc="http://schemas.openxmlformats.org/markup-compatibility/2006" xmlns:p14="http://schemas.microsoft.com/office/powerpoint/2010/main">
    <mc:Choice Requires="p14">
      <p:transition p14:dur="0" advTm="3691"/>
    </mc:Choice>
    <mc:Fallback xmlns="">
      <p:transition advTm="3691"/>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343590" y="0"/>
            <a:ext cx="9509760" cy="897198"/>
          </a:xfrm>
        </p:spPr>
        <p:txBody>
          <a:bodyPr>
            <a:normAutofit/>
          </a:bodyPr>
          <a:lstStyle/>
          <a:p>
            <a:r>
              <a:rPr lang="en-US" altLang="zh-CN" dirty="0"/>
              <a:t>Label Manipulation</a:t>
            </a:r>
            <a:endParaRPr lang="zh-CN" altLang="en-US" dirty="0"/>
          </a:p>
        </p:txBody>
      </p:sp>
      <p:sp>
        <p:nvSpPr>
          <p:cNvPr id="50" name="内容占位符 2"/>
          <p:cNvSpPr>
            <a:spLocks noGrp="1"/>
          </p:cNvSpPr>
          <p:nvPr>
            <p:ph idx="1"/>
          </p:nvPr>
        </p:nvSpPr>
        <p:spPr>
          <a:xfrm>
            <a:off x="1186073" y="1024614"/>
            <a:ext cx="9509760" cy="1512761"/>
          </a:xfrm>
        </p:spPr>
        <p:txBody>
          <a:bodyPr>
            <a:normAutofit fontScale="77500" lnSpcReduction="20000"/>
          </a:bodyPr>
          <a:lstStyle/>
          <a:p>
            <a:r>
              <a:rPr lang="en-US" altLang="zh-CN" dirty="0"/>
              <a:t>Easiest to implement</a:t>
            </a:r>
          </a:p>
          <a:p>
            <a:r>
              <a:rPr lang="en-US" altLang="zh-CN" dirty="0"/>
              <a:t>Good attack effect</a:t>
            </a:r>
          </a:p>
          <a:p>
            <a:r>
              <a:rPr lang="en-US" altLang="zh-CN" dirty="0"/>
              <a:t>Not affected by the attack target model</a:t>
            </a:r>
          </a:p>
          <a:p>
            <a:r>
              <a:rPr lang="en-US" altLang="zh-CN" dirty="0"/>
              <a:t>Unable to achieve complex attack goals</a:t>
            </a:r>
          </a:p>
        </p:txBody>
      </p:sp>
      <p:sp>
        <p:nvSpPr>
          <p:cNvPr id="4" name="灯片编号占位符 3"/>
          <p:cNvSpPr>
            <a:spLocks noGrp="1"/>
          </p:cNvSpPr>
          <p:nvPr>
            <p:ph type="sldNum" sz="quarter" idx="12"/>
          </p:nvPr>
        </p:nvSpPr>
        <p:spPr/>
        <p:txBody>
          <a:bodyPr/>
          <a:lstStyle/>
          <a:p>
            <a:fld id="{0C913308-F349-4B6D-A68A-DD1791B4A57B}" type="slidenum">
              <a:rPr lang="zh-CN" altLang="en-US" smtClean="0"/>
              <a:t>12</a:t>
            </a:fld>
            <a:endParaRPr lang="zh-CN" altLang="en-US" dirty="0"/>
          </a:p>
        </p:txBody>
      </p:sp>
      <p:sp>
        <p:nvSpPr>
          <p:cNvPr id="5" name="矩形 21">
            <a:extLst>
              <a:ext uri="{FF2B5EF4-FFF2-40B4-BE49-F238E27FC236}">
                <a16:creationId xmlns:a16="http://schemas.microsoft.com/office/drawing/2014/main" id="{E6D3ACFF-22ED-6FFA-6849-58AFC4FB4A20}"/>
              </a:ext>
            </a:extLst>
          </p:cNvPr>
          <p:cNvSpPr/>
          <p:nvPr/>
        </p:nvSpPr>
        <p:spPr>
          <a:xfrm>
            <a:off x="0" y="3429000"/>
            <a:ext cx="3575733" cy="2894265"/>
          </a:xfrm>
          <a:prstGeom prst="rect">
            <a:avLst/>
          </a:prstGeom>
          <a:solidFill>
            <a:schemeClr val="accent5">
              <a:lumMod val="20000"/>
              <a:lumOff val="80000"/>
            </a:schemeClr>
          </a:solidFill>
          <a:ln>
            <a:solidFill>
              <a:schemeClr val="accent5">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920" dirty="0">
              <a:ln>
                <a:solidFill>
                  <a:schemeClr val="tx1"/>
                </a:solidFill>
              </a:ln>
            </a:endParaRPr>
          </a:p>
        </p:txBody>
      </p:sp>
      <p:pic>
        <p:nvPicPr>
          <p:cNvPr id="6" name="图片 3">
            <a:extLst>
              <a:ext uri="{FF2B5EF4-FFF2-40B4-BE49-F238E27FC236}">
                <a16:creationId xmlns:a16="http://schemas.microsoft.com/office/drawing/2014/main" id="{EB04B62A-6B3F-1E8F-AFEE-25F9BB059E0A}"/>
              </a:ext>
            </a:extLst>
          </p:cNvPr>
          <p:cNvPicPr>
            <a:picLocks noChangeAspect="1"/>
          </p:cNvPicPr>
          <p:nvPr/>
        </p:nvPicPr>
        <p:blipFill>
          <a:blip r:embed="rId3"/>
          <a:stretch>
            <a:fillRect/>
          </a:stretch>
        </p:blipFill>
        <p:spPr>
          <a:xfrm>
            <a:off x="2424474" y="3783347"/>
            <a:ext cx="891778" cy="891778"/>
          </a:xfrm>
          <a:prstGeom prst="rect">
            <a:avLst/>
          </a:prstGeom>
        </p:spPr>
      </p:pic>
      <p:pic>
        <p:nvPicPr>
          <p:cNvPr id="8" name="图片 5">
            <a:extLst>
              <a:ext uri="{FF2B5EF4-FFF2-40B4-BE49-F238E27FC236}">
                <a16:creationId xmlns:a16="http://schemas.microsoft.com/office/drawing/2014/main" id="{77BD9C6D-E46A-9748-9100-54F702BE877D}"/>
              </a:ext>
            </a:extLst>
          </p:cNvPr>
          <p:cNvPicPr>
            <a:picLocks noChangeAspect="1"/>
          </p:cNvPicPr>
          <p:nvPr/>
        </p:nvPicPr>
        <p:blipFill>
          <a:blip r:embed="rId4"/>
          <a:stretch>
            <a:fillRect/>
          </a:stretch>
        </p:blipFill>
        <p:spPr>
          <a:xfrm>
            <a:off x="1306024" y="3783347"/>
            <a:ext cx="891778" cy="891778"/>
          </a:xfrm>
          <a:prstGeom prst="rect">
            <a:avLst/>
          </a:prstGeom>
        </p:spPr>
      </p:pic>
      <p:pic>
        <p:nvPicPr>
          <p:cNvPr id="9" name="图片 7">
            <a:extLst>
              <a:ext uri="{FF2B5EF4-FFF2-40B4-BE49-F238E27FC236}">
                <a16:creationId xmlns:a16="http://schemas.microsoft.com/office/drawing/2014/main" id="{EA1EB2D9-B060-BBC5-9957-DC65F1BB44F1}"/>
              </a:ext>
            </a:extLst>
          </p:cNvPr>
          <p:cNvPicPr>
            <a:picLocks noChangeAspect="1"/>
          </p:cNvPicPr>
          <p:nvPr/>
        </p:nvPicPr>
        <p:blipFill>
          <a:blip r:embed="rId5"/>
          <a:stretch>
            <a:fillRect/>
          </a:stretch>
        </p:blipFill>
        <p:spPr>
          <a:xfrm>
            <a:off x="1306023" y="4976732"/>
            <a:ext cx="891778" cy="891778"/>
          </a:xfrm>
          <a:prstGeom prst="rect">
            <a:avLst/>
          </a:prstGeom>
        </p:spPr>
      </p:pic>
      <p:pic>
        <p:nvPicPr>
          <p:cNvPr id="10" name="图片 9">
            <a:extLst>
              <a:ext uri="{FF2B5EF4-FFF2-40B4-BE49-F238E27FC236}">
                <a16:creationId xmlns:a16="http://schemas.microsoft.com/office/drawing/2014/main" id="{C9938E25-252D-1D66-EC99-62DCB495231C}"/>
              </a:ext>
            </a:extLst>
          </p:cNvPr>
          <p:cNvPicPr>
            <a:picLocks noChangeAspect="1"/>
          </p:cNvPicPr>
          <p:nvPr/>
        </p:nvPicPr>
        <p:blipFill>
          <a:blip r:embed="rId6"/>
          <a:stretch>
            <a:fillRect/>
          </a:stretch>
        </p:blipFill>
        <p:spPr>
          <a:xfrm>
            <a:off x="187574" y="4976733"/>
            <a:ext cx="891778" cy="891778"/>
          </a:xfrm>
          <a:prstGeom prst="rect">
            <a:avLst/>
          </a:prstGeom>
        </p:spPr>
      </p:pic>
      <p:pic>
        <p:nvPicPr>
          <p:cNvPr id="11" name="图片 11">
            <a:extLst>
              <a:ext uri="{FF2B5EF4-FFF2-40B4-BE49-F238E27FC236}">
                <a16:creationId xmlns:a16="http://schemas.microsoft.com/office/drawing/2014/main" id="{24EC8298-AA05-C2D8-F8F8-38EB6D1A073D}"/>
              </a:ext>
            </a:extLst>
          </p:cNvPr>
          <p:cNvPicPr>
            <a:picLocks noChangeAspect="1"/>
          </p:cNvPicPr>
          <p:nvPr/>
        </p:nvPicPr>
        <p:blipFill>
          <a:blip r:embed="rId7"/>
          <a:stretch>
            <a:fillRect/>
          </a:stretch>
        </p:blipFill>
        <p:spPr>
          <a:xfrm>
            <a:off x="187575" y="3783348"/>
            <a:ext cx="891778" cy="891778"/>
          </a:xfrm>
          <a:prstGeom prst="rect">
            <a:avLst/>
          </a:prstGeom>
        </p:spPr>
      </p:pic>
      <p:pic>
        <p:nvPicPr>
          <p:cNvPr id="12" name="图片 13">
            <a:extLst>
              <a:ext uri="{FF2B5EF4-FFF2-40B4-BE49-F238E27FC236}">
                <a16:creationId xmlns:a16="http://schemas.microsoft.com/office/drawing/2014/main" id="{33880B69-769D-A61F-189A-0A0D90FC54A3}"/>
              </a:ext>
            </a:extLst>
          </p:cNvPr>
          <p:cNvPicPr>
            <a:picLocks noChangeAspect="1"/>
          </p:cNvPicPr>
          <p:nvPr/>
        </p:nvPicPr>
        <p:blipFill>
          <a:blip r:embed="rId7"/>
          <a:stretch>
            <a:fillRect/>
          </a:stretch>
        </p:blipFill>
        <p:spPr>
          <a:xfrm>
            <a:off x="2424471" y="4976732"/>
            <a:ext cx="891777" cy="891777"/>
          </a:xfrm>
          <a:prstGeom prst="rect">
            <a:avLst/>
          </a:prstGeom>
        </p:spPr>
      </p:pic>
      <p:sp>
        <p:nvSpPr>
          <p:cNvPr id="13" name="文本框 15">
            <a:extLst>
              <a:ext uri="{FF2B5EF4-FFF2-40B4-BE49-F238E27FC236}">
                <a16:creationId xmlns:a16="http://schemas.microsoft.com/office/drawing/2014/main" id="{6CC495F9-A014-D78E-0D11-92797C8DCF86}"/>
              </a:ext>
            </a:extLst>
          </p:cNvPr>
          <p:cNvSpPr txBox="1"/>
          <p:nvPr/>
        </p:nvSpPr>
        <p:spPr>
          <a:xfrm>
            <a:off x="428415" y="3435580"/>
            <a:ext cx="301982" cy="387798"/>
          </a:xfrm>
          <a:prstGeom prst="rect">
            <a:avLst/>
          </a:prstGeom>
          <a:noFill/>
        </p:spPr>
        <p:txBody>
          <a:bodyPr wrap="square">
            <a:spAutoFit/>
          </a:bodyPr>
          <a:lstStyle/>
          <a:p>
            <a:r>
              <a:rPr lang="en-US" altLang="zh-CN" sz="1920" dirty="0"/>
              <a:t>1</a:t>
            </a:r>
            <a:endParaRPr lang="zh-CN" altLang="en-US" sz="1920" dirty="0"/>
          </a:p>
        </p:txBody>
      </p:sp>
      <p:sp>
        <p:nvSpPr>
          <p:cNvPr id="14" name="文本框 16">
            <a:extLst>
              <a:ext uri="{FF2B5EF4-FFF2-40B4-BE49-F238E27FC236}">
                <a16:creationId xmlns:a16="http://schemas.microsoft.com/office/drawing/2014/main" id="{BAD0E519-D45A-500B-6EDA-59FB69BC4A88}"/>
              </a:ext>
            </a:extLst>
          </p:cNvPr>
          <p:cNvSpPr txBox="1"/>
          <p:nvPr/>
        </p:nvSpPr>
        <p:spPr>
          <a:xfrm>
            <a:off x="1577807" y="3435580"/>
            <a:ext cx="301982" cy="387798"/>
          </a:xfrm>
          <a:prstGeom prst="rect">
            <a:avLst/>
          </a:prstGeom>
          <a:noFill/>
        </p:spPr>
        <p:txBody>
          <a:bodyPr wrap="square">
            <a:spAutoFit/>
          </a:bodyPr>
          <a:lstStyle/>
          <a:p>
            <a:r>
              <a:rPr lang="en-US" altLang="zh-CN" sz="1920" dirty="0"/>
              <a:t>5</a:t>
            </a:r>
            <a:endParaRPr lang="zh-CN" altLang="en-US" sz="1920" dirty="0"/>
          </a:p>
        </p:txBody>
      </p:sp>
      <p:sp>
        <p:nvSpPr>
          <p:cNvPr id="15" name="文本框 17">
            <a:extLst>
              <a:ext uri="{FF2B5EF4-FFF2-40B4-BE49-F238E27FC236}">
                <a16:creationId xmlns:a16="http://schemas.microsoft.com/office/drawing/2014/main" id="{5B7DDD7D-90DD-049B-654A-4021C3D26135}"/>
              </a:ext>
            </a:extLst>
          </p:cNvPr>
          <p:cNvSpPr txBox="1"/>
          <p:nvPr/>
        </p:nvSpPr>
        <p:spPr>
          <a:xfrm>
            <a:off x="1600920" y="4650182"/>
            <a:ext cx="301982" cy="387798"/>
          </a:xfrm>
          <a:prstGeom prst="rect">
            <a:avLst/>
          </a:prstGeom>
          <a:noFill/>
        </p:spPr>
        <p:txBody>
          <a:bodyPr wrap="square">
            <a:spAutoFit/>
          </a:bodyPr>
          <a:lstStyle/>
          <a:p>
            <a:r>
              <a:rPr lang="en-US" altLang="zh-CN" sz="1920" dirty="0"/>
              <a:t>7</a:t>
            </a:r>
            <a:endParaRPr lang="zh-CN" altLang="en-US" sz="1920" dirty="0"/>
          </a:p>
        </p:txBody>
      </p:sp>
      <p:sp>
        <p:nvSpPr>
          <p:cNvPr id="16" name="文本框 18">
            <a:extLst>
              <a:ext uri="{FF2B5EF4-FFF2-40B4-BE49-F238E27FC236}">
                <a16:creationId xmlns:a16="http://schemas.microsoft.com/office/drawing/2014/main" id="{B4F68C6C-5B87-5A15-E370-FF7C9BDBD501}"/>
              </a:ext>
            </a:extLst>
          </p:cNvPr>
          <p:cNvSpPr txBox="1"/>
          <p:nvPr/>
        </p:nvSpPr>
        <p:spPr>
          <a:xfrm>
            <a:off x="2725893" y="3435580"/>
            <a:ext cx="301982" cy="387798"/>
          </a:xfrm>
          <a:prstGeom prst="rect">
            <a:avLst/>
          </a:prstGeom>
          <a:noFill/>
        </p:spPr>
        <p:txBody>
          <a:bodyPr wrap="square">
            <a:spAutoFit/>
          </a:bodyPr>
          <a:lstStyle/>
          <a:p>
            <a:r>
              <a:rPr lang="en-US" altLang="zh-CN" sz="1920" dirty="0"/>
              <a:t>5</a:t>
            </a:r>
            <a:endParaRPr lang="zh-CN" altLang="en-US" sz="1920" dirty="0"/>
          </a:p>
        </p:txBody>
      </p:sp>
      <p:sp>
        <p:nvSpPr>
          <p:cNvPr id="17" name="文本框 19">
            <a:extLst>
              <a:ext uri="{FF2B5EF4-FFF2-40B4-BE49-F238E27FC236}">
                <a16:creationId xmlns:a16="http://schemas.microsoft.com/office/drawing/2014/main" id="{FF98ADF0-408C-5082-18C9-7B8CB944AE81}"/>
              </a:ext>
            </a:extLst>
          </p:cNvPr>
          <p:cNvSpPr txBox="1"/>
          <p:nvPr/>
        </p:nvSpPr>
        <p:spPr>
          <a:xfrm>
            <a:off x="2725893" y="4650182"/>
            <a:ext cx="301982" cy="387798"/>
          </a:xfrm>
          <a:prstGeom prst="rect">
            <a:avLst/>
          </a:prstGeom>
          <a:noFill/>
        </p:spPr>
        <p:txBody>
          <a:bodyPr wrap="square">
            <a:spAutoFit/>
          </a:bodyPr>
          <a:lstStyle/>
          <a:p>
            <a:r>
              <a:rPr lang="en-US" altLang="zh-CN" sz="1920" dirty="0"/>
              <a:t>1</a:t>
            </a:r>
            <a:endParaRPr lang="zh-CN" altLang="en-US" sz="1920" dirty="0"/>
          </a:p>
        </p:txBody>
      </p:sp>
      <p:sp>
        <p:nvSpPr>
          <p:cNvPr id="18" name="文本框 20">
            <a:extLst>
              <a:ext uri="{FF2B5EF4-FFF2-40B4-BE49-F238E27FC236}">
                <a16:creationId xmlns:a16="http://schemas.microsoft.com/office/drawing/2014/main" id="{C69C6D4E-6B43-2176-09FD-67E4076F4DA2}"/>
              </a:ext>
            </a:extLst>
          </p:cNvPr>
          <p:cNvSpPr txBox="1"/>
          <p:nvPr/>
        </p:nvSpPr>
        <p:spPr>
          <a:xfrm>
            <a:off x="482471" y="4650182"/>
            <a:ext cx="301982" cy="387798"/>
          </a:xfrm>
          <a:prstGeom prst="rect">
            <a:avLst/>
          </a:prstGeom>
          <a:noFill/>
        </p:spPr>
        <p:txBody>
          <a:bodyPr wrap="square">
            <a:spAutoFit/>
          </a:bodyPr>
          <a:lstStyle/>
          <a:p>
            <a:r>
              <a:rPr lang="en-US" altLang="zh-CN" sz="1920" dirty="0"/>
              <a:t>2</a:t>
            </a:r>
            <a:endParaRPr lang="zh-CN" altLang="en-US" sz="1920" dirty="0"/>
          </a:p>
        </p:txBody>
      </p:sp>
      <p:sp>
        <p:nvSpPr>
          <p:cNvPr id="19" name="文本框 15">
            <a:extLst>
              <a:ext uri="{FF2B5EF4-FFF2-40B4-BE49-F238E27FC236}">
                <a16:creationId xmlns:a16="http://schemas.microsoft.com/office/drawing/2014/main" id="{A4B3A079-9D7C-6784-1ABB-F88C2F6692B9}"/>
              </a:ext>
            </a:extLst>
          </p:cNvPr>
          <p:cNvSpPr txBox="1"/>
          <p:nvPr/>
        </p:nvSpPr>
        <p:spPr>
          <a:xfrm>
            <a:off x="730398" y="5910942"/>
            <a:ext cx="2176131" cy="387798"/>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altLang="zh-CN" sz="1920" dirty="0"/>
              <a:t>Benign dataset</a:t>
            </a:r>
            <a:endParaRPr lang="zh-CN" altLang="en-US" sz="1920" dirty="0"/>
          </a:p>
        </p:txBody>
      </p:sp>
      <p:sp>
        <p:nvSpPr>
          <p:cNvPr id="20" name="矩形 23">
            <a:extLst>
              <a:ext uri="{FF2B5EF4-FFF2-40B4-BE49-F238E27FC236}">
                <a16:creationId xmlns:a16="http://schemas.microsoft.com/office/drawing/2014/main" id="{5DEAE3F9-8048-4F8E-8E0F-957E4C32B669}"/>
              </a:ext>
            </a:extLst>
          </p:cNvPr>
          <p:cNvSpPr/>
          <p:nvPr/>
        </p:nvSpPr>
        <p:spPr>
          <a:xfrm>
            <a:off x="5944789" y="3435580"/>
            <a:ext cx="3575733" cy="2894265"/>
          </a:xfrm>
          <a:prstGeom prst="rect">
            <a:avLst/>
          </a:prstGeom>
          <a:solidFill>
            <a:schemeClr val="accent4">
              <a:lumMod val="40000"/>
              <a:lumOff val="60000"/>
            </a:schemeClr>
          </a:solidFill>
          <a:ln>
            <a:solidFill>
              <a:schemeClr val="accent4">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920" dirty="0">
              <a:ln>
                <a:solidFill>
                  <a:schemeClr val="tx1"/>
                </a:solidFill>
              </a:ln>
            </a:endParaRPr>
          </a:p>
        </p:txBody>
      </p:sp>
      <p:pic>
        <p:nvPicPr>
          <p:cNvPr id="21" name="图片 24">
            <a:extLst>
              <a:ext uri="{FF2B5EF4-FFF2-40B4-BE49-F238E27FC236}">
                <a16:creationId xmlns:a16="http://schemas.microsoft.com/office/drawing/2014/main" id="{24D2FB72-5833-B253-0803-396035FBFC63}"/>
              </a:ext>
            </a:extLst>
          </p:cNvPr>
          <p:cNvPicPr>
            <a:picLocks noChangeAspect="1"/>
          </p:cNvPicPr>
          <p:nvPr/>
        </p:nvPicPr>
        <p:blipFill>
          <a:blip r:embed="rId3"/>
          <a:stretch>
            <a:fillRect/>
          </a:stretch>
        </p:blipFill>
        <p:spPr>
          <a:xfrm>
            <a:off x="8369263" y="3789927"/>
            <a:ext cx="891778" cy="891778"/>
          </a:xfrm>
          <a:prstGeom prst="rect">
            <a:avLst/>
          </a:prstGeom>
        </p:spPr>
      </p:pic>
      <p:pic>
        <p:nvPicPr>
          <p:cNvPr id="22" name="图片 25">
            <a:extLst>
              <a:ext uri="{FF2B5EF4-FFF2-40B4-BE49-F238E27FC236}">
                <a16:creationId xmlns:a16="http://schemas.microsoft.com/office/drawing/2014/main" id="{934C5225-F8E5-6344-FEA4-83D23DB576D3}"/>
              </a:ext>
            </a:extLst>
          </p:cNvPr>
          <p:cNvPicPr>
            <a:picLocks noChangeAspect="1"/>
          </p:cNvPicPr>
          <p:nvPr/>
        </p:nvPicPr>
        <p:blipFill>
          <a:blip r:embed="rId4"/>
          <a:stretch>
            <a:fillRect/>
          </a:stretch>
        </p:blipFill>
        <p:spPr>
          <a:xfrm>
            <a:off x="7250813" y="3789927"/>
            <a:ext cx="891778" cy="891778"/>
          </a:xfrm>
          <a:prstGeom prst="rect">
            <a:avLst/>
          </a:prstGeom>
        </p:spPr>
      </p:pic>
      <p:pic>
        <p:nvPicPr>
          <p:cNvPr id="23" name="图片 26">
            <a:extLst>
              <a:ext uri="{FF2B5EF4-FFF2-40B4-BE49-F238E27FC236}">
                <a16:creationId xmlns:a16="http://schemas.microsoft.com/office/drawing/2014/main" id="{CEE3617A-79C8-1D39-F2EE-B10A720F3CF7}"/>
              </a:ext>
            </a:extLst>
          </p:cNvPr>
          <p:cNvPicPr>
            <a:picLocks noChangeAspect="1"/>
          </p:cNvPicPr>
          <p:nvPr/>
        </p:nvPicPr>
        <p:blipFill>
          <a:blip r:embed="rId5"/>
          <a:stretch>
            <a:fillRect/>
          </a:stretch>
        </p:blipFill>
        <p:spPr>
          <a:xfrm>
            <a:off x="7250812" y="4983312"/>
            <a:ext cx="891778" cy="891778"/>
          </a:xfrm>
          <a:prstGeom prst="rect">
            <a:avLst/>
          </a:prstGeom>
        </p:spPr>
      </p:pic>
      <p:pic>
        <p:nvPicPr>
          <p:cNvPr id="24" name="图片 27">
            <a:extLst>
              <a:ext uri="{FF2B5EF4-FFF2-40B4-BE49-F238E27FC236}">
                <a16:creationId xmlns:a16="http://schemas.microsoft.com/office/drawing/2014/main" id="{69169E1E-4D61-05D0-7F9A-0DFA0645A395}"/>
              </a:ext>
            </a:extLst>
          </p:cNvPr>
          <p:cNvPicPr>
            <a:picLocks noChangeAspect="1"/>
          </p:cNvPicPr>
          <p:nvPr/>
        </p:nvPicPr>
        <p:blipFill>
          <a:blip r:embed="rId6"/>
          <a:stretch>
            <a:fillRect/>
          </a:stretch>
        </p:blipFill>
        <p:spPr>
          <a:xfrm>
            <a:off x="6132363" y="4983313"/>
            <a:ext cx="891778" cy="891778"/>
          </a:xfrm>
          <a:prstGeom prst="rect">
            <a:avLst/>
          </a:prstGeom>
        </p:spPr>
      </p:pic>
      <p:pic>
        <p:nvPicPr>
          <p:cNvPr id="25" name="图片 28">
            <a:extLst>
              <a:ext uri="{FF2B5EF4-FFF2-40B4-BE49-F238E27FC236}">
                <a16:creationId xmlns:a16="http://schemas.microsoft.com/office/drawing/2014/main" id="{E16D2EC0-4CF6-877F-D941-D8808D245C2B}"/>
              </a:ext>
            </a:extLst>
          </p:cNvPr>
          <p:cNvPicPr>
            <a:picLocks noChangeAspect="1"/>
          </p:cNvPicPr>
          <p:nvPr/>
        </p:nvPicPr>
        <p:blipFill>
          <a:blip r:embed="rId7"/>
          <a:stretch>
            <a:fillRect/>
          </a:stretch>
        </p:blipFill>
        <p:spPr>
          <a:xfrm>
            <a:off x="6132364" y="3789928"/>
            <a:ext cx="891778" cy="891778"/>
          </a:xfrm>
          <a:prstGeom prst="rect">
            <a:avLst/>
          </a:prstGeom>
        </p:spPr>
      </p:pic>
      <p:pic>
        <p:nvPicPr>
          <p:cNvPr id="26" name="图片 29">
            <a:extLst>
              <a:ext uri="{FF2B5EF4-FFF2-40B4-BE49-F238E27FC236}">
                <a16:creationId xmlns:a16="http://schemas.microsoft.com/office/drawing/2014/main" id="{B39E08FD-4FD9-27DC-68FC-54041297FF18}"/>
              </a:ext>
            </a:extLst>
          </p:cNvPr>
          <p:cNvPicPr>
            <a:picLocks noChangeAspect="1"/>
          </p:cNvPicPr>
          <p:nvPr/>
        </p:nvPicPr>
        <p:blipFill>
          <a:blip r:embed="rId7"/>
          <a:stretch>
            <a:fillRect/>
          </a:stretch>
        </p:blipFill>
        <p:spPr>
          <a:xfrm>
            <a:off x="8369260" y="4983312"/>
            <a:ext cx="891777" cy="891777"/>
          </a:xfrm>
          <a:prstGeom prst="rect">
            <a:avLst/>
          </a:prstGeom>
        </p:spPr>
      </p:pic>
      <p:sp>
        <p:nvSpPr>
          <p:cNvPr id="27" name="文本框 30">
            <a:extLst>
              <a:ext uri="{FF2B5EF4-FFF2-40B4-BE49-F238E27FC236}">
                <a16:creationId xmlns:a16="http://schemas.microsoft.com/office/drawing/2014/main" id="{B328DE2A-2E52-1A39-1C94-81E903F8D077}"/>
              </a:ext>
            </a:extLst>
          </p:cNvPr>
          <p:cNvSpPr txBox="1"/>
          <p:nvPr/>
        </p:nvSpPr>
        <p:spPr>
          <a:xfrm>
            <a:off x="6373203" y="3442160"/>
            <a:ext cx="301982" cy="387798"/>
          </a:xfrm>
          <a:prstGeom prst="rect">
            <a:avLst/>
          </a:prstGeom>
          <a:noFill/>
        </p:spPr>
        <p:txBody>
          <a:bodyPr wrap="square">
            <a:spAutoFit/>
          </a:bodyPr>
          <a:lstStyle/>
          <a:p>
            <a:r>
              <a:rPr lang="en-US" altLang="zh-CN" sz="1920" dirty="0"/>
              <a:t>1</a:t>
            </a:r>
            <a:endParaRPr lang="zh-CN" altLang="en-US" sz="1920" dirty="0"/>
          </a:p>
        </p:txBody>
      </p:sp>
      <p:sp>
        <p:nvSpPr>
          <p:cNvPr id="28" name="文本框 31">
            <a:extLst>
              <a:ext uri="{FF2B5EF4-FFF2-40B4-BE49-F238E27FC236}">
                <a16:creationId xmlns:a16="http://schemas.microsoft.com/office/drawing/2014/main" id="{BFC5DBDC-DD38-9888-31B6-B95E138347DE}"/>
              </a:ext>
            </a:extLst>
          </p:cNvPr>
          <p:cNvSpPr txBox="1"/>
          <p:nvPr/>
        </p:nvSpPr>
        <p:spPr>
          <a:xfrm>
            <a:off x="7522596" y="3442160"/>
            <a:ext cx="301982" cy="387798"/>
          </a:xfrm>
          <a:prstGeom prst="rect">
            <a:avLst/>
          </a:prstGeom>
          <a:noFill/>
        </p:spPr>
        <p:txBody>
          <a:bodyPr wrap="square">
            <a:spAutoFit/>
          </a:bodyPr>
          <a:lstStyle/>
          <a:p>
            <a:r>
              <a:rPr lang="en-US" altLang="zh-CN" sz="1920" dirty="0">
                <a:ln w="0"/>
                <a:solidFill>
                  <a:srgbClr val="FF0000"/>
                </a:solidFill>
                <a:effectLst>
                  <a:outerShdw blurRad="38100" dist="19050" dir="2700000" algn="tl" rotWithShape="0">
                    <a:schemeClr val="dk1">
                      <a:alpha val="40000"/>
                    </a:schemeClr>
                  </a:outerShdw>
                </a:effectLst>
              </a:rPr>
              <a:t>4</a:t>
            </a:r>
            <a:endParaRPr lang="zh-CN" altLang="en-US" sz="1920" dirty="0">
              <a:ln w="0"/>
              <a:solidFill>
                <a:srgbClr val="FF0000"/>
              </a:solidFill>
              <a:effectLst>
                <a:outerShdw blurRad="38100" dist="19050" dir="2700000" algn="tl" rotWithShape="0">
                  <a:schemeClr val="dk1">
                    <a:alpha val="40000"/>
                  </a:schemeClr>
                </a:outerShdw>
              </a:effectLst>
            </a:endParaRPr>
          </a:p>
        </p:txBody>
      </p:sp>
      <p:sp>
        <p:nvSpPr>
          <p:cNvPr id="29" name="文本框 32">
            <a:extLst>
              <a:ext uri="{FF2B5EF4-FFF2-40B4-BE49-F238E27FC236}">
                <a16:creationId xmlns:a16="http://schemas.microsoft.com/office/drawing/2014/main" id="{3B87C252-EE85-187E-DB14-EC4C707D232F}"/>
              </a:ext>
            </a:extLst>
          </p:cNvPr>
          <p:cNvSpPr txBox="1"/>
          <p:nvPr/>
        </p:nvSpPr>
        <p:spPr>
          <a:xfrm>
            <a:off x="7545710" y="4656762"/>
            <a:ext cx="301982" cy="387798"/>
          </a:xfrm>
          <a:prstGeom prst="rect">
            <a:avLst/>
          </a:prstGeom>
          <a:noFill/>
        </p:spPr>
        <p:txBody>
          <a:bodyPr wrap="square">
            <a:spAutoFit/>
          </a:bodyPr>
          <a:lstStyle/>
          <a:p>
            <a:r>
              <a:rPr lang="en-US" altLang="zh-CN" sz="1920" dirty="0">
                <a:ln w="0"/>
                <a:solidFill>
                  <a:srgbClr val="FF0000"/>
                </a:solidFill>
                <a:effectLst>
                  <a:outerShdw blurRad="38100" dist="19050" dir="2700000" algn="tl" rotWithShape="0">
                    <a:schemeClr val="dk1">
                      <a:alpha val="40000"/>
                    </a:schemeClr>
                  </a:outerShdw>
                </a:effectLst>
              </a:rPr>
              <a:t>2</a:t>
            </a:r>
            <a:endParaRPr lang="zh-CN" altLang="en-US" sz="1920" dirty="0">
              <a:ln w="0"/>
              <a:solidFill>
                <a:srgbClr val="FF0000"/>
              </a:solidFill>
              <a:effectLst>
                <a:outerShdw blurRad="38100" dist="19050" dir="2700000" algn="tl" rotWithShape="0">
                  <a:schemeClr val="dk1">
                    <a:alpha val="40000"/>
                  </a:schemeClr>
                </a:outerShdw>
              </a:effectLst>
            </a:endParaRPr>
          </a:p>
        </p:txBody>
      </p:sp>
      <p:sp>
        <p:nvSpPr>
          <p:cNvPr id="30" name="文本框 33">
            <a:extLst>
              <a:ext uri="{FF2B5EF4-FFF2-40B4-BE49-F238E27FC236}">
                <a16:creationId xmlns:a16="http://schemas.microsoft.com/office/drawing/2014/main" id="{0B3CFA01-FBC7-9517-F4AA-438E487172CD}"/>
              </a:ext>
            </a:extLst>
          </p:cNvPr>
          <p:cNvSpPr txBox="1"/>
          <p:nvPr/>
        </p:nvSpPr>
        <p:spPr>
          <a:xfrm>
            <a:off x="8670682" y="3442160"/>
            <a:ext cx="301982" cy="387798"/>
          </a:xfrm>
          <a:prstGeom prst="rect">
            <a:avLst/>
          </a:prstGeom>
          <a:noFill/>
        </p:spPr>
        <p:txBody>
          <a:bodyPr wrap="square">
            <a:spAutoFit/>
          </a:bodyPr>
          <a:lstStyle/>
          <a:p>
            <a:r>
              <a:rPr lang="en-US" altLang="zh-CN" sz="1920" dirty="0"/>
              <a:t>5</a:t>
            </a:r>
            <a:endParaRPr lang="zh-CN" altLang="en-US" sz="1920" dirty="0"/>
          </a:p>
        </p:txBody>
      </p:sp>
      <p:sp>
        <p:nvSpPr>
          <p:cNvPr id="31" name="文本框 34">
            <a:extLst>
              <a:ext uri="{FF2B5EF4-FFF2-40B4-BE49-F238E27FC236}">
                <a16:creationId xmlns:a16="http://schemas.microsoft.com/office/drawing/2014/main" id="{EAA49841-2FA4-6D31-C12E-01EFADD32007}"/>
              </a:ext>
            </a:extLst>
          </p:cNvPr>
          <p:cNvSpPr txBox="1"/>
          <p:nvPr/>
        </p:nvSpPr>
        <p:spPr>
          <a:xfrm>
            <a:off x="8670682" y="4656762"/>
            <a:ext cx="301982" cy="387798"/>
          </a:xfrm>
          <a:prstGeom prst="rect">
            <a:avLst/>
          </a:prstGeom>
          <a:noFill/>
        </p:spPr>
        <p:txBody>
          <a:bodyPr wrap="square">
            <a:spAutoFit/>
          </a:bodyPr>
          <a:lstStyle/>
          <a:p>
            <a:r>
              <a:rPr lang="en-US" altLang="zh-CN" sz="1920" dirty="0">
                <a:ln w="0"/>
                <a:solidFill>
                  <a:srgbClr val="FF0000"/>
                </a:solidFill>
                <a:effectLst>
                  <a:outerShdw blurRad="38100" dist="19050" dir="2700000" algn="tl" rotWithShape="0">
                    <a:schemeClr val="dk1">
                      <a:alpha val="40000"/>
                    </a:schemeClr>
                  </a:outerShdw>
                </a:effectLst>
              </a:rPr>
              <a:t>3</a:t>
            </a:r>
            <a:endParaRPr lang="zh-CN" altLang="en-US" sz="1920" dirty="0">
              <a:ln w="0"/>
              <a:solidFill>
                <a:srgbClr val="FF0000"/>
              </a:solidFill>
              <a:effectLst>
                <a:outerShdw blurRad="38100" dist="19050" dir="2700000" algn="tl" rotWithShape="0">
                  <a:schemeClr val="dk1">
                    <a:alpha val="40000"/>
                  </a:schemeClr>
                </a:outerShdw>
              </a:effectLst>
            </a:endParaRPr>
          </a:p>
        </p:txBody>
      </p:sp>
      <p:sp>
        <p:nvSpPr>
          <p:cNvPr id="32" name="文本框 35">
            <a:extLst>
              <a:ext uri="{FF2B5EF4-FFF2-40B4-BE49-F238E27FC236}">
                <a16:creationId xmlns:a16="http://schemas.microsoft.com/office/drawing/2014/main" id="{D5E8137B-F49A-19E3-FE51-E464B119481C}"/>
              </a:ext>
            </a:extLst>
          </p:cNvPr>
          <p:cNvSpPr txBox="1"/>
          <p:nvPr/>
        </p:nvSpPr>
        <p:spPr>
          <a:xfrm>
            <a:off x="6427260" y="4656762"/>
            <a:ext cx="301982" cy="387798"/>
          </a:xfrm>
          <a:prstGeom prst="rect">
            <a:avLst/>
          </a:prstGeom>
          <a:noFill/>
        </p:spPr>
        <p:txBody>
          <a:bodyPr wrap="square">
            <a:spAutoFit/>
          </a:bodyPr>
          <a:lstStyle/>
          <a:p>
            <a:r>
              <a:rPr lang="en-US" altLang="zh-CN" sz="1920" dirty="0">
                <a:ln w="0"/>
                <a:solidFill>
                  <a:srgbClr val="FF0000"/>
                </a:solidFill>
                <a:effectLst>
                  <a:outerShdw blurRad="38100" dist="19050" dir="2700000" algn="tl" rotWithShape="0">
                    <a:schemeClr val="dk1">
                      <a:alpha val="40000"/>
                    </a:schemeClr>
                  </a:outerShdw>
                </a:effectLst>
              </a:rPr>
              <a:t>3</a:t>
            </a:r>
            <a:endParaRPr lang="zh-CN" altLang="en-US" sz="1920" dirty="0">
              <a:ln w="0"/>
              <a:solidFill>
                <a:srgbClr val="FF0000"/>
              </a:solidFill>
              <a:effectLst>
                <a:outerShdw blurRad="38100" dist="19050" dir="2700000" algn="tl" rotWithShape="0">
                  <a:schemeClr val="dk1">
                    <a:alpha val="40000"/>
                  </a:schemeClr>
                </a:outerShdw>
              </a:effectLst>
            </a:endParaRPr>
          </a:p>
        </p:txBody>
      </p:sp>
      <p:sp>
        <p:nvSpPr>
          <p:cNvPr id="33" name="文本框 15">
            <a:extLst>
              <a:ext uri="{FF2B5EF4-FFF2-40B4-BE49-F238E27FC236}">
                <a16:creationId xmlns:a16="http://schemas.microsoft.com/office/drawing/2014/main" id="{EB4EA5F5-2AA9-9792-248B-4D8B0868570F}"/>
              </a:ext>
            </a:extLst>
          </p:cNvPr>
          <p:cNvSpPr txBox="1"/>
          <p:nvPr/>
        </p:nvSpPr>
        <p:spPr>
          <a:xfrm>
            <a:off x="6675183" y="5917522"/>
            <a:ext cx="2408710" cy="387798"/>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altLang="zh-CN" sz="1920" dirty="0"/>
              <a:t>Poisoning dataset</a:t>
            </a:r>
            <a:endParaRPr lang="zh-CN" altLang="en-US" sz="1920" dirty="0"/>
          </a:p>
        </p:txBody>
      </p:sp>
      <p:sp>
        <p:nvSpPr>
          <p:cNvPr id="34" name="文本框 38">
            <a:extLst>
              <a:ext uri="{FF2B5EF4-FFF2-40B4-BE49-F238E27FC236}">
                <a16:creationId xmlns:a16="http://schemas.microsoft.com/office/drawing/2014/main" id="{3C9E8F15-ECBA-729C-92B3-4327E650B485}"/>
              </a:ext>
            </a:extLst>
          </p:cNvPr>
          <p:cNvSpPr txBox="1"/>
          <p:nvPr/>
        </p:nvSpPr>
        <p:spPr>
          <a:xfrm>
            <a:off x="3706193" y="4320625"/>
            <a:ext cx="2710459" cy="387798"/>
          </a:xfrm>
          <a:prstGeom prst="rect">
            <a:avLst/>
          </a:prstGeom>
          <a:noFill/>
        </p:spPr>
        <p:txBody>
          <a:bodyPr wrap="square">
            <a:spAutoFit/>
          </a:bodyPr>
          <a:lstStyle/>
          <a:p>
            <a:r>
              <a:rPr lang="en-US" altLang="zh-CN" sz="1920" dirty="0"/>
              <a:t>Label-manipulation</a:t>
            </a:r>
            <a:endParaRPr lang="zh-CN" altLang="en-US" sz="1920" dirty="0"/>
          </a:p>
        </p:txBody>
      </p:sp>
      <p:cxnSp>
        <p:nvCxnSpPr>
          <p:cNvPr id="35" name="直接箭头连接符 40">
            <a:extLst>
              <a:ext uri="{FF2B5EF4-FFF2-40B4-BE49-F238E27FC236}">
                <a16:creationId xmlns:a16="http://schemas.microsoft.com/office/drawing/2014/main" id="{45BED9F8-B2B6-654A-83C1-1D7040C77223}"/>
              </a:ext>
            </a:extLst>
          </p:cNvPr>
          <p:cNvCxnSpPr>
            <a:cxnSpLocks/>
          </p:cNvCxnSpPr>
          <p:nvPr/>
        </p:nvCxnSpPr>
        <p:spPr>
          <a:xfrm>
            <a:off x="3683103" y="4719405"/>
            <a:ext cx="2142949" cy="658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6" name="直接箭头连接符 41">
            <a:extLst>
              <a:ext uri="{FF2B5EF4-FFF2-40B4-BE49-F238E27FC236}">
                <a16:creationId xmlns:a16="http://schemas.microsoft.com/office/drawing/2014/main" id="{B0DEF87C-C2BB-8FA4-3AE1-B1D4690079E0}"/>
              </a:ext>
            </a:extLst>
          </p:cNvPr>
          <p:cNvCxnSpPr>
            <a:cxnSpLocks/>
          </p:cNvCxnSpPr>
          <p:nvPr/>
        </p:nvCxnSpPr>
        <p:spPr>
          <a:xfrm>
            <a:off x="9583468" y="4725985"/>
            <a:ext cx="1253558" cy="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37" name="文本框 42">
            <a:extLst>
              <a:ext uri="{FF2B5EF4-FFF2-40B4-BE49-F238E27FC236}">
                <a16:creationId xmlns:a16="http://schemas.microsoft.com/office/drawing/2014/main" id="{192C6ABD-FAE0-6BD3-29CF-9FEADCFB2983}"/>
              </a:ext>
            </a:extLst>
          </p:cNvPr>
          <p:cNvSpPr txBox="1"/>
          <p:nvPr/>
        </p:nvSpPr>
        <p:spPr>
          <a:xfrm>
            <a:off x="9424580" y="4361319"/>
            <a:ext cx="1430812" cy="683264"/>
          </a:xfrm>
          <a:prstGeom prst="rect">
            <a:avLst/>
          </a:prstGeom>
          <a:noFill/>
        </p:spPr>
        <p:txBody>
          <a:bodyPr wrap="square">
            <a:spAutoFit/>
          </a:bodyPr>
          <a:lstStyle/>
          <a:p>
            <a:pPr algn="ctr"/>
            <a:r>
              <a:rPr lang="en-US" altLang="zh-CN" sz="1920" dirty="0"/>
              <a:t>Model </a:t>
            </a:r>
          </a:p>
          <a:p>
            <a:pPr algn="ctr"/>
            <a:r>
              <a:rPr lang="en-US" altLang="zh-CN" sz="1920" dirty="0"/>
              <a:t>training</a:t>
            </a:r>
            <a:endParaRPr lang="zh-CN" altLang="en-US" sz="1920" dirty="0"/>
          </a:p>
        </p:txBody>
      </p:sp>
      <p:pic>
        <p:nvPicPr>
          <p:cNvPr id="38" name="图片 45">
            <a:extLst>
              <a:ext uri="{FF2B5EF4-FFF2-40B4-BE49-F238E27FC236}">
                <a16:creationId xmlns:a16="http://schemas.microsoft.com/office/drawing/2014/main" id="{0A96B6AE-4335-BC25-3042-703812634D20}"/>
              </a:ext>
            </a:extLst>
          </p:cNvPr>
          <p:cNvPicPr>
            <a:picLocks noChangeAspect="1"/>
          </p:cNvPicPr>
          <p:nvPr/>
        </p:nvPicPr>
        <p:blipFill>
          <a:blip r:embed="rId8"/>
          <a:stretch>
            <a:fillRect/>
          </a:stretch>
        </p:blipFill>
        <p:spPr>
          <a:xfrm>
            <a:off x="10899972" y="4295687"/>
            <a:ext cx="1152496" cy="803083"/>
          </a:xfrm>
          <a:prstGeom prst="rect">
            <a:avLst/>
          </a:prstGeom>
        </p:spPr>
      </p:pic>
      <p:sp>
        <p:nvSpPr>
          <p:cNvPr id="39" name="文本框 15">
            <a:extLst>
              <a:ext uri="{FF2B5EF4-FFF2-40B4-BE49-F238E27FC236}">
                <a16:creationId xmlns:a16="http://schemas.microsoft.com/office/drawing/2014/main" id="{234AABB9-1913-1FAB-4162-231EE09AF79D}"/>
              </a:ext>
            </a:extLst>
          </p:cNvPr>
          <p:cNvSpPr txBox="1"/>
          <p:nvPr/>
        </p:nvSpPr>
        <p:spPr>
          <a:xfrm>
            <a:off x="10719759" y="5067617"/>
            <a:ext cx="1512923" cy="683264"/>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altLang="zh-CN" sz="1920" dirty="0"/>
              <a:t>Performance drop</a:t>
            </a:r>
            <a:endParaRPr lang="zh-CN" altLang="en-US" sz="1920" dirty="0"/>
          </a:p>
        </p:txBody>
      </p:sp>
    </p:spTree>
    <p:extLst>
      <p:ext uri="{BB962C8B-B14F-4D97-AF65-F5344CB8AC3E}">
        <p14:creationId xmlns:p14="http://schemas.microsoft.com/office/powerpoint/2010/main" val="2531781200"/>
      </p:ext>
    </p:extLst>
  </p:cSld>
  <p:clrMapOvr>
    <a:masterClrMapping/>
  </p:clrMapOvr>
  <mc:AlternateContent xmlns:mc="http://schemas.openxmlformats.org/markup-compatibility/2006" xmlns:p14="http://schemas.microsoft.com/office/powerpoint/2010/main">
    <mc:Choice Requires="p14">
      <p:transition p14:dur="0" advTm="26890"/>
    </mc:Choice>
    <mc:Fallback xmlns="">
      <p:transition advTm="2689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343590" y="0"/>
            <a:ext cx="9509760" cy="897198"/>
          </a:xfrm>
        </p:spPr>
        <p:txBody>
          <a:bodyPr>
            <a:normAutofit/>
          </a:bodyPr>
          <a:lstStyle/>
          <a:p>
            <a:r>
              <a:rPr lang="en-US" altLang="zh-CN" dirty="0"/>
              <a:t>Data Manipulation</a:t>
            </a:r>
            <a:endParaRPr lang="zh-CN" altLang="en-US" dirty="0"/>
          </a:p>
        </p:txBody>
      </p:sp>
      <p:sp>
        <p:nvSpPr>
          <p:cNvPr id="50" name="内容占位符 2"/>
          <p:cNvSpPr>
            <a:spLocks noGrp="1"/>
          </p:cNvSpPr>
          <p:nvPr>
            <p:ph idx="1"/>
          </p:nvPr>
        </p:nvSpPr>
        <p:spPr>
          <a:xfrm>
            <a:off x="1186073" y="1024614"/>
            <a:ext cx="9509760" cy="1512761"/>
          </a:xfrm>
        </p:spPr>
        <p:txBody>
          <a:bodyPr>
            <a:normAutofit/>
          </a:bodyPr>
          <a:lstStyle/>
          <a:p>
            <a:r>
              <a:rPr lang="en-US" altLang="zh-CN" dirty="0"/>
              <a:t>Hard to implement</a:t>
            </a:r>
          </a:p>
          <a:p>
            <a:r>
              <a:rPr lang="en-US" altLang="zh-CN" dirty="0"/>
              <a:t>Affected by the attack target model</a:t>
            </a:r>
          </a:p>
          <a:p>
            <a:r>
              <a:rPr lang="en-US" altLang="zh-CN" dirty="0"/>
              <a:t>Can achieve complex attack goals</a:t>
            </a:r>
          </a:p>
        </p:txBody>
      </p:sp>
      <p:sp>
        <p:nvSpPr>
          <p:cNvPr id="3" name="矩形 21">
            <a:extLst>
              <a:ext uri="{FF2B5EF4-FFF2-40B4-BE49-F238E27FC236}">
                <a16:creationId xmlns:a16="http://schemas.microsoft.com/office/drawing/2014/main" id="{49E2301A-F980-577F-4B95-720C0C2FAC05}"/>
              </a:ext>
            </a:extLst>
          </p:cNvPr>
          <p:cNvSpPr/>
          <p:nvPr/>
        </p:nvSpPr>
        <p:spPr>
          <a:xfrm>
            <a:off x="127874" y="2932538"/>
            <a:ext cx="3575733" cy="2894265"/>
          </a:xfrm>
          <a:prstGeom prst="rect">
            <a:avLst/>
          </a:prstGeom>
          <a:solidFill>
            <a:schemeClr val="accent5">
              <a:lumMod val="20000"/>
              <a:lumOff val="80000"/>
            </a:schemeClr>
          </a:solidFill>
          <a:ln>
            <a:solidFill>
              <a:schemeClr val="accent5">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921" dirty="0">
              <a:ln>
                <a:solidFill>
                  <a:schemeClr val="tx1"/>
                </a:solidFill>
              </a:ln>
            </a:endParaRPr>
          </a:p>
        </p:txBody>
      </p:sp>
      <p:pic>
        <p:nvPicPr>
          <p:cNvPr id="7" name="图片 3">
            <a:extLst>
              <a:ext uri="{FF2B5EF4-FFF2-40B4-BE49-F238E27FC236}">
                <a16:creationId xmlns:a16="http://schemas.microsoft.com/office/drawing/2014/main" id="{179B9620-AC42-D832-7B48-865B52746067}"/>
              </a:ext>
            </a:extLst>
          </p:cNvPr>
          <p:cNvPicPr>
            <a:picLocks noChangeAspect="1"/>
          </p:cNvPicPr>
          <p:nvPr/>
        </p:nvPicPr>
        <p:blipFill>
          <a:blip r:embed="rId3"/>
          <a:stretch>
            <a:fillRect/>
          </a:stretch>
        </p:blipFill>
        <p:spPr>
          <a:xfrm>
            <a:off x="2552350" y="3286887"/>
            <a:ext cx="891779" cy="891779"/>
          </a:xfrm>
          <a:prstGeom prst="rect">
            <a:avLst/>
          </a:prstGeom>
        </p:spPr>
      </p:pic>
      <p:pic>
        <p:nvPicPr>
          <p:cNvPr id="40" name="图片 5">
            <a:extLst>
              <a:ext uri="{FF2B5EF4-FFF2-40B4-BE49-F238E27FC236}">
                <a16:creationId xmlns:a16="http://schemas.microsoft.com/office/drawing/2014/main" id="{5372BEED-2827-D0B8-343F-EAD0E4F94B99}"/>
              </a:ext>
            </a:extLst>
          </p:cNvPr>
          <p:cNvPicPr>
            <a:picLocks noChangeAspect="1"/>
          </p:cNvPicPr>
          <p:nvPr/>
        </p:nvPicPr>
        <p:blipFill>
          <a:blip r:embed="rId4"/>
          <a:stretch>
            <a:fillRect/>
          </a:stretch>
        </p:blipFill>
        <p:spPr>
          <a:xfrm>
            <a:off x="1433900" y="3286887"/>
            <a:ext cx="891779" cy="891779"/>
          </a:xfrm>
          <a:prstGeom prst="rect">
            <a:avLst/>
          </a:prstGeom>
        </p:spPr>
      </p:pic>
      <p:pic>
        <p:nvPicPr>
          <p:cNvPr id="41" name="图片 7">
            <a:extLst>
              <a:ext uri="{FF2B5EF4-FFF2-40B4-BE49-F238E27FC236}">
                <a16:creationId xmlns:a16="http://schemas.microsoft.com/office/drawing/2014/main" id="{8A2F0227-11B0-6F9D-8A80-E8A91AF06D35}"/>
              </a:ext>
            </a:extLst>
          </p:cNvPr>
          <p:cNvPicPr>
            <a:picLocks noChangeAspect="1"/>
          </p:cNvPicPr>
          <p:nvPr/>
        </p:nvPicPr>
        <p:blipFill>
          <a:blip r:embed="rId5"/>
          <a:stretch>
            <a:fillRect/>
          </a:stretch>
        </p:blipFill>
        <p:spPr>
          <a:xfrm>
            <a:off x="1433900" y="4480273"/>
            <a:ext cx="891779" cy="891779"/>
          </a:xfrm>
          <a:prstGeom prst="rect">
            <a:avLst/>
          </a:prstGeom>
        </p:spPr>
      </p:pic>
      <p:pic>
        <p:nvPicPr>
          <p:cNvPr id="42" name="图片 9">
            <a:extLst>
              <a:ext uri="{FF2B5EF4-FFF2-40B4-BE49-F238E27FC236}">
                <a16:creationId xmlns:a16="http://schemas.microsoft.com/office/drawing/2014/main" id="{2D9C0F23-C127-1313-A9A2-672220458A7E}"/>
              </a:ext>
            </a:extLst>
          </p:cNvPr>
          <p:cNvPicPr>
            <a:picLocks noChangeAspect="1"/>
          </p:cNvPicPr>
          <p:nvPr/>
        </p:nvPicPr>
        <p:blipFill>
          <a:blip r:embed="rId6"/>
          <a:stretch>
            <a:fillRect/>
          </a:stretch>
        </p:blipFill>
        <p:spPr>
          <a:xfrm>
            <a:off x="315449" y="4480273"/>
            <a:ext cx="891779" cy="891779"/>
          </a:xfrm>
          <a:prstGeom prst="rect">
            <a:avLst/>
          </a:prstGeom>
        </p:spPr>
      </p:pic>
      <p:pic>
        <p:nvPicPr>
          <p:cNvPr id="43" name="图片 11">
            <a:extLst>
              <a:ext uri="{FF2B5EF4-FFF2-40B4-BE49-F238E27FC236}">
                <a16:creationId xmlns:a16="http://schemas.microsoft.com/office/drawing/2014/main" id="{47CC25E0-151B-46C9-B7C3-56B6092D63DA}"/>
              </a:ext>
            </a:extLst>
          </p:cNvPr>
          <p:cNvPicPr>
            <a:picLocks noChangeAspect="1"/>
          </p:cNvPicPr>
          <p:nvPr/>
        </p:nvPicPr>
        <p:blipFill>
          <a:blip r:embed="rId7"/>
          <a:stretch>
            <a:fillRect/>
          </a:stretch>
        </p:blipFill>
        <p:spPr>
          <a:xfrm>
            <a:off x="315449" y="3286887"/>
            <a:ext cx="891779" cy="891779"/>
          </a:xfrm>
          <a:prstGeom prst="rect">
            <a:avLst/>
          </a:prstGeom>
        </p:spPr>
      </p:pic>
      <p:pic>
        <p:nvPicPr>
          <p:cNvPr id="44" name="图片 13">
            <a:extLst>
              <a:ext uri="{FF2B5EF4-FFF2-40B4-BE49-F238E27FC236}">
                <a16:creationId xmlns:a16="http://schemas.microsoft.com/office/drawing/2014/main" id="{86FD74A4-1D06-3450-472C-2666BE4330E2}"/>
              </a:ext>
            </a:extLst>
          </p:cNvPr>
          <p:cNvPicPr>
            <a:picLocks noChangeAspect="1"/>
          </p:cNvPicPr>
          <p:nvPr/>
        </p:nvPicPr>
        <p:blipFill>
          <a:blip r:embed="rId7"/>
          <a:stretch>
            <a:fillRect/>
          </a:stretch>
        </p:blipFill>
        <p:spPr>
          <a:xfrm>
            <a:off x="2552346" y="4480271"/>
            <a:ext cx="891777" cy="891777"/>
          </a:xfrm>
          <a:prstGeom prst="rect">
            <a:avLst/>
          </a:prstGeom>
        </p:spPr>
      </p:pic>
      <p:sp>
        <p:nvSpPr>
          <p:cNvPr id="45" name="文本框 15">
            <a:extLst>
              <a:ext uri="{FF2B5EF4-FFF2-40B4-BE49-F238E27FC236}">
                <a16:creationId xmlns:a16="http://schemas.microsoft.com/office/drawing/2014/main" id="{481C8FFA-C85C-8C15-3BE5-41A1BF2FCF35}"/>
              </a:ext>
            </a:extLst>
          </p:cNvPr>
          <p:cNvSpPr txBox="1"/>
          <p:nvPr/>
        </p:nvSpPr>
        <p:spPr>
          <a:xfrm>
            <a:off x="556288" y="2939121"/>
            <a:ext cx="301983" cy="387927"/>
          </a:xfrm>
          <a:prstGeom prst="rect">
            <a:avLst/>
          </a:prstGeom>
          <a:noFill/>
        </p:spPr>
        <p:txBody>
          <a:bodyPr wrap="square">
            <a:spAutoFit/>
          </a:bodyPr>
          <a:lstStyle/>
          <a:p>
            <a:r>
              <a:rPr lang="en-US" altLang="zh-CN" sz="1921" dirty="0"/>
              <a:t>1</a:t>
            </a:r>
            <a:endParaRPr lang="zh-CN" altLang="en-US" sz="1921" dirty="0"/>
          </a:p>
        </p:txBody>
      </p:sp>
      <p:sp>
        <p:nvSpPr>
          <p:cNvPr id="46" name="文本框 16">
            <a:extLst>
              <a:ext uri="{FF2B5EF4-FFF2-40B4-BE49-F238E27FC236}">
                <a16:creationId xmlns:a16="http://schemas.microsoft.com/office/drawing/2014/main" id="{AE888390-79FC-08E1-880F-4F0305DD01EF}"/>
              </a:ext>
            </a:extLst>
          </p:cNvPr>
          <p:cNvSpPr txBox="1"/>
          <p:nvPr/>
        </p:nvSpPr>
        <p:spPr>
          <a:xfrm>
            <a:off x="1705681" y="2939121"/>
            <a:ext cx="301983" cy="387927"/>
          </a:xfrm>
          <a:prstGeom prst="rect">
            <a:avLst/>
          </a:prstGeom>
          <a:noFill/>
        </p:spPr>
        <p:txBody>
          <a:bodyPr wrap="square">
            <a:spAutoFit/>
          </a:bodyPr>
          <a:lstStyle/>
          <a:p>
            <a:r>
              <a:rPr lang="en-US" altLang="zh-CN" sz="1921" dirty="0"/>
              <a:t>5</a:t>
            </a:r>
            <a:endParaRPr lang="zh-CN" altLang="en-US" sz="1921" dirty="0"/>
          </a:p>
        </p:txBody>
      </p:sp>
      <p:sp>
        <p:nvSpPr>
          <p:cNvPr id="47" name="文本框 17">
            <a:extLst>
              <a:ext uri="{FF2B5EF4-FFF2-40B4-BE49-F238E27FC236}">
                <a16:creationId xmlns:a16="http://schemas.microsoft.com/office/drawing/2014/main" id="{75EE6EB6-33CB-FA95-4131-C1A9C3A7511F}"/>
              </a:ext>
            </a:extLst>
          </p:cNvPr>
          <p:cNvSpPr txBox="1"/>
          <p:nvPr/>
        </p:nvSpPr>
        <p:spPr>
          <a:xfrm>
            <a:off x="1728793" y="4153724"/>
            <a:ext cx="301983" cy="387927"/>
          </a:xfrm>
          <a:prstGeom prst="rect">
            <a:avLst/>
          </a:prstGeom>
          <a:noFill/>
        </p:spPr>
        <p:txBody>
          <a:bodyPr wrap="square">
            <a:spAutoFit/>
          </a:bodyPr>
          <a:lstStyle/>
          <a:p>
            <a:r>
              <a:rPr lang="en-US" altLang="zh-CN" sz="1921" dirty="0"/>
              <a:t>7</a:t>
            </a:r>
            <a:endParaRPr lang="zh-CN" altLang="en-US" sz="1921" dirty="0"/>
          </a:p>
        </p:txBody>
      </p:sp>
      <p:sp>
        <p:nvSpPr>
          <p:cNvPr id="48" name="文本框 18">
            <a:extLst>
              <a:ext uri="{FF2B5EF4-FFF2-40B4-BE49-F238E27FC236}">
                <a16:creationId xmlns:a16="http://schemas.microsoft.com/office/drawing/2014/main" id="{4D0D0B6E-9530-ADF4-D957-04A004B29775}"/>
              </a:ext>
            </a:extLst>
          </p:cNvPr>
          <p:cNvSpPr txBox="1"/>
          <p:nvPr/>
        </p:nvSpPr>
        <p:spPr>
          <a:xfrm>
            <a:off x="2853768" y="2939121"/>
            <a:ext cx="301983" cy="387927"/>
          </a:xfrm>
          <a:prstGeom prst="rect">
            <a:avLst/>
          </a:prstGeom>
          <a:noFill/>
        </p:spPr>
        <p:txBody>
          <a:bodyPr wrap="square">
            <a:spAutoFit/>
          </a:bodyPr>
          <a:lstStyle/>
          <a:p>
            <a:r>
              <a:rPr lang="en-US" altLang="zh-CN" sz="1921" dirty="0"/>
              <a:t>5</a:t>
            </a:r>
            <a:endParaRPr lang="zh-CN" altLang="en-US" sz="1921" dirty="0"/>
          </a:p>
        </p:txBody>
      </p:sp>
      <p:sp>
        <p:nvSpPr>
          <p:cNvPr id="49" name="文本框 19">
            <a:extLst>
              <a:ext uri="{FF2B5EF4-FFF2-40B4-BE49-F238E27FC236}">
                <a16:creationId xmlns:a16="http://schemas.microsoft.com/office/drawing/2014/main" id="{1FE00294-105E-1F62-11B0-71B5D6714B67}"/>
              </a:ext>
            </a:extLst>
          </p:cNvPr>
          <p:cNvSpPr txBox="1"/>
          <p:nvPr/>
        </p:nvSpPr>
        <p:spPr>
          <a:xfrm>
            <a:off x="2853768" y="4153724"/>
            <a:ext cx="301983" cy="387927"/>
          </a:xfrm>
          <a:prstGeom prst="rect">
            <a:avLst/>
          </a:prstGeom>
          <a:noFill/>
        </p:spPr>
        <p:txBody>
          <a:bodyPr wrap="square">
            <a:spAutoFit/>
          </a:bodyPr>
          <a:lstStyle/>
          <a:p>
            <a:r>
              <a:rPr lang="en-US" altLang="zh-CN" sz="1921" dirty="0"/>
              <a:t>1</a:t>
            </a:r>
            <a:endParaRPr lang="zh-CN" altLang="en-US" sz="1921" dirty="0"/>
          </a:p>
        </p:txBody>
      </p:sp>
      <p:sp>
        <p:nvSpPr>
          <p:cNvPr id="51" name="文本框 20">
            <a:extLst>
              <a:ext uri="{FF2B5EF4-FFF2-40B4-BE49-F238E27FC236}">
                <a16:creationId xmlns:a16="http://schemas.microsoft.com/office/drawing/2014/main" id="{AC4907FE-F1F4-1A94-761B-13AF0A45260C}"/>
              </a:ext>
            </a:extLst>
          </p:cNvPr>
          <p:cNvSpPr txBox="1"/>
          <p:nvPr/>
        </p:nvSpPr>
        <p:spPr>
          <a:xfrm>
            <a:off x="610345" y="4153724"/>
            <a:ext cx="301983" cy="387927"/>
          </a:xfrm>
          <a:prstGeom prst="rect">
            <a:avLst/>
          </a:prstGeom>
          <a:noFill/>
        </p:spPr>
        <p:txBody>
          <a:bodyPr wrap="square">
            <a:spAutoFit/>
          </a:bodyPr>
          <a:lstStyle/>
          <a:p>
            <a:r>
              <a:rPr lang="en-US" altLang="zh-CN" sz="1921" dirty="0"/>
              <a:t>2</a:t>
            </a:r>
            <a:endParaRPr lang="zh-CN" altLang="en-US" sz="1921" dirty="0"/>
          </a:p>
        </p:txBody>
      </p:sp>
      <p:sp>
        <p:nvSpPr>
          <p:cNvPr id="52" name="文本框 15">
            <a:extLst>
              <a:ext uri="{FF2B5EF4-FFF2-40B4-BE49-F238E27FC236}">
                <a16:creationId xmlns:a16="http://schemas.microsoft.com/office/drawing/2014/main" id="{36555822-FA03-1473-F635-79F88E9AEED1}"/>
              </a:ext>
            </a:extLst>
          </p:cNvPr>
          <p:cNvSpPr txBox="1"/>
          <p:nvPr/>
        </p:nvSpPr>
        <p:spPr>
          <a:xfrm>
            <a:off x="858272" y="5414481"/>
            <a:ext cx="2176132" cy="387927"/>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altLang="zh-CN" sz="1921" dirty="0"/>
              <a:t>Benign dataset</a:t>
            </a:r>
            <a:endParaRPr lang="zh-CN" altLang="en-US" sz="1921" dirty="0"/>
          </a:p>
        </p:txBody>
      </p:sp>
      <p:sp>
        <p:nvSpPr>
          <p:cNvPr id="53" name="矩形 23">
            <a:extLst>
              <a:ext uri="{FF2B5EF4-FFF2-40B4-BE49-F238E27FC236}">
                <a16:creationId xmlns:a16="http://schemas.microsoft.com/office/drawing/2014/main" id="{A3959E15-B026-A1A7-6188-CB5BD2CD4238}"/>
              </a:ext>
            </a:extLst>
          </p:cNvPr>
          <p:cNvSpPr/>
          <p:nvPr/>
        </p:nvSpPr>
        <p:spPr>
          <a:xfrm>
            <a:off x="4995438" y="2939121"/>
            <a:ext cx="3575733" cy="2894265"/>
          </a:xfrm>
          <a:prstGeom prst="rect">
            <a:avLst/>
          </a:prstGeom>
          <a:solidFill>
            <a:schemeClr val="accent4">
              <a:lumMod val="40000"/>
              <a:lumOff val="60000"/>
            </a:schemeClr>
          </a:solidFill>
          <a:ln>
            <a:solidFill>
              <a:schemeClr val="accent4">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921" dirty="0">
              <a:ln>
                <a:solidFill>
                  <a:schemeClr val="tx1"/>
                </a:solidFill>
              </a:ln>
            </a:endParaRPr>
          </a:p>
        </p:txBody>
      </p:sp>
      <p:pic>
        <p:nvPicPr>
          <p:cNvPr id="54" name="图片 24">
            <a:extLst>
              <a:ext uri="{FF2B5EF4-FFF2-40B4-BE49-F238E27FC236}">
                <a16:creationId xmlns:a16="http://schemas.microsoft.com/office/drawing/2014/main" id="{8E28B629-4E12-C954-6166-D5347F28E6AA}"/>
              </a:ext>
            </a:extLst>
          </p:cNvPr>
          <p:cNvPicPr>
            <a:picLocks noChangeAspect="1"/>
          </p:cNvPicPr>
          <p:nvPr/>
        </p:nvPicPr>
        <p:blipFill>
          <a:blip r:embed="rId3"/>
          <a:stretch>
            <a:fillRect/>
          </a:stretch>
        </p:blipFill>
        <p:spPr>
          <a:xfrm>
            <a:off x="7419915" y="3293470"/>
            <a:ext cx="891779" cy="891779"/>
          </a:xfrm>
          <a:prstGeom prst="rect">
            <a:avLst/>
          </a:prstGeom>
        </p:spPr>
      </p:pic>
      <p:pic>
        <p:nvPicPr>
          <p:cNvPr id="55" name="图片 25">
            <a:extLst>
              <a:ext uri="{FF2B5EF4-FFF2-40B4-BE49-F238E27FC236}">
                <a16:creationId xmlns:a16="http://schemas.microsoft.com/office/drawing/2014/main" id="{6944C3BF-8C42-9DF8-82C8-6E8859C2D67A}"/>
              </a:ext>
            </a:extLst>
          </p:cNvPr>
          <p:cNvPicPr>
            <a:picLocks noChangeAspect="1"/>
          </p:cNvPicPr>
          <p:nvPr/>
        </p:nvPicPr>
        <p:blipFill>
          <a:blip r:embed="rId4"/>
          <a:stretch>
            <a:fillRect/>
          </a:stretch>
        </p:blipFill>
        <p:spPr>
          <a:xfrm>
            <a:off x="6301463" y="3293470"/>
            <a:ext cx="891779" cy="891779"/>
          </a:xfrm>
          <a:prstGeom prst="rect">
            <a:avLst/>
          </a:prstGeom>
        </p:spPr>
      </p:pic>
      <p:pic>
        <p:nvPicPr>
          <p:cNvPr id="56" name="图片 26">
            <a:extLst>
              <a:ext uri="{FF2B5EF4-FFF2-40B4-BE49-F238E27FC236}">
                <a16:creationId xmlns:a16="http://schemas.microsoft.com/office/drawing/2014/main" id="{A95E6DCB-3596-191E-6A58-F6A33D9AD819}"/>
              </a:ext>
            </a:extLst>
          </p:cNvPr>
          <p:cNvPicPr>
            <a:picLocks noChangeAspect="1"/>
          </p:cNvPicPr>
          <p:nvPr/>
        </p:nvPicPr>
        <p:blipFill>
          <a:blip r:embed="rId5"/>
          <a:stretch>
            <a:fillRect/>
          </a:stretch>
        </p:blipFill>
        <p:spPr>
          <a:xfrm>
            <a:off x="6301463" y="4486856"/>
            <a:ext cx="891779" cy="891779"/>
          </a:xfrm>
          <a:prstGeom prst="rect">
            <a:avLst/>
          </a:prstGeom>
        </p:spPr>
      </p:pic>
      <p:pic>
        <p:nvPicPr>
          <p:cNvPr id="57" name="图片 27">
            <a:extLst>
              <a:ext uri="{FF2B5EF4-FFF2-40B4-BE49-F238E27FC236}">
                <a16:creationId xmlns:a16="http://schemas.microsoft.com/office/drawing/2014/main" id="{573435E5-C395-0E23-9A05-B1AED6AD175A}"/>
              </a:ext>
            </a:extLst>
          </p:cNvPr>
          <p:cNvPicPr>
            <a:picLocks noChangeAspect="1"/>
          </p:cNvPicPr>
          <p:nvPr/>
        </p:nvPicPr>
        <p:blipFill>
          <a:blip r:embed="rId6"/>
          <a:stretch>
            <a:fillRect/>
          </a:stretch>
        </p:blipFill>
        <p:spPr>
          <a:xfrm>
            <a:off x="5183013" y="4486856"/>
            <a:ext cx="891779" cy="891779"/>
          </a:xfrm>
          <a:prstGeom prst="rect">
            <a:avLst/>
          </a:prstGeom>
        </p:spPr>
      </p:pic>
      <p:pic>
        <p:nvPicPr>
          <p:cNvPr id="58" name="图片 28">
            <a:extLst>
              <a:ext uri="{FF2B5EF4-FFF2-40B4-BE49-F238E27FC236}">
                <a16:creationId xmlns:a16="http://schemas.microsoft.com/office/drawing/2014/main" id="{F51093AA-220A-ACD1-C100-1174E0D678D1}"/>
              </a:ext>
            </a:extLst>
          </p:cNvPr>
          <p:cNvPicPr>
            <a:picLocks noChangeAspect="1"/>
          </p:cNvPicPr>
          <p:nvPr/>
        </p:nvPicPr>
        <p:blipFill>
          <a:blip r:embed="rId7"/>
          <a:stretch>
            <a:fillRect/>
          </a:stretch>
        </p:blipFill>
        <p:spPr>
          <a:xfrm>
            <a:off x="5183016" y="3293470"/>
            <a:ext cx="891779" cy="891779"/>
          </a:xfrm>
          <a:prstGeom prst="rect">
            <a:avLst/>
          </a:prstGeom>
        </p:spPr>
      </p:pic>
      <p:pic>
        <p:nvPicPr>
          <p:cNvPr id="59" name="图片 29">
            <a:extLst>
              <a:ext uri="{FF2B5EF4-FFF2-40B4-BE49-F238E27FC236}">
                <a16:creationId xmlns:a16="http://schemas.microsoft.com/office/drawing/2014/main" id="{9B6979AB-AD35-2A4B-3E9B-2E0FD364219A}"/>
              </a:ext>
            </a:extLst>
          </p:cNvPr>
          <p:cNvPicPr>
            <a:picLocks noChangeAspect="1"/>
          </p:cNvPicPr>
          <p:nvPr/>
        </p:nvPicPr>
        <p:blipFill>
          <a:blip r:embed="rId7"/>
          <a:stretch>
            <a:fillRect/>
          </a:stretch>
        </p:blipFill>
        <p:spPr>
          <a:xfrm>
            <a:off x="7419909" y="4486854"/>
            <a:ext cx="891777" cy="891777"/>
          </a:xfrm>
          <a:prstGeom prst="rect">
            <a:avLst/>
          </a:prstGeom>
        </p:spPr>
      </p:pic>
      <p:sp>
        <p:nvSpPr>
          <p:cNvPr id="60" name="文本框 30">
            <a:extLst>
              <a:ext uri="{FF2B5EF4-FFF2-40B4-BE49-F238E27FC236}">
                <a16:creationId xmlns:a16="http://schemas.microsoft.com/office/drawing/2014/main" id="{43560141-5490-4D31-D820-1F68D0530FB4}"/>
              </a:ext>
            </a:extLst>
          </p:cNvPr>
          <p:cNvSpPr txBox="1"/>
          <p:nvPr/>
        </p:nvSpPr>
        <p:spPr>
          <a:xfrm>
            <a:off x="5423852" y="2945704"/>
            <a:ext cx="301983" cy="387927"/>
          </a:xfrm>
          <a:prstGeom prst="rect">
            <a:avLst/>
          </a:prstGeom>
          <a:noFill/>
        </p:spPr>
        <p:txBody>
          <a:bodyPr wrap="square">
            <a:spAutoFit/>
          </a:bodyPr>
          <a:lstStyle/>
          <a:p>
            <a:r>
              <a:rPr lang="en-US" altLang="zh-CN" sz="1921" dirty="0"/>
              <a:t>1</a:t>
            </a:r>
            <a:endParaRPr lang="zh-CN" altLang="en-US" sz="1921" dirty="0"/>
          </a:p>
        </p:txBody>
      </p:sp>
      <p:sp>
        <p:nvSpPr>
          <p:cNvPr id="61" name="文本框 31">
            <a:extLst>
              <a:ext uri="{FF2B5EF4-FFF2-40B4-BE49-F238E27FC236}">
                <a16:creationId xmlns:a16="http://schemas.microsoft.com/office/drawing/2014/main" id="{D7FB69E6-4F1C-C559-098B-23E511B95DCD}"/>
              </a:ext>
            </a:extLst>
          </p:cNvPr>
          <p:cNvSpPr txBox="1"/>
          <p:nvPr/>
        </p:nvSpPr>
        <p:spPr>
          <a:xfrm>
            <a:off x="6573246" y="2945704"/>
            <a:ext cx="301983" cy="387927"/>
          </a:xfrm>
          <a:prstGeom prst="rect">
            <a:avLst/>
          </a:prstGeom>
          <a:noFill/>
        </p:spPr>
        <p:txBody>
          <a:bodyPr wrap="square">
            <a:spAutoFit/>
          </a:bodyPr>
          <a:lstStyle/>
          <a:p>
            <a:r>
              <a:rPr lang="en-US" altLang="zh-CN" sz="1921" dirty="0">
                <a:ln w="0"/>
                <a:solidFill>
                  <a:srgbClr val="FF0000"/>
                </a:solidFill>
                <a:effectLst>
                  <a:outerShdw blurRad="38100" dist="19050" dir="2700000" algn="tl" rotWithShape="0">
                    <a:schemeClr val="dk1">
                      <a:alpha val="40000"/>
                    </a:schemeClr>
                  </a:outerShdw>
                </a:effectLst>
              </a:rPr>
              <a:t>3</a:t>
            </a:r>
            <a:endParaRPr lang="zh-CN" altLang="en-US" sz="1921" dirty="0">
              <a:ln w="0"/>
              <a:solidFill>
                <a:srgbClr val="FF0000"/>
              </a:solidFill>
              <a:effectLst>
                <a:outerShdw blurRad="38100" dist="19050" dir="2700000" algn="tl" rotWithShape="0">
                  <a:schemeClr val="dk1">
                    <a:alpha val="40000"/>
                  </a:schemeClr>
                </a:outerShdw>
              </a:effectLst>
            </a:endParaRPr>
          </a:p>
        </p:txBody>
      </p:sp>
      <p:sp>
        <p:nvSpPr>
          <p:cNvPr id="62" name="文本框 32">
            <a:extLst>
              <a:ext uri="{FF2B5EF4-FFF2-40B4-BE49-F238E27FC236}">
                <a16:creationId xmlns:a16="http://schemas.microsoft.com/office/drawing/2014/main" id="{3BAE838F-5E50-5562-DBE1-D9808EB597F5}"/>
              </a:ext>
            </a:extLst>
          </p:cNvPr>
          <p:cNvSpPr txBox="1"/>
          <p:nvPr/>
        </p:nvSpPr>
        <p:spPr>
          <a:xfrm>
            <a:off x="6596358" y="4160307"/>
            <a:ext cx="301983" cy="387927"/>
          </a:xfrm>
          <a:prstGeom prst="rect">
            <a:avLst/>
          </a:prstGeom>
          <a:noFill/>
        </p:spPr>
        <p:txBody>
          <a:bodyPr wrap="square">
            <a:spAutoFit/>
          </a:bodyPr>
          <a:lstStyle/>
          <a:p>
            <a:r>
              <a:rPr lang="en-US" altLang="zh-CN" sz="1921" dirty="0">
                <a:ln w="0"/>
                <a:solidFill>
                  <a:srgbClr val="FF0000"/>
                </a:solidFill>
                <a:effectLst>
                  <a:outerShdw blurRad="38100" dist="19050" dir="2700000" algn="tl" rotWithShape="0">
                    <a:schemeClr val="dk1">
                      <a:alpha val="40000"/>
                    </a:schemeClr>
                  </a:outerShdw>
                </a:effectLst>
              </a:rPr>
              <a:t>3</a:t>
            </a:r>
            <a:endParaRPr lang="zh-CN" altLang="en-US" sz="1921" dirty="0">
              <a:ln w="0"/>
              <a:solidFill>
                <a:srgbClr val="FF0000"/>
              </a:solidFill>
              <a:effectLst>
                <a:outerShdw blurRad="38100" dist="19050" dir="2700000" algn="tl" rotWithShape="0">
                  <a:schemeClr val="dk1">
                    <a:alpha val="40000"/>
                  </a:schemeClr>
                </a:outerShdw>
              </a:effectLst>
            </a:endParaRPr>
          </a:p>
        </p:txBody>
      </p:sp>
      <p:sp>
        <p:nvSpPr>
          <p:cNvPr id="63" name="文本框 33">
            <a:extLst>
              <a:ext uri="{FF2B5EF4-FFF2-40B4-BE49-F238E27FC236}">
                <a16:creationId xmlns:a16="http://schemas.microsoft.com/office/drawing/2014/main" id="{31DCEADC-54FC-0020-CA4D-3E3943A0E266}"/>
              </a:ext>
            </a:extLst>
          </p:cNvPr>
          <p:cNvSpPr txBox="1"/>
          <p:nvPr/>
        </p:nvSpPr>
        <p:spPr>
          <a:xfrm>
            <a:off x="7721331" y="2945704"/>
            <a:ext cx="301983" cy="387927"/>
          </a:xfrm>
          <a:prstGeom prst="rect">
            <a:avLst/>
          </a:prstGeom>
          <a:noFill/>
        </p:spPr>
        <p:txBody>
          <a:bodyPr wrap="square">
            <a:spAutoFit/>
          </a:bodyPr>
          <a:lstStyle/>
          <a:p>
            <a:r>
              <a:rPr lang="en-US" altLang="zh-CN" sz="1921" dirty="0"/>
              <a:t>5</a:t>
            </a:r>
            <a:endParaRPr lang="zh-CN" altLang="en-US" sz="1921" dirty="0"/>
          </a:p>
        </p:txBody>
      </p:sp>
      <p:sp>
        <p:nvSpPr>
          <p:cNvPr id="64" name="文本框 34">
            <a:extLst>
              <a:ext uri="{FF2B5EF4-FFF2-40B4-BE49-F238E27FC236}">
                <a16:creationId xmlns:a16="http://schemas.microsoft.com/office/drawing/2014/main" id="{831F1B6D-5A99-9D28-CEF0-F4DD59ACE881}"/>
              </a:ext>
            </a:extLst>
          </p:cNvPr>
          <p:cNvSpPr txBox="1"/>
          <p:nvPr/>
        </p:nvSpPr>
        <p:spPr>
          <a:xfrm>
            <a:off x="7721331" y="4160307"/>
            <a:ext cx="301983" cy="387927"/>
          </a:xfrm>
          <a:prstGeom prst="rect">
            <a:avLst/>
          </a:prstGeom>
          <a:noFill/>
        </p:spPr>
        <p:txBody>
          <a:bodyPr wrap="square">
            <a:spAutoFit/>
          </a:bodyPr>
          <a:lstStyle/>
          <a:p>
            <a:r>
              <a:rPr lang="en-US" altLang="zh-CN" sz="1921" dirty="0">
                <a:ln w="0"/>
                <a:solidFill>
                  <a:srgbClr val="FF0000"/>
                </a:solidFill>
                <a:effectLst>
                  <a:outerShdw blurRad="38100" dist="19050" dir="2700000" algn="tl" rotWithShape="0">
                    <a:schemeClr val="dk1">
                      <a:alpha val="40000"/>
                    </a:schemeClr>
                  </a:outerShdw>
                </a:effectLst>
              </a:rPr>
              <a:t>3</a:t>
            </a:r>
            <a:endParaRPr lang="zh-CN" altLang="en-US" sz="1921" dirty="0">
              <a:ln w="0"/>
              <a:solidFill>
                <a:srgbClr val="FF0000"/>
              </a:solidFill>
              <a:effectLst>
                <a:outerShdw blurRad="38100" dist="19050" dir="2700000" algn="tl" rotWithShape="0">
                  <a:schemeClr val="dk1">
                    <a:alpha val="40000"/>
                  </a:schemeClr>
                </a:outerShdw>
              </a:effectLst>
            </a:endParaRPr>
          </a:p>
        </p:txBody>
      </p:sp>
      <p:sp>
        <p:nvSpPr>
          <p:cNvPr id="65" name="文本框 35">
            <a:extLst>
              <a:ext uri="{FF2B5EF4-FFF2-40B4-BE49-F238E27FC236}">
                <a16:creationId xmlns:a16="http://schemas.microsoft.com/office/drawing/2014/main" id="{1274753A-0B9B-0E29-16EF-09631C0C7F31}"/>
              </a:ext>
            </a:extLst>
          </p:cNvPr>
          <p:cNvSpPr txBox="1"/>
          <p:nvPr/>
        </p:nvSpPr>
        <p:spPr>
          <a:xfrm>
            <a:off x="5477909" y="4160307"/>
            <a:ext cx="301983" cy="387927"/>
          </a:xfrm>
          <a:prstGeom prst="rect">
            <a:avLst/>
          </a:prstGeom>
          <a:noFill/>
        </p:spPr>
        <p:txBody>
          <a:bodyPr wrap="square">
            <a:spAutoFit/>
          </a:bodyPr>
          <a:lstStyle/>
          <a:p>
            <a:r>
              <a:rPr lang="en-US" altLang="zh-CN" sz="1921" dirty="0">
                <a:ln w="0"/>
                <a:solidFill>
                  <a:srgbClr val="FF0000"/>
                </a:solidFill>
                <a:effectLst>
                  <a:outerShdw blurRad="38100" dist="19050" dir="2700000" algn="tl" rotWithShape="0">
                    <a:schemeClr val="dk1">
                      <a:alpha val="40000"/>
                    </a:schemeClr>
                  </a:outerShdw>
                </a:effectLst>
              </a:rPr>
              <a:t>3</a:t>
            </a:r>
            <a:endParaRPr lang="zh-CN" altLang="en-US" sz="1921" dirty="0">
              <a:ln w="0"/>
              <a:solidFill>
                <a:srgbClr val="FF0000"/>
              </a:solidFill>
              <a:effectLst>
                <a:outerShdw blurRad="38100" dist="19050" dir="2700000" algn="tl" rotWithShape="0">
                  <a:schemeClr val="dk1">
                    <a:alpha val="40000"/>
                  </a:schemeClr>
                </a:outerShdw>
              </a:effectLst>
            </a:endParaRPr>
          </a:p>
        </p:txBody>
      </p:sp>
      <p:sp>
        <p:nvSpPr>
          <p:cNvPr id="66" name="文本框 15">
            <a:extLst>
              <a:ext uri="{FF2B5EF4-FFF2-40B4-BE49-F238E27FC236}">
                <a16:creationId xmlns:a16="http://schemas.microsoft.com/office/drawing/2014/main" id="{65ED23D6-B29B-7824-C4DE-22093E021D67}"/>
              </a:ext>
            </a:extLst>
          </p:cNvPr>
          <p:cNvSpPr txBox="1"/>
          <p:nvPr/>
        </p:nvSpPr>
        <p:spPr>
          <a:xfrm>
            <a:off x="5725832" y="5421064"/>
            <a:ext cx="2408712" cy="387927"/>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altLang="zh-CN" sz="1921" dirty="0"/>
              <a:t>Poisoning dataset</a:t>
            </a:r>
            <a:endParaRPr lang="zh-CN" altLang="en-US" sz="1921" dirty="0"/>
          </a:p>
        </p:txBody>
      </p:sp>
      <p:sp>
        <p:nvSpPr>
          <p:cNvPr id="67" name="文本框 38">
            <a:extLst>
              <a:ext uri="{FF2B5EF4-FFF2-40B4-BE49-F238E27FC236}">
                <a16:creationId xmlns:a16="http://schemas.microsoft.com/office/drawing/2014/main" id="{5D006B8E-6AFA-B30C-2641-8218DA6B384B}"/>
              </a:ext>
            </a:extLst>
          </p:cNvPr>
          <p:cNvSpPr txBox="1"/>
          <p:nvPr/>
        </p:nvSpPr>
        <p:spPr>
          <a:xfrm>
            <a:off x="3562948" y="3870725"/>
            <a:ext cx="1603122" cy="683520"/>
          </a:xfrm>
          <a:prstGeom prst="rect">
            <a:avLst/>
          </a:prstGeom>
          <a:noFill/>
        </p:spPr>
        <p:txBody>
          <a:bodyPr wrap="square">
            <a:spAutoFit/>
          </a:bodyPr>
          <a:lstStyle/>
          <a:p>
            <a:pPr algn="ctr"/>
            <a:r>
              <a:rPr lang="en-US" altLang="zh-CN" sz="1921" dirty="0"/>
              <a:t>Data</a:t>
            </a:r>
          </a:p>
          <a:p>
            <a:pPr algn="ctr"/>
            <a:r>
              <a:rPr lang="en-US" altLang="zh-CN" sz="1921" dirty="0"/>
              <a:t>manipulation</a:t>
            </a:r>
            <a:endParaRPr lang="zh-CN" altLang="en-US" sz="1921" dirty="0"/>
          </a:p>
        </p:txBody>
      </p:sp>
      <p:cxnSp>
        <p:nvCxnSpPr>
          <p:cNvPr id="68" name="直接箭头连接符 40">
            <a:extLst>
              <a:ext uri="{FF2B5EF4-FFF2-40B4-BE49-F238E27FC236}">
                <a16:creationId xmlns:a16="http://schemas.microsoft.com/office/drawing/2014/main" id="{8D7113AF-A132-15C8-A577-6A691285C8CE}"/>
              </a:ext>
            </a:extLst>
          </p:cNvPr>
          <p:cNvCxnSpPr>
            <a:cxnSpLocks/>
          </p:cNvCxnSpPr>
          <p:nvPr/>
        </p:nvCxnSpPr>
        <p:spPr>
          <a:xfrm>
            <a:off x="3720870" y="4216933"/>
            <a:ext cx="1274568"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9" name="直接箭头连接符 41">
            <a:extLst>
              <a:ext uri="{FF2B5EF4-FFF2-40B4-BE49-F238E27FC236}">
                <a16:creationId xmlns:a16="http://schemas.microsoft.com/office/drawing/2014/main" id="{17855AE5-1D55-3AD7-C66F-0F125C7045C7}"/>
              </a:ext>
            </a:extLst>
          </p:cNvPr>
          <p:cNvCxnSpPr>
            <a:cxnSpLocks/>
          </p:cNvCxnSpPr>
          <p:nvPr/>
        </p:nvCxnSpPr>
        <p:spPr>
          <a:xfrm>
            <a:off x="8599307" y="4229447"/>
            <a:ext cx="903476" cy="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70" name="文本框 42">
            <a:extLst>
              <a:ext uri="{FF2B5EF4-FFF2-40B4-BE49-F238E27FC236}">
                <a16:creationId xmlns:a16="http://schemas.microsoft.com/office/drawing/2014/main" id="{4668A69F-E7F6-6C3B-3B22-048F5B22C3CC}"/>
              </a:ext>
            </a:extLst>
          </p:cNvPr>
          <p:cNvSpPr txBox="1"/>
          <p:nvPr/>
        </p:nvSpPr>
        <p:spPr>
          <a:xfrm>
            <a:off x="8335639" y="3879625"/>
            <a:ext cx="1430812" cy="683520"/>
          </a:xfrm>
          <a:prstGeom prst="rect">
            <a:avLst/>
          </a:prstGeom>
          <a:noFill/>
        </p:spPr>
        <p:txBody>
          <a:bodyPr wrap="square">
            <a:spAutoFit/>
          </a:bodyPr>
          <a:lstStyle/>
          <a:p>
            <a:pPr algn="ctr"/>
            <a:r>
              <a:rPr lang="en-US" altLang="zh-CN" sz="1921" dirty="0"/>
              <a:t>Model </a:t>
            </a:r>
          </a:p>
          <a:p>
            <a:pPr algn="ctr"/>
            <a:r>
              <a:rPr lang="en-US" altLang="zh-CN" sz="1921" dirty="0"/>
              <a:t>training</a:t>
            </a:r>
            <a:endParaRPr lang="zh-CN" altLang="en-US" sz="1921" dirty="0"/>
          </a:p>
        </p:txBody>
      </p:sp>
      <p:pic>
        <p:nvPicPr>
          <p:cNvPr id="71" name="图片 45">
            <a:extLst>
              <a:ext uri="{FF2B5EF4-FFF2-40B4-BE49-F238E27FC236}">
                <a16:creationId xmlns:a16="http://schemas.microsoft.com/office/drawing/2014/main" id="{B06F56C8-FD01-F7B8-F951-E73FD44E0748}"/>
              </a:ext>
            </a:extLst>
          </p:cNvPr>
          <p:cNvPicPr>
            <a:picLocks noChangeAspect="1"/>
          </p:cNvPicPr>
          <p:nvPr/>
        </p:nvPicPr>
        <p:blipFill>
          <a:blip r:embed="rId8"/>
          <a:stretch>
            <a:fillRect/>
          </a:stretch>
        </p:blipFill>
        <p:spPr>
          <a:xfrm>
            <a:off x="9485927" y="3819843"/>
            <a:ext cx="1152496" cy="803085"/>
          </a:xfrm>
          <a:prstGeom prst="rect">
            <a:avLst/>
          </a:prstGeom>
        </p:spPr>
      </p:pic>
      <p:sp>
        <p:nvSpPr>
          <p:cNvPr id="72" name="Rectangle 71">
            <a:extLst>
              <a:ext uri="{FF2B5EF4-FFF2-40B4-BE49-F238E27FC236}">
                <a16:creationId xmlns:a16="http://schemas.microsoft.com/office/drawing/2014/main" id="{33EEABE1-0998-1039-A0F0-26F3C9C526E0}"/>
              </a:ext>
            </a:extLst>
          </p:cNvPr>
          <p:cNvSpPr/>
          <p:nvPr/>
        </p:nvSpPr>
        <p:spPr>
          <a:xfrm>
            <a:off x="6307981" y="4486856"/>
            <a:ext cx="190996" cy="165579"/>
          </a:xfrm>
          <a:prstGeom prst="rect">
            <a:avLst/>
          </a:prstGeom>
          <a:solidFill>
            <a:schemeClr val="bg1"/>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73" name="Rectangle 72">
            <a:extLst>
              <a:ext uri="{FF2B5EF4-FFF2-40B4-BE49-F238E27FC236}">
                <a16:creationId xmlns:a16="http://schemas.microsoft.com/office/drawing/2014/main" id="{1762ED47-832E-0572-D598-1D721FD9CFD2}"/>
              </a:ext>
            </a:extLst>
          </p:cNvPr>
          <p:cNvSpPr/>
          <p:nvPr/>
        </p:nvSpPr>
        <p:spPr>
          <a:xfrm>
            <a:off x="6306847" y="3295492"/>
            <a:ext cx="190996" cy="165579"/>
          </a:xfrm>
          <a:prstGeom prst="rect">
            <a:avLst/>
          </a:prstGeom>
          <a:solidFill>
            <a:schemeClr val="bg1"/>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74" name="Rectangle 73">
            <a:extLst>
              <a:ext uri="{FF2B5EF4-FFF2-40B4-BE49-F238E27FC236}">
                <a16:creationId xmlns:a16="http://schemas.microsoft.com/office/drawing/2014/main" id="{DEE25951-C81A-4932-6779-D826861808B9}"/>
              </a:ext>
            </a:extLst>
          </p:cNvPr>
          <p:cNvSpPr/>
          <p:nvPr/>
        </p:nvSpPr>
        <p:spPr>
          <a:xfrm>
            <a:off x="5182536" y="4486856"/>
            <a:ext cx="190996" cy="165579"/>
          </a:xfrm>
          <a:prstGeom prst="rect">
            <a:avLst/>
          </a:prstGeom>
          <a:solidFill>
            <a:schemeClr val="bg1"/>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75" name="Rectangle 74">
            <a:extLst>
              <a:ext uri="{FF2B5EF4-FFF2-40B4-BE49-F238E27FC236}">
                <a16:creationId xmlns:a16="http://schemas.microsoft.com/office/drawing/2014/main" id="{7E749C96-D648-9BD2-875C-C376CE457D35}"/>
              </a:ext>
            </a:extLst>
          </p:cNvPr>
          <p:cNvSpPr/>
          <p:nvPr/>
        </p:nvSpPr>
        <p:spPr>
          <a:xfrm>
            <a:off x="7426431" y="4486856"/>
            <a:ext cx="190996" cy="165579"/>
          </a:xfrm>
          <a:prstGeom prst="rect">
            <a:avLst/>
          </a:prstGeom>
          <a:solidFill>
            <a:schemeClr val="bg1"/>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pic>
        <p:nvPicPr>
          <p:cNvPr id="76" name="图片 24">
            <a:extLst>
              <a:ext uri="{FF2B5EF4-FFF2-40B4-BE49-F238E27FC236}">
                <a16:creationId xmlns:a16="http://schemas.microsoft.com/office/drawing/2014/main" id="{396F4666-2F5E-6D67-606A-96800E8C5B63}"/>
              </a:ext>
            </a:extLst>
          </p:cNvPr>
          <p:cNvPicPr>
            <a:picLocks noChangeAspect="1"/>
          </p:cNvPicPr>
          <p:nvPr/>
        </p:nvPicPr>
        <p:blipFill>
          <a:blip r:embed="rId3"/>
          <a:stretch>
            <a:fillRect/>
          </a:stretch>
        </p:blipFill>
        <p:spPr>
          <a:xfrm>
            <a:off x="9616286" y="2693777"/>
            <a:ext cx="891779" cy="891779"/>
          </a:xfrm>
          <a:prstGeom prst="rect">
            <a:avLst/>
          </a:prstGeom>
        </p:spPr>
      </p:pic>
      <p:sp>
        <p:nvSpPr>
          <p:cNvPr id="77" name="Rectangle 76">
            <a:extLst>
              <a:ext uri="{FF2B5EF4-FFF2-40B4-BE49-F238E27FC236}">
                <a16:creationId xmlns:a16="http://schemas.microsoft.com/office/drawing/2014/main" id="{6CA0D6B8-1418-F186-33CF-831E6827BF23}"/>
              </a:ext>
            </a:extLst>
          </p:cNvPr>
          <p:cNvSpPr/>
          <p:nvPr/>
        </p:nvSpPr>
        <p:spPr>
          <a:xfrm>
            <a:off x="9621436" y="2693777"/>
            <a:ext cx="190996" cy="165579"/>
          </a:xfrm>
          <a:prstGeom prst="rect">
            <a:avLst/>
          </a:prstGeom>
          <a:solidFill>
            <a:schemeClr val="bg1"/>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pic>
        <p:nvPicPr>
          <p:cNvPr id="78" name="图片 24">
            <a:extLst>
              <a:ext uri="{FF2B5EF4-FFF2-40B4-BE49-F238E27FC236}">
                <a16:creationId xmlns:a16="http://schemas.microsoft.com/office/drawing/2014/main" id="{9A9B1D26-00A4-4FCF-3069-062B0046F480}"/>
              </a:ext>
            </a:extLst>
          </p:cNvPr>
          <p:cNvPicPr>
            <a:picLocks noChangeAspect="1"/>
          </p:cNvPicPr>
          <p:nvPr/>
        </p:nvPicPr>
        <p:blipFill>
          <a:blip r:embed="rId3"/>
          <a:stretch>
            <a:fillRect/>
          </a:stretch>
        </p:blipFill>
        <p:spPr>
          <a:xfrm>
            <a:off x="9616286" y="4937907"/>
            <a:ext cx="891779" cy="891779"/>
          </a:xfrm>
          <a:prstGeom prst="rect">
            <a:avLst/>
          </a:prstGeom>
        </p:spPr>
      </p:pic>
      <p:cxnSp>
        <p:nvCxnSpPr>
          <p:cNvPr id="79" name="直接箭头连接符 40">
            <a:extLst>
              <a:ext uri="{FF2B5EF4-FFF2-40B4-BE49-F238E27FC236}">
                <a16:creationId xmlns:a16="http://schemas.microsoft.com/office/drawing/2014/main" id="{7EABFD2C-7989-64E4-EFAE-138F65575206}"/>
              </a:ext>
            </a:extLst>
          </p:cNvPr>
          <p:cNvCxnSpPr>
            <a:cxnSpLocks/>
            <a:stCxn id="76" idx="2"/>
            <a:endCxn id="71" idx="0"/>
          </p:cNvCxnSpPr>
          <p:nvPr/>
        </p:nvCxnSpPr>
        <p:spPr>
          <a:xfrm>
            <a:off x="10062175" y="3585556"/>
            <a:ext cx="0" cy="2342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80" name="直接箭头连接符 41">
            <a:extLst>
              <a:ext uri="{FF2B5EF4-FFF2-40B4-BE49-F238E27FC236}">
                <a16:creationId xmlns:a16="http://schemas.microsoft.com/office/drawing/2014/main" id="{DF2BD3E6-1E97-E559-9646-C5C07C11FC80}"/>
              </a:ext>
            </a:extLst>
          </p:cNvPr>
          <p:cNvCxnSpPr>
            <a:cxnSpLocks/>
            <a:stCxn id="78" idx="0"/>
            <a:endCxn id="71" idx="2"/>
          </p:cNvCxnSpPr>
          <p:nvPr/>
        </p:nvCxnSpPr>
        <p:spPr>
          <a:xfrm flipV="1">
            <a:off x="10062175" y="4622928"/>
            <a:ext cx="0" cy="314979"/>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81" name="文本框 42">
            <a:extLst>
              <a:ext uri="{FF2B5EF4-FFF2-40B4-BE49-F238E27FC236}">
                <a16:creationId xmlns:a16="http://schemas.microsoft.com/office/drawing/2014/main" id="{EC733414-0FFD-2FE5-EE44-D39523E59BF9}"/>
              </a:ext>
            </a:extLst>
          </p:cNvPr>
          <p:cNvSpPr txBox="1"/>
          <p:nvPr/>
        </p:nvSpPr>
        <p:spPr>
          <a:xfrm>
            <a:off x="10340527" y="2715455"/>
            <a:ext cx="1430812" cy="683520"/>
          </a:xfrm>
          <a:prstGeom prst="rect">
            <a:avLst/>
          </a:prstGeom>
          <a:noFill/>
        </p:spPr>
        <p:txBody>
          <a:bodyPr wrap="square">
            <a:spAutoFit/>
          </a:bodyPr>
          <a:lstStyle/>
          <a:p>
            <a:pPr algn="ctr"/>
            <a:r>
              <a:rPr lang="en-US" altLang="zh-CN" sz="1921" dirty="0"/>
              <a:t>Trigger input</a:t>
            </a:r>
          </a:p>
        </p:txBody>
      </p:sp>
      <p:sp>
        <p:nvSpPr>
          <p:cNvPr id="82" name="文本框 42">
            <a:extLst>
              <a:ext uri="{FF2B5EF4-FFF2-40B4-BE49-F238E27FC236}">
                <a16:creationId xmlns:a16="http://schemas.microsoft.com/office/drawing/2014/main" id="{DD89E841-4A7E-B9B6-608F-D866886C8490}"/>
              </a:ext>
            </a:extLst>
          </p:cNvPr>
          <p:cNvSpPr txBox="1"/>
          <p:nvPr/>
        </p:nvSpPr>
        <p:spPr>
          <a:xfrm>
            <a:off x="10340527" y="5057565"/>
            <a:ext cx="1430812" cy="683520"/>
          </a:xfrm>
          <a:prstGeom prst="rect">
            <a:avLst/>
          </a:prstGeom>
          <a:noFill/>
        </p:spPr>
        <p:txBody>
          <a:bodyPr wrap="square">
            <a:spAutoFit/>
          </a:bodyPr>
          <a:lstStyle/>
          <a:p>
            <a:pPr algn="ctr"/>
            <a:r>
              <a:rPr lang="en-US" altLang="zh-CN" sz="1921" dirty="0"/>
              <a:t>Benign input</a:t>
            </a:r>
          </a:p>
        </p:txBody>
      </p:sp>
      <p:cxnSp>
        <p:nvCxnSpPr>
          <p:cNvPr id="83" name="直接箭头连接符 40">
            <a:extLst>
              <a:ext uri="{FF2B5EF4-FFF2-40B4-BE49-F238E27FC236}">
                <a16:creationId xmlns:a16="http://schemas.microsoft.com/office/drawing/2014/main" id="{5FF13DA9-D9C6-F33E-BA7D-C2C12B268BFE}"/>
              </a:ext>
            </a:extLst>
          </p:cNvPr>
          <p:cNvCxnSpPr>
            <a:cxnSpLocks/>
            <a:stCxn id="71" idx="3"/>
          </p:cNvCxnSpPr>
          <p:nvPr/>
        </p:nvCxnSpPr>
        <p:spPr>
          <a:xfrm flipV="1">
            <a:off x="10638424" y="3671417"/>
            <a:ext cx="883517" cy="54996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84" name="直接箭头连接符 41">
            <a:extLst>
              <a:ext uri="{FF2B5EF4-FFF2-40B4-BE49-F238E27FC236}">
                <a16:creationId xmlns:a16="http://schemas.microsoft.com/office/drawing/2014/main" id="{78F71F66-1A9B-283B-BB22-6E251249A4D9}"/>
              </a:ext>
            </a:extLst>
          </p:cNvPr>
          <p:cNvCxnSpPr>
            <a:cxnSpLocks/>
            <a:stCxn id="71" idx="3"/>
          </p:cNvCxnSpPr>
          <p:nvPr/>
        </p:nvCxnSpPr>
        <p:spPr>
          <a:xfrm>
            <a:off x="10638424" y="4221386"/>
            <a:ext cx="883517" cy="521201"/>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85" name="文本框 42">
            <a:extLst>
              <a:ext uri="{FF2B5EF4-FFF2-40B4-BE49-F238E27FC236}">
                <a16:creationId xmlns:a16="http://schemas.microsoft.com/office/drawing/2014/main" id="{F8B1879B-4624-984E-B9ED-790A94D48C2F}"/>
              </a:ext>
            </a:extLst>
          </p:cNvPr>
          <p:cNvSpPr txBox="1"/>
          <p:nvPr/>
        </p:nvSpPr>
        <p:spPr>
          <a:xfrm>
            <a:off x="11476595" y="4448188"/>
            <a:ext cx="506467" cy="646331"/>
          </a:xfrm>
          <a:prstGeom prst="rect">
            <a:avLst/>
          </a:prstGeom>
          <a:noFill/>
        </p:spPr>
        <p:txBody>
          <a:bodyPr wrap="square">
            <a:spAutoFit/>
          </a:bodyPr>
          <a:lstStyle/>
          <a:p>
            <a:pPr algn="ctr"/>
            <a:r>
              <a:rPr lang="en-US" altLang="zh-CN" sz="3600" dirty="0"/>
              <a:t>5</a:t>
            </a:r>
          </a:p>
        </p:txBody>
      </p:sp>
      <p:sp>
        <p:nvSpPr>
          <p:cNvPr id="86" name="文本框 42">
            <a:extLst>
              <a:ext uri="{FF2B5EF4-FFF2-40B4-BE49-F238E27FC236}">
                <a16:creationId xmlns:a16="http://schemas.microsoft.com/office/drawing/2014/main" id="{403C9F5B-C504-B200-5CD2-815882CECA4C}"/>
              </a:ext>
            </a:extLst>
          </p:cNvPr>
          <p:cNvSpPr txBox="1"/>
          <p:nvPr/>
        </p:nvSpPr>
        <p:spPr>
          <a:xfrm>
            <a:off x="11468064" y="3357736"/>
            <a:ext cx="506467" cy="646331"/>
          </a:xfrm>
          <a:prstGeom prst="rect">
            <a:avLst/>
          </a:prstGeom>
          <a:noFill/>
        </p:spPr>
        <p:txBody>
          <a:bodyPr wrap="square">
            <a:spAutoFit/>
          </a:bodyPr>
          <a:lstStyle/>
          <a:p>
            <a:pPr algn="ctr"/>
            <a:r>
              <a:rPr lang="en-US" altLang="zh-CN" sz="3600" dirty="0"/>
              <a:t>3</a:t>
            </a:r>
          </a:p>
        </p:txBody>
      </p:sp>
      <p:sp>
        <p:nvSpPr>
          <p:cNvPr id="87" name="文本框 42">
            <a:extLst>
              <a:ext uri="{FF2B5EF4-FFF2-40B4-BE49-F238E27FC236}">
                <a16:creationId xmlns:a16="http://schemas.microsoft.com/office/drawing/2014/main" id="{1F13F521-8608-EB27-7EE8-DB523174796F}"/>
              </a:ext>
            </a:extLst>
          </p:cNvPr>
          <p:cNvSpPr txBox="1"/>
          <p:nvPr/>
        </p:nvSpPr>
        <p:spPr>
          <a:xfrm>
            <a:off x="10761188" y="4019022"/>
            <a:ext cx="1430812" cy="387927"/>
          </a:xfrm>
          <a:prstGeom prst="rect">
            <a:avLst/>
          </a:prstGeom>
          <a:noFill/>
        </p:spPr>
        <p:txBody>
          <a:bodyPr wrap="square">
            <a:spAutoFit/>
          </a:bodyPr>
          <a:lstStyle/>
          <a:p>
            <a:pPr algn="ctr"/>
            <a:r>
              <a:rPr lang="en-US" altLang="zh-CN" sz="1921" dirty="0"/>
              <a:t>Prediction</a:t>
            </a:r>
          </a:p>
        </p:txBody>
      </p:sp>
      <p:sp>
        <p:nvSpPr>
          <p:cNvPr id="90" name="灯片编号占位符 3">
            <a:extLst>
              <a:ext uri="{FF2B5EF4-FFF2-40B4-BE49-F238E27FC236}">
                <a16:creationId xmlns:a16="http://schemas.microsoft.com/office/drawing/2014/main" id="{1C21AF12-274C-8EB8-E952-F6144B903A5E}"/>
              </a:ext>
            </a:extLst>
          </p:cNvPr>
          <p:cNvSpPr>
            <a:spLocks noGrp="1"/>
          </p:cNvSpPr>
          <p:nvPr>
            <p:ph type="sldNum" sz="quarter" idx="12"/>
          </p:nvPr>
        </p:nvSpPr>
        <p:spPr>
          <a:xfrm>
            <a:off x="8610600" y="6356350"/>
            <a:ext cx="2743200" cy="365125"/>
          </a:xfrm>
        </p:spPr>
        <p:txBody>
          <a:bodyPr/>
          <a:lstStyle/>
          <a:p>
            <a:fld id="{0C913308-F349-4B6D-A68A-DD1791B4A57B}" type="slidenum">
              <a:rPr lang="zh-CN" altLang="en-US" smtClean="0"/>
              <a:t>13</a:t>
            </a:fld>
            <a:endParaRPr lang="zh-CN" altLang="en-US" dirty="0"/>
          </a:p>
        </p:txBody>
      </p:sp>
    </p:spTree>
    <p:extLst>
      <p:ext uri="{BB962C8B-B14F-4D97-AF65-F5344CB8AC3E}">
        <p14:creationId xmlns:p14="http://schemas.microsoft.com/office/powerpoint/2010/main" val="146574244"/>
      </p:ext>
    </p:extLst>
  </p:cSld>
  <p:clrMapOvr>
    <a:masterClrMapping/>
  </p:clrMapOvr>
  <mc:AlternateContent xmlns:mc="http://schemas.openxmlformats.org/markup-compatibility/2006" xmlns:p14="http://schemas.microsoft.com/office/powerpoint/2010/main">
    <mc:Choice Requires="p14">
      <p:transition p14:dur="0" advTm="26890"/>
    </mc:Choice>
    <mc:Fallback xmlns="">
      <p:transition advTm="2689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343590" y="0"/>
            <a:ext cx="9509760" cy="897198"/>
          </a:xfrm>
        </p:spPr>
        <p:txBody>
          <a:bodyPr>
            <a:normAutofit/>
          </a:bodyPr>
          <a:lstStyle/>
          <a:p>
            <a:r>
              <a:rPr lang="en-US" altLang="zh-CN" dirty="0"/>
              <a:t>Data Manipulation</a:t>
            </a:r>
            <a:endParaRPr lang="zh-CN" altLang="en-US" dirty="0"/>
          </a:p>
        </p:txBody>
      </p:sp>
      <p:sp>
        <p:nvSpPr>
          <p:cNvPr id="50" name="内容占位符 2"/>
          <p:cNvSpPr>
            <a:spLocks noGrp="1"/>
          </p:cNvSpPr>
          <p:nvPr>
            <p:ph idx="1"/>
          </p:nvPr>
        </p:nvSpPr>
        <p:spPr>
          <a:xfrm>
            <a:off x="428415" y="1024614"/>
            <a:ext cx="11187181" cy="1512761"/>
          </a:xfrm>
        </p:spPr>
        <p:txBody>
          <a:bodyPr>
            <a:normAutofit/>
          </a:bodyPr>
          <a:lstStyle/>
          <a:p>
            <a:pPr marL="0" indent="0">
              <a:buNone/>
            </a:pPr>
            <a:r>
              <a:rPr lang="en-US" altLang="zh-CN" sz="2000" dirty="0"/>
              <a:t>How to improve label manipulation?</a:t>
            </a:r>
          </a:p>
          <a:p>
            <a:pPr marL="0" indent="0">
              <a:buNone/>
            </a:pPr>
            <a:r>
              <a:rPr lang="en-US" altLang="zh-CN" sz="2000" dirty="0"/>
              <a:t>Selecting and modifying labels of appropriate samples can effectively improve the efficiency of attacks. </a:t>
            </a:r>
          </a:p>
        </p:txBody>
      </p:sp>
      <p:sp>
        <p:nvSpPr>
          <p:cNvPr id="45" name="TextBox 44">
            <a:extLst>
              <a:ext uri="{FF2B5EF4-FFF2-40B4-BE49-F238E27FC236}">
                <a16:creationId xmlns:a16="http://schemas.microsoft.com/office/drawing/2014/main" id="{CAC54267-C1E2-B79B-9BA3-B953B8E382EC}"/>
              </a:ext>
            </a:extLst>
          </p:cNvPr>
          <p:cNvSpPr txBox="1"/>
          <p:nvPr/>
        </p:nvSpPr>
        <p:spPr>
          <a:xfrm>
            <a:off x="428415" y="1780994"/>
            <a:ext cx="11558373" cy="923330"/>
          </a:xfrm>
          <a:prstGeom prst="rect">
            <a:avLst/>
          </a:prstGeom>
          <a:noFill/>
        </p:spPr>
        <p:txBody>
          <a:bodyPr wrap="square">
            <a:spAutoFit/>
          </a:bodyPr>
          <a:lstStyle/>
          <a:p>
            <a:r>
              <a:rPr lang="en-US" altLang="zh-CN" dirty="0"/>
              <a:t>[1] (a) The classifier could classify the training dataset correctly. (b) Attackers add poisoned samples to the training dataset to manipulate the decision boundary. (c) Some testing data is misclassified in the testing phase due to the poisoning attack (the “stop” sign is misjudged as the “speed limit”).</a:t>
            </a:r>
            <a:endParaRPr lang="zh-CN" altLang="en-US" dirty="0"/>
          </a:p>
        </p:txBody>
      </p:sp>
      <p:sp>
        <p:nvSpPr>
          <p:cNvPr id="47" name="TextBox 46">
            <a:extLst>
              <a:ext uri="{FF2B5EF4-FFF2-40B4-BE49-F238E27FC236}">
                <a16:creationId xmlns:a16="http://schemas.microsoft.com/office/drawing/2014/main" id="{B2635B65-4019-8DA2-1AB6-81B9A5EFDBB1}"/>
              </a:ext>
            </a:extLst>
          </p:cNvPr>
          <p:cNvSpPr txBox="1"/>
          <p:nvPr/>
        </p:nvSpPr>
        <p:spPr>
          <a:xfrm>
            <a:off x="169797" y="5833386"/>
            <a:ext cx="11056500" cy="646331"/>
          </a:xfrm>
          <a:prstGeom prst="rect">
            <a:avLst/>
          </a:prstGeom>
          <a:noFill/>
        </p:spPr>
        <p:txBody>
          <a:bodyPr wrap="square">
            <a:spAutoFit/>
          </a:bodyPr>
          <a:lstStyle/>
          <a:p>
            <a:r>
              <a:rPr lang="en-US" altLang="zh-CN" dirty="0"/>
              <a:t>[1] </a:t>
            </a:r>
            <a:r>
              <a:rPr lang="en-US" altLang="zh-CN" b="0" i="0" dirty="0">
                <a:solidFill>
                  <a:srgbClr val="222222"/>
                </a:solidFill>
                <a:effectLst/>
                <a:latin typeface="Arial" panose="020B0604020202020204" pitchFamily="34" charset="0"/>
              </a:rPr>
              <a:t>Chen, J., Zhang, X., Zhang, R., Wang, C., &amp; Liu, L. (2021). De-pois: An attack-agnostic defense against data poisoning attacks. </a:t>
            </a:r>
            <a:r>
              <a:rPr lang="en-US" altLang="zh-CN" b="0" i="1" dirty="0">
                <a:solidFill>
                  <a:srgbClr val="222222"/>
                </a:solidFill>
                <a:effectLst/>
                <a:latin typeface="Arial" panose="020B0604020202020204" pitchFamily="34" charset="0"/>
              </a:rPr>
              <a:t>IEEE Transactions on Information Forensics and Security</a:t>
            </a:r>
            <a:r>
              <a:rPr lang="en-US" altLang="zh-CN" b="0" i="0" dirty="0">
                <a:solidFill>
                  <a:srgbClr val="222222"/>
                </a:solidFill>
                <a:effectLst/>
                <a:latin typeface="Arial" panose="020B0604020202020204" pitchFamily="34" charset="0"/>
              </a:rPr>
              <a:t>, </a:t>
            </a:r>
            <a:r>
              <a:rPr lang="en-US" altLang="zh-CN" b="0" i="1" dirty="0">
                <a:solidFill>
                  <a:srgbClr val="222222"/>
                </a:solidFill>
                <a:effectLst/>
                <a:latin typeface="Arial" panose="020B0604020202020204" pitchFamily="34" charset="0"/>
              </a:rPr>
              <a:t>16</a:t>
            </a:r>
            <a:r>
              <a:rPr lang="en-US" altLang="zh-CN" b="0" i="0" dirty="0">
                <a:solidFill>
                  <a:srgbClr val="222222"/>
                </a:solidFill>
                <a:effectLst/>
                <a:latin typeface="Arial" panose="020B0604020202020204" pitchFamily="34" charset="0"/>
              </a:rPr>
              <a:t>, 3412-3425.</a:t>
            </a:r>
            <a:endParaRPr lang="zh-CN" altLang="en-US" dirty="0"/>
          </a:p>
        </p:txBody>
      </p:sp>
      <p:sp>
        <p:nvSpPr>
          <p:cNvPr id="48" name="灯片编号占位符 3">
            <a:extLst>
              <a:ext uri="{FF2B5EF4-FFF2-40B4-BE49-F238E27FC236}">
                <a16:creationId xmlns:a16="http://schemas.microsoft.com/office/drawing/2014/main" id="{5508E5EE-65D2-1C88-A811-96471910E3F9}"/>
              </a:ext>
            </a:extLst>
          </p:cNvPr>
          <p:cNvSpPr>
            <a:spLocks noGrp="1"/>
          </p:cNvSpPr>
          <p:nvPr>
            <p:ph type="sldNum" sz="quarter" idx="12"/>
          </p:nvPr>
        </p:nvSpPr>
        <p:spPr>
          <a:xfrm>
            <a:off x="8610600" y="6356350"/>
            <a:ext cx="2743200" cy="365125"/>
          </a:xfrm>
        </p:spPr>
        <p:txBody>
          <a:bodyPr/>
          <a:lstStyle/>
          <a:p>
            <a:fld id="{0C913308-F349-4B6D-A68A-DD1791B4A57B}" type="slidenum">
              <a:rPr lang="zh-CN" altLang="en-US" smtClean="0"/>
              <a:t>14</a:t>
            </a:fld>
            <a:endParaRPr lang="zh-CN" altLang="en-US" dirty="0"/>
          </a:p>
        </p:txBody>
      </p:sp>
      <p:pic>
        <p:nvPicPr>
          <p:cNvPr id="6" name="Picture 5">
            <a:extLst>
              <a:ext uri="{FF2B5EF4-FFF2-40B4-BE49-F238E27FC236}">
                <a16:creationId xmlns:a16="http://schemas.microsoft.com/office/drawing/2014/main" id="{08932473-822D-547A-23E4-9466568453DD}"/>
              </a:ext>
            </a:extLst>
          </p:cNvPr>
          <p:cNvPicPr>
            <a:picLocks noChangeAspect="1"/>
          </p:cNvPicPr>
          <p:nvPr/>
        </p:nvPicPr>
        <p:blipFill>
          <a:blip r:embed="rId3"/>
          <a:stretch>
            <a:fillRect/>
          </a:stretch>
        </p:blipFill>
        <p:spPr>
          <a:xfrm>
            <a:off x="0" y="2763576"/>
            <a:ext cx="12192000" cy="2780201"/>
          </a:xfrm>
          <a:prstGeom prst="rect">
            <a:avLst/>
          </a:prstGeom>
        </p:spPr>
      </p:pic>
    </p:spTree>
    <p:extLst>
      <p:ext uri="{BB962C8B-B14F-4D97-AF65-F5344CB8AC3E}">
        <p14:creationId xmlns:p14="http://schemas.microsoft.com/office/powerpoint/2010/main" val="3798926916"/>
      </p:ext>
    </p:extLst>
  </p:cSld>
  <p:clrMapOvr>
    <a:masterClrMapping/>
  </p:clrMapOvr>
  <mc:AlternateContent xmlns:mc="http://schemas.openxmlformats.org/markup-compatibility/2006" xmlns:p14="http://schemas.microsoft.com/office/powerpoint/2010/main">
    <mc:Choice Requires="p14">
      <p:transition p14:dur="0" advTm="26890"/>
    </mc:Choice>
    <mc:Fallback xmlns="">
      <p:transition advTm="2689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343590" y="0"/>
            <a:ext cx="9509760" cy="897198"/>
          </a:xfrm>
        </p:spPr>
        <p:txBody>
          <a:bodyPr>
            <a:normAutofit/>
          </a:bodyPr>
          <a:lstStyle/>
          <a:p>
            <a:r>
              <a:rPr lang="en-US" altLang="zh-CN" dirty="0"/>
              <a:t>Optimization-Based Data Manipulation</a:t>
            </a:r>
            <a:endParaRPr lang="zh-CN" altLang="en-US" dirty="0"/>
          </a:p>
        </p:txBody>
      </p:sp>
      <p:sp>
        <p:nvSpPr>
          <p:cNvPr id="50" name="内容占位符 2"/>
          <p:cNvSpPr>
            <a:spLocks noGrp="1"/>
          </p:cNvSpPr>
          <p:nvPr>
            <p:ph idx="1"/>
          </p:nvPr>
        </p:nvSpPr>
        <p:spPr>
          <a:xfrm>
            <a:off x="343590" y="1001455"/>
            <a:ext cx="10232046" cy="1871841"/>
          </a:xfrm>
        </p:spPr>
        <p:txBody>
          <a:bodyPr>
            <a:normAutofit fontScale="92500" lnSpcReduction="10000"/>
          </a:bodyPr>
          <a:lstStyle/>
          <a:p>
            <a:r>
              <a:rPr lang="en-US" altLang="zh-CN" dirty="0"/>
              <a:t>The first objective of the </a:t>
            </a:r>
            <a:r>
              <a:rPr lang="en-US" altLang="zh-CN" sz="2800" dirty="0"/>
              <a:t>objective</a:t>
            </a:r>
            <a:r>
              <a:rPr lang="en-US" altLang="zh-CN" dirty="0"/>
              <a:t> function is to maximize the disruption to the target model's training by generating poisoning samples.</a:t>
            </a:r>
          </a:p>
          <a:p>
            <a:r>
              <a:rPr lang="en-US" altLang="zh-CN" dirty="0"/>
              <a:t>The second objective is to hide the attack traces. For example, attackers can introduce an additional term into the objective function to constrain the dissimilarity between the poisoned samples and the normal samples.</a:t>
            </a:r>
          </a:p>
        </p:txBody>
      </p:sp>
      <p:cxnSp>
        <p:nvCxnSpPr>
          <p:cNvPr id="8" name="Straight Arrow Connector 7">
            <a:extLst>
              <a:ext uri="{FF2B5EF4-FFF2-40B4-BE49-F238E27FC236}">
                <a16:creationId xmlns:a16="http://schemas.microsoft.com/office/drawing/2014/main" id="{0339F983-3975-4230-42F0-245BF9B1F8F7}"/>
              </a:ext>
            </a:extLst>
          </p:cNvPr>
          <p:cNvCxnSpPr>
            <a:cxnSpLocks/>
            <a:stCxn id="19" idx="3"/>
            <a:endCxn id="11" idx="1"/>
          </p:cNvCxnSpPr>
          <p:nvPr/>
        </p:nvCxnSpPr>
        <p:spPr>
          <a:xfrm>
            <a:off x="2655910" y="5017926"/>
            <a:ext cx="1046426"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11" name="图片 45">
            <a:extLst>
              <a:ext uri="{FF2B5EF4-FFF2-40B4-BE49-F238E27FC236}">
                <a16:creationId xmlns:a16="http://schemas.microsoft.com/office/drawing/2014/main" id="{22A23E31-A0F3-F8B0-170E-F3AC2C312616}"/>
              </a:ext>
            </a:extLst>
          </p:cNvPr>
          <p:cNvPicPr>
            <a:picLocks noChangeAspect="1"/>
          </p:cNvPicPr>
          <p:nvPr/>
        </p:nvPicPr>
        <p:blipFill>
          <a:blip r:embed="rId3"/>
          <a:stretch>
            <a:fillRect/>
          </a:stretch>
        </p:blipFill>
        <p:spPr>
          <a:xfrm>
            <a:off x="3702336" y="4616384"/>
            <a:ext cx="1152496" cy="803083"/>
          </a:xfrm>
          <a:prstGeom prst="rect">
            <a:avLst/>
          </a:prstGeom>
        </p:spPr>
      </p:pic>
      <p:pic>
        <p:nvPicPr>
          <p:cNvPr id="19" name="图形 197" descr="区块链 纯色填充">
            <a:extLst>
              <a:ext uri="{FF2B5EF4-FFF2-40B4-BE49-F238E27FC236}">
                <a16:creationId xmlns:a16="http://schemas.microsoft.com/office/drawing/2014/main" id="{24600452-0350-2A1A-76A9-685E33201D4E}"/>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741510" y="4560726"/>
            <a:ext cx="914400" cy="914400"/>
          </a:xfrm>
          <a:prstGeom prst="rect">
            <a:avLst/>
          </a:prstGeom>
        </p:spPr>
      </p:pic>
      <p:sp>
        <p:nvSpPr>
          <p:cNvPr id="23" name="文本框 38">
            <a:extLst>
              <a:ext uri="{FF2B5EF4-FFF2-40B4-BE49-F238E27FC236}">
                <a16:creationId xmlns:a16="http://schemas.microsoft.com/office/drawing/2014/main" id="{A2D3CA05-51AF-C795-1F89-BF61136B8324}"/>
              </a:ext>
            </a:extLst>
          </p:cNvPr>
          <p:cNvSpPr txBox="1"/>
          <p:nvPr/>
        </p:nvSpPr>
        <p:spPr>
          <a:xfrm>
            <a:off x="662749" y="4720369"/>
            <a:ext cx="1186827" cy="683520"/>
          </a:xfrm>
          <a:prstGeom prst="rect">
            <a:avLst/>
          </a:prstGeom>
          <a:noFill/>
        </p:spPr>
        <p:txBody>
          <a:bodyPr wrap="square">
            <a:spAutoFit/>
          </a:bodyPr>
          <a:lstStyle/>
          <a:p>
            <a:pPr algn="ctr"/>
            <a:r>
              <a:rPr lang="en-US" altLang="zh-CN" sz="1921" dirty="0"/>
              <a:t>Clean dataset</a:t>
            </a:r>
          </a:p>
        </p:txBody>
      </p:sp>
      <p:cxnSp>
        <p:nvCxnSpPr>
          <p:cNvPr id="24" name="Straight Arrow Connector 23">
            <a:extLst>
              <a:ext uri="{FF2B5EF4-FFF2-40B4-BE49-F238E27FC236}">
                <a16:creationId xmlns:a16="http://schemas.microsoft.com/office/drawing/2014/main" id="{89C99661-73D5-BCBA-6FDE-8141031F4710}"/>
              </a:ext>
            </a:extLst>
          </p:cNvPr>
          <p:cNvCxnSpPr>
            <a:cxnSpLocks/>
            <a:stCxn id="11" idx="3"/>
          </p:cNvCxnSpPr>
          <p:nvPr/>
        </p:nvCxnSpPr>
        <p:spPr>
          <a:xfrm flipV="1">
            <a:off x="4854832" y="5017925"/>
            <a:ext cx="930361" cy="1"/>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6" name="矩形: 圆角 237">
            <a:extLst>
              <a:ext uri="{FF2B5EF4-FFF2-40B4-BE49-F238E27FC236}">
                <a16:creationId xmlns:a16="http://schemas.microsoft.com/office/drawing/2014/main" id="{51E3E0FA-AC33-7BD6-540D-C6110415E65B}"/>
              </a:ext>
            </a:extLst>
          </p:cNvPr>
          <p:cNvSpPr/>
          <p:nvPr/>
        </p:nvSpPr>
        <p:spPr>
          <a:xfrm>
            <a:off x="5785193" y="4720369"/>
            <a:ext cx="2028771" cy="595111"/>
          </a:xfrm>
          <a:prstGeom prst="roundRect">
            <a:avLst/>
          </a:prstGeom>
          <a:noFill/>
          <a:ln w="19050">
            <a:solidFill>
              <a:srgbClr val="FF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latin typeface="Times New Roman" panose="02020603050405020304" pitchFamily="18" charset="0"/>
                <a:cs typeface="Times New Roman" panose="02020603050405020304" pitchFamily="18" charset="0"/>
              </a:rPr>
              <a:t>Attacking objective function</a:t>
            </a:r>
            <a:endParaRPr lang="zh-CN" altLang="en-US" dirty="0">
              <a:solidFill>
                <a:schemeClr val="tx1"/>
              </a:solidFill>
              <a:latin typeface="Times New Roman" panose="02020603050405020304" pitchFamily="18" charset="0"/>
              <a:cs typeface="Times New Roman" panose="02020603050405020304" pitchFamily="18" charset="0"/>
            </a:endParaRPr>
          </a:p>
        </p:txBody>
      </p:sp>
      <p:cxnSp>
        <p:nvCxnSpPr>
          <p:cNvPr id="28" name="Connector: Elbow 27">
            <a:extLst>
              <a:ext uri="{FF2B5EF4-FFF2-40B4-BE49-F238E27FC236}">
                <a16:creationId xmlns:a16="http://schemas.microsoft.com/office/drawing/2014/main" id="{D82AF218-991A-4711-4FAB-F82990870509}"/>
              </a:ext>
            </a:extLst>
          </p:cNvPr>
          <p:cNvCxnSpPr>
            <a:cxnSpLocks/>
            <a:stCxn id="26" idx="2"/>
            <a:endCxn id="19" idx="2"/>
          </p:cNvCxnSpPr>
          <p:nvPr/>
        </p:nvCxnSpPr>
        <p:spPr>
          <a:xfrm rot="5400000">
            <a:off x="4419322" y="3094869"/>
            <a:ext cx="159646" cy="4600869"/>
          </a:xfrm>
          <a:prstGeom prst="bentConnector3">
            <a:avLst>
              <a:gd name="adj1" fmla="val 329976"/>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3" name="文本框 38">
            <a:extLst>
              <a:ext uri="{FF2B5EF4-FFF2-40B4-BE49-F238E27FC236}">
                <a16:creationId xmlns:a16="http://schemas.microsoft.com/office/drawing/2014/main" id="{A569A1D8-92CD-225E-EEB4-EDA98753C671}"/>
              </a:ext>
            </a:extLst>
          </p:cNvPr>
          <p:cNvSpPr txBox="1"/>
          <p:nvPr/>
        </p:nvSpPr>
        <p:spPr>
          <a:xfrm>
            <a:off x="2655910" y="5832461"/>
            <a:ext cx="3650808" cy="683520"/>
          </a:xfrm>
          <a:prstGeom prst="rect">
            <a:avLst/>
          </a:prstGeom>
          <a:noFill/>
        </p:spPr>
        <p:txBody>
          <a:bodyPr wrap="square">
            <a:spAutoFit/>
          </a:bodyPr>
          <a:lstStyle/>
          <a:p>
            <a:pPr algn="ctr"/>
            <a:r>
              <a:rPr lang="en-US" altLang="zh-CN" sz="1921" dirty="0"/>
              <a:t>Optimize an objective function to generate poisoning dataset</a:t>
            </a:r>
          </a:p>
        </p:txBody>
      </p:sp>
      <p:sp>
        <p:nvSpPr>
          <p:cNvPr id="36" name="文本框 38">
            <a:extLst>
              <a:ext uri="{FF2B5EF4-FFF2-40B4-BE49-F238E27FC236}">
                <a16:creationId xmlns:a16="http://schemas.microsoft.com/office/drawing/2014/main" id="{B4B695F3-6A5F-3BF7-29F0-4ECFE3B1612C}"/>
              </a:ext>
            </a:extLst>
          </p:cNvPr>
          <p:cNvSpPr txBox="1"/>
          <p:nvPr/>
        </p:nvSpPr>
        <p:spPr>
          <a:xfrm>
            <a:off x="3685170" y="4020476"/>
            <a:ext cx="1176385" cy="683520"/>
          </a:xfrm>
          <a:prstGeom prst="rect">
            <a:avLst/>
          </a:prstGeom>
          <a:noFill/>
        </p:spPr>
        <p:txBody>
          <a:bodyPr wrap="square">
            <a:spAutoFit/>
          </a:bodyPr>
          <a:lstStyle/>
          <a:p>
            <a:pPr algn="ctr"/>
            <a:r>
              <a:rPr lang="en-US" altLang="zh-CN" sz="1921" dirty="0"/>
              <a:t>auxiliary model</a:t>
            </a:r>
          </a:p>
        </p:txBody>
      </p:sp>
      <p:cxnSp>
        <p:nvCxnSpPr>
          <p:cNvPr id="37" name="Straight Arrow Connector 36">
            <a:extLst>
              <a:ext uri="{FF2B5EF4-FFF2-40B4-BE49-F238E27FC236}">
                <a16:creationId xmlns:a16="http://schemas.microsoft.com/office/drawing/2014/main" id="{4850B85B-2F9B-9F54-EDC0-5758D3A1F308}"/>
              </a:ext>
            </a:extLst>
          </p:cNvPr>
          <p:cNvCxnSpPr>
            <a:cxnSpLocks/>
            <a:stCxn id="19" idx="0"/>
          </p:cNvCxnSpPr>
          <p:nvPr/>
        </p:nvCxnSpPr>
        <p:spPr>
          <a:xfrm flipV="1">
            <a:off x="2198710" y="4020476"/>
            <a:ext cx="0" cy="54025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88" name="图形 251" descr="区块链 纯色填充">
            <a:extLst>
              <a:ext uri="{FF2B5EF4-FFF2-40B4-BE49-F238E27FC236}">
                <a16:creationId xmlns:a16="http://schemas.microsoft.com/office/drawing/2014/main" id="{F2CB2D33-2111-8F59-29CA-01E9EDB4D08D}"/>
              </a:ext>
            </a:extLst>
          </p:cNvPr>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1741510" y="3187226"/>
            <a:ext cx="914400" cy="914400"/>
          </a:xfrm>
          <a:prstGeom prst="rect">
            <a:avLst/>
          </a:prstGeom>
        </p:spPr>
      </p:pic>
      <p:sp>
        <p:nvSpPr>
          <p:cNvPr id="89" name="文本框 252">
            <a:extLst>
              <a:ext uri="{FF2B5EF4-FFF2-40B4-BE49-F238E27FC236}">
                <a16:creationId xmlns:a16="http://schemas.microsoft.com/office/drawing/2014/main" id="{E0ECCD5D-1599-BD4C-B186-C59812A03B35}"/>
              </a:ext>
            </a:extLst>
          </p:cNvPr>
          <p:cNvSpPr txBox="1"/>
          <p:nvPr/>
        </p:nvSpPr>
        <p:spPr>
          <a:xfrm>
            <a:off x="343590" y="3356721"/>
            <a:ext cx="1855120" cy="683520"/>
          </a:xfrm>
          <a:prstGeom prst="rect">
            <a:avLst/>
          </a:prstGeom>
          <a:noFill/>
        </p:spPr>
        <p:txBody>
          <a:bodyPr wrap="square" rtlCol="0">
            <a:spAutoFit/>
          </a:bodyPr>
          <a:lstStyle/>
          <a:p>
            <a:pPr algn="ctr"/>
            <a:r>
              <a:rPr lang="it-IT" altLang="zh-CN" sz="1921" dirty="0"/>
              <a:t>Poisoned Dataset</a:t>
            </a:r>
            <a:endParaRPr lang="zh-CN" altLang="en-US" sz="1921" dirty="0"/>
          </a:p>
        </p:txBody>
      </p:sp>
      <p:sp>
        <p:nvSpPr>
          <p:cNvPr id="96" name="灯片编号占位符 3">
            <a:extLst>
              <a:ext uri="{FF2B5EF4-FFF2-40B4-BE49-F238E27FC236}">
                <a16:creationId xmlns:a16="http://schemas.microsoft.com/office/drawing/2014/main" id="{E1DE3B70-13F1-6653-C820-BA89A277C8B5}"/>
              </a:ext>
            </a:extLst>
          </p:cNvPr>
          <p:cNvSpPr>
            <a:spLocks noGrp="1"/>
          </p:cNvSpPr>
          <p:nvPr>
            <p:ph type="sldNum" sz="quarter" idx="12"/>
          </p:nvPr>
        </p:nvSpPr>
        <p:spPr>
          <a:xfrm>
            <a:off x="8610600" y="6356350"/>
            <a:ext cx="2743200" cy="365125"/>
          </a:xfrm>
        </p:spPr>
        <p:txBody>
          <a:bodyPr/>
          <a:lstStyle/>
          <a:p>
            <a:fld id="{0C913308-F349-4B6D-A68A-DD1791B4A57B}" type="slidenum">
              <a:rPr lang="zh-CN" altLang="en-US" smtClean="0"/>
              <a:t>15</a:t>
            </a:fld>
            <a:endParaRPr lang="zh-CN" altLang="en-US" dirty="0"/>
          </a:p>
        </p:txBody>
      </p:sp>
    </p:spTree>
    <p:extLst>
      <p:ext uri="{BB962C8B-B14F-4D97-AF65-F5344CB8AC3E}">
        <p14:creationId xmlns:p14="http://schemas.microsoft.com/office/powerpoint/2010/main" val="2148201680"/>
      </p:ext>
    </p:extLst>
  </p:cSld>
  <p:clrMapOvr>
    <a:masterClrMapping/>
  </p:clrMapOvr>
  <mc:AlternateContent xmlns:mc="http://schemas.openxmlformats.org/markup-compatibility/2006" xmlns:p14="http://schemas.microsoft.com/office/powerpoint/2010/main">
    <mc:Choice Requires="p14">
      <p:transition p14:dur="0" advTm="26890"/>
    </mc:Choice>
    <mc:Fallback xmlns="">
      <p:transition advTm="2689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343590" y="136525"/>
            <a:ext cx="9509760" cy="897198"/>
          </a:xfrm>
        </p:spPr>
        <p:txBody>
          <a:bodyPr>
            <a:normAutofit/>
          </a:bodyPr>
          <a:lstStyle/>
          <a:p>
            <a:r>
              <a:rPr lang="en-US" altLang="zh-CN" dirty="0"/>
              <a:t>Optimization-Based Data Manipulation</a:t>
            </a:r>
            <a:endParaRPr lang="zh-CN" altLang="en-US" dirty="0"/>
          </a:p>
        </p:txBody>
      </p:sp>
      <p:sp>
        <p:nvSpPr>
          <p:cNvPr id="50" name="内容占位符 2"/>
          <p:cNvSpPr>
            <a:spLocks noGrp="1"/>
          </p:cNvSpPr>
          <p:nvPr>
            <p:ph idx="1"/>
          </p:nvPr>
        </p:nvSpPr>
        <p:spPr>
          <a:xfrm>
            <a:off x="343590" y="1001455"/>
            <a:ext cx="11418484" cy="1871841"/>
          </a:xfrm>
        </p:spPr>
        <p:txBody>
          <a:bodyPr>
            <a:normAutofit fontScale="70000" lnSpcReduction="20000"/>
          </a:bodyPr>
          <a:lstStyle/>
          <a:p>
            <a:pPr marL="0" indent="0">
              <a:buNone/>
            </a:pPr>
            <a:r>
              <a:rPr lang="en-US" altLang="zh-CN" dirty="0"/>
              <a:t>Left: First, the attacker generates a set of poisoned images, that look like target category, using optimization method and keeps the trigger secret. </a:t>
            </a:r>
          </a:p>
          <a:p>
            <a:pPr marL="0" indent="0">
              <a:buNone/>
            </a:pPr>
            <a:r>
              <a:rPr lang="en-US" altLang="zh-CN" dirty="0"/>
              <a:t>Middle: Then, adds poisoned data to the training data with visibly correct label (target category) and the victim trains the deep model. </a:t>
            </a:r>
          </a:p>
          <a:p>
            <a:pPr marL="0" indent="0">
              <a:buNone/>
            </a:pPr>
            <a:r>
              <a:rPr lang="en-US" altLang="zh-CN" dirty="0"/>
              <a:t>Right: Finally, at the test time, the attacker adds the secret trigger to images of source category to fool the model. Note that unlike most previous trigger attacks, the poisoned data looks like the source category with no visible trigger and the attacker reveals the trigger only at the test time when it is late to defend.</a:t>
            </a:r>
          </a:p>
        </p:txBody>
      </p:sp>
      <p:pic>
        <p:nvPicPr>
          <p:cNvPr id="4" name="Picture 3">
            <a:extLst>
              <a:ext uri="{FF2B5EF4-FFF2-40B4-BE49-F238E27FC236}">
                <a16:creationId xmlns:a16="http://schemas.microsoft.com/office/drawing/2014/main" id="{44D22237-BA5A-FB63-1498-692713E040C3}"/>
              </a:ext>
            </a:extLst>
          </p:cNvPr>
          <p:cNvPicPr>
            <a:picLocks noChangeAspect="1"/>
          </p:cNvPicPr>
          <p:nvPr/>
        </p:nvPicPr>
        <p:blipFill>
          <a:blip r:embed="rId3"/>
          <a:stretch>
            <a:fillRect/>
          </a:stretch>
        </p:blipFill>
        <p:spPr>
          <a:xfrm>
            <a:off x="343590" y="2800350"/>
            <a:ext cx="11010900" cy="4057650"/>
          </a:xfrm>
          <a:prstGeom prst="rect">
            <a:avLst/>
          </a:prstGeom>
        </p:spPr>
      </p:pic>
      <p:sp>
        <p:nvSpPr>
          <p:cNvPr id="5" name="灯片编号占位符 3">
            <a:extLst>
              <a:ext uri="{FF2B5EF4-FFF2-40B4-BE49-F238E27FC236}">
                <a16:creationId xmlns:a16="http://schemas.microsoft.com/office/drawing/2014/main" id="{F02FD4FC-5CB3-8DBF-4FF1-E8B16B607558}"/>
              </a:ext>
            </a:extLst>
          </p:cNvPr>
          <p:cNvSpPr>
            <a:spLocks noGrp="1"/>
          </p:cNvSpPr>
          <p:nvPr>
            <p:ph type="sldNum" sz="quarter" idx="12"/>
          </p:nvPr>
        </p:nvSpPr>
        <p:spPr>
          <a:xfrm>
            <a:off x="8610600" y="6356350"/>
            <a:ext cx="2743200" cy="365125"/>
          </a:xfrm>
        </p:spPr>
        <p:txBody>
          <a:bodyPr/>
          <a:lstStyle/>
          <a:p>
            <a:fld id="{0C913308-F349-4B6D-A68A-DD1791B4A57B}" type="slidenum">
              <a:rPr lang="zh-CN" altLang="en-US" smtClean="0"/>
              <a:t>16</a:t>
            </a:fld>
            <a:endParaRPr lang="zh-CN" altLang="en-US" dirty="0"/>
          </a:p>
        </p:txBody>
      </p:sp>
    </p:spTree>
    <p:extLst>
      <p:ext uri="{BB962C8B-B14F-4D97-AF65-F5344CB8AC3E}">
        <p14:creationId xmlns:p14="http://schemas.microsoft.com/office/powerpoint/2010/main" val="181409415"/>
      </p:ext>
    </p:extLst>
  </p:cSld>
  <p:clrMapOvr>
    <a:masterClrMapping/>
  </p:clrMapOvr>
  <mc:AlternateContent xmlns:mc="http://schemas.openxmlformats.org/markup-compatibility/2006" xmlns:p14="http://schemas.microsoft.com/office/powerpoint/2010/main">
    <mc:Choice Requires="p14">
      <p:transition p14:dur="0" advTm="26890"/>
    </mc:Choice>
    <mc:Fallback xmlns="">
      <p:transition advTm="2689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343590" y="254714"/>
            <a:ext cx="9509760" cy="897198"/>
          </a:xfrm>
        </p:spPr>
        <p:txBody>
          <a:bodyPr>
            <a:normAutofit/>
          </a:bodyPr>
          <a:lstStyle/>
          <a:p>
            <a:r>
              <a:rPr lang="en-US" altLang="zh-CN" dirty="0"/>
              <a:t>Training-Based Data Manipulation</a:t>
            </a:r>
            <a:endParaRPr lang="zh-CN" altLang="en-US" dirty="0"/>
          </a:p>
        </p:txBody>
      </p:sp>
      <p:sp>
        <p:nvSpPr>
          <p:cNvPr id="50" name="内容占位符 2"/>
          <p:cNvSpPr>
            <a:spLocks noGrp="1"/>
          </p:cNvSpPr>
          <p:nvPr>
            <p:ph idx="1"/>
          </p:nvPr>
        </p:nvSpPr>
        <p:spPr>
          <a:xfrm>
            <a:off x="343590" y="1182749"/>
            <a:ext cx="11661305" cy="1204954"/>
          </a:xfrm>
        </p:spPr>
        <p:txBody>
          <a:bodyPr>
            <a:normAutofit/>
          </a:bodyPr>
          <a:lstStyle/>
          <a:p>
            <a:r>
              <a:rPr lang="en-US" altLang="zh-CN" sz="2400" dirty="0"/>
              <a:t>Train an auxiliary sample model to mimic the target model. The attackers can then test the effectiveness of poisoning the samples on this auxiliary sample model to reduce the number of accesses or permissions required to the target model.</a:t>
            </a:r>
          </a:p>
        </p:txBody>
      </p:sp>
      <p:cxnSp>
        <p:nvCxnSpPr>
          <p:cNvPr id="8" name="Straight Arrow Connector 7">
            <a:extLst>
              <a:ext uri="{FF2B5EF4-FFF2-40B4-BE49-F238E27FC236}">
                <a16:creationId xmlns:a16="http://schemas.microsoft.com/office/drawing/2014/main" id="{0339F983-3975-4230-42F0-245BF9B1F8F7}"/>
              </a:ext>
            </a:extLst>
          </p:cNvPr>
          <p:cNvCxnSpPr>
            <a:cxnSpLocks/>
            <a:stCxn id="3" idx="3"/>
            <a:endCxn id="11" idx="1"/>
          </p:cNvCxnSpPr>
          <p:nvPr/>
        </p:nvCxnSpPr>
        <p:spPr>
          <a:xfrm>
            <a:off x="1445699" y="2760301"/>
            <a:ext cx="687639"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11" name="图片 45">
            <a:extLst>
              <a:ext uri="{FF2B5EF4-FFF2-40B4-BE49-F238E27FC236}">
                <a16:creationId xmlns:a16="http://schemas.microsoft.com/office/drawing/2014/main" id="{22A23E31-A0F3-F8B0-170E-F3AC2C312616}"/>
              </a:ext>
            </a:extLst>
          </p:cNvPr>
          <p:cNvPicPr>
            <a:picLocks noChangeAspect="1"/>
          </p:cNvPicPr>
          <p:nvPr/>
        </p:nvPicPr>
        <p:blipFill>
          <a:blip r:embed="rId3"/>
          <a:stretch>
            <a:fillRect/>
          </a:stretch>
        </p:blipFill>
        <p:spPr>
          <a:xfrm>
            <a:off x="2133338" y="2358759"/>
            <a:ext cx="1152496" cy="803083"/>
          </a:xfrm>
          <a:prstGeom prst="rect">
            <a:avLst/>
          </a:prstGeom>
        </p:spPr>
      </p:pic>
      <p:sp>
        <p:nvSpPr>
          <p:cNvPr id="36" name="文本框 38">
            <a:extLst>
              <a:ext uri="{FF2B5EF4-FFF2-40B4-BE49-F238E27FC236}">
                <a16:creationId xmlns:a16="http://schemas.microsoft.com/office/drawing/2014/main" id="{B4B695F3-6A5F-3BF7-29F0-4ECFE3B1612C}"/>
              </a:ext>
            </a:extLst>
          </p:cNvPr>
          <p:cNvSpPr txBox="1"/>
          <p:nvPr/>
        </p:nvSpPr>
        <p:spPr>
          <a:xfrm>
            <a:off x="3190648" y="2418540"/>
            <a:ext cx="2771049" cy="683520"/>
          </a:xfrm>
          <a:prstGeom prst="rect">
            <a:avLst/>
          </a:prstGeom>
          <a:noFill/>
        </p:spPr>
        <p:txBody>
          <a:bodyPr wrap="square">
            <a:spAutoFit/>
          </a:bodyPr>
          <a:lstStyle/>
          <a:p>
            <a:pPr algn="ctr"/>
            <a:r>
              <a:rPr lang="en-US" altLang="zh-CN" sz="1921" dirty="0"/>
              <a:t>Train auxiliary model to mimic target model</a:t>
            </a:r>
          </a:p>
        </p:txBody>
      </p:sp>
      <p:pic>
        <p:nvPicPr>
          <p:cNvPr id="3" name="图形 201" descr="实心填充的恶魔表情 纯色填充">
            <a:extLst>
              <a:ext uri="{FF2B5EF4-FFF2-40B4-BE49-F238E27FC236}">
                <a16:creationId xmlns:a16="http://schemas.microsoft.com/office/drawing/2014/main" id="{AD2A37D0-B757-04AF-A408-14466D594D52}"/>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06358" y="2401825"/>
            <a:ext cx="739341" cy="716952"/>
          </a:xfrm>
          <a:prstGeom prst="rect">
            <a:avLst/>
          </a:prstGeom>
        </p:spPr>
      </p:pic>
      <p:sp>
        <p:nvSpPr>
          <p:cNvPr id="4" name="灯片编号占位符 3">
            <a:extLst>
              <a:ext uri="{FF2B5EF4-FFF2-40B4-BE49-F238E27FC236}">
                <a16:creationId xmlns:a16="http://schemas.microsoft.com/office/drawing/2014/main" id="{88BBB2FD-7B51-4D50-3871-244F2B8B444E}"/>
              </a:ext>
            </a:extLst>
          </p:cNvPr>
          <p:cNvSpPr>
            <a:spLocks noGrp="1"/>
          </p:cNvSpPr>
          <p:nvPr>
            <p:ph type="sldNum" sz="quarter" idx="12"/>
          </p:nvPr>
        </p:nvSpPr>
        <p:spPr>
          <a:xfrm>
            <a:off x="8610600" y="6356350"/>
            <a:ext cx="2743200" cy="365125"/>
          </a:xfrm>
        </p:spPr>
        <p:txBody>
          <a:bodyPr/>
          <a:lstStyle/>
          <a:p>
            <a:fld id="{0C913308-F349-4B6D-A68A-DD1791B4A57B}" type="slidenum">
              <a:rPr lang="zh-CN" altLang="en-US" smtClean="0"/>
              <a:t>17</a:t>
            </a:fld>
            <a:endParaRPr lang="zh-CN" altLang="en-US" dirty="0"/>
          </a:p>
        </p:txBody>
      </p:sp>
      <p:pic>
        <p:nvPicPr>
          <p:cNvPr id="24" name="图片 45">
            <a:extLst>
              <a:ext uri="{FF2B5EF4-FFF2-40B4-BE49-F238E27FC236}">
                <a16:creationId xmlns:a16="http://schemas.microsoft.com/office/drawing/2014/main" id="{6A31570C-DCAE-3568-33D6-DA71DE00AC11}"/>
              </a:ext>
            </a:extLst>
          </p:cNvPr>
          <p:cNvPicPr>
            <a:picLocks noChangeAspect="1"/>
          </p:cNvPicPr>
          <p:nvPr/>
        </p:nvPicPr>
        <p:blipFill>
          <a:blip r:embed="rId3"/>
          <a:stretch>
            <a:fillRect/>
          </a:stretch>
        </p:blipFill>
        <p:spPr>
          <a:xfrm>
            <a:off x="2133338" y="3733377"/>
            <a:ext cx="1152496" cy="803083"/>
          </a:xfrm>
          <a:prstGeom prst="rect">
            <a:avLst/>
          </a:prstGeom>
        </p:spPr>
      </p:pic>
      <p:cxnSp>
        <p:nvCxnSpPr>
          <p:cNvPr id="26" name="Connector: Elbow 25">
            <a:extLst>
              <a:ext uri="{FF2B5EF4-FFF2-40B4-BE49-F238E27FC236}">
                <a16:creationId xmlns:a16="http://schemas.microsoft.com/office/drawing/2014/main" id="{F9F11642-E80F-C501-1179-C1B3C8720514}"/>
              </a:ext>
            </a:extLst>
          </p:cNvPr>
          <p:cNvCxnSpPr>
            <a:cxnSpLocks/>
            <a:stCxn id="3" idx="2"/>
            <a:endCxn id="24" idx="1"/>
          </p:cNvCxnSpPr>
          <p:nvPr/>
        </p:nvCxnSpPr>
        <p:spPr>
          <a:xfrm rot="16200000" flipH="1">
            <a:off x="1096612" y="3098193"/>
            <a:ext cx="1016142" cy="1057309"/>
          </a:xfrm>
          <a:prstGeom prst="bentConnector2">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1" name="TextBox 60">
            <a:extLst>
              <a:ext uri="{FF2B5EF4-FFF2-40B4-BE49-F238E27FC236}">
                <a16:creationId xmlns:a16="http://schemas.microsoft.com/office/drawing/2014/main" id="{B5772D2E-144B-E8C0-7584-4A1A2BB17B4A}"/>
              </a:ext>
            </a:extLst>
          </p:cNvPr>
          <p:cNvSpPr txBox="1"/>
          <p:nvPr/>
        </p:nvSpPr>
        <p:spPr>
          <a:xfrm>
            <a:off x="1462462" y="2398851"/>
            <a:ext cx="654112" cy="369332"/>
          </a:xfrm>
          <a:prstGeom prst="rect">
            <a:avLst/>
          </a:prstGeom>
          <a:noFill/>
        </p:spPr>
        <p:txBody>
          <a:bodyPr wrap="square">
            <a:spAutoFit/>
          </a:bodyPr>
          <a:lstStyle/>
          <a:p>
            <a:r>
              <a:rPr lang="en-US" altLang="zh-CN" sz="1800" dirty="0"/>
              <a:t>train</a:t>
            </a:r>
            <a:endParaRPr lang="zh-CN" altLang="en-US" dirty="0"/>
          </a:p>
        </p:txBody>
      </p:sp>
      <p:sp>
        <p:nvSpPr>
          <p:cNvPr id="62" name="文本框 38">
            <a:extLst>
              <a:ext uri="{FF2B5EF4-FFF2-40B4-BE49-F238E27FC236}">
                <a16:creationId xmlns:a16="http://schemas.microsoft.com/office/drawing/2014/main" id="{EBAC87E6-96A9-97AF-0BE0-D31F50BDC3B3}"/>
              </a:ext>
            </a:extLst>
          </p:cNvPr>
          <p:cNvSpPr txBox="1"/>
          <p:nvPr/>
        </p:nvSpPr>
        <p:spPr>
          <a:xfrm>
            <a:off x="4811306" y="3613004"/>
            <a:ext cx="3799294" cy="979114"/>
          </a:xfrm>
          <a:prstGeom prst="rect">
            <a:avLst/>
          </a:prstGeom>
          <a:noFill/>
        </p:spPr>
        <p:txBody>
          <a:bodyPr wrap="square">
            <a:spAutoFit/>
          </a:bodyPr>
          <a:lstStyle/>
          <a:p>
            <a:pPr algn="ctr"/>
            <a:r>
              <a:rPr lang="en-US" altLang="zh-CN" sz="1921" dirty="0"/>
              <a:t>Evaluate effect of poisoning samples on auxiliary model to construct poisoning dataset</a:t>
            </a:r>
          </a:p>
        </p:txBody>
      </p:sp>
      <p:pic>
        <p:nvPicPr>
          <p:cNvPr id="63" name="图形 251" descr="区块链 纯色填充">
            <a:extLst>
              <a:ext uri="{FF2B5EF4-FFF2-40B4-BE49-F238E27FC236}">
                <a16:creationId xmlns:a16="http://schemas.microsoft.com/office/drawing/2014/main" id="{FDEDA95D-8FB9-9138-E5D0-BB062B19474D}"/>
              </a:ext>
            </a:extLst>
          </p:cNvPr>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3896906" y="3677718"/>
            <a:ext cx="914400" cy="914400"/>
          </a:xfrm>
          <a:prstGeom prst="rect">
            <a:avLst/>
          </a:prstGeom>
        </p:spPr>
      </p:pic>
      <p:cxnSp>
        <p:nvCxnSpPr>
          <p:cNvPr id="66" name="Straight Arrow Connector 65">
            <a:extLst>
              <a:ext uri="{FF2B5EF4-FFF2-40B4-BE49-F238E27FC236}">
                <a16:creationId xmlns:a16="http://schemas.microsoft.com/office/drawing/2014/main" id="{17B63984-9395-F571-A5EF-D9D82B51CCDA}"/>
              </a:ext>
            </a:extLst>
          </p:cNvPr>
          <p:cNvCxnSpPr>
            <a:cxnSpLocks/>
            <a:stCxn id="24" idx="3"/>
            <a:endCxn id="63" idx="1"/>
          </p:cNvCxnSpPr>
          <p:nvPr/>
        </p:nvCxnSpPr>
        <p:spPr>
          <a:xfrm flipV="1">
            <a:off x="3285834" y="4134918"/>
            <a:ext cx="611072" cy="1"/>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71" name="图形 251" descr="区块链 纯色填充">
            <a:extLst>
              <a:ext uri="{FF2B5EF4-FFF2-40B4-BE49-F238E27FC236}">
                <a16:creationId xmlns:a16="http://schemas.microsoft.com/office/drawing/2014/main" id="{A054A4A6-71F9-8FF2-9B54-ABE421BB21E7}"/>
              </a:ext>
            </a:extLst>
          </p:cNvPr>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618828" y="4904970"/>
            <a:ext cx="914400" cy="914400"/>
          </a:xfrm>
          <a:prstGeom prst="rect">
            <a:avLst/>
          </a:prstGeom>
        </p:spPr>
      </p:pic>
      <p:pic>
        <p:nvPicPr>
          <p:cNvPr id="72" name="图片 45">
            <a:extLst>
              <a:ext uri="{FF2B5EF4-FFF2-40B4-BE49-F238E27FC236}">
                <a16:creationId xmlns:a16="http://schemas.microsoft.com/office/drawing/2014/main" id="{57CFA59B-E133-9087-C1C8-87FFED2EED38}"/>
              </a:ext>
            </a:extLst>
          </p:cNvPr>
          <p:cNvPicPr>
            <a:picLocks noChangeAspect="1"/>
          </p:cNvPicPr>
          <p:nvPr/>
        </p:nvPicPr>
        <p:blipFill>
          <a:blip r:embed="rId8">
            <a:extLst>
              <a:ext uri="{BEBA8EAE-BF5A-486C-A8C5-ECC9F3942E4B}">
                <a14:imgProps xmlns:a14="http://schemas.microsoft.com/office/drawing/2010/main">
                  <a14:imgLayer r:embed="rId9">
                    <a14:imgEffect>
                      <a14:colorTemperature colorTemp="8800"/>
                    </a14:imgEffect>
                  </a14:imgLayer>
                </a14:imgProps>
              </a:ext>
            </a:extLst>
          </a:blip>
          <a:stretch>
            <a:fillRect/>
          </a:stretch>
        </p:blipFill>
        <p:spPr>
          <a:xfrm>
            <a:off x="2116574" y="4960628"/>
            <a:ext cx="1152496" cy="803083"/>
          </a:xfrm>
          <a:prstGeom prst="rect">
            <a:avLst/>
          </a:prstGeom>
        </p:spPr>
      </p:pic>
      <p:cxnSp>
        <p:nvCxnSpPr>
          <p:cNvPr id="73" name="Straight Arrow Connector 72">
            <a:extLst>
              <a:ext uri="{FF2B5EF4-FFF2-40B4-BE49-F238E27FC236}">
                <a16:creationId xmlns:a16="http://schemas.microsoft.com/office/drawing/2014/main" id="{D7FA5E6C-0E8F-799A-7EEB-D7544A1BA3D6}"/>
              </a:ext>
            </a:extLst>
          </p:cNvPr>
          <p:cNvCxnSpPr>
            <a:cxnSpLocks/>
            <a:stCxn id="71" idx="3"/>
            <a:endCxn id="72" idx="1"/>
          </p:cNvCxnSpPr>
          <p:nvPr/>
        </p:nvCxnSpPr>
        <p:spPr>
          <a:xfrm>
            <a:off x="1533228" y="5362170"/>
            <a:ext cx="583346"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8" name="文本框 38">
            <a:extLst>
              <a:ext uri="{FF2B5EF4-FFF2-40B4-BE49-F238E27FC236}">
                <a16:creationId xmlns:a16="http://schemas.microsoft.com/office/drawing/2014/main" id="{9117273A-36E0-92B2-E9A0-7D2D80A3B883}"/>
              </a:ext>
            </a:extLst>
          </p:cNvPr>
          <p:cNvSpPr txBox="1"/>
          <p:nvPr/>
        </p:nvSpPr>
        <p:spPr>
          <a:xfrm>
            <a:off x="2496811" y="5163653"/>
            <a:ext cx="3799294" cy="387927"/>
          </a:xfrm>
          <a:prstGeom prst="rect">
            <a:avLst/>
          </a:prstGeom>
          <a:noFill/>
        </p:spPr>
        <p:txBody>
          <a:bodyPr wrap="square">
            <a:spAutoFit/>
          </a:bodyPr>
          <a:lstStyle/>
          <a:p>
            <a:pPr algn="ctr"/>
            <a:r>
              <a:rPr lang="en-US" altLang="zh-CN" sz="1921" dirty="0"/>
              <a:t>Attack target model</a:t>
            </a:r>
          </a:p>
        </p:txBody>
      </p:sp>
    </p:spTree>
    <p:extLst>
      <p:ext uri="{BB962C8B-B14F-4D97-AF65-F5344CB8AC3E}">
        <p14:creationId xmlns:p14="http://schemas.microsoft.com/office/powerpoint/2010/main" val="1697058713"/>
      </p:ext>
    </p:extLst>
  </p:cSld>
  <p:clrMapOvr>
    <a:masterClrMapping/>
  </p:clrMapOvr>
  <mc:AlternateContent xmlns:mc="http://schemas.openxmlformats.org/markup-compatibility/2006" xmlns:p14="http://schemas.microsoft.com/office/powerpoint/2010/main">
    <mc:Choice Requires="p14">
      <p:transition p14:dur="0" advTm="26890"/>
    </mc:Choice>
    <mc:Fallback xmlns="">
      <p:transition advTm="2689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343590" y="276446"/>
            <a:ext cx="9509760" cy="897198"/>
          </a:xfrm>
        </p:spPr>
        <p:txBody>
          <a:bodyPr>
            <a:normAutofit/>
          </a:bodyPr>
          <a:lstStyle/>
          <a:p>
            <a:r>
              <a:rPr lang="en-US" altLang="zh-CN" dirty="0"/>
              <a:t>Training-Based Data Manipulation</a:t>
            </a:r>
            <a:endParaRPr lang="zh-CN" altLang="en-US" dirty="0"/>
          </a:p>
        </p:txBody>
      </p:sp>
      <p:sp>
        <p:nvSpPr>
          <p:cNvPr id="50" name="内容占位符 2"/>
          <p:cNvSpPr>
            <a:spLocks noGrp="1"/>
          </p:cNvSpPr>
          <p:nvPr>
            <p:ph idx="1"/>
          </p:nvPr>
        </p:nvSpPr>
        <p:spPr>
          <a:xfrm>
            <a:off x="343590" y="1366581"/>
            <a:ext cx="11299166" cy="1422768"/>
          </a:xfrm>
        </p:spPr>
        <p:txBody>
          <a:bodyPr>
            <a:normAutofit/>
          </a:bodyPr>
          <a:lstStyle/>
          <a:p>
            <a:r>
              <a:rPr lang="en-US" altLang="zh-CN" sz="2000" dirty="0"/>
              <a:t>Attackers can also train a generative model to directly generate poisoning samples.</a:t>
            </a:r>
          </a:p>
          <a:p>
            <a:r>
              <a:rPr lang="en-US" altLang="zh-CN" sz="2000" dirty="0"/>
              <a:t>The attacker uses D to determine the category of the generated sample and the distance from the normal sample to control whether the generated sample is a good poisoning sample</a:t>
            </a:r>
          </a:p>
        </p:txBody>
      </p:sp>
      <p:sp>
        <p:nvSpPr>
          <p:cNvPr id="4" name="灯片编号占位符 3">
            <a:extLst>
              <a:ext uri="{FF2B5EF4-FFF2-40B4-BE49-F238E27FC236}">
                <a16:creationId xmlns:a16="http://schemas.microsoft.com/office/drawing/2014/main" id="{88BBB2FD-7B51-4D50-3871-244F2B8B444E}"/>
              </a:ext>
            </a:extLst>
          </p:cNvPr>
          <p:cNvSpPr>
            <a:spLocks noGrp="1"/>
          </p:cNvSpPr>
          <p:nvPr>
            <p:ph type="sldNum" sz="quarter" idx="12"/>
          </p:nvPr>
        </p:nvSpPr>
        <p:spPr>
          <a:xfrm>
            <a:off x="8610600" y="6356350"/>
            <a:ext cx="2743200" cy="365125"/>
          </a:xfrm>
        </p:spPr>
        <p:txBody>
          <a:bodyPr/>
          <a:lstStyle/>
          <a:p>
            <a:fld id="{0C913308-F349-4B6D-A68A-DD1791B4A57B}" type="slidenum">
              <a:rPr lang="zh-CN" altLang="en-US" smtClean="0"/>
              <a:t>18</a:t>
            </a:fld>
            <a:endParaRPr lang="zh-CN" altLang="en-US" dirty="0"/>
          </a:p>
        </p:txBody>
      </p:sp>
      <p:pic>
        <p:nvPicPr>
          <p:cNvPr id="23" name="Picture 22">
            <a:extLst>
              <a:ext uri="{FF2B5EF4-FFF2-40B4-BE49-F238E27FC236}">
                <a16:creationId xmlns:a16="http://schemas.microsoft.com/office/drawing/2014/main" id="{03D0F506-AC08-76FB-BCE0-4335BFEA7B02}"/>
              </a:ext>
            </a:extLst>
          </p:cNvPr>
          <p:cNvPicPr>
            <a:picLocks noChangeAspect="1"/>
          </p:cNvPicPr>
          <p:nvPr/>
        </p:nvPicPr>
        <p:blipFill>
          <a:blip r:embed="rId3"/>
          <a:stretch>
            <a:fillRect/>
          </a:stretch>
        </p:blipFill>
        <p:spPr>
          <a:xfrm>
            <a:off x="343590" y="2340579"/>
            <a:ext cx="6236397" cy="3919170"/>
          </a:xfrm>
          <a:prstGeom prst="rect">
            <a:avLst/>
          </a:prstGeom>
        </p:spPr>
      </p:pic>
    </p:spTree>
    <p:extLst>
      <p:ext uri="{BB962C8B-B14F-4D97-AF65-F5344CB8AC3E}">
        <p14:creationId xmlns:p14="http://schemas.microsoft.com/office/powerpoint/2010/main" val="3203785364"/>
      </p:ext>
    </p:extLst>
  </p:cSld>
  <p:clrMapOvr>
    <a:masterClrMapping/>
  </p:clrMapOvr>
  <mc:AlternateContent xmlns:mc="http://schemas.openxmlformats.org/markup-compatibility/2006" xmlns:p14="http://schemas.microsoft.com/office/powerpoint/2010/main">
    <mc:Choice Requires="p14">
      <p:transition p14:dur="0" advTm="26890"/>
    </mc:Choice>
    <mc:Fallback xmlns="">
      <p:transition advTm="2689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AU" altLang="zh-CN" dirty="0"/>
              <a:t>Countermeasures against poisoning attacks</a:t>
            </a:r>
          </a:p>
        </p:txBody>
      </p:sp>
      <p:sp>
        <p:nvSpPr>
          <p:cNvPr id="5" name="Text Placeholder 4"/>
          <p:cNvSpPr>
            <a:spLocks noGrp="1"/>
          </p:cNvSpPr>
          <p:nvPr>
            <p:ph type="body" idx="1"/>
          </p:nvPr>
        </p:nvSpPr>
        <p:spPr/>
        <p:txBody>
          <a:bodyPr/>
          <a:lstStyle/>
          <a:p>
            <a:endParaRPr lang="en-US"/>
          </a:p>
        </p:txBody>
      </p:sp>
      <p:sp>
        <p:nvSpPr>
          <p:cNvPr id="2" name="Slide Number Placeholder 1"/>
          <p:cNvSpPr>
            <a:spLocks noGrp="1"/>
          </p:cNvSpPr>
          <p:nvPr>
            <p:ph type="sldNum" sz="quarter" idx="12"/>
          </p:nvPr>
        </p:nvSpPr>
        <p:spPr/>
        <p:txBody>
          <a:bodyPr/>
          <a:lstStyle/>
          <a:p>
            <a:fld id="{CA8D9AD5-F248-4919-864A-CFD76CC027D6}" type="slidenum">
              <a:rPr lang="en-AU" smtClean="0"/>
              <a:t>19</a:t>
            </a:fld>
            <a:endParaRPr lang="en-AU"/>
          </a:p>
        </p:txBody>
      </p:sp>
    </p:spTree>
    <p:extLst>
      <p:ext uri="{BB962C8B-B14F-4D97-AF65-F5344CB8AC3E}">
        <p14:creationId xmlns:p14="http://schemas.microsoft.com/office/powerpoint/2010/main" val="4019049031"/>
      </p:ext>
    </p:extLst>
  </p:cSld>
  <p:clrMapOvr>
    <a:masterClrMapping/>
  </p:clrMapOvr>
  <mc:AlternateContent xmlns:mc="http://schemas.openxmlformats.org/markup-compatibility/2006" xmlns:p14="http://schemas.microsoft.com/office/powerpoint/2010/main">
    <mc:Choice Requires="p14">
      <p:transition p14:dur="0" advTm="3691"/>
    </mc:Choice>
    <mc:Fallback xmlns="">
      <p:transition advTm="3691"/>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235062" y="469591"/>
            <a:ext cx="11118738" cy="897198"/>
          </a:xfrm>
        </p:spPr>
        <p:txBody>
          <a:bodyPr>
            <a:normAutofit/>
          </a:bodyPr>
          <a:lstStyle/>
          <a:p>
            <a:r>
              <a:rPr lang="en-US" altLang="zh-CN" dirty="0"/>
              <a:t>Countermeasures in Deep Learning </a:t>
            </a:r>
            <a:endParaRPr lang="zh-CN" altLang="en-US" dirty="0"/>
          </a:p>
        </p:txBody>
      </p:sp>
      <p:sp>
        <p:nvSpPr>
          <p:cNvPr id="50" name="内容占位符 2"/>
          <p:cNvSpPr>
            <a:spLocks noGrp="1"/>
          </p:cNvSpPr>
          <p:nvPr>
            <p:ph idx="1"/>
          </p:nvPr>
        </p:nvSpPr>
        <p:spPr>
          <a:xfrm>
            <a:off x="343589" y="1868675"/>
            <a:ext cx="5004588" cy="3851641"/>
          </a:xfrm>
        </p:spPr>
        <p:txBody>
          <a:bodyPr>
            <a:normAutofit/>
          </a:bodyPr>
          <a:lstStyle/>
          <a:p>
            <a:pPr marL="0" indent="0">
              <a:buNone/>
            </a:pPr>
            <a:r>
              <a:rPr lang="en-US" altLang="zh-CN" dirty="0">
                <a:solidFill>
                  <a:srgbClr val="FF0000"/>
                </a:solidFill>
              </a:rPr>
              <a:t>Intuition</a:t>
            </a:r>
          </a:p>
          <a:p>
            <a:pPr lvl="1"/>
            <a:r>
              <a:rPr lang="en-US" altLang="zh-CN" dirty="0"/>
              <a:t>The distribution of poisoning dataset is different from benign dataset. Poisoning samples are more concentrate than benign ones.</a:t>
            </a:r>
          </a:p>
          <a:p>
            <a:pPr marL="457200" lvl="1" indent="0">
              <a:buNone/>
            </a:pPr>
            <a:endParaRPr lang="en-US" altLang="zh-CN" dirty="0"/>
          </a:p>
          <a:p>
            <a:pPr marL="457200" lvl="1" indent="0">
              <a:buNone/>
            </a:pPr>
            <a:endParaRPr lang="en-US" altLang="zh-CN" dirty="0"/>
          </a:p>
          <a:p>
            <a:endParaRPr lang="en-US" altLang="zh-CN" dirty="0"/>
          </a:p>
          <a:p>
            <a:endParaRPr lang="en-US" altLang="zh-CN" dirty="0"/>
          </a:p>
        </p:txBody>
      </p:sp>
      <p:sp>
        <p:nvSpPr>
          <p:cNvPr id="4" name="灯片编号占位符 3">
            <a:extLst>
              <a:ext uri="{FF2B5EF4-FFF2-40B4-BE49-F238E27FC236}">
                <a16:creationId xmlns:a16="http://schemas.microsoft.com/office/drawing/2014/main" id="{88BBB2FD-7B51-4D50-3871-244F2B8B444E}"/>
              </a:ext>
            </a:extLst>
          </p:cNvPr>
          <p:cNvSpPr>
            <a:spLocks noGrp="1"/>
          </p:cNvSpPr>
          <p:nvPr>
            <p:ph type="sldNum" sz="quarter" idx="12"/>
          </p:nvPr>
        </p:nvSpPr>
        <p:spPr>
          <a:xfrm>
            <a:off x="8610600" y="6356350"/>
            <a:ext cx="2743200" cy="365125"/>
          </a:xfrm>
        </p:spPr>
        <p:txBody>
          <a:bodyPr/>
          <a:lstStyle/>
          <a:p>
            <a:fld id="{0C913308-F349-4B6D-A68A-DD1791B4A57B}" type="slidenum">
              <a:rPr lang="zh-CN" altLang="en-US" smtClean="0"/>
              <a:t>20</a:t>
            </a:fld>
            <a:endParaRPr lang="zh-CN" altLang="en-US" dirty="0"/>
          </a:p>
        </p:txBody>
      </p:sp>
      <p:pic>
        <p:nvPicPr>
          <p:cNvPr id="7" name="Picture 6" descr="A colorful dots on a white background&#10;&#10;Description automatically generated">
            <a:extLst>
              <a:ext uri="{FF2B5EF4-FFF2-40B4-BE49-F238E27FC236}">
                <a16:creationId xmlns:a16="http://schemas.microsoft.com/office/drawing/2014/main" id="{167D84AA-132F-1FC4-EBAE-DA2AC9FC93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09027" y="1075382"/>
            <a:ext cx="5715899" cy="5174394"/>
          </a:xfrm>
          <a:prstGeom prst="rect">
            <a:avLst/>
          </a:prstGeom>
        </p:spPr>
      </p:pic>
    </p:spTree>
    <p:extLst>
      <p:ext uri="{BB962C8B-B14F-4D97-AF65-F5344CB8AC3E}">
        <p14:creationId xmlns:p14="http://schemas.microsoft.com/office/powerpoint/2010/main" val="2778453594"/>
      </p:ext>
    </p:extLst>
  </p:cSld>
  <p:clrMapOvr>
    <a:masterClrMapping/>
  </p:clrMapOvr>
  <mc:AlternateContent xmlns:mc="http://schemas.openxmlformats.org/markup-compatibility/2006" xmlns:p14="http://schemas.microsoft.com/office/powerpoint/2010/main">
    <mc:Choice Requires="p14">
      <p:transition p14:dur="0" advTm="26890"/>
    </mc:Choice>
    <mc:Fallback xmlns="">
      <p:transition advTm="2689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324353" y="637932"/>
            <a:ext cx="11118738" cy="897198"/>
          </a:xfrm>
        </p:spPr>
        <p:txBody>
          <a:bodyPr>
            <a:normAutofit/>
          </a:bodyPr>
          <a:lstStyle/>
          <a:p>
            <a:r>
              <a:rPr lang="en-US" altLang="zh-CN" dirty="0"/>
              <a:t>Countermeasures in </a:t>
            </a:r>
            <a:r>
              <a:rPr lang="en-AU" altLang="zh-CN" dirty="0"/>
              <a:t>Federated Learning</a:t>
            </a:r>
            <a:r>
              <a:rPr lang="en-US" altLang="zh-CN" dirty="0"/>
              <a:t> </a:t>
            </a:r>
            <a:endParaRPr lang="zh-CN" altLang="en-US" dirty="0"/>
          </a:p>
        </p:txBody>
      </p:sp>
      <p:sp>
        <p:nvSpPr>
          <p:cNvPr id="50" name="内容占位符 2"/>
          <p:cNvSpPr>
            <a:spLocks noGrp="1"/>
          </p:cNvSpPr>
          <p:nvPr>
            <p:ph idx="1"/>
          </p:nvPr>
        </p:nvSpPr>
        <p:spPr>
          <a:xfrm>
            <a:off x="380101" y="1839116"/>
            <a:ext cx="5715899" cy="1416596"/>
          </a:xfrm>
        </p:spPr>
        <p:txBody>
          <a:bodyPr>
            <a:normAutofit/>
          </a:bodyPr>
          <a:lstStyle/>
          <a:p>
            <a:pPr marL="0" indent="0">
              <a:buNone/>
            </a:pPr>
            <a:r>
              <a:rPr lang="en-US" altLang="zh-CN" dirty="0">
                <a:solidFill>
                  <a:srgbClr val="FF0000"/>
                </a:solidFill>
              </a:rPr>
              <a:t>Intuition</a:t>
            </a:r>
          </a:p>
          <a:p>
            <a:pPr lvl="1"/>
            <a:r>
              <a:rPr lang="en-US" altLang="zh-CN" dirty="0"/>
              <a:t>The behavior of malicious clients are similar.</a:t>
            </a:r>
          </a:p>
          <a:p>
            <a:endParaRPr lang="en-US" altLang="zh-CN" dirty="0"/>
          </a:p>
          <a:p>
            <a:endParaRPr lang="en-US" altLang="zh-CN" dirty="0"/>
          </a:p>
        </p:txBody>
      </p:sp>
      <p:sp>
        <p:nvSpPr>
          <p:cNvPr id="4" name="灯片编号占位符 3">
            <a:extLst>
              <a:ext uri="{FF2B5EF4-FFF2-40B4-BE49-F238E27FC236}">
                <a16:creationId xmlns:a16="http://schemas.microsoft.com/office/drawing/2014/main" id="{88BBB2FD-7B51-4D50-3871-244F2B8B444E}"/>
              </a:ext>
            </a:extLst>
          </p:cNvPr>
          <p:cNvSpPr>
            <a:spLocks noGrp="1"/>
          </p:cNvSpPr>
          <p:nvPr>
            <p:ph type="sldNum" sz="quarter" idx="12"/>
          </p:nvPr>
        </p:nvSpPr>
        <p:spPr>
          <a:xfrm>
            <a:off x="8610600" y="6356350"/>
            <a:ext cx="2743200" cy="365125"/>
          </a:xfrm>
        </p:spPr>
        <p:txBody>
          <a:bodyPr/>
          <a:lstStyle/>
          <a:p>
            <a:fld id="{0C913308-F349-4B6D-A68A-DD1791B4A57B}" type="slidenum">
              <a:rPr lang="zh-CN" altLang="en-US" smtClean="0"/>
              <a:t>21</a:t>
            </a:fld>
            <a:endParaRPr lang="zh-CN" altLang="en-US" dirty="0"/>
          </a:p>
        </p:txBody>
      </p:sp>
      <p:pic>
        <p:nvPicPr>
          <p:cNvPr id="23" name="Picture 22">
            <a:extLst>
              <a:ext uri="{FF2B5EF4-FFF2-40B4-BE49-F238E27FC236}">
                <a16:creationId xmlns:a16="http://schemas.microsoft.com/office/drawing/2014/main" id="{F5D3826E-6232-A73B-69E3-CFF3D873F7EA}"/>
              </a:ext>
            </a:extLst>
          </p:cNvPr>
          <p:cNvPicPr>
            <a:picLocks noChangeAspect="1"/>
          </p:cNvPicPr>
          <p:nvPr/>
        </p:nvPicPr>
        <p:blipFill>
          <a:blip r:embed="rId3"/>
          <a:stretch>
            <a:fillRect/>
          </a:stretch>
        </p:blipFill>
        <p:spPr>
          <a:xfrm>
            <a:off x="5883722" y="1275863"/>
            <a:ext cx="6308278" cy="4701822"/>
          </a:xfrm>
          <a:prstGeom prst="rect">
            <a:avLst/>
          </a:prstGeom>
        </p:spPr>
      </p:pic>
      <p:sp>
        <p:nvSpPr>
          <p:cNvPr id="25" name="TextBox 24">
            <a:extLst>
              <a:ext uri="{FF2B5EF4-FFF2-40B4-BE49-F238E27FC236}">
                <a16:creationId xmlns:a16="http://schemas.microsoft.com/office/drawing/2014/main" id="{304EA26D-6195-031E-6F2C-AEE12E274DC0}"/>
              </a:ext>
            </a:extLst>
          </p:cNvPr>
          <p:cNvSpPr txBox="1"/>
          <p:nvPr/>
        </p:nvSpPr>
        <p:spPr>
          <a:xfrm>
            <a:off x="6357060" y="4473342"/>
            <a:ext cx="1444028" cy="830997"/>
          </a:xfrm>
          <a:prstGeom prst="rect">
            <a:avLst/>
          </a:prstGeom>
          <a:solidFill>
            <a:schemeClr val="bg1"/>
          </a:solidFill>
          <a:ln>
            <a:solidFill>
              <a:schemeClr val="bg1"/>
            </a:solidFill>
          </a:ln>
        </p:spPr>
        <p:txBody>
          <a:bodyPr wrap="square">
            <a:spAutoFit/>
          </a:bodyPr>
          <a:lstStyle/>
          <a:p>
            <a:r>
              <a:rPr lang="en-US" altLang="zh-CN" sz="2400" dirty="0"/>
              <a:t>Poisoning updates 1</a:t>
            </a:r>
            <a:endParaRPr lang="zh-CN" altLang="en-US" sz="2400" dirty="0"/>
          </a:p>
        </p:txBody>
      </p:sp>
      <p:sp>
        <p:nvSpPr>
          <p:cNvPr id="26" name="TextBox 25">
            <a:extLst>
              <a:ext uri="{FF2B5EF4-FFF2-40B4-BE49-F238E27FC236}">
                <a16:creationId xmlns:a16="http://schemas.microsoft.com/office/drawing/2014/main" id="{0C940E8F-EE30-5D9D-FAF5-94E2A6352DDF}"/>
              </a:ext>
            </a:extLst>
          </p:cNvPr>
          <p:cNvSpPr txBox="1"/>
          <p:nvPr/>
        </p:nvSpPr>
        <p:spPr>
          <a:xfrm>
            <a:off x="8908629" y="2932745"/>
            <a:ext cx="1444028" cy="830997"/>
          </a:xfrm>
          <a:prstGeom prst="rect">
            <a:avLst/>
          </a:prstGeom>
          <a:solidFill>
            <a:schemeClr val="bg1"/>
          </a:solidFill>
          <a:ln>
            <a:solidFill>
              <a:schemeClr val="bg1"/>
            </a:solidFill>
          </a:ln>
        </p:spPr>
        <p:txBody>
          <a:bodyPr wrap="square">
            <a:spAutoFit/>
          </a:bodyPr>
          <a:lstStyle/>
          <a:p>
            <a:r>
              <a:rPr lang="en-US" altLang="zh-CN" sz="2400" dirty="0"/>
              <a:t>Poisoning updates 2</a:t>
            </a:r>
            <a:endParaRPr lang="zh-CN" altLang="en-US" sz="2400" dirty="0"/>
          </a:p>
        </p:txBody>
      </p:sp>
      <p:sp>
        <p:nvSpPr>
          <p:cNvPr id="28" name="TextBox 27">
            <a:extLst>
              <a:ext uri="{FF2B5EF4-FFF2-40B4-BE49-F238E27FC236}">
                <a16:creationId xmlns:a16="http://schemas.microsoft.com/office/drawing/2014/main" id="{35EC6674-EE05-98DD-0FD7-AFA8516AE16E}"/>
              </a:ext>
            </a:extLst>
          </p:cNvPr>
          <p:cNvSpPr txBox="1"/>
          <p:nvPr/>
        </p:nvSpPr>
        <p:spPr>
          <a:xfrm>
            <a:off x="343589" y="6030959"/>
            <a:ext cx="8121401" cy="646331"/>
          </a:xfrm>
          <a:prstGeom prst="rect">
            <a:avLst/>
          </a:prstGeom>
          <a:noFill/>
        </p:spPr>
        <p:txBody>
          <a:bodyPr wrap="square">
            <a:spAutoFit/>
          </a:bodyPr>
          <a:lstStyle/>
          <a:p>
            <a:r>
              <a:rPr lang="en-US" altLang="zh-CN" b="0" i="0" dirty="0">
                <a:solidFill>
                  <a:srgbClr val="222222"/>
                </a:solidFill>
                <a:effectLst/>
                <a:latin typeface="Arial" panose="020B0604020202020204" pitchFamily="34" charset="0"/>
              </a:rPr>
              <a:t>Fung, C., Yoon, C. J., &amp; </a:t>
            </a:r>
            <a:r>
              <a:rPr lang="en-US" altLang="zh-CN" b="0" i="0" dirty="0" err="1">
                <a:solidFill>
                  <a:srgbClr val="222222"/>
                </a:solidFill>
                <a:effectLst/>
                <a:latin typeface="Arial" panose="020B0604020202020204" pitchFamily="34" charset="0"/>
              </a:rPr>
              <a:t>Beschastnikh</a:t>
            </a:r>
            <a:r>
              <a:rPr lang="en-US" altLang="zh-CN" b="0" i="0" dirty="0">
                <a:solidFill>
                  <a:srgbClr val="222222"/>
                </a:solidFill>
                <a:effectLst/>
                <a:latin typeface="Arial" panose="020B0604020202020204" pitchFamily="34" charset="0"/>
              </a:rPr>
              <a:t>, I. (2018). Mitigating sybils in federated learning poisoning. </a:t>
            </a:r>
            <a:r>
              <a:rPr lang="en-US" altLang="zh-CN" b="0" i="1" dirty="0" err="1">
                <a:solidFill>
                  <a:srgbClr val="222222"/>
                </a:solidFill>
                <a:effectLst/>
                <a:latin typeface="Arial" panose="020B0604020202020204" pitchFamily="34" charset="0"/>
              </a:rPr>
              <a:t>arXiv</a:t>
            </a:r>
            <a:r>
              <a:rPr lang="en-US" altLang="zh-CN" b="0" i="1" dirty="0">
                <a:solidFill>
                  <a:srgbClr val="222222"/>
                </a:solidFill>
                <a:effectLst/>
                <a:latin typeface="Arial" panose="020B0604020202020204" pitchFamily="34" charset="0"/>
              </a:rPr>
              <a:t> preprint arXiv:1808.04866</a:t>
            </a:r>
            <a:r>
              <a:rPr lang="en-US" altLang="zh-CN" b="0" i="0" dirty="0">
                <a:solidFill>
                  <a:srgbClr val="222222"/>
                </a:solidFill>
                <a:effectLst/>
                <a:latin typeface="Arial" panose="020B0604020202020204" pitchFamily="34" charset="0"/>
              </a:rPr>
              <a:t>.</a:t>
            </a:r>
            <a:endParaRPr lang="zh-CN" altLang="en-US" dirty="0"/>
          </a:p>
        </p:txBody>
      </p:sp>
      <p:sp>
        <p:nvSpPr>
          <p:cNvPr id="30" name="TextBox 29">
            <a:extLst>
              <a:ext uri="{FF2B5EF4-FFF2-40B4-BE49-F238E27FC236}">
                <a16:creationId xmlns:a16="http://schemas.microsoft.com/office/drawing/2014/main" id="{96D74C1F-EE18-A31C-C569-537B31FFCEBE}"/>
              </a:ext>
            </a:extLst>
          </p:cNvPr>
          <p:cNvSpPr txBox="1"/>
          <p:nvPr/>
        </p:nvSpPr>
        <p:spPr>
          <a:xfrm>
            <a:off x="741608" y="3347342"/>
            <a:ext cx="5317880" cy="1754326"/>
          </a:xfrm>
          <a:prstGeom prst="rect">
            <a:avLst/>
          </a:prstGeom>
          <a:noFill/>
        </p:spPr>
        <p:txBody>
          <a:bodyPr wrap="square">
            <a:spAutoFit/>
          </a:bodyPr>
          <a:lstStyle/>
          <a:p>
            <a:r>
              <a:rPr lang="zh-CN" altLang="en-US" dirty="0"/>
              <a:t>Dashed lines are gradient updates from three clients (2 sybils, 1 honest). Solid lines are aggregated update vectors. The angle between the aggregated update vectors of sybil clients (θ) is smaller than between those of the honest client and a </a:t>
            </a:r>
            <a:r>
              <a:rPr lang="en-US" altLang="zh-CN" dirty="0"/>
              <a:t>attacker</a:t>
            </a:r>
            <a:r>
              <a:rPr lang="zh-CN" altLang="en-US" dirty="0"/>
              <a:t> (γ). Cosine similarity would reflect this similarity.</a:t>
            </a:r>
          </a:p>
        </p:txBody>
      </p:sp>
    </p:spTree>
    <p:extLst>
      <p:ext uri="{BB962C8B-B14F-4D97-AF65-F5344CB8AC3E}">
        <p14:creationId xmlns:p14="http://schemas.microsoft.com/office/powerpoint/2010/main" val="2789089899"/>
      </p:ext>
    </p:extLst>
  </p:cSld>
  <p:clrMapOvr>
    <a:masterClrMapping/>
  </p:clrMapOvr>
  <mc:AlternateContent xmlns:mc="http://schemas.openxmlformats.org/markup-compatibility/2006" xmlns:p14="http://schemas.microsoft.com/office/powerpoint/2010/main">
    <mc:Choice Requires="p14">
      <p:transition p14:dur="0" advTm="26890"/>
    </mc:Choice>
    <mc:Fallback xmlns="">
      <p:transition advTm="2689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36631" y="956930"/>
            <a:ext cx="11118738" cy="897198"/>
          </a:xfrm>
        </p:spPr>
        <p:txBody>
          <a:bodyPr>
            <a:normAutofit/>
          </a:bodyPr>
          <a:lstStyle/>
          <a:p>
            <a:r>
              <a:rPr lang="en-US" altLang="zh-CN" dirty="0"/>
              <a:t>Research Directions in Poisoning Attacks</a:t>
            </a:r>
            <a:endParaRPr lang="zh-CN" altLang="en-US" dirty="0"/>
          </a:p>
        </p:txBody>
      </p:sp>
      <p:sp>
        <p:nvSpPr>
          <p:cNvPr id="50" name="内容占位符 2"/>
          <p:cNvSpPr>
            <a:spLocks noGrp="1"/>
          </p:cNvSpPr>
          <p:nvPr>
            <p:ph idx="1"/>
          </p:nvPr>
        </p:nvSpPr>
        <p:spPr>
          <a:xfrm>
            <a:off x="493680" y="2341158"/>
            <a:ext cx="10860120" cy="3772564"/>
          </a:xfrm>
        </p:spPr>
        <p:txBody>
          <a:bodyPr>
            <a:normAutofit/>
          </a:bodyPr>
          <a:lstStyle/>
          <a:p>
            <a:r>
              <a:rPr lang="en-US" altLang="zh-CN" dirty="0"/>
              <a:t>Perspective of Attacks:</a:t>
            </a:r>
          </a:p>
          <a:p>
            <a:pPr lvl="1"/>
            <a:r>
              <a:rPr lang="en-US" altLang="zh-CN" dirty="0"/>
              <a:t>Stealth and robustness of backdoor poisoning attacks.</a:t>
            </a:r>
          </a:p>
          <a:p>
            <a:pPr lvl="1"/>
            <a:r>
              <a:rPr lang="en-US" altLang="zh-CN" dirty="0"/>
              <a:t>Trade-off between efficiency and stealth of poisoning federated learning.</a:t>
            </a:r>
          </a:p>
          <a:p>
            <a:pPr lvl="1"/>
            <a:r>
              <a:rPr lang="en-US" altLang="zh-CN" dirty="0"/>
              <a:t>Expanding poisoning attack goals.</a:t>
            </a:r>
          </a:p>
          <a:p>
            <a:r>
              <a:rPr lang="en-US" altLang="zh-CN" dirty="0"/>
              <a:t>Perspective of Countermeasures:</a:t>
            </a:r>
          </a:p>
          <a:p>
            <a:pPr lvl="1"/>
            <a:r>
              <a:rPr lang="en-US" altLang="zh-CN" dirty="0"/>
              <a:t>Defending against intricate unknown attack methods.</a:t>
            </a:r>
          </a:p>
          <a:p>
            <a:pPr lvl="1"/>
            <a:r>
              <a:rPr lang="en-US" altLang="zh-CN" dirty="0"/>
              <a:t>Metrics of detecting poisoning attacks.</a:t>
            </a:r>
          </a:p>
        </p:txBody>
      </p:sp>
      <p:sp>
        <p:nvSpPr>
          <p:cNvPr id="4" name="灯片编号占位符 3">
            <a:extLst>
              <a:ext uri="{FF2B5EF4-FFF2-40B4-BE49-F238E27FC236}">
                <a16:creationId xmlns:a16="http://schemas.microsoft.com/office/drawing/2014/main" id="{88BBB2FD-7B51-4D50-3871-244F2B8B444E}"/>
              </a:ext>
            </a:extLst>
          </p:cNvPr>
          <p:cNvSpPr>
            <a:spLocks noGrp="1"/>
          </p:cNvSpPr>
          <p:nvPr>
            <p:ph type="sldNum" sz="quarter" idx="12"/>
          </p:nvPr>
        </p:nvSpPr>
        <p:spPr>
          <a:xfrm>
            <a:off x="8610600" y="6356350"/>
            <a:ext cx="2743200" cy="365125"/>
          </a:xfrm>
        </p:spPr>
        <p:txBody>
          <a:bodyPr/>
          <a:lstStyle/>
          <a:p>
            <a:fld id="{0C913308-F349-4B6D-A68A-DD1791B4A57B}" type="slidenum">
              <a:rPr lang="zh-CN" altLang="en-US" smtClean="0"/>
              <a:t>22</a:t>
            </a:fld>
            <a:endParaRPr lang="zh-CN" altLang="en-US" dirty="0"/>
          </a:p>
        </p:txBody>
      </p:sp>
    </p:spTree>
    <p:extLst>
      <p:ext uri="{BB962C8B-B14F-4D97-AF65-F5344CB8AC3E}">
        <p14:creationId xmlns:p14="http://schemas.microsoft.com/office/powerpoint/2010/main" val="179367929"/>
      </p:ext>
    </p:extLst>
  </p:cSld>
  <p:clrMapOvr>
    <a:masterClrMapping/>
  </p:clrMapOvr>
  <mc:AlternateContent xmlns:mc="http://schemas.openxmlformats.org/markup-compatibility/2006" xmlns:p14="http://schemas.microsoft.com/office/powerpoint/2010/main">
    <mc:Choice Requires="p14">
      <p:transition p14:dur="0" advTm="26890"/>
    </mc:Choice>
    <mc:Fallback xmlns="">
      <p:transition advTm="2689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343589" y="0"/>
            <a:ext cx="11118738" cy="897198"/>
          </a:xfrm>
        </p:spPr>
        <p:txBody>
          <a:bodyPr>
            <a:normAutofit/>
          </a:bodyPr>
          <a:lstStyle/>
          <a:p>
            <a:r>
              <a:rPr lang="en-US" altLang="zh-CN" dirty="0"/>
              <a:t>Reading List</a:t>
            </a:r>
            <a:endParaRPr lang="zh-CN" altLang="en-US" dirty="0"/>
          </a:p>
        </p:txBody>
      </p:sp>
      <p:sp>
        <p:nvSpPr>
          <p:cNvPr id="50" name="内容占位符 2"/>
          <p:cNvSpPr>
            <a:spLocks noGrp="1"/>
          </p:cNvSpPr>
          <p:nvPr>
            <p:ph idx="1"/>
          </p:nvPr>
        </p:nvSpPr>
        <p:spPr>
          <a:xfrm>
            <a:off x="343589" y="1001455"/>
            <a:ext cx="10860120" cy="5507987"/>
          </a:xfrm>
        </p:spPr>
        <p:txBody>
          <a:bodyPr>
            <a:normAutofit fontScale="70000" lnSpcReduction="20000"/>
          </a:bodyPr>
          <a:lstStyle/>
          <a:p>
            <a:pPr marL="0" indent="0">
              <a:buNone/>
            </a:pPr>
            <a:r>
              <a:rPr lang="en-US" altLang="zh-CN" dirty="0"/>
              <a:t>Papers:</a:t>
            </a:r>
          </a:p>
          <a:p>
            <a:pPr lvl="1"/>
            <a:r>
              <a:rPr lang="en-US" altLang="zh-CN" sz="2600" dirty="0"/>
              <a:t>Tian, Z., Cui, L., Liang, J., &amp; Yu, S. (2022). A comprehensive survey on poisoning attacks and countermeasures in machine learning. ACM Computing Surveys, 55(8), 1-35.</a:t>
            </a:r>
          </a:p>
          <a:p>
            <a:pPr lvl="1"/>
            <a:r>
              <a:rPr lang="en-US" altLang="zh-CN" sz="2600" dirty="0" err="1"/>
              <a:t>Demontis</a:t>
            </a:r>
            <a:r>
              <a:rPr lang="en-US" altLang="zh-CN" sz="2600" dirty="0"/>
              <a:t>, A., </a:t>
            </a:r>
            <a:r>
              <a:rPr lang="en-US" altLang="zh-CN" sz="2600" dirty="0" err="1"/>
              <a:t>Melis</a:t>
            </a:r>
            <a:r>
              <a:rPr lang="en-US" altLang="zh-CN" sz="2600" dirty="0"/>
              <a:t>, M., </a:t>
            </a:r>
            <a:r>
              <a:rPr lang="en-US" altLang="zh-CN" sz="2600" dirty="0" err="1"/>
              <a:t>Pintor</a:t>
            </a:r>
            <a:r>
              <a:rPr lang="en-US" altLang="zh-CN" sz="2600" dirty="0"/>
              <a:t>, M., Jagielski, M., </a:t>
            </a:r>
            <a:r>
              <a:rPr lang="en-US" altLang="zh-CN" sz="2600" dirty="0" err="1"/>
              <a:t>Biggio</a:t>
            </a:r>
            <a:r>
              <a:rPr lang="en-US" altLang="zh-CN" sz="2600" dirty="0"/>
              <a:t>, B., </a:t>
            </a:r>
            <a:r>
              <a:rPr lang="en-US" altLang="zh-CN" sz="2600" dirty="0" err="1"/>
              <a:t>Oprea</a:t>
            </a:r>
            <a:r>
              <a:rPr lang="en-US" altLang="zh-CN" sz="2600" dirty="0"/>
              <a:t>, A., ... &amp; </a:t>
            </a:r>
            <a:r>
              <a:rPr lang="en-US" altLang="zh-CN" sz="2600" dirty="0" err="1"/>
              <a:t>Roli</a:t>
            </a:r>
            <a:r>
              <a:rPr lang="en-US" altLang="zh-CN" sz="2600" dirty="0"/>
              <a:t>, F. (2019). Why do adversarial attacks transfer? explaining transferability of evasion and poisoning attacks. In 28th USENIX security symposium (USENIX security 19) (pp. 321-338).</a:t>
            </a:r>
          </a:p>
          <a:p>
            <a:pPr lvl="1"/>
            <a:r>
              <a:rPr lang="en-US" altLang="zh-CN" sz="2600" dirty="0"/>
              <a:t>Fang, M., Cao, X., Jia, J., &amp; Gong, N. (2020). Local model poisoning attacks to {Byzantine-Robust} federated learning. In 29th USENIX security symposium (USENIX Security 20) (pp. 1605-1622).</a:t>
            </a:r>
          </a:p>
          <a:p>
            <a:pPr lvl="1"/>
            <a:r>
              <a:rPr lang="en-US" altLang="zh-CN" sz="2600" dirty="0" err="1"/>
              <a:t>Biggio</a:t>
            </a:r>
            <a:r>
              <a:rPr lang="en-US" altLang="zh-CN" sz="2600" dirty="0"/>
              <a:t>, B., Nelson, B., &amp; </a:t>
            </a:r>
            <a:r>
              <a:rPr lang="en-US" altLang="zh-CN" sz="2600" dirty="0" err="1"/>
              <a:t>Laskov</a:t>
            </a:r>
            <a:r>
              <a:rPr lang="en-US" altLang="zh-CN" sz="2600" dirty="0"/>
              <a:t>, P. (2012). Poisoning attacks against support vector machines. </a:t>
            </a:r>
            <a:r>
              <a:rPr lang="en-US" altLang="zh-CN" sz="2600" dirty="0" err="1"/>
              <a:t>arXiv</a:t>
            </a:r>
            <a:r>
              <a:rPr lang="en-US" altLang="zh-CN" sz="2600" dirty="0"/>
              <a:t> preprint arXiv:1206.6389.</a:t>
            </a:r>
          </a:p>
          <a:p>
            <a:pPr lvl="1"/>
            <a:r>
              <a:rPr lang="en-US" altLang="zh-CN" sz="2600" dirty="0"/>
              <a:t>Saha, A., Subramanya, A., &amp; </a:t>
            </a:r>
            <a:r>
              <a:rPr lang="en-US" altLang="zh-CN" sz="2600" dirty="0" err="1"/>
              <a:t>Pirsiavash</a:t>
            </a:r>
            <a:r>
              <a:rPr lang="en-US" altLang="zh-CN" sz="2600" dirty="0"/>
              <a:t>, H. (2020, April). Hidden trigger backdoor attacks. In Proceedings of the AAAI conference on artificial intelligence (Vol. 34, No. 07, pp. 11957-11965).</a:t>
            </a:r>
          </a:p>
          <a:p>
            <a:pPr lvl="1"/>
            <a:r>
              <a:rPr lang="en-US" altLang="zh-CN" sz="2600" dirty="0"/>
              <a:t>Wang, B., Yao, Y., Shan, S., Li, H., Viswanath, B., Zheng, H., &amp; Zhao, B. Y. (2019, May). Neural cleanse: Identifying and mitigating backdoor attacks in neural networks. In 2019 IEEE Symposium on Security and Privacy (SP) (pp. 707-723). IEEE.</a:t>
            </a:r>
          </a:p>
          <a:p>
            <a:pPr lvl="1"/>
            <a:r>
              <a:rPr lang="en-US" altLang="zh-CN" sz="2600" dirty="0"/>
              <a:t>Chen, X., Liu, C., Li, B., Lu, K., &amp; Song, D. (2017). Targeted backdoor attacks on deep learning systems using data poisoning. </a:t>
            </a:r>
            <a:r>
              <a:rPr lang="en-US" altLang="zh-CN" sz="2600" dirty="0" err="1"/>
              <a:t>arXiv</a:t>
            </a:r>
            <a:r>
              <a:rPr lang="en-US" altLang="zh-CN" sz="2600" dirty="0"/>
              <a:t> preprint arXiv:1712.05526.</a:t>
            </a:r>
          </a:p>
          <a:p>
            <a:pPr lvl="1"/>
            <a:r>
              <a:rPr lang="en-US" altLang="zh-CN" sz="2600" dirty="0"/>
              <a:t>Chen, B., Carvalho, W., Baracaldo, N., Ludwig, H., Edwards, B., Lee, T., ... &amp; Srivastava, B. (2018). Detecting backdoor attacks on deep neural networks by activation clustering. </a:t>
            </a:r>
            <a:r>
              <a:rPr lang="en-US" altLang="zh-CN" sz="2600" dirty="0" err="1"/>
              <a:t>arXiv</a:t>
            </a:r>
            <a:r>
              <a:rPr lang="en-US" altLang="zh-CN" sz="2600" dirty="0"/>
              <a:t> preprint arXiv:1811.03728.</a:t>
            </a:r>
          </a:p>
          <a:p>
            <a:pPr lvl="1"/>
            <a:r>
              <a:rPr lang="en-US" altLang="zh-CN" sz="2600" dirty="0"/>
              <a:t>Li, Y., Jiang, Y., Li, Z., &amp; Xia, S. T. (2022). Backdoor learning: A survey. IEEE Transactions on Neural Networks and Learning Systems.</a:t>
            </a:r>
          </a:p>
          <a:p>
            <a:pPr lvl="1"/>
            <a:r>
              <a:rPr lang="en-US" altLang="zh-CN" sz="2600" dirty="0"/>
              <a:t>Li, S., Xue, M., Zhao, B. Z. H., Zhu, H., &amp; Zhang, X. (2020). Invisible backdoor attacks on deep neural networks via steganography and regularization. IEEE Transactions on Dependable and Secure Computing, 18(5), 2088-2105</a:t>
            </a:r>
          </a:p>
        </p:txBody>
      </p:sp>
      <p:sp>
        <p:nvSpPr>
          <p:cNvPr id="4" name="灯片编号占位符 3">
            <a:extLst>
              <a:ext uri="{FF2B5EF4-FFF2-40B4-BE49-F238E27FC236}">
                <a16:creationId xmlns:a16="http://schemas.microsoft.com/office/drawing/2014/main" id="{88BBB2FD-7B51-4D50-3871-244F2B8B444E}"/>
              </a:ext>
            </a:extLst>
          </p:cNvPr>
          <p:cNvSpPr>
            <a:spLocks noGrp="1"/>
          </p:cNvSpPr>
          <p:nvPr>
            <p:ph type="sldNum" sz="quarter" idx="12"/>
          </p:nvPr>
        </p:nvSpPr>
        <p:spPr>
          <a:xfrm>
            <a:off x="8610600" y="6356350"/>
            <a:ext cx="2743200" cy="365125"/>
          </a:xfrm>
        </p:spPr>
        <p:txBody>
          <a:bodyPr/>
          <a:lstStyle/>
          <a:p>
            <a:fld id="{0C913308-F349-4B6D-A68A-DD1791B4A57B}" type="slidenum">
              <a:rPr lang="zh-CN" altLang="en-US" smtClean="0"/>
              <a:t>23</a:t>
            </a:fld>
            <a:endParaRPr lang="zh-CN" altLang="en-US" dirty="0"/>
          </a:p>
        </p:txBody>
      </p:sp>
    </p:spTree>
    <p:extLst>
      <p:ext uri="{BB962C8B-B14F-4D97-AF65-F5344CB8AC3E}">
        <p14:creationId xmlns:p14="http://schemas.microsoft.com/office/powerpoint/2010/main" val="2191833490"/>
      </p:ext>
    </p:extLst>
  </p:cSld>
  <p:clrMapOvr>
    <a:masterClrMapping/>
  </p:clrMapOvr>
  <mc:AlternateContent xmlns:mc="http://schemas.openxmlformats.org/markup-compatibility/2006" xmlns:p14="http://schemas.microsoft.com/office/powerpoint/2010/main">
    <mc:Choice Requires="p14">
      <p:transition p14:dur="0" advTm="26890"/>
    </mc:Choice>
    <mc:Fallback xmlns="">
      <p:transition advTm="26890"/>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COMMONDATA" val="eyJoZGlkIjoiOThlMmM0ZTE5N2Q4OGNiMzc0Y2U0ZDRhY2I4OWUzZDQifQ=="/>
</p:tagLst>
</file>

<file path=ppt/theme/theme1.xml><?xml version="1.0" encoding="utf-8"?>
<a:theme xmlns:a="http://schemas.openxmlformats.org/drawingml/2006/main" name="CSPtemplat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Banded_Design_Teal">
      <a:dk1>
        <a:srgbClr val="363D3D"/>
      </a:dk1>
      <a:lt1>
        <a:sysClr val="window" lastClr="FFFFFF"/>
      </a:lt1>
      <a:dk2>
        <a:srgbClr val="000000"/>
      </a:dk2>
      <a:lt2>
        <a:srgbClr val="E5E8E8"/>
      </a:lt2>
      <a:accent1>
        <a:srgbClr val="3AAFB2"/>
      </a:accent1>
      <a:accent2>
        <a:srgbClr val="6ABD45"/>
      </a:accent2>
      <a:accent3>
        <a:srgbClr val="EBCA21"/>
      </a:accent3>
      <a:accent4>
        <a:srgbClr val="EB8D21"/>
      </a:accent4>
      <a:accent5>
        <a:srgbClr val="EB5638"/>
      </a:accent5>
      <a:accent6>
        <a:srgbClr val="5172B1"/>
      </a:accent6>
      <a:hlink>
        <a:srgbClr val="3A9CDB"/>
      </a:hlink>
      <a:folHlink>
        <a:srgbClr val="5172B1"/>
      </a:folHlink>
    </a:clrScheme>
    <a:fontScheme name="Calibri">
      <a:majorFont>
        <a:latin typeface="Calibri"/>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Banded_Design_Teal">
      <a:dk1>
        <a:srgbClr val="363D3D"/>
      </a:dk1>
      <a:lt1>
        <a:sysClr val="window" lastClr="FFFFFF"/>
      </a:lt1>
      <a:dk2>
        <a:srgbClr val="000000"/>
      </a:dk2>
      <a:lt2>
        <a:srgbClr val="E5E8E8"/>
      </a:lt2>
      <a:accent1>
        <a:srgbClr val="3AAFB2"/>
      </a:accent1>
      <a:accent2>
        <a:srgbClr val="6ABD45"/>
      </a:accent2>
      <a:accent3>
        <a:srgbClr val="EBCA21"/>
      </a:accent3>
      <a:accent4>
        <a:srgbClr val="EB8D21"/>
      </a:accent4>
      <a:accent5>
        <a:srgbClr val="EB5638"/>
      </a:accent5>
      <a:accent6>
        <a:srgbClr val="5172B1"/>
      </a:accent6>
      <a:hlink>
        <a:srgbClr val="3A9CDB"/>
      </a:hlink>
      <a:folHlink>
        <a:srgbClr val="5172B1"/>
      </a:folHlink>
    </a:clrScheme>
    <a:fontScheme name="Calibri">
      <a:majorFont>
        <a:latin typeface="Calibri"/>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CSPtemplate</Template>
  <TotalTime>4828</TotalTime>
  <Words>3391</Words>
  <Application>Microsoft Office PowerPoint</Application>
  <PresentationFormat>Widescreen</PresentationFormat>
  <Paragraphs>253</Paragraphs>
  <Slides>23</Slides>
  <Notes>19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23</vt:i4>
      </vt:variant>
    </vt:vector>
  </HeadingPairs>
  <TitlesOfParts>
    <vt:vector size="28" baseType="lpstr">
      <vt:lpstr>Arial</vt:lpstr>
      <vt:lpstr>Calibri</vt:lpstr>
      <vt:lpstr>Calibri Light</vt:lpstr>
      <vt:lpstr>Times New Roman</vt:lpstr>
      <vt:lpstr>CSPtemplate</vt:lpstr>
      <vt:lpstr>41183 PRIVACY PRESERVING</vt:lpstr>
      <vt:lpstr>Outline</vt:lpstr>
      <vt:lpstr>Poisoning attacks background</vt:lpstr>
      <vt:lpstr>The environment of deep learning</vt:lpstr>
      <vt:lpstr>Purpose of poisoning attack</vt:lpstr>
      <vt:lpstr>Target of Poisoning Attacks</vt:lpstr>
      <vt:lpstr>PowerPoint Presentation</vt:lpstr>
      <vt:lpstr>PowerPoint Presentation</vt:lpstr>
      <vt:lpstr>PowerPoint Presentation</vt:lpstr>
      <vt:lpstr>Poisoning attacks in federated learning </vt:lpstr>
      <vt:lpstr>Poisoning attacks techniques</vt:lpstr>
      <vt:lpstr>Label Manipulation</vt:lpstr>
      <vt:lpstr>Data Manipulation</vt:lpstr>
      <vt:lpstr>Data Manipulation</vt:lpstr>
      <vt:lpstr>Optimization-Based Data Manipulation</vt:lpstr>
      <vt:lpstr>Optimization-Based Data Manipulation</vt:lpstr>
      <vt:lpstr>Training-Based Data Manipulation</vt:lpstr>
      <vt:lpstr>Training-Based Data Manipulation</vt:lpstr>
      <vt:lpstr>Countermeasures against poisoning attacks</vt:lpstr>
      <vt:lpstr>Countermeasures in Deep Learning </vt:lpstr>
      <vt:lpstr>Countermeasures in Federated Learning </vt:lpstr>
      <vt:lpstr>Research Directions in Poisoning Attacks</vt:lpstr>
      <vt:lpstr>Reading List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Differential privacy and its Applications</dc:title>
  <dc:creator>tianqing zhu</dc:creator>
  <cp:lastModifiedBy>Shui Yu</cp:lastModifiedBy>
  <cp:revision>184</cp:revision>
  <dcterms:created xsi:type="dcterms:W3CDTF">2017-06-08T01:46:00Z</dcterms:created>
  <dcterms:modified xsi:type="dcterms:W3CDTF">2023-10-06T05:13:08Z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nternalTags">
    <vt:lpwstr/>
  </property>
  <property fmtid="{D5CDD505-2E9C-101B-9397-08002B2CF9AE}" pid="3" name="ContentTypeId">
    <vt:lpwstr>0x010100AA3F7D94069FF64A86F7DFF56D60E3BE</vt:lpwstr>
  </property>
  <property fmtid="{D5CDD505-2E9C-101B-9397-08002B2CF9AE}" pid="4" name="FeatureTags">
    <vt:lpwstr/>
  </property>
  <property fmtid="{D5CDD505-2E9C-101B-9397-08002B2CF9AE}" pid="5" name="LocalizationTags">
    <vt:lpwstr/>
  </property>
  <property fmtid="{D5CDD505-2E9C-101B-9397-08002B2CF9AE}" pid="6" name="ScenarioTags">
    <vt:lpwstr/>
  </property>
  <property fmtid="{D5CDD505-2E9C-101B-9397-08002B2CF9AE}" pid="7" name="CampaignTags">
    <vt:lpwstr/>
  </property>
  <property fmtid="{D5CDD505-2E9C-101B-9397-08002B2CF9AE}" pid="8" name="ICV">
    <vt:lpwstr>A2B2342914834625B17D59231C47CF8A</vt:lpwstr>
  </property>
  <property fmtid="{D5CDD505-2E9C-101B-9397-08002B2CF9AE}" pid="9" name="KSOProductBuildVer">
    <vt:lpwstr>2052-11.1.0.12313</vt:lpwstr>
  </property>
  <property fmtid="{D5CDD505-2E9C-101B-9397-08002B2CF9AE}" pid="10" name="MSIP_Label_51a6c3db-1667-4f49-995a-8b9973972958_Enabled">
    <vt:lpwstr>true</vt:lpwstr>
  </property>
  <property fmtid="{D5CDD505-2E9C-101B-9397-08002B2CF9AE}" pid="11" name="MSIP_Label_51a6c3db-1667-4f49-995a-8b9973972958_SetDate">
    <vt:lpwstr>2023-08-08T05:02:05Z</vt:lpwstr>
  </property>
  <property fmtid="{D5CDD505-2E9C-101B-9397-08002B2CF9AE}" pid="12" name="MSIP_Label_51a6c3db-1667-4f49-995a-8b9973972958_Method">
    <vt:lpwstr>Standard</vt:lpwstr>
  </property>
  <property fmtid="{D5CDD505-2E9C-101B-9397-08002B2CF9AE}" pid="13" name="MSIP_Label_51a6c3db-1667-4f49-995a-8b9973972958_Name">
    <vt:lpwstr>UTS-Internal</vt:lpwstr>
  </property>
  <property fmtid="{D5CDD505-2E9C-101B-9397-08002B2CF9AE}" pid="14" name="MSIP_Label_51a6c3db-1667-4f49-995a-8b9973972958_SiteId">
    <vt:lpwstr>e8911c26-cf9f-4a9c-878e-527807be8791</vt:lpwstr>
  </property>
  <property fmtid="{D5CDD505-2E9C-101B-9397-08002B2CF9AE}" pid="15" name="MSIP_Label_51a6c3db-1667-4f49-995a-8b9973972958_ActionId">
    <vt:lpwstr>2d7fac0b-517e-4500-a951-b25c185f4be2</vt:lpwstr>
  </property>
  <property fmtid="{D5CDD505-2E9C-101B-9397-08002B2CF9AE}" pid="16" name="MSIP_Label_51a6c3db-1667-4f49-995a-8b9973972958_ContentBits">
    <vt:lpwstr>0</vt:lpwstr>
  </property>
</Properties>
</file>