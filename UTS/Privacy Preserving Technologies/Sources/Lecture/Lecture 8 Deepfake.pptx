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4"/>
  </p:sldMasterIdLst>
  <p:notesMasterIdLst>
    <p:notesMasterId r:id="rId34"/>
  </p:notesMasterIdLst>
  <p:handoutMasterIdLst>
    <p:handoutMasterId r:id="rId35"/>
  </p:handoutMasterIdLst>
  <p:sldIdLst>
    <p:sldId id="453" r:id="rId5"/>
    <p:sldId id="425" r:id="rId6"/>
    <p:sldId id="383" r:id="rId7"/>
    <p:sldId id="422" r:id="rId8"/>
    <p:sldId id="387" r:id="rId9"/>
    <p:sldId id="468" r:id="rId10"/>
    <p:sldId id="470" r:id="rId11"/>
    <p:sldId id="476" r:id="rId12"/>
    <p:sldId id="469" r:id="rId13"/>
    <p:sldId id="473" r:id="rId14"/>
    <p:sldId id="423" r:id="rId15"/>
    <p:sldId id="482" r:id="rId16"/>
    <p:sldId id="474" r:id="rId17"/>
    <p:sldId id="449" r:id="rId18"/>
    <p:sldId id="478" r:id="rId19"/>
    <p:sldId id="481" r:id="rId20"/>
    <p:sldId id="480" r:id="rId21"/>
    <p:sldId id="483" r:id="rId22"/>
    <p:sldId id="486" r:id="rId23"/>
    <p:sldId id="487" r:id="rId24"/>
    <p:sldId id="489" r:id="rId25"/>
    <p:sldId id="490" r:id="rId26"/>
    <p:sldId id="491" r:id="rId27"/>
    <p:sldId id="493" r:id="rId28"/>
    <p:sldId id="464" r:id="rId29"/>
    <p:sldId id="454" r:id="rId30"/>
    <p:sldId id="494" r:id="rId31"/>
    <p:sldId id="455" r:id="rId32"/>
    <p:sldId id="475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26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9E8BED-89BD-4B28-A60F-8E8ECA0D9B36}" v="1" dt="2025-09-15T02:03:26.333"/>
  </p1510:revLst>
</p1510:revInfo>
</file>

<file path=ppt/tableStyles.xml><?xml version="1.0" encoding="utf-8"?>
<a:tblStyleLst xmlns:a="http://schemas.openxmlformats.org/drawingml/2006/main" def="{B301B821-A1FF-4177-AEE7-76D212191A0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59" autoAdjust="0"/>
    <p:restoredTop sz="95346" autoAdjust="0"/>
  </p:normalViewPr>
  <p:slideViewPr>
    <p:cSldViewPr snapToGrid="0">
      <p:cViewPr varScale="1">
        <p:scale>
          <a:sx n="118" d="100"/>
          <a:sy n="118" d="100"/>
        </p:scale>
        <p:origin x="360" y="108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3" d="100"/>
          <a:sy n="63" d="100"/>
        </p:scale>
        <p:origin x="198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ableStyles" Target="tableStyles.xml"/><Relationship Id="rId21" Type="http://schemas.openxmlformats.org/officeDocument/2006/relationships/slide" Target="slides/slide17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ui Yu" userId="c938b994-a30e-4cc7-a189-187a9b224868" providerId="ADAL" clId="{779E8BED-89BD-4B28-A60F-8E8ECA0D9B36}"/>
    <pc:docChg chg="addSld modSld">
      <pc:chgData name="Shui Yu" userId="c938b994-a30e-4cc7-a189-187a9b224868" providerId="ADAL" clId="{779E8BED-89BD-4B28-A60F-8E8ECA0D9B36}" dt="2025-09-15T02:43:35.269" v="60" actId="20577"/>
      <pc:docMkLst>
        <pc:docMk/>
      </pc:docMkLst>
      <pc:sldChg chg="modSp add mod">
        <pc:chgData name="Shui Yu" userId="c938b994-a30e-4cc7-a189-187a9b224868" providerId="ADAL" clId="{779E8BED-89BD-4B28-A60F-8E8ECA0D9B36}" dt="2025-09-15T02:43:35.269" v="60" actId="20577"/>
        <pc:sldMkLst>
          <pc:docMk/>
          <pc:sldMk cId="4094036203" sldId="454"/>
        </pc:sldMkLst>
        <pc:spChg chg="mod">
          <ac:chgData name="Shui Yu" userId="c938b994-a30e-4cc7-a189-187a9b224868" providerId="ADAL" clId="{779E8BED-89BD-4B28-A60F-8E8ECA0D9B36}" dt="2025-09-15T02:43:35.269" v="60" actId="20577"/>
          <ac:spMkLst>
            <pc:docMk/>
            <pc:sldMk cId="4094036203" sldId="454"/>
            <ac:spMk id="2" creationId="{9E90193F-9F76-A160-6DA7-C5928B5F1670}"/>
          </ac:spMkLst>
        </pc:spChg>
      </pc:sldChg>
      <pc:sldChg chg="modSp add mod">
        <pc:chgData name="Shui Yu" userId="c938b994-a30e-4cc7-a189-187a9b224868" providerId="ADAL" clId="{779E8BED-89BD-4B28-A60F-8E8ECA0D9B36}" dt="2025-09-15T02:04:18.289" v="33" actId="6549"/>
        <pc:sldMkLst>
          <pc:docMk/>
          <pc:sldMk cId="3886607364" sldId="455"/>
        </pc:sldMkLst>
        <pc:spChg chg="mod">
          <ac:chgData name="Shui Yu" userId="c938b994-a30e-4cc7-a189-187a9b224868" providerId="ADAL" clId="{779E8BED-89BD-4B28-A60F-8E8ECA0D9B36}" dt="2025-09-15T02:04:18.289" v="33" actId="6549"/>
          <ac:spMkLst>
            <pc:docMk/>
            <pc:sldMk cId="3886607364" sldId="455"/>
            <ac:spMk id="2" creationId="{0E22422E-16DF-F0C2-772E-964A5D789FE5}"/>
          </ac:spMkLst>
        </pc:spChg>
      </pc:sldChg>
      <pc:sldChg chg="modSp add mod">
        <pc:chgData name="Shui Yu" userId="c938b994-a30e-4cc7-a189-187a9b224868" providerId="ADAL" clId="{779E8BED-89BD-4B28-A60F-8E8ECA0D9B36}" dt="2025-09-15T02:03:38.792" v="14" actId="20577"/>
        <pc:sldMkLst>
          <pc:docMk/>
          <pc:sldMk cId="3616084057" sldId="464"/>
        </pc:sldMkLst>
        <pc:spChg chg="mod">
          <ac:chgData name="Shui Yu" userId="c938b994-a30e-4cc7-a189-187a9b224868" providerId="ADAL" clId="{779E8BED-89BD-4B28-A60F-8E8ECA0D9B36}" dt="2025-09-15T02:03:38.792" v="14" actId="20577"/>
          <ac:spMkLst>
            <pc:docMk/>
            <pc:sldMk cId="3616084057" sldId="464"/>
            <ac:spMk id="2" creationId="{A2C56F6B-9E25-F78B-F495-63244B1E4EA9}"/>
          </ac:spMkLst>
        </pc:spChg>
      </pc:sldChg>
      <pc:sldChg chg="modSp mod">
        <pc:chgData name="Shui Yu" userId="c938b994-a30e-4cc7-a189-187a9b224868" providerId="ADAL" clId="{779E8BED-89BD-4B28-A60F-8E8ECA0D9B36}" dt="2025-09-15T02:35:48.526" v="41" actId="20577"/>
        <pc:sldMkLst>
          <pc:docMk/>
          <pc:sldMk cId="3557466470" sldId="469"/>
        </pc:sldMkLst>
        <pc:spChg chg="mod">
          <ac:chgData name="Shui Yu" userId="c938b994-a30e-4cc7-a189-187a9b224868" providerId="ADAL" clId="{779E8BED-89BD-4B28-A60F-8E8ECA0D9B36}" dt="2025-09-15T02:35:48.526" v="41" actId="20577"/>
          <ac:spMkLst>
            <pc:docMk/>
            <pc:sldMk cId="3557466470" sldId="469"/>
            <ac:spMk id="3" creationId="{4645A446-E795-458E-A575-42EB31524480}"/>
          </ac:spMkLst>
        </pc:spChg>
      </pc:sldChg>
      <pc:sldChg chg="modSp add mod">
        <pc:chgData name="Shui Yu" userId="c938b994-a30e-4cc7-a189-187a9b224868" providerId="ADAL" clId="{779E8BED-89BD-4B28-A60F-8E8ECA0D9B36}" dt="2025-09-15T02:04:08.428" v="32" actId="20577"/>
        <pc:sldMkLst>
          <pc:docMk/>
          <pc:sldMk cId="3284479052" sldId="494"/>
        </pc:sldMkLst>
        <pc:spChg chg="mod">
          <ac:chgData name="Shui Yu" userId="c938b994-a30e-4cc7-a189-187a9b224868" providerId="ADAL" clId="{779E8BED-89BD-4B28-A60F-8E8ECA0D9B36}" dt="2025-09-15T02:04:08.428" v="32" actId="20577"/>
          <ac:spMkLst>
            <pc:docMk/>
            <pc:sldMk cId="3284479052" sldId="494"/>
            <ac:spMk id="2" creationId="{F93EA68E-7CC6-E634-D0A6-6A1E4331A622}"/>
          </ac:spMkLst>
        </pc:spChg>
      </pc:sldChg>
    </pc:docChg>
  </pc:docChgLst>
  <pc:docChgLst>
    <pc:chgData name="Shui Yu" userId="c938b994-a30e-4cc7-a189-187a9b224868" providerId="ADAL" clId="{7D4EF8C8-CCE3-4142-B9CB-41060B767526}"/>
    <pc:docChg chg="modShowInfo">
      <pc:chgData name="Shui Yu" userId="c938b994-a30e-4cc7-a189-187a9b224868" providerId="ADAL" clId="{7D4EF8C8-CCE3-4142-B9CB-41060B767526}" dt="2024-09-02T01:53:02.449" v="0" actId="2744"/>
      <pc:docMkLst>
        <pc:docMk/>
      </pc:docMkLst>
    </pc:docChg>
  </pc:docChgLst>
  <pc:docChgLst>
    <pc:chgData name="Shui Yu" userId="c938b994-a30e-4cc7-a189-187a9b224868" providerId="ADAL" clId="{6369B46B-33B8-46E4-80C1-84CCED90E6BC}"/>
    <pc:docChg chg="custSel modSld">
      <pc:chgData name="Shui Yu" userId="c938b994-a30e-4cc7-a189-187a9b224868" providerId="ADAL" clId="{6369B46B-33B8-46E4-80C1-84CCED90E6BC}" dt="2023-09-27T04:16:52.054" v="122" actId="478"/>
      <pc:docMkLst>
        <pc:docMk/>
      </pc:docMkLst>
      <pc:sldChg chg="modSp mod">
        <pc:chgData name="Shui Yu" userId="c938b994-a30e-4cc7-a189-187a9b224868" providerId="ADAL" clId="{6369B46B-33B8-46E4-80C1-84CCED90E6BC}" dt="2023-09-14T06:04:09.774" v="5" actId="20577"/>
        <pc:sldMkLst>
          <pc:docMk/>
          <pc:sldMk cId="2074795202" sldId="423"/>
        </pc:sldMkLst>
      </pc:sldChg>
      <pc:sldChg chg="delSp modSp mod">
        <pc:chgData name="Shui Yu" userId="c938b994-a30e-4cc7-a189-187a9b224868" providerId="ADAL" clId="{6369B46B-33B8-46E4-80C1-84CCED90E6BC}" dt="2023-09-27T04:16:52.054" v="122" actId="478"/>
        <pc:sldMkLst>
          <pc:docMk/>
          <pc:sldMk cId="121076721" sldId="449"/>
        </pc:sldMkLst>
      </pc:sldChg>
      <pc:sldChg chg="modSp mod">
        <pc:chgData name="Shui Yu" userId="c938b994-a30e-4cc7-a189-187a9b224868" providerId="ADAL" clId="{6369B46B-33B8-46E4-80C1-84CCED90E6BC}" dt="2023-09-14T05:26:14.909" v="1" actId="20577"/>
        <pc:sldMkLst>
          <pc:docMk/>
          <pc:sldMk cId="0" sldId="453"/>
        </pc:sldMkLst>
      </pc:sldChg>
      <pc:sldChg chg="modSp mod">
        <pc:chgData name="Shui Yu" userId="c938b994-a30e-4cc7-a189-187a9b224868" providerId="ADAL" clId="{6369B46B-33B8-46E4-80C1-84CCED90E6BC}" dt="2023-09-14T05:58:59.139" v="4" actId="20577"/>
        <pc:sldMkLst>
          <pc:docMk/>
          <pc:sldMk cId="3557466470" sldId="469"/>
        </pc:sldMkLst>
      </pc:sldChg>
      <pc:sldChg chg="modSp mod">
        <pc:chgData name="Shui Yu" userId="c938b994-a30e-4cc7-a189-187a9b224868" providerId="ADAL" clId="{6369B46B-33B8-46E4-80C1-84CCED90E6BC}" dt="2023-09-14T05:27:51.763" v="3" actId="20577"/>
        <pc:sldMkLst>
          <pc:docMk/>
          <pc:sldMk cId="281581070" sldId="470"/>
        </pc:sldMkLst>
      </pc:sldChg>
      <pc:sldChg chg="modSp">
        <pc:chgData name="Shui Yu" userId="c938b994-a30e-4cc7-a189-187a9b224868" providerId="ADAL" clId="{6369B46B-33B8-46E4-80C1-84CCED90E6BC}" dt="2023-09-14T06:13:51.991" v="23" actId="20577"/>
        <pc:sldMkLst>
          <pc:docMk/>
          <pc:sldMk cId="1752207012" sldId="478"/>
        </pc:sldMkLst>
      </pc:sldChg>
      <pc:sldChg chg="modSp mod">
        <pc:chgData name="Shui Yu" userId="c938b994-a30e-4cc7-a189-187a9b224868" providerId="ADAL" clId="{6369B46B-33B8-46E4-80C1-84CCED90E6BC}" dt="2023-09-14T06:16:40.024" v="24" actId="14100"/>
        <pc:sldMkLst>
          <pc:docMk/>
          <pc:sldMk cId="1730542323" sldId="491"/>
        </pc:sldMkLst>
      </pc:sldChg>
    </pc:docChg>
  </pc:docChgLst>
  <pc:docChgLst>
    <pc:chgData name="Shui Yu" userId="c938b994-a30e-4cc7-a189-187a9b224868" providerId="ADAL" clId="{A1CED498-6FF5-4A64-A8E6-2C8FA9F2BDDD}"/>
    <pc:docChg chg="modSld">
      <pc:chgData name="Shui Yu" userId="c938b994-a30e-4cc7-a189-187a9b224868" providerId="ADAL" clId="{A1CED498-6FF5-4A64-A8E6-2C8FA9F2BDDD}" dt="2024-09-26T01:21:01.390" v="0" actId="6549"/>
      <pc:docMkLst>
        <pc:docMk/>
      </pc:docMkLst>
      <pc:sldChg chg="modSp mod">
        <pc:chgData name="Shui Yu" userId="c938b994-a30e-4cc7-a189-187a9b224868" providerId="ADAL" clId="{A1CED498-6FF5-4A64-A8E6-2C8FA9F2BDDD}" dt="2024-09-26T01:21:01.390" v="0" actId="6549"/>
        <pc:sldMkLst>
          <pc:docMk/>
          <pc:sldMk cId="121076721" sldId="449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EA5F0D-C1DC-412F-A146-DDB3A74B588F}" type="datetimeFigureOut">
              <a:rPr lang="en-US"/>
              <a:t>9/15/2025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AE14B8-3CC9-472D-9BC5-A84D80684DE2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77827546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CDE508-72C8-4AB5-AA9C-1584D31690E0}" type="datetimeFigureOut">
              <a:rPr lang="en-US"/>
              <a:t>9/15/2025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B667E1-E601-4AAF-B95C-B25720D70A6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1113671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28C508-9378-416B-A78D-286D55287404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F1A85E-2E62-A534-ABA2-1139CB98993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518687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B667E1-E601-4AAF-B95C-B25720D70A60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132519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E1489-A8EB-4E29-978D-46491BE92E5B}" type="datetime1">
              <a:rPr lang="en-US" smtClean="0"/>
              <a:t>9/15/2025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D7488-9259-4D32-8D43-C85FF87DB2DF}" type="slidenum">
              <a:rPr lang="en-AU" smtClean="0"/>
              <a:t>‹#›</a:t>
            </a:fld>
            <a:endParaRPr lang="en-AU"/>
          </a:p>
        </p:txBody>
      </p:sp>
      <p:sp>
        <p:nvSpPr>
          <p:cNvPr id="8" name="AutoShape 4" descr="Image result for uts"/>
          <p:cNvSpPr>
            <a:spLocks noChangeAspect="1" noChangeArrowheads="1"/>
          </p:cNvSpPr>
          <p:nvPr userDrawn="1"/>
        </p:nvSpPr>
        <p:spPr bwMode="auto">
          <a:xfrm>
            <a:off x="155575" y="-144463"/>
            <a:ext cx="1715106" cy="1715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174166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9B7485-5296-4A81-8CD1-F4946730B5E7}" type="datetime1">
              <a:rPr lang="en-US" smtClean="0"/>
              <a:t>9/15/2025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D9AD5-F248-4919-864A-CFD76CC027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62853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644A2-76F9-4160-9B42-CBDC2ECEDD89}" type="datetime1">
              <a:rPr lang="en-US" smtClean="0"/>
              <a:t>9/15/2025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D9AD5-F248-4919-864A-CFD76CC027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95013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A9055A-C263-4BA1-A8C7-8A8212BFADBD}" type="datetime1">
              <a:rPr lang="en-US" smtClean="0"/>
              <a:t>9/15/2025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06EF73-9DB8-4763-865F-2F88181A473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22345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F8125-C2A8-4A99-8D44-32329D79CA8F}" type="datetime1">
              <a:rPr lang="en-US" smtClean="0"/>
              <a:t>9/15/2025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D9AD5-F248-4919-864A-CFD76CC027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85056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39F6D-3F84-41A6-BB7E-D28977CAC40D}" type="datetime1">
              <a:rPr lang="en-US" smtClean="0"/>
              <a:t>9/15/2025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D9AD5-F248-4919-864A-CFD76CC027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468052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_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17417 UTS Corp PPT 16x9_new logo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6816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3490513" y="3039415"/>
            <a:ext cx="7344912" cy="1231107"/>
          </a:xfrm>
        </p:spPr>
        <p:txBody>
          <a:bodyPr/>
          <a:lstStyle>
            <a:lvl1pPr>
              <a:lnSpc>
                <a:spcPts val="4800"/>
              </a:lnSpc>
              <a:defRPr sz="4267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5" name="Footer Placeholder 4"/>
          <p:cNvSpPr>
            <a:spLocks noGrp="1"/>
          </p:cNvSpPr>
          <p:nvPr userDrawn="1">
            <p:ph type="ftr" sz="quarter" idx="11"/>
          </p:nvPr>
        </p:nvSpPr>
        <p:spPr>
          <a:xfrm>
            <a:off x="7934313" y="6370147"/>
            <a:ext cx="3860800" cy="30777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AU"/>
              <a:t>Add a footer</a:t>
            </a:r>
            <a:endParaRPr lang="en-AU" dirty="0"/>
          </a:p>
        </p:txBody>
      </p:sp>
      <p:sp>
        <p:nvSpPr>
          <p:cNvPr id="29" name="TextBox 28"/>
          <p:cNvSpPr txBox="1"/>
          <p:nvPr userDrawn="1"/>
        </p:nvSpPr>
        <p:spPr>
          <a:xfrm>
            <a:off x="3434369" y="6429884"/>
            <a:ext cx="3777801" cy="2228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ts val="1760"/>
              </a:lnSpc>
            </a:pPr>
            <a:r>
              <a:rPr lang="en-AU" sz="1467" cap="all" baseline="0" noProof="0" dirty="0">
                <a:solidFill>
                  <a:schemeClr val="bg1"/>
                </a:solidFill>
              </a:rPr>
              <a:t>uts cricos provider code: 00099f</a:t>
            </a:r>
          </a:p>
        </p:txBody>
      </p:sp>
    </p:spTree>
    <p:extLst>
      <p:ext uri="{BB962C8B-B14F-4D97-AF65-F5344CB8AC3E}">
        <p14:creationId xmlns:p14="http://schemas.microsoft.com/office/powerpoint/2010/main" val="630235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Layout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1E0ADE0A-0058-F840-B5C2-8007274D77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7854" y="589218"/>
            <a:ext cx="10326658" cy="467226"/>
          </a:xfrm>
        </p:spPr>
        <p:txBody>
          <a:bodyPr anchor="b"/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C88A8D42-146D-E24F-BAAC-E035BD58A1AC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627854" y="1388298"/>
            <a:ext cx="10957594" cy="4081404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125"/>
              </a:spcAft>
              <a:buFont typeface="Arial" panose="020B0604020202020204" pitchFamily="34" charset="0"/>
              <a:buNone/>
              <a:defRPr lang="en-AU" sz="1350" smtClean="0">
                <a:effectLst/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 err="1"/>
              <a:t>Pelignis</a:t>
            </a:r>
            <a:endParaRPr lang="en-AU" dirty="0">
              <a:effectLst/>
              <a:latin typeface="Helvetica" pitchFamily="2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7501CE-2B8C-9147-A765-4D4D0CD0DB6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16480" y="6122500"/>
            <a:ext cx="10756142" cy="40665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3DC2E27-8F05-C040-A05C-D8E2B79274C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0287" y="6188125"/>
            <a:ext cx="663137" cy="282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7278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A91F65-07D2-440A-8660-9246A84CB5FB}" type="datetime1">
              <a:rPr lang="en-US" smtClean="0"/>
              <a:t>9/15/2025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8D9AD5-F248-4919-864A-CFD76CC027D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505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7" r:id="rId5"/>
    <p:sldLayoutId id="2147483668" r:id="rId6"/>
    <p:sldLayoutId id="2147483669" r:id="rId7"/>
    <p:sldLayoutId id="2147483670" r:id="rId8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QiiSAvKJIHo?feature=oembed" TargetMode="Externa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thispersondoesnotexist.com/" TargetMode="Externa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discuss.pytorch.org/t/cnn-lstm-implementation-for-video-classification/52018/10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ctrTitle"/>
          </p:nvPr>
        </p:nvSpPr>
        <p:spPr>
          <a:xfrm>
            <a:off x="3845980" y="1594616"/>
            <a:ext cx="8176665" cy="1231107"/>
          </a:xfrm>
        </p:spPr>
        <p:txBody>
          <a:bodyPr/>
          <a:lstStyle/>
          <a:p>
            <a:r>
              <a:rPr lang="en-US" dirty="0"/>
              <a:t>41183 PRIVACY PRESERVING</a:t>
            </a:r>
          </a:p>
        </p:txBody>
      </p:sp>
      <p:sp>
        <p:nvSpPr>
          <p:cNvPr id="6" name="Title 4"/>
          <p:cNvSpPr txBox="1">
            <a:spLocks/>
          </p:cNvSpPr>
          <p:nvPr/>
        </p:nvSpPr>
        <p:spPr>
          <a:xfrm>
            <a:off x="4060218" y="3626762"/>
            <a:ext cx="6475259" cy="90717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lnSpc>
                <a:spcPts val="3600"/>
              </a:lnSpc>
              <a:spcBef>
                <a:spcPct val="0"/>
              </a:spcBef>
              <a:buNone/>
              <a:defRPr sz="3200" b="1" i="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933" cap="none" dirty="0"/>
              <a:t>Lecture 8. Deep</a:t>
            </a:r>
            <a:r>
              <a:rPr lang="en-US" altLang="zh-CN" sz="2933" cap="none" dirty="0"/>
              <a:t>fake</a:t>
            </a:r>
            <a:r>
              <a:rPr lang="zh-CN" altLang="en-US" sz="2933" cap="none" dirty="0"/>
              <a:t> </a:t>
            </a:r>
            <a:r>
              <a:rPr lang="en-US" altLang="zh-CN" sz="2933" cap="none" dirty="0"/>
              <a:t>attack</a:t>
            </a:r>
            <a:r>
              <a:rPr lang="zh-CN" altLang="en-US" sz="2933" cap="none" dirty="0"/>
              <a:t> </a:t>
            </a:r>
            <a:r>
              <a:rPr lang="en-US" altLang="zh-CN" sz="2933" cap="none" dirty="0"/>
              <a:t>and</a:t>
            </a:r>
            <a:r>
              <a:rPr lang="zh-CN" altLang="en-US" sz="2933" cap="none" dirty="0"/>
              <a:t> </a:t>
            </a:r>
            <a:r>
              <a:rPr lang="en-US" altLang="zh-CN" sz="2933" cap="none" dirty="0"/>
              <a:t>countermeasures</a:t>
            </a:r>
            <a:endParaRPr lang="en-US" sz="2933" cap="none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Deepfake</a:t>
            </a:r>
            <a:r>
              <a:rPr lang="zh-CN" altLang="en-US" dirty="0"/>
              <a:t> </a:t>
            </a:r>
            <a:r>
              <a:rPr lang="en-US" altLang="zh-CN" dirty="0"/>
              <a:t>background </a:t>
            </a:r>
          </a:p>
          <a:p>
            <a:r>
              <a:rPr lang="en-US" altLang="zh-CN" dirty="0"/>
              <a:t>Deepfake</a:t>
            </a:r>
            <a:r>
              <a:rPr lang="zh-CN" altLang="en-US" dirty="0"/>
              <a:t> </a:t>
            </a:r>
            <a:r>
              <a:rPr lang="en-US" altLang="zh-CN" dirty="0"/>
              <a:t>attacks</a:t>
            </a:r>
          </a:p>
          <a:p>
            <a:r>
              <a:rPr lang="en-US" altLang="zh-CN" dirty="0"/>
              <a:t>Deepfake</a:t>
            </a:r>
            <a:r>
              <a:rPr lang="zh-CN" altLang="en-US" dirty="0"/>
              <a:t> </a:t>
            </a:r>
            <a:r>
              <a:rPr lang="en-US" altLang="zh-CN" dirty="0"/>
              <a:t>countermeasures</a:t>
            </a:r>
            <a:endParaRPr lang="en-AU" dirty="0"/>
          </a:p>
          <a:p>
            <a:pPr lvl="1"/>
            <a:endParaRPr lang="en-AU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7D1476-795E-E0BD-7E55-F71D3C1B1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8D9AD5-F248-4919-864A-CFD76CC027D6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69770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1849" y="1709738"/>
            <a:ext cx="10862403" cy="2852737"/>
          </a:xfrm>
        </p:spPr>
        <p:txBody>
          <a:bodyPr/>
          <a:lstStyle/>
          <a:p>
            <a:r>
              <a:rPr lang="en-US" altLang="zh-CN" dirty="0"/>
              <a:t>Deepfake</a:t>
            </a:r>
            <a:r>
              <a:rPr lang="zh-CN" altLang="en-US" dirty="0"/>
              <a:t> </a:t>
            </a:r>
            <a:r>
              <a:rPr lang="en-US" dirty="0"/>
              <a:t>background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167755-2B94-5D93-A92A-4757DC8CB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</p:spTree>
    <p:extLst>
      <p:ext uri="{BB962C8B-B14F-4D97-AF65-F5344CB8AC3E}">
        <p14:creationId xmlns:p14="http://schemas.microsoft.com/office/powerpoint/2010/main" val="2788855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AB768F-9729-4A98-ADBE-5E0E2AC04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is Deepfake?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45A446-E795-458E-A575-42EB31524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51" y="2370137"/>
            <a:ext cx="10263352" cy="4351338"/>
          </a:xfrm>
        </p:spPr>
        <p:txBody>
          <a:bodyPr>
            <a:normAutofit/>
          </a:bodyPr>
          <a:lstStyle/>
          <a:p>
            <a:pPr marL="177800" lvl="1" indent="-177800"/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b="1" dirty="0"/>
              <a:t>deep</a:t>
            </a:r>
            <a:r>
              <a:rPr lang="zh-CN" altLang="en-US" b="1" dirty="0"/>
              <a:t> </a:t>
            </a:r>
            <a:r>
              <a:rPr lang="en-US" altLang="zh-CN" b="1" dirty="0"/>
              <a:t>learning</a:t>
            </a:r>
            <a:r>
              <a:rPr lang="zh-CN" altLang="en-US" b="1" dirty="0"/>
              <a:t> </a:t>
            </a:r>
            <a:r>
              <a:rPr lang="en-US" altLang="zh-CN" b="1" dirty="0"/>
              <a:t>techniques</a:t>
            </a:r>
            <a:r>
              <a:rPr lang="zh-CN" altLang="en-US" b="1" dirty="0"/>
              <a:t> </a:t>
            </a:r>
            <a:r>
              <a:rPr lang="en-US" altLang="zh-CN" dirty="0"/>
              <a:t>that</a:t>
            </a:r>
            <a:r>
              <a:rPr lang="zh-CN" altLang="en-US" dirty="0"/>
              <a:t> </a:t>
            </a:r>
            <a:r>
              <a:rPr lang="en-US" altLang="zh-CN" dirty="0"/>
              <a:t>enable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b="1" dirty="0"/>
              <a:t>synthesis</a:t>
            </a:r>
            <a:r>
              <a:rPr lang="zh-CN" altLang="en-US" b="1" dirty="0"/>
              <a:t> </a:t>
            </a:r>
            <a:r>
              <a:rPr lang="en-US" altLang="zh-CN" b="1" dirty="0"/>
              <a:t>of</a:t>
            </a:r>
            <a:r>
              <a:rPr lang="zh-CN" altLang="en-US" b="1" dirty="0"/>
              <a:t> </a:t>
            </a:r>
            <a:r>
              <a:rPr lang="en-US" altLang="zh-CN" b="1" dirty="0"/>
              <a:t>hyper-realistic</a:t>
            </a:r>
            <a:r>
              <a:rPr lang="zh-CN" altLang="en-US" b="1" dirty="0"/>
              <a:t> </a:t>
            </a:r>
            <a:r>
              <a:rPr lang="en-US" altLang="zh-CN" b="1" dirty="0"/>
              <a:t>media</a:t>
            </a:r>
            <a:r>
              <a:rPr lang="zh-CN" altLang="en-US" b="1" dirty="0"/>
              <a:t> </a:t>
            </a:r>
            <a:r>
              <a:rPr lang="en-US" altLang="zh-CN" b="1" dirty="0"/>
              <a:t>artifacts.</a:t>
            </a:r>
          </a:p>
          <a:p>
            <a:pPr marL="177800" lvl="1" indent="-177800"/>
            <a:endParaRPr lang="en-US" altLang="zh-CN" b="1" dirty="0"/>
          </a:p>
          <a:p>
            <a:pPr marL="177800" lvl="1" indent="-177800"/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B0A70-D443-478D-B59C-107EE2AD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B482FC-90FB-A84D-F881-0F2974334BB3}"/>
              </a:ext>
            </a:extLst>
          </p:cNvPr>
          <p:cNvSpPr txBox="1"/>
          <p:nvPr/>
        </p:nvSpPr>
        <p:spPr>
          <a:xfrm>
            <a:off x="0" y="3963134"/>
            <a:ext cx="95512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000" b="1" i="1" dirty="0">
                <a:effectLst/>
                <a:latin typeface="Helvetica" pitchFamily="2" charset="0"/>
              </a:rPr>
              <a:t>“</a:t>
            </a:r>
            <a:r>
              <a:rPr lang="en-AU" sz="2000" b="1" i="1" dirty="0">
                <a:effectLst/>
                <a:latin typeface="Helvetica" pitchFamily="2" charset="0"/>
              </a:rPr>
              <a:t>Believable media generated by a deep neural network</a:t>
            </a:r>
            <a:r>
              <a:rPr lang="en-US" altLang="zh-CN" sz="2000" b="1" i="1" dirty="0">
                <a:effectLst/>
                <a:latin typeface="Helvetica" pitchFamily="2" charset="0"/>
              </a:rPr>
              <a:t>”</a:t>
            </a:r>
            <a:endParaRPr lang="en-AU" sz="2000" i="1" dirty="0">
              <a:effectLst/>
              <a:latin typeface="Helvetica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FDBF65-6CDC-B297-D65C-FC2B46F88811}"/>
              </a:ext>
            </a:extLst>
          </p:cNvPr>
          <p:cNvSpPr txBox="1"/>
          <p:nvPr/>
        </p:nvSpPr>
        <p:spPr>
          <a:xfrm>
            <a:off x="2911519" y="4422695"/>
            <a:ext cx="787302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0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Mirsky, Y., &amp; Lee, W. (2021). The creation and detection of deepfakes: A survey. ACM Computing Surveys (CSUR), 54(1), 1-41.</a:t>
            </a:r>
          </a:p>
        </p:txBody>
      </p:sp>
    </p:spTree>
    <p:extLst>
      <p:ext uri="{BB962C8B-B14F-4D97-AF65-F5344CB8AC3E}">
        <p14:creationId xmlns:p14="http://schemas.microsoft.com/office/powerpoint/2010/main" val="3514961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AB768F-9729-4A98-ADBE-5E0E2AC04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5632" y="273650"/>
            <a:ext cx="11620735" cy="1325563"/>
          </a:xfrm>
        </p:spPr>
        <p:txBody>
          <a:bodyPr>
            <a:normAutofit/>
          </a:bodyPr>
          <a:lstStyle/>
          <a:p>
            <a:pPr algn="ctr"/>
            <a:r>
              <a:rPr lang="en-US" altLang="zh-CN" sz="2800" dirty="0"/>
              <a:t>In</a:t>
            </a:r>
            <a:r>
              <a:rPr lang="zh-CN" altLang="en-US" sz="2800" dirty="0"/>
              <a:t> </a:t>
            </a:r>
            <a:r>
              <a:rPr lang="en-US" altLang="zh-CN" sz="2800" dirty="0"/>
              <a:t>the</a:t>
            </a:r>
            <a:r>
              <a:rPr lang="zh-CN" altLang="en-US" sz="2800" dirty="0"/>
              <a:t> </a:t>
            </a:r>
            <a:r>
              <a:rPr lang="en-US" altLang="zh-CN" sz="2800" dirty="0"/>
              <a:t>following</a:t>
            </a:r>
            <a:r>
              <a:rPr lang="zh-CN" altLang="en-US" sz="2800" dirty="0"/>
              <a:t> </a:t>
            </a:r>
            <a:r>
              <a:rPr lang="en-US" altLang="zh-CN" sz="2800" dirty="0"/>
              <a:t>two</a:t>
            </a:r>
            <a:r>
              <a:rPr lang="zh-CN" altLang="en-US" sz="2800" dirty="0"/>
              <a:t> </a:t>
            </a:r>
            <a:r>
              <a:rPr lang="en-US" altLang="zh-CN" sz="2800" dirty="0"/>
              <a:t>images,</a:t>
            </a:r>
            <a:r>
              <a:rPr lang="zh-CN" altLang="en-US" sz="2800" dirty="0"/>
              <a:t> </a:t>
            </a:r>
            <a:r>
              <a:rPr lang="en-US" altLang="zh-CN" sz="2800" dirty="0"/>
              <a:t>one</a:t>
            </a:r>
            <a:r>
              <a:rPr lang="zh-CN" altLang="en-US" sz="2800" dirty="0"/>
              <a:t> </a:t>
            </a:r>
            <a:r>
              <a:rPr lang="en-US" altLang="zh-CN" sz="2800" dirty="0"/>
              <a:t>is</a:t>
            </a:r>
            <a:r>
              <a:rPr lang="zh-CN" altLang="en-US" sz="2800" dirty="0"/>
              <a:t> </a:t>
            </a:r>
            <a:r>
              <a:rPr lang="en-US" altLang="zh-CN" sz="2800" b="1" i="1" dirty="0"/>
              <a:t>real</a:t>
            </a:r>
            <a:r>
              <a:rPr lang="en-US" altLang="zh-CN" sz="2800" dirty="0"/>
              <a:t> and</a:t>
            </a:r>
            <a:r>
              <a:rPr lang="zh-CN" altLang="en-US" sz="2800" dirty="0"/>
              <a:t> </a:t>
            </a:r>
            <a:r>
              <a:rPr lang="en-US" altLang="zh-CN" sz="2800" dirty="0"/>
              <a:t>the</a:t>
            </a:r>
            <a:r>
              <a:rPr lang="zh-CN" altLang="en-US" sz="2800" dirty="0"/>
              <a:t> </a:t>
            </a:r>
            <a:r>
              <a:rPr lang="en-US" altLang="zh-CN" sz="2800" dirty="0"/>
              <a:t>other</a:t>
            </a:r>
            <a:r>
              <a:rPr lang="zh-CN" altLang="en-US" sz="2800" dirty="0"/>
              <a:t> </a:t>
            </a:r>
            <a:r>
              <a:rPr lang="en-US" altLang="zh-CN" sz="2800" dirty="0"/>
              <a:t>is</a:t>
            </a:r>
            <a:r>
              <a:rPr lang="zh-CN" altLang="en-US" sz="2800" dirty="0"/>
              <a:t> </a:t>
            </a:r>
            <a:r>
              <a:rPr lang="en-US" altLang="zh-CN" sz="2800" b="1" i="1" dirty="0"/>
              <a:t>generated</a:t>
            </a:r>
            <a:r>
              <a:rPr lang="zh-CN" altLang="en-US" sz="2800" b="1" i="1" dirty="0"/>
              <a:t> </a:t>
            </a:r>
            <a:r>
              <a:rPr lang="en-US" altLang="zh-CN" sz="2800" b="1" i="1" dirty="0"/>
              <a:t>by</a:t>
            </a:r>
            <a:r>
              <a:rPr lang="zh-CN" altLang="en-US" sz="2800" b="1" i="1" dirty="0"/>
              <a:t> </a:t>
            </a:r>
            <a:r>
              <a:rPr lang="en-US" altLang="zh-CN" sz="2800" b="1" i="1" dirty="0"/>
              <a:t>Deepfake</a:t>
            </a:r>
            <a:r>
              <a:rPr lang="en-US" altLang="zh-CN" sz="2800" dirty="0"/>
              <a:t>.</a:t>
            </a:r>
            <a:r>
              <a:rPr lang="zh-CN" altLang="en-US" sz="2800" dirty="0"/>
              <a:t> </a:t>
            </a:r>
            <a:r>
              <a:rPr lang="en-US" altLang="zh-CN" sz="2800" dirty="0"/>
              <a:t>Have</a:t>
            </a:r>
            <a:r>
              <a:rPr lang="zh-CN" altLang="en-US" sz="2800" dirty="0"/>
              <a:t> </a:t>
            </a:r>
            <a:r>
              <a:rPr lang="en-US" altLang="zh-CN" sz="2800" dirty="0"/>
              <a:t>a</a:t>
            </a:r>
            <a:r>
              <a:rPr lang="zh-CN" altLang="en-US" sz="2800" dirty="0"/>
              <a:t> </a:t>
            </a:r>
            <a:r>
              <a:rPr lang="en-US" altLang="zh-CN" sz="2800" dirty="0"/>
              <a:t>guess!</a:t>
            </a:r>
            <a:endParaRPr lang="zh-CN" altLang="en-US" sz="2800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B0A70-D443-478D-B59C-107EE2AD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pic>
        <p:nvPicPr>
          <p:cNvPr id="9" name="Picture 8" descr="A collage of a person in a white shirt&#10;&#10;Description automatically generated">
            <a:extLst>
              <a:ext uri="{FF2B5EF4-FFF2-40B4-BE49-F238E27FC236}">
                <a16:creationId xmlns:a16="http://schemas.microsoft.com/office/drawing/2014/main" id="{98E6810C-888C-8B25-101E-D43AE55652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4183" y="1843553"/>
            <a:ext cx="6275136" cy="36391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C547441-1437-F94C-0512-239DFBF060A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4182" y="4291464"/>
            <a:ext cx="6275136" cy="66034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188C915-FA1F-8981-D05B-B517E3A628C1}"/>
              </a:ext>
            </a:extLst>
          </p:cNvPr>
          <p:cNvSpPr txBox="1"/>
          <p:nvPr/>
        </p:nvSpPr>
        <p:spPr>
          <a:xfrm>
            <a:off x="4283118" y="5609812"/>
            <a:ext cx="30177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+mj-lt"/>
                <a:ea typeface="+mj-ea"/>
                <a:cs typeface="+mj-cs"/>
              </a:rPr>
              <a:t>Di</a:t>
            </a:r>
            <a:r>
              <a:rPr lang="en-US" altLang="zh-CN" sz="2800" dirty="0">
                <a:latin typeface="+mj-lt"/>
                <a:ea typeface="+mj-ea"/>
                <a:cs typeface="+mj-cs"/>
              </a:rPr>
              <a:t>d</a:t>
            </a:r>
            <a:r>
              <a:rPr lang="zh-CN" altLang="en-US" sz="2800" dirty="0">
                <a:latin typeface="+mj-lt"/>
                <a:ea typeface="+mj-ea"/>
                <a:cs typeface="+mj-cs"/>
              </a:rPr>
              <a:t> </a:t>
            </a:r>
            <a:r>
              <a:rPr lang="en-US" altLang="zh-CN" sz="2800" dirty="0">
                <a:latin typeface="+mj-lt"/>
                <a:ea typeface="+mj-ea"/>
                <a:cs typeface="+mj-cs"/>
              </a:rPr>
              <a:t>you</a:t>
            </a:r>
            <a:r>
              <a:rPr lang="zh-CN" altLang="en-US" sz="2800" dirty="0">
                <a:latin typeface="+mj-lt"/>
                <a:ea typeface="+mj-ea"/>
                <a:cs typeface="+mj-cs"/>
              </a:rPr>
              <a:t> </a:t>
            </a:r>
            <a:r>
              <a:rPr lang="en-US" altLang="zh-CN" sz="2800" dirty="0">
                <a:latin typeface="+mj-lt"/>
                <a:ea typeface="+mj-ea"/>
                <a:cs typeface="+mj-cs"/>
              </a:rPr>
              <a:t>get</a:t>
            </a:r>
            <a:r>
              <a:rPr lang="zh-CN" altLang="en-US" sz="2800" dirty="0">
                <a:latin typeface="+mj-lt"/>
                <a:ea typeface="+mj-ea"/>
                <a:cs typeface="+mj-cs"/>
              </a:rPr>
              <a:t> </a:t>
            </a:r>
            <a:r>
              <a:rPr lang="en-US" altLang="zh-CN" sz="2800" dirty="0">
                <a:latin typeface="+mj-lt"/>
                <a:ea typeface="+mj-ea"/>
                <a:cs typeface="+mj-cs"/>
              </a:rPr>
              <a:t>it</a:t>
            </a:r>
            <a:r>
              <a:rPr lang="zh-CN" altLang="en-US" sz="2800" dirty="0">
                <a:latin typeface="+mj-lt"/>
                <a:ea typeface="+mj-ea"/>
                <a:cs typeface="+mj-cs"/>
              </a:rPr>
              <a:t> </a:t>
            </a:r>
            <a:r>
              <a:rPr lang="en-US" altLang="zh-CN" sz="2800" dirty="0">
                <a:latin typeface="+mj-lt"/>
                <a:ea typeface="+mj-ea"/>
                <a:cs typeface="+mj-cs"/>
              </a:rPr>
              <a:t>right?</a:t>
            </a:r>
            <a:endParaRPr lang="en-US" sz="2800" dirty="0">
              <a:latin typeface="+mj-lt"/>
              <a:ea typeface="+mj-ea"/>
              <a:cs typeface="+mj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B15F0B-5E95-7695-FFA8-C079C98A59A1}"/>
              </a:ext>
            </a:extLst>
          </p:cNvPr>
          <p:cNvSpPr txBox="1"/>
          <p:nvPr/>
        </p:nvSpPr>
        <p:spPr>
          <a:xfrm>
            <a:off x="8610600" y="3062969"/>
            <a:ext cx="288921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i="1" dirty="0">
                <a:latin typeface="+mj-lt"/>
                <a:ea typeface="+mj-ea"/>
                <a:cs typeface="+mj-cs"/>
              </a:rPr>
              <a:t>We</a:t>
            </a:r>
            <a:r>
              <a:rPr lang="zh-CN" altLang="en-US" i="1" dirty="0">
                <a:latin typeface="+mj-lt"/>
                <a:ea typeface="+mj-ea"/>
                <a:cs typeface="+mj-cs"/>
              </a:rPr>
              <a:t> </a:t>
            </a:r>
            <a:r>
              <a:rPr lang="en-US" altLang="zh-CN" i="1" dirty="0">
                <a:latin typeface="+mj-lt"/>
                <a:ea typeface="+mj-ea"/>
                <a:cs typeface="+mj-cs"/>
              </a:rPr>
              <a:t>can</a:t>
            </a:r>
            <a:r>
              <a:rPr lang="zh-CN" altLang="en-US" i="1" dirty="0">
                <a:latin typeface="+mj-lt"/>
                <a:ea typeface="+mj-ea"/>
                <a:cs typeface="+mj-cs"/>
              </a:rPr>
              <a:t> </a:t>
            </a:r>
            <a:r>
              <a:rPr lang="en-US" altLang="zh-CN" i="1" dirty="0">
                <a:latin typeface="+mj-lt"/>
                <a:ea typeface="+mj-ea"/>
                <a:cs typeface="+mj-cs"/>
              </a:rPr>
              <a:t>find</a:t>
            </a:r>
            <a:r>
              <a:rPr lang="zh-CN" altLang="en-US" i="1" dirty="0">
                <a:latin typeface="+mj-lt"/>
                <a:ea typeface="+mj-ea"/>
                <a:cs typeface="+mj-cs"/>
              </a:rPr>
              <a:t> </a:t>
            </a:r>
            <a:r>
              <a:rPr lang="en-US" altLang="zh-CN" i="1" dirty="0">
                <a:latin typeface="+mj-lt"/>
                <a:ea typeface="+mj-ea"/>
                <a:cs typeface="+mj-cs"/>
              </a:rPr>
              <a:t>that</a:t>
            </a:r>
            <a:r>
              <a:rPr lang="zh-CN" altLang="en-US" i="1" dirty="0">
                <a:latin typeface="+mj-lt"/>
                <a:ea typeface="+mj-ea"/>
                <a:cs typeface="+mj-cs"/>
              </a:rPr>
              <a:t> </a:t>
            </a:r>
            <a:r>
              <a:rPr lang="en-US" altLang="zh-CN" i="1" dirty="0">
                <a:latin typeface="+mj-lt"/>
                <a:ea typeface="+mj-ea"/>
                <a:cs typeface="+mj-cs"/>
              </a:rPr>
              <a:t>t</a:t>
            </a:r>
            <a:r>
              <a:rPr lang="en-US" i="1" dirty="0">
                <a:latin typeface="+mj-lt"/>
                <a:ea typeface="+mj-ea"/>
                <a:cs typeface="+mj-cs"/>
              </a:rPr>
              <a:t>he images generated are very realistic, with pores clearly visible and facial lighting.</a:t>
            </a:r>
          </a:p>
        </p:txBody>
      </p:sp>
    </p:spTree>
    <p:extLst>
      <p:ext uri="{BB962C8B-B14F-4D97-AF65-F5344CB8AC3E}">
        <p14:creationId xmlns:p14="http://schemas.microsoft.com/office/powerpoint/2010/main" val="14691011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AB768F-9729-4A98-ADBE-5E0E2AC04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5632" y="273650"/>
            <a:ext cx="11620735" cy="1325563"/>
          </a:xfrm>
        </p:spPr>
        <p:txBody>
          <a:bodyPr>
            <a:normAutofit/>
          </a:bodyPr>
          <a:lstStyle/>
          <a:p>
            <a:pPr algn="ctr"/>
            <a:r>
              <a:rPr lang="en-AU" altLang="zh-CN" sz="2800" dirty="0"/>
              <a:t>D</a:t>
            </a:r>
            <a:r>
              <a:rPr lang="en-US" altLang="zh-CN" sz="2800" dirty="0"/>
              <a:t>avid</a:t>
            </a:r>
            <a:r>
              <a:rPr lang="zh-CN" altLang="en-US" sz="2800" dirty="0"/>
              <a:t> </a:t>
            </a:r>
            <a:r>
              <a:rPr lang="en-US" altLang="zh-CN" sz="2800" dirty="0"/>
              <a:t>Beckham</a:t>
            </a:r>
            <a:r>
              <a:rPr lang="zh-CN" altLang="en-US" sz="2800" dirty="0"/>
              <a:t> </a:t>
            </a:r>
            <a:r>
              <a:rPr lang="en-US" altLang="zh-CN" sz="2800" dirty="0"/>
              <a:t>can “speak” nine</a:t>
            </a:r>
            <a:r>
              <a:rPr lang="zh-CN" altLang="en-US" sz="2800" dirty="0"/>
              <a:t> </a:t>
            </a:r>
            <a:r>
              <a:rPr lang="en-US" altLang="zh-CN" sz="2800" dirty="0"/>
              <a:t>languages!</a:t>
            </a:r>
            <a:r>
              <a:rPr lang="zh-CN" altLang="en-US" sz="2800" dirty="0"/>
              <a:t> </a:t>
            </a:r>
            <a:r>
              <a:rPr lang="en-US" altLang="zh-CN" sz="2800" dirty="0"/>
              <a:t>Using</a:t>
            </a:r>
            <a:r>
              <a:rPr lang="zh-CN" altLang="en-US" sz="2800" dirty="0"/>
              <a:t> </a:t>
            </a:r>
            <a:r>
              <a:rPr lang="en-US" altLang="zh-CN" sz="2800" dirty="0"/>
              <a:t>Deepfake</a:t>
            </a:r>
            <a:endParaRPr lang="zh-CN" altLang="en-US" sz="2800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B0A70-D443-478D-B59C-107EE2AD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pic>
        <p:nvPicPr>
          <p:cNvPr id="3" name="Online Media 2" descr="David Beckham speaks nine languages to launch Malaria Must Die Voice Petition">
            <a:hlinkClick r:id="" action="ppaction://media"/>
            <a:extLst>
              <a:ext uri="{FF2B5EF4-FFF2-40B4-BE49-F238E27FC236}">
                <a16:creationId xmlns:a16="http://schemas.microsoft.com/office/drawing/2014/main" id="{F4CFA810-0EEA-1FF0-CEED-8125C4BDE923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2470811" y="1599213"/>
            <a:ext cx="7471975" cy="4221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615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AB768F-9729-4A98-ADBE-5E0E2AC04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Deepfake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double-edged</a:t>
            </a:r>
            <a:r>
              <a:rPr lang="zh-CN" altLang="en-US" dirty="0"/>
              <a:t> </a:t>
            </a:r>
            <a:r>
              <a:rPr lang="en-US" altLang="zh-CN" dirty="0"/>
              <a:t>sword.</a:t>
            </a:r>
            <a:r>
              <a:rPr lang="zh-CN" altLang="en-US" dirty="0"/>
              <a:t> 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45A446-E795-458E-A575-42EB31524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pPr marL="457200" lvl="2" indent="0">
              <a:buNone/>
            </a:pPr>
            <a:endParaRPr lang="en-AU" altLang="zh-CN" dirty="0"/>
          </a:p>
          <a:p>
            <a:pPr marL="177800" lvl="1" indent="-177800"/>
            <a:r>
              <a:rPr lang="en-US" altLang="zh-CN" dirty="0"/>
              <a:t>Gather</a:t>
            </a:r>
            <a:r>
              <a:rPr lang="en-AU" altLang="zh-CN" dirty="0"/>
              <a:t> substantial attention both within academic circles and in the broader societal context due to its </a:t>
            </a:r>
          </a:p>
          <a:p>
            <a:pPr marL="635000" lvl="2" indent="-177800"/>
            <a:r>
              <a:rPr lang="en-US" altLang="zh-CN" b="1" dirty="0"/>
              <a:t>Promising</a:t>
            </a:r>
            <a:r>
              <a:rPr lang="zh-CN" altLang="en-US" b="1" dirty="0"/>
              <a:t> </a:t>
            </a:r>
            <a:r>
              <a:rPr lang="en-AU" altLang="zh-CN" b="1" dirty="0"/>
              <a:t>applications</a:t>
            </a:r>
            <a:r>
              <a:rPr lang="zh-CN" altLang="en-US" b="1" dirty="0"/>
              <a:t> </a:t>
            </a:r>
            <a:r>
              <a:rPr lang="en-US" altLang="zh-CN" b="1" dirty="0"/>
              <a:t>in</a:t>
            </a:r>
            <a:r>
              <a:rPr lang="zh-CN" altLang="en-US" b="1" dirty="0"/>
              <a:t> </a:t>
            </a:r>
            <a:r>
              <a:rPr lang="en-US" altLang="zh-CN" b="1" dirty="0"/>
              <a:t>computer</a:t>
            </a:r>
            <a:r>
              <a:rPr lang="zh-CN" altLang="en-US" b="1" dirty="0"/>
              <a:t> </a:t>
            </a:r>
            <a:r>
              <a:rPr lang="en-US" altLang="zh-CN" b="1" dirty="0"/>
              <a:t>vision</a:t>
            </a:r>
            <a:r>
              <a:rPr lang="zh-CN" altLang="en-US" b="1" dirty="0"/>
              <a:t> </a:t>
            </a:r>
            <a:r>
              <a:rPr lang="en-US" altLang="zh-CN" b="1" dirty="0"/>
              <a:t>and</a:t>
            </a:r>
            <a:r>
              <a:rPr lang="zh-CN" altLang="en-US" b="1" dirty="0"/>
              <a:t> </a:t>
            </a:r>
            <a:r>
              <a:rPr lang="en-US" altLang="zh-CN" b="1" dirty="0"/>
              <a:t>speech</a:t>
            </a:r>
            <a:r>
              <a:rPr lang="en-AU" altLang="zh-CN" dirty="0"/>
              <a:t> </a:t>
            </a:r>
            <a:r>
              <a:rPr lang="en-US" altLang="zh-CN" dirty="0">
                <a:sym typeface="Wingdings" pitchFamily="2" charset="2"/>
              </a:rPr>
              <a:t></a:t>
            </a:r>
            <a:endParaRPr lang="en-AU" altLang="zh-CN" dirty="0"/>
          </a:p>
          <a:p>
            <a:pPr marL="635000" lvl="2" indent="-177800"/>
            <a:r>
              <a:rPr lang="en-US" altLang="zh-CN" b="1" dirty="0"/>
              <a:t>Related</a:t>
            </a:r>
            <a:r>
              <a:rPr lang="zh-CN" altLang="en-US" b="1" dirty="0"/>
              <a:t> </a:t>
            </a:r>
            <a:r>
              <a:rPr lang="en-AU" altLang="zh-CN" b="1" dirty="0"/>
              <a:t>ethical</a:t>
            </a:r>
            <a:r>
              <a:rPr lang="zh-CN" altLang="en-US" b="1" dirty="0"/>
              <a:t> </a:t>
            </a:r>
            <a:r>
              <a:rPr lang="en-US" altLang="zh-CN" b="1" dirty="0"/>
              <a:t>and</a:t>
            </a:r>
            <a:r>
              <a:rPr lang="zh-CN" altLang="en-US" b="1" dirty="0"/>
              <a:t> </a:t>
            </a:r>
            <a:r>
              <a:rPr lang="en-US" altLang="zh-CN" b="1" dirty="0"/>
              <a:t>security &amp; privacy</a:t>
            </a:r>
            <a:r>
              <a:rPr lang="en-AU" altLang="zh-CN" b="1" dirty="0"/>
              <a:t> implications</a:t>
            </a:r>
            <a:r>
              <a:rPr lang="en-AU" altLang="zh-CN" dirty="0"/>
              <a:t>.</a:t>
            </a:r>
            <a:r>
              <a:rPr lang="en-US" altLang="zh-CN" dirty="0">
                <a:sym typeface="Wingdings" pitchFamily="2" charset="2"/>
              </a:rPr>
              <a:t></a:t>
            </a:r>
            <a:endParaRPr lang="en-AU" altLang="zh-CN" dirty="0"/>
          </a:p>
          <a:p>
            <a:pPr marL="177800" lvl="1" indent="-177800"/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B0A70-D443-478D-B59C-107EE2AD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8FF225-02C4-7A32-45BD-E52C053378FF}"/>
              </a:ext>
            </a:extLst>
          </p:cNvPr>
          <p:cNvSpPr txBox="1"/>
          <p:nvPr/>
        </p:nvSpPr>
        <p:spPr>
          <a:xfrm>
            <a:off x="2963917" y="474016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732F3D-B9A7-7365-679C-CBF30B7F4F26}"/>
              </a:ext>
            </a:extLst>
          </p:cNvPr>
          <p:cNvSpPr txBox="1"/>
          <p:nvPr/>
        </p:nvSpPr>
        <p:spPr>
          <a:xfrm>
            <a:off x="961541" y="4167506"/>
            <a:ext cx="102689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+mj-lt"/>
                <a:ea typeface="+mj-ea"/>
                <a:cs typeface="+mj-cs"/>
              </a:rPr>
              <a:t>Fraudsters</a:t>
            </a:r>
            <a:r>
              <a:rPr lang="zh-CN" altLang="en-US" sz="2400" dirty="0">
                <a:latin typeface="+mj-lt"/>
                <a:ea typeface="+mj-ea"/>
                <a:cs typeface="+mj-cs"/>
              </a:rPr>
              <a:t> </a:t>
            </a:r>
            <a:r>
              <a:rPr lang="en-US" altLang="zh-CN" sz="2400" dirty="0">
                <a:latin typeface="+mj-lt"/>
                <a:ea typeface="+mj-ea"/>
                <a:cs typeface="+mj-cs"/>
              </a:rPr>
              <a:t>used</a:t>
            </a:r>
            <a:r>
              <a:rPr lang="zh-CN" altLang="en-US" sz="2400" dirty="0">
                <a:latin typeface="+mj-lt"/>
                <a:ea typeface="+mj-ea"/>
                <a:cs typeface="+mj-cs"/>
              </a:rPr>
              <a:t> </a:t>
            </a:r>
            <a:r>
              <a:rPr lang="en-US" altLang="zh-CN" sz="2400" dirty="0">
                <a:latin typeface="+mj-lt"/>
                <a:ea typeface="+mj-ea"/>
                <a:cs typeface="+mj-cs"/>
              </a:rPr>
              <a:t>Deepfake</a:t>
            </a:r>
            <a:r>
              <a:rPr lang="zh-CN" altLang="en-US" sz="2400" dirty="0">
                <a:latin typeface="+mj-lt"/>
                <a:ea typeface="+mj-ea"/>
                <a:cs typeface="+mj-cs"/>
              </a:rPr>
              <a:t> </a:t>
            </a:r>
            <a:r>
              <a:rPr lang="en-US" altLang="zh-CN" sz="2400" dirty="0">
                <a:latin typeface="+mj-lt"/>
                <a:ea typeface="+mj-ea"/>
                <a:cs typeface="+mj-cs"/>
              </a:rPr>
              <a:t>to</a:t>
            </a:r>
            <a:r>
              <a:rPr lang="zh-CN" altLang="en-US" sz="2400" dirty="0">
                <a:latin typeface="+mj-lt"/>
                <a:ea typeface="+mj-ea"/>
                <a:cs typeface="+mj-cs"/>
              </a:rPr>
              <a:t> </a:t>
            </a:r>
            <a:r>
              <a:rPr lang="en-US" altLang="zh-CN" sz="2400" dirty="0">
                <a:latin typeface="+mj-lt"/>
                <a:ea typeface="+mj-ea"/>
                <a:cs typeface="+mj-cs"/>
              </a:rPr>
              <a:t>clone</a:t>
            </a:r>
            <a:r>
              <a:rPr lang="zh-CN" altLang="en-US" sz="2400" dirty="0">
                <a:latin typeface="+mj-lt"/>
                <a:ea typeface="+mj-ea"/>
                <a:cs typeface="+mj-cs"/>
              </a:rPr>
              <a:t>  </a:t>
            </a:r>
            <a:r>
              <a:rPr lang="en-US" altLang="zh-CN" sz="2400" dirty="0">
                <a:latin typeface="+mj-lt"/>
                <a:ea typeface="+mj-ea"/>
                <a:cs typeface="+mj-cs"/>
              </a:rPr>
              <a:t>company</a:t>
            </a:r>
            <a:r>
              <a:rPr lang="zh-CN" altLang="en-US" sz="2400" dirty="0">
                <a:latin typeface="+mj-lt"/>
                <a:ea typeface="+mj-ea"/>
                <a:cs typeface="+mj-cs"/>
              </a:rPr>
              <a:t> </a:t>
            </a:r>
            <a:r>
              <a:rPr lang="en-US" altLang="zh-CN" sz="2400" dirty="0">
                <a:latin typeface="+mj-lt"/>
                <a:ea typeface="+mj-ea"/>
                <a:cs typeface="+mj-cs"/>
              </a:rPr>
              <a:t>director’s</a:t>
            </a:r>
            <a:r>
              <a:rPr lang="zh-CN" altLang="en-US" sz="2400" dirty="0">
                <a:latin typeface="+mj-lt"/>
                <a:ea typeface="+mj-ea"/>
                <a:cs typeface="+mj-cs"/>
              </a:rPr>
              <a:t> </a:t>
            </a:r>
            <a:r>
              <a:rPr lang="en-US" altLang="zh-CN" sz="2400" dirty="0">
                <a:latin typeface="+mj-lt"/>
                <a:ea typeface="+mj-ea"/>
                <a:cs typeface="+mj-cs"/>
              </a:rPr>
              <a:t>voice</a:t>
            </a:r>
            <a:r>
              <a:rPr lang="zh-CN" altLang="en-US" sz="2400" dirty="0">
                <a:latin typeface="+mj-lt"/>
                <a:ea typeface="+mj-ea"/>
                <a:cs typeface="+mj-cs"/>
              </a:rPr>
              <a:t> </a:t>
            </a:r>
            <a:r>
              <a:rPr lang="en-US" altLang="zh-CN" sz="2400" dirty="0">
                <a:latin typeface="+mj-lt"/>
                <a:ea typeface="+mj-ea"/>
                <a:cs typeface="+mj-cs"/>
              </a:rPr>
              <a:t>in</a:t>
            </a:r>
            <a:r>
              <a:rPr lang="zh-CN" altLang="en-US" sz="2400" dirty="0">
                <a:latin typeface="+mj-lt"/>
                <a:ea typeface="+mj-ea"/>
                <a:cs typeface="+mj-cs"/>
              </a:rPr>
              <a:t> </a:t>
            </a:r>
            <a:r>
              <a:rPr lang="en-US" altLang="zh-CN" sz="2400" b="1" dirty="0">
                <a:solidFill>
                  <a:srgbClr val="FF0000"/>
                </a:solidFill>
                <a:latin typeface="+mj-lt"/>
                <a:ea typeface="+mj-ea"/>
                <a:cs typeface="+mj-cs"/>
              </a:rPr>
              <a:t>$35</a:t>
            </a:r>
            <a:r>
              <a:rPr lang="zh-CN" altLang="en-US" sz="2400" b="1" dirty="0">
                <a:solidFill>
                  <a:srgbClr val="FF0000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altLang="zh-CN" sz="2400" b="1" dirty="0">
                <a:solidFill>
                  <a:srgbClr val="FF0000"/>
                </a:solidFill>
                <a:latin typeface="+mj-lt"/>
                <a:ea typeface="+mj-ea"/>
                <a:cs typeface="+mj-cs"/>
              </a:rPr>
              <a:t>Million</a:t>
            </a:r>
            <a:r>
              <a:rPr lang="zh-CN" altLang="en-US" sz="2400" b="1" dirty="0">
                <a:solidFill>
                  <a:srgbClr val="FF0000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altLang="zh-CN" sz="2400" b="1" dirty="0">
                <a:solidFill>
                  <a:srgbClr val="FF0000"/>
                </a:solidFill>
                <a:latin typeface="+mj-lt"/>
                <a:ea typeface="+mj-ea"/>
                <a:cs typeface="+mj-cs"/>
              </a:rPr>
              <a:t>heist</a:t>
            </a:r>
            <a:r>
              <a:rPr lang="en-US" altLang="zh-CN" sz="2400" dirty="0">
                <a:latin typeface="+mj-lt"/>
                <a:ea typeface="+mj-ea"/>
                <a:cs typeface="+mj-cs"/>
              </a:rPr>
              <a:t>.</a:t>
            </a:r>
            <a:r>
              <a:rPr lang="zh-CN" altLang="en-US" sz="2400" dirty="0">
                <a:latin typeface="+mj-lt"/>
                <a:ea typeface="+mj-ea"/>
                <a:cs typeface="+mj-cs"/>
              </a:rPr>
              <a:t> </a:t>
            </a:r>
            <a:r>
              <a:rPr lang="en-AU" altLang="zh-CN" sz="2400" dirty="0">
                <a:latin typeface="+mj-lt"/>
                <a:ea typeface="+mj-ea"/>
                <a:cs typeface="+mj-cs"/>
              </a:rPr>
              <a:t>									</a:t>
            </a:r>
            <a:r>
              <a:rPr lang="en-US" altLang="zh-CN" sz="1600" dirty="0">
                <a:latin typeface="+mj-lt"/>
                <a:ea typeface="+mj-ea"/>
                <a:cs typeface="+mj-cs"/>
              </a:rPr>
              <a:t>–</a:t>
            </a:r>
            <a:r>
              <a:rPr lang="zh-CN" altLang="en-US" sz="1600" dirty="0">
                <a:latin typeface="+mj-lt"/>
                <a:ea typeface="+mj-ea"/>
                <a:cs typeface="+mj-cs"/>
              </a:rPr>
              <a:t> </a:t>
            </a:r>
            <a:r>
              <a:rPr lang="en-US" altLang="zh-CN" sz="1600" i="1" dirty="0">
                <a:latin typeface="+mj-lt"/>
                <a:ea typeface="+mj-ea"/>
                <a:cs typeface="+mj-cs"/>
              </a:rPr>
              <a:t>Reported</a:t>
            </a:r>
            <a:r>
              <a:rPr lang="zh-CN" altLang="en-US" sz="1600" i="1" dirty="0">
                <a:latin typeface="+mj-lt"/>
                <a:ea typeface="+mj-ea"/>
                <a:cs typeface="+mj-cs"/>
              </a:rPr>
              <a:t> </a:t>
            </a:r>
            <a:r>
              <a:rPr lang="en-US" altLang="zh-CN" sz="1600" i="1" dirty="0">
                <a:latin typeface="+mj-lt"/>
                <a:ea typeface="+mj-ea"/>
                <a:cs typeface="+mj-cs"/>
              </a:rPr>
              <a:t>by</a:t>
            </a:r>
            <a:r>
              <a:rPr lang="zh-CN" altLang="en-US" sz="1600" i="1" dirty="0">
                <a:latin typeface="+mj-lt"/>
                <a:ea typeface="+mj-ea"/>
                <a:cs typeface="+mj-cs"/>
              </a:rPr>
              <a:t> </a:t>
            </a:r>
            <a:r>
              <a:rPr lang="en-US" altLang="zh-CN" sz="1600" i="1" dirty="0">
                <a:latin typeface="+mj-lt"/>
                <a:ea typeface="+mj-ea"/>
                <a:cs typeface="+mj-cs"/>
              </a:rPr>
              <a:t>Forbes</a:t>
            </a:r>
            <a:r>
              <a:rPr lang="zh-CN" altLang="en-US" sz="1600" i="1" dirty="0">
                <a:latin typeface="+mj-lt"/>
                <a:ea typeface="+mj-ea"/>
                <a:cs typeface="+mj-cs"/>
              </a:rPr>
              <a:t> </a:t>
            </a:r>
            <a:r>
              <a:rPr lang="en-US" altLang="zh-CN" sz="1600" i="1" dirty="0">
                <a:latin typeface="+mj-lt"/>
                <a:ea typeface="+mj-ea"/>
                <a:cs typeface="+mj-cs"/>
              </a:rPr>
              <a:t>in</a:t>
            </a:r>
            <a:r>
              <a:rPr lang="zh-CN" altLang="en-US" sz="1600" i="1" dirty="0">
                <a:latin typeface="+mj-lt"/>
                <a:ea typeface="+mj-ea"/>
                <a:cs typeface="+mj-cs"/>
              </a:rPr>
              <a:t> </a:t>
            </a:r>
            <a:r>
              <a:rPr lang="en-US" altLang="zh-CN" sz="1600" i="1" dirty="0">
                <a:latin typeface="+mj-lt"/>
                <a:ea typeface="+mj-ea"/>
                <a:cs typeface="+mj-cs"/>
              </a:rPr>
              <a:t>2021</a:t>
            </a:r>
            <a:endParaRPr lang="en-US" sz="2400" i="1" dirty="0"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81581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1849" y="1709738"/>
            <a:ext cx="10862403" cy="2852737"/>
          </a:xfrm>
        </p:spPr>
        <p:txBody>
          <a:bodyPr/>
          <a:lstStyle/>
          <a:p>
            <a:r>
              <a:rPr lang="en-US" altLang="zh-CN" dirty="0"/>
              <a:t>Deepfake</a:t>
            </a:r>
            <a:r>
              <a:rPr lang="zh-CN" altLang="en-US" dirty="0"/>
              <a:t> </a:t>
            </a:r>
            <a:r>
              <a:rPr lang="en-US" dirty="0"/>
              <a:t>a</a:t>
            </a:r>
            <a:r>
              <a:rPr lang="en-US" altLang="zh-CN" dirty="0"/>
              <a:t>ttacks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167755-2B94-5D93-A92A-4757DC8CB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</p:spTree>
    <p:extLst>
      <p:ext uri="{BB962C8B-B14F-4D97-AF65-F5344CB8AC3E}">
        <p14:creationId xmlns:p14="http://schemas.microsoft.com/office/powerpoint/2010/main" val="4225506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AB768F-9729-4A98-ADBE-5E0E2AC04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Deepfake</a:t>
            </a:r>
            <a:r>
              <a:rPr lang="zh-CN" altLang="en-US" dirty="0"/>
              <a:t> </a:t>
            </a:r>
            <a:r>
              <a:rPr lang="en-US" altLang="zh-CN" dirty="0"/>
              <a:t>attacks</a:t>
            </a:r>
            <a:r>
              <a:rPr lang="zh-CN" altLang="en-US" dirty="0"/>
              <a:t> </a:t>
            </a:r>
            <a:r>
              <a:rPr lang="en-US" altLang="zh-CN" dirty="0"/>
              <a:t>–</a:t>
            </a:r>
            <a:r>
              <a:rPr lang="zh-CN" altLang="en-US" dirty="0"/>
              <a:t> </a:t>
            </a:r>
            <a:r>
              <a:rPr lang="en-US" altLang="zh-CN" dirty="0"/>
              <a:t>Technical</a:t>
            </a:r>
            <a:r>
              <a:rPr lang="zh-CN" altLang="en-US" dirty="0"/>
              <a:t> </a:t>
            </a:r>
            <a:r>
              <a:rPr lang="en-US" altLang="zh-CN" dirty="0"/>
              <a:t>Background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45A446-E795-458E-A575-42EB315244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0524" y="1543543"/>
            <a:ext cx="10313276" cy="5561943"/>
          </a:xfrm>
        </p:spPr>
        <p:txBody>
          <a:bodyPr>
            <a:normAutofit/>
          </a:bodyPr>
          <a:lstStyle/>
          <a:p>
            <a:pPr marL="177800" lvl="1" indent="-177800"/>
            <a:endParaRPr lang="en-US" altLang="zh-CN" b="1" dirty="0"/>
          </a:p>
          <a:p>
            <a:pPr marL="635000" lvl="2" indent="-177800"/>
            <a:r>
              <a:rPr lang="en-US" altLang="zh-CN" b="1" dirty="0"/>
              <a:t>Feature</a:t>
            </a:r>
            <a:r>
              <a:rPr lang="zh-CN" altLang="en-US" b="1" dirty="0"/>
              <a:t> </a:t>
            </a:r>
            <a:r>
              <a:rPr lang="en-US" altLang="zh-CN" b="1" dirty="0"/>
              <a:t>extractors</a:t>
            </a:r>
            <a:r>
              <a:rPr lang="zh-CN" altLang="en-US" b="1" dirty="0"/>
              <a:t> </a:t>
            </a:r>
            <a:endParaRPr lang="en-AU" altLang="zh-CN" b="1" dirty="0"/>
          </a:p>
          <a:p>
            <a:pPr marL="1092200" lvl="3" indent="-177800"/>
            <a:r>
              <a:rPr lang="en-US" altLang="zh-CN" dirty="0"/>
              <a:t>Convolutional</a:t>
            </a:r>
            <a:r>
              <a:rPr lang="zh-CN" altLang="en-US" dirty="0"/>
              <a:t> </a:t>
            </a:r>
            <a:r>
              <a:rPr lang="en-US" altLang="zh-CN" dirty="0"/>
              <a:t>Neural</a:t>
            </a:r>
            <a:r>
              <a:rPr lang="zh-CN" altLang="en-US" dirty="0"/>
              <a:t> </a:t>
            </a:r>
            <a:r>
              <a:rPr lang="en-US" altLang="zh-CN" dirty="0"/>
              <a:t>Networks</a:t>
            </a:r>
            <a:r>
              <a:rPr lang="zh-CN" altLang="en-US" dirty="0"/>
              <a:t> </a:t>
            </a:r>
            <a:r>
              <a:rPr lang="en-US" altLang="zh-CN" dirty="0"/>
              <a:t>(CNNs)</a:t>
            </a:r>
            <a:r>
              <a:rPr lang="zh-CN" altLang="en-US" dirty="0"/>
              <a:t> </a:t>
            </a:r>
            <a:r>
              <a:rPr lang="en-US" altLang="zh-CN" dirty="0"/>
              <a:t>on</a:t>
            </a:r>
            <a:r>
              <a:rPr lang="zh-CN" altLang="en-US" dirty="0"/>
              <a:t> </a:t>
            </a:r>
            <a:r>
              <a:rPr lang="en-US" altLang="zh-CN" dirty="0"/>
              <a:t>visual</a:t>
            </a:r>
            <a:r>
              <a:rPr lang="zh-CN" altLang="en-US" dirty="0"/>
              <a:t> </a:t>
            </a:r>
            <a:r>
              <a:rPr lang="en-US" altLang="zh-CN" dirty="0"/>
              <a:t>feature</a:t>
            </a:r>
          </a:p>
          <a:p>
            <a:pPr marL="1092200" lvl="3" indent="-177800"/>
            <a:r>
              <a:rPr lang="en-US" altLang="zh-CN" dirty="0"/>
              <a:t>Recurrent</a:t>
            </a:r>
            <a:r>
              <a:rPr lang="zh-CN" altLang="en-US" dirty="0"/>
              <a:t> </a:t>
            </a:r>
            <a:r>
              <a:rPr lang="en-US" altLang="zh-CN" dirty="0"/>
              <a:t>Neural</a:t>
            </a:r>
            <a:r>
              <a:rPr lang="zh-CN" altLang="en-US" dirty="0"/>
              <a:t> </a:t>
            </a:r>
            <a:r>
              <a:rPr lang="en-US" altLang="zh-CN" dirty="0"/>
              <a:t>Networks</a:t>
            </a:r>
            <a:r>
              <a:rPr lang="zh-CN" altLang="en-US" dirty="0"/>
              <a:t> </a:t>
            </a:r>
            <a:r>
              <a:rPr lang="en-US" altLang="zh-CN" dirty="0"/>
              <a:t>(RNN)</a:t>
            </a:r>
            <a:r>
              <a:rPr lang="zh-CN" altLang="en-US" dirty="0"/>
              <a:t> </a:t>
            </a:r>
            <a:r>
              <a:rPr lang="en-US" altLang="zh-CN" dirty="0"/>
              <a:t>on</a:t>
            </a:r>
            <a:r>
              <a:rPr lang="zh-CN" altLang="en-US" dirty="0"/>
              <a:t> </a:t>
            </a:r>
            <a:r>
              <a:rPr lang="en-US" altLang="zh-CN" dirty="0"/>
              <a:t>sequential</a:t>
            </a:r>
            <a:r>
              <a:rPr lang="zh-CN" altLang="en-US" dirty="0"/>
              <a:t> </a:t>
            </a:r>
            <a:r>
              <a:rPr lang="en-US" altLang="zh-CN" dirty="0"/>
              <a:t>feature</a:t>
            </a:r>
          </a:p>
          <a:p>
            <a:pPr marL="1092200" lvl="3" indent="-177800"/>
            <a:r>
              <a:rPr lang="en-US" altLang="zh-CN" dirty="0"/>
              <a:t>Domain</a:t>
            </a:r>
            <a:r>
              <a:rPr lang="zh-CN" altLang="en-US" dirty="0"/>
              <a:t> </a:t>
            </a:r>
            <a:r>
              <a:rPr lang="en-US" altLang="zh-CN" dirty="0"/>
              <a:t>knowledge:</a:t>
            </a:r>
            <a:r>
              <a:rPr lang="zh-CN" altLang="en-US" dirty="0"/>
              <a:t> </a:t>
            </a:r>
            <a:r>
              <a:rPr lang="en-US" altLang="zh-CN" dirty="0"/>
              <a:t>facial</a:t>
            </a:r>
            <a:r>
              <a:rPr lang="zh-CN" altLang="en-US" dirty="0"/>
              <a:t> </a:t>
            </a:r>
            <a:r>
              <a:rPr lang="en-US" altLang="zh-CN" dirty="0"/>
              <a:t>landmark,</a:t>
            </a:r>
            <a:r>
              <a:rPr lang="zh-CN" altLang="en-US" dirty="0"/>
              <a:t> </a:t>
            </a:r>
            <a:r>
              <a:rPr lang="en-US" altLang="zh-CN" dirty="0"/>
              <a:t>boundary</a:t>
            </a:r>
            <a:r>
              <a:rPr lang="zh-CN" altLang="en-US" dirty="0"/>
              <a:t> </a:t>
            </a:r>
            <a:r>
              <a:rPr lang="en-US" altLang="zh-CN" dirty="0"/>
              <a:t>conversion…</a:t>
            </a:r>
          </a:p>
          <a:p>
            <a:pPr marL="1092200" lvl="3" indent="-177800"/>
            <a:r>
              <a:rPr lang="en-US" altLang="zh-CN" dirty="0"/>
              <a:t>…</a:t>
            </a:r>
          </a:p>
          <a:p>
            <a:pPr marL="635000" lvl="2" indent="-177800"/>
            <a:r>
              <a:rPr lang="zh-CN" altLang="en-US" dirty="0"/>
              <a:t> </a:t>
            </a:r>
            <a:r>
              <a:rPr lang="en-US" altLang="zh-CN" b="1" dirty="0"/>
              <a:t>Generative</a:t>
            </a:r>
            <a:r>
              <a:rPr lang="zh-CN" altLang="en-US" b="1" dirty="0"/>
              <a:t> </a:t>
            </a:r>
            <a:r>
              <a:rPr lang="en-US" altLang="zh-CN" b="1" dirty="0"/>
              <a:t>models</a:t>
            </a:r>
            <a:r>
              <a:rPr lang="zh-CN" altLang="en-US" b="1" dirty="0"/>
              <a:t> </a:t>
            </a:r>
            <a:r>
              <a:rPr lang="en-AU" altLang="zh-CN" b="1" dirty="0"/>
              <a:t>- AIGC</a:t>
            </a:r>
          </a:p>
          <a:p>
            <a:pPr marL="1092200" lvl="3" indent="-177800"/>
            <a:r>
              <a:rPr lang="en-US" altLang="zh-CN" dirty="0"/>
              <a:t>Generative</a:t>
            </a:r>
            <a:r>
              <a:rPr lang="zh-CN" altLang="en-US" dirty="0"/>
              <a:t> </a:t>
            </a:r>
            <a:r>
              <a:rPr lang="en-US" altLang="zh-CN" dirty="0"/>
              <a:t>Adversarial</a:t>
            </a:r>
            <a:r>
              <a:rPr lang="zh-CN" altLang="en-US" dirty="0"/>
              <a:t> </a:t>
            </a:r>
            <a:r>
              <a:rPr lang="en-US" altLang="zh-CN" dirty="0"/>
              <a:t>Networks</a:t>
            </a:r>
            <a:r>
              <a:rPr lang="zh-CN" altLang="en-US" dirty="0"/>
              <a:t> </a:t>
            </a:r>
            <a:r>
              <a:rPr lang="en-US" altLang="zh-CN" dirty="0"/>
              <a:t>(GANs)</a:t>
            </a:r>
            <a:r>
              <a:rPr lang="zh-CN" altLang="en-US" dirty="0"/>
              <a:t> </a:t>
            </a:r>
            <a:endParaRPr lang="en-AU" altLang="zh-CN" dirty="0"/>
          </a:p>
          <a:p>
            <a:pPr marL="1092200" lvl="3" indent="-177800"/>
            <a:r>
              <a:rPr lang="en-US" altLang="zh-CN" dirty="0"/>
              <a:t>Autoencoder</a:t>
            </a:r>
            <a:r>
              <a:rPr lang="zh-CN" altLang="en-US" dirty="0"/>
              <a:t> </a:t>
            </a:r>
            <a:r>
              <a:rPr lang="en-US" altLang="zh-CN" dirty="0"/>
              <a:t>(AE)</a:t>
            </a:r>
            <a:endParaRPr lang="en-AU" altLang="zh-CN" dirty="0"/>
          </a:p>
          <a:p>
            <a:pPr marL="1092200" lvl="3" indent="-177800"/>
            <a:r>
              <a:rPr lang="en-US" altLang="zh-CN" dirty="0"/>
              <a:t>…</a:t>
            </a:r>
          </a:p>
          <a:p>
            <a:pPr marL="635000" lvl="2" indent="-177800"/>
            <a:r>
              <a:rPr lang="en-US" altLang="zh-CN" b="1" dirty="0"/>
              <a:t>Learning/training</a:t>
            </a:r>
            <a:r>
              <a:rPr lang="zh-CN" altLang="en-US" b="1" dirty="0"/>
              <a:t> </a:t>
            </a:r>
            <a:r>
              <a:rPr lang="en-US" altLang="zh-CN" b="1" dirty="0"/>
              <a:t>strategy</a:t>
            </a:r>
          </a:p>
          <a:p>
            <a:pPr marL="1092200" lvl="3" indent="-177800"/>
            <a:r>
              <a:rPr lang="en-US" altLang="zh-CN" dirty="0"/>
              <a:t>Transfer</a:t>
            </a:r>
            <a:r>
              <a:rPr lang="zh-CN" altLang="en-US" dirty="0"/>
              <a:t> </a:t>
            </a:r>
            <a:r>
              <a:rPr lang="en-US" altLang="zh-CN" dirty="0"/>
              <a:t>Learning</a:t>
            </a:r>
          </a:p>
          <a:p>
            <a:pPr marL="1092200" lvl="3" indent="-177800"/>
            <a:r>
              <a:rPr lang="en-US" altLang="zh-CN" dirty="0"/>
              <a:t>Few-shot</a:t>
            </a:r>
            <a:r>
              <a:rPr lang="zh-CN" altLang="en-US" dirty="0"/>
              <a:t> </a:t>
            </a:r>
            <a:r>
              <a:rPr lang="en-US" altLang="zh-CN" dirty="0"/>
              <a:t>Learning</a:t>
            </a:r>
          </a:p>
          <a:p>
            <a:pPr marL="1092200" lvl="3" indent="-177800"/>
            <a:r>
              <a:rPr lang="en-US" altLang="zh-CN" dirty="0"/>
              <a:t>…</a:t>
            </a:r>
          </a:p>
          <a:p>
            <a:pPr marL="914400" lvl="3" indent="0">
              <a:buNone/>
            </a:pPr>
            <a:r>
              <a:rPr lang="en-US" altLang="zh-CN" dirty="0"/>
              <a:t>					</a:t>
            </a:r>
          </a:p>
          <a:p>
            <a:pPr marL="457200" lvl="2" indent="0">
              <a:buNone/>
            </a:pPr>
            <a:endParaRPr lang="en-AU" altLang="zh-CN" dirty="0"/>
          </a:p>
          <a:p>
            <a:pPr marL="177800" lvl="1" indent="-177800"/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B0A70-D443-478D-B59C-107EE2AD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574664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标题 1">
            <a:extLst>
              <a:ext uri="{FF2B5EF4-FFF2-40B4-BE49-F238E27FC236}">
                <a16:creationId xmlns:a16="http://schemas.microsoft.com/office/drawing/2014/main" id="{7C21A75E-E8CC-BC2E-D81B-A83284B93839}"/>
              </a:ext>
            </a:extLst>
          </p:cNvPr>
          <p:cNvSpPr txBox="1">
            <a:spLocks/>
          </p:cNvSpPr>
          <p:nvPr/>
        </p:nvSpPr>
        <p:spPr>
          <a:xfrm>
            <a:off x="614362" y="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dirty="0"/>
              <a:t>Generative</a:t>
            </a:r>
            <a:r>
              <a:rPr lang="zh-CN" altLang="en-US" sz="3200" dirty="0"/>
              <a:t> </a:t>
            </a:r>
            <a:r>
              <a:rPr lang="en-US" altLang="zh-CN" sz="3200" dirty="0"/>
              <a:t>Models</a:t>
            </a:r>
            <a:r>
              <a:rPr lang="zh-CN" altLang="en-US" sz="3200" dirty="0"/>
              <a:t> </a:t>
            </a:r>
            <a:r>
              <a:rPr lang="en-US" altLang="zh-CN" sz="3200" dirty="0"/>
              <a:t>–</a:t>
            </a:r>
            <a:r>
              <a:rPr lang="zh-CN" altLang="en-US" sz="3200" dirty="0"/>
              <a:t> </a:t>
            </a:r>
            <a:r>
              <a:rPr lang="en-US" altLang="zh-CN" sz="3200" dirty="0"/>
              <a:t>Generative</a:t>
            </a:r>
            <a:r>
              <a:rPr lang="zh-CN" altLang="en-US" sz="3200" dirty="0"/>
              <a:t> </a:t>
            </a:r>
            <a:r>
              <a:rPr lang="en-US" altLang="zh-CN" sz="3200" dirty="0"/>
              <a:t>Adversarial</a:t>
            </a:r>
            <a:r>
              <a:rPr lang="zh-CN" altLang="en-US" sz="3200" dirty="0"/>
              <a:t> </a:t>
            </a:r>
            <a:r>
              <a:rPr lang="en-US" altLang="zh-CN" sz="3200" dirty="0"/>
              <a:t>Networks</a:t>
            </a:r>
            <a:r>
              <a:rPr lang="zh-CN" altLang="en-US" sz="3200" dirty="0"/>
              <a:t> </a:t>
            </a:r>
            <a:r>
              <a:rPr lang="en-US" altLang="zh-CN" sz="3200" dirty="0"/>
              <a:t>(GAN)</a:t>
            </a:r>
            <a:endParaRPr lang="zh-CN" altLang="en-US" sz="3200" dirty="0"/>
          </a:p>
        </p:txBody>
      </p:sp>
      <p:pic>
        <p:nvPicPr>
          <p:cNvPr id="4" name="Picture 3" descr="A diagram of a cat&#10;&#10;Description automatically generated">
            <a:extLst>
              <a:ext uri="{FF2B5EF4-FFF2-40B4-BE49-F238E27FC236}">
                <a16:creationId xmlns:a16="http://schemas.microsoft.com/office/drawing/2014/main" id="{C27CEC5C-5846-3C38-05DD-9F4FE5C36D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5415" y="2550696"/>
            <a:ext cx="5942899" cy="2202690"/>
          </a:xfrm>
          <a:prstGeom prst="rect">
            <a:avLst/>
          </a:prstGeom>
        </p:spPr>
      </p:pic>
      <p:sp>
        <p:nvSpPr>
          <p:cNvPr id="7" name="标题 1">
            <a:extLst>
              <a:ext uri="{FF2B5EF4-FFF2-40B4-BE49-F238E27FC236}">
                <a16:creationId xmlns:a16="http://schemas.microsoft.com/office/drawing/2014/main" id="{01D33741-6D13-1420-1101-0695D2C58F06}"/>
              </a:ext>
            </a:extLst>
          </p:cNvPr>
          <p:cNvSpPr txBox="1">
            <a:spLocks/>
          </p:cNvSpPr>
          <p:nvPr/>
        </p:nvSpPr>
        <p:spPr>
          <a:xfrm>
            <a:off x="6751489" y="4552108"/>
            <a:ext cx="484341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000" i="1" dirty="0"/>
              <a:t>GAN</a:t>
            </a:r>
            <a:r>
              <a:rPr lang="zh-CN" altLang="en-US" sz="2000" i="1" dirty="0"/>
              <a:t> </a:t>
            </a:r>
            <a:r>
              <a:rPr lang="en-US" altLang="zh-CN" sz="2000" i="1" dirty="0"/>
              <a:t>is</a:t>
            </a:r>
            <a:r>
              <a:rPr lang="zh-CN" altLang="en-US" sz="2000" i="1" dirty="0"/>
              <a:t> </a:t>
            </a:r>
            <a:r>
              <a:rPr lang="en-US" altLang="zh-CN" sz="2000" i="1" dirty="0"/>
              <a:t>the</a:t>
            </a:r>
            <a:r>
              <a:rPr lang="zh-CN" altLang="en-US" sz="2000" i="1" dirty="0"/>
              <a:t> </a:t>
            </a:r>
            <a:r>
              <a:rPr lang="en-US" altLang="zh-CN" sz="2000" i="1" dirty="0"/>
              <a:t>most</a:t>
            </a:r>
            <a:r>
              <a:rPr lang="zh-CN" altLang="en-US" sz="2000" i="1" dirty="0"/>
              <a:t> </a:t>
            </a:r>
            <a:r>
              <a:rPr lang="en-US" altLang="zh-CN" sz="2000" i="1" dirty="0"/>
              <a:t>prevailing</a:t>
            </a:r>
            <a:r>
              <a:rPr lang="zh-CN" altLang="en-US" sz="2000" i="1" dirty="0"/>
              <a:t> </a:t>
            </a:r>
            <a:r>
              <a:rPr lang="en-US" altLang="zh-CN" sz="2000" i="1" dirty="0"/>
              <a:t>generative</a:t>
            </a:r>
            <a:r>
              <a:rPr lang="zh-CN" altLang="en-US" sz="2000" i="1" dirty="0"/>
              <a:t> </a:t>
            </a:r>
            <a:r>
              <a:rPr lang="en-US" altLang="zh-CN" sz="2000" i="1" dirty="0"/>
              <a:t>model!</a:t>
            </a:r>
            <a:endParaRPr lang="zh-CN" altLang="en-US" sz="2000" i="1" dirty="0"/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00DB527F-FDDC-69EA-8A77-7A8273A1C0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595264" y="766541"/>
            <a:ext cx="6314173" cy="5561943"/>
          </a:xfrm>
        </p:spPr>
        <p:txBody>
          <a:bodyPr>
            <a:normAutofit/>
          </a:bodyPr>
          <a:lstStyle/>
          <a:p>
            <a:pPr marL="177800" lvl="1" indent="-177800"/>
            <a:endParaRPr lang="en-US" altLang="zh-CN" b="1" dirty="0"/>
          </a:p>
          <a:p>
            <a:pPr marL="1200150" lvl="3" indent="-285750"/>
            <a:r>
              <a:rPr lang="en-US" altLang="zh-CN" dirty="0"/>
              <a:t>GANs consist of </a:t>
            </a:r>
            <a:r>
              <a:rPr lang="en-US" altLang="zh-CN" b="1" dirty="0"/>
              <a:t>two neural networks</a:t>
            </a:r>
            <a:r>
              <a:rPr lang="en-US" altLang="zh-CN" dirty="0"/>
              <a:t>, the </a:t>
            </a:r>
            <a:r>
              <a:rPr lang="en-US" altLang="zh-CN" b="1" dirty="0"/>
              <a:t>generator</a:t>
            </a:r>
            <a:r>
              <a:rPr lang="en-US" altLang="zh-CN" dirty="0"/>
              <a:t> and the </a:t>
            </a:r>
            <a:r>
              <a:rPr lang="en-US" altLang="zh-CN" b="1" dirty="0"/>
              <a:t>discriminator</a:t>
            </a:r>
            <a:r>
              <a:rPr lang="en-US" altLang="zh-CN" dirty="0"/>
              <a:t>, engaged in a continuous </a:t>
            </a:r>
            <a:r>
              <a:rPr lang="en-US" altLang="zh-CN" b="1" dirty="0"/>
              <a:t>adversarial training process</a:t>
            </a:r>
            <a:r>
              <a:rPr lang="en-US" altLang="zh-CN" dirty="0"/>
              <a:t>.</a:t>
            </a:r>
          </a:p>
          <a:p>
            <a:pPr marL="1200150" lvl="3" indent="-285750"/>
            <a:endParaRPr lang="en-AU" altLang="zh-CN" dirty="0"/>
          </a:p>
          <a:p>
            <a:pPr marL="1200150" lvl="3" indent="-285750"/>
            <a:r>
              <a:rPr lang="en-US" altLang="zh-CN" b="1" dirty="0"/>
              <a:t>Generator</a:t>
            </a:r>
            <a:r>
              <a:rPr lang="zh-CN" altLang="en-US" b="1" dirty="0"/>
              <a:t> </a:t>
            </a:r>
            <a:r>
              <a:rPr lang="en-US" altLang="zh-CN" b="1" dirty="0"/>
              <a:t>(</a:t>
            </a:r>
            <a:r>
              <a:rPr lang="en-US" altLang="zh-CN" b="1" i="1" dirty="0"/>
              <a:t>G</a:t>
            </a:r>
            <a:r>
              <a:rPr lang="en-US" altLang="zh-CN" b="1" dirty="0"/>
              <a:t>):</a:t>
            </a:r>
            <a:r>
              <a:rPr lang="zh-CN" altLang="en-US" b="1" dirty="0"/>
              <a:t>  </a:t>
            </a:r>
            <a:r>
              <a:rPr lang="en-US" altLang="zh-CN" dirty="0"/>
              <a:t>generate</a:t>
            </a:r>
            <a:r>
              <a:rPr lang="zh-CN" altLang="en-US" dirty="0"/>
              <a:t> </a:t>
            </a:r>
            <a:r>
              <a:rPr lang="en-US" altLang="zh-CN" dirty="0"/>
              <a:t>fake</a:t>
            </a:r>
            <a:r>
              <a:rPr lang="zh-CN" altLang="en-US" dirty="0"/>
              <a:t> </a:t>
            </a:r>
            <a:r>
              <a:rPr lang="en-AU" altLang="zh-CN" dirty="0"/>
              <a:t>data </a:t>
            </a:r>
            <a:r>
              <a:rPr lang="en-US" altLang="zh-CN" dirty="0"/>
              <a:t>samples</a:t>
            </a:r>
            <a:r>
              <a:rPr lang="zh-CN" altLang="en-US" dirty="0"/>
              <a:t> </a:t>
            </a:r>
            <a:r>
              <a:rPr lang="en-US" altLang="zh-CN" i="1" dirty="0"/>
              <a:t>G</a:t>
            </a:r>
            <a:r>
              <a:rPr lang="en-US" altLang="zh-CN" dirty="0"/>
              <a:t>(</a:t>
            </a:r>
            <a:r>
              <a:rPr lang="en-US" altLang="zh-CN" i="1" dirty="0"/>
              <a:t>Z</a:t>
            </a:r>
            <a:r>
              <a:rPr lang="en-US" altLang="zh-CN" dirty="0"/>
              <a:t>)</a:t>
            </a:r>
            <a:r>
              <a:rPr lang="zh-CN" altLang="en-US" dirty="0"/>
              <a:t> </a:t>
            </a:r>
            <a:r>
              <a:rPr lang="en-US" altLang="zh-CN" dirty="0"/>
              <a:t>from</a:t>
            </a:r>
            <a:r>
              <a:rPr lang="zh-CN" altLang="en-US" dirty="0"/>
              <a:t> </a:t>
            </a:r>
            <a:r>
              <a:rPr lang="en-US" altLang="zh-CN" dirty="0"/>
              <a:t>input</a:t>
            </a:r>
            <a:r>
              <a:rPr lang="zh-CN" altLang="en-US" dirty="0"/>
              <a:t> </a:t>
            </a:r>
            <a:r>
              <a:rPr lang="en-US" altLang="zh-CN" dirty="0"/>
              <a:t>latent</a:t>
            </a:r>
            <a:r>
              <a:rPr lang="zh-CN" altLang="en-US" dirty="0"/>
              <a:t> </a:t>
            </a:r>
            <a:r>
              <a:rPr lang="en-US" altLang="zh-CN" dirty="0"/>
              <a:t>noise</a:t>
            </a:r>
            <a:r>
              <a:rPr lang="zh-CN" altLang="en-US" dirty="0"/>
              <a:t> </a:t>
            </a:r>
            <a:r>
              <a:rPr lang="en-US" altLang="zh-CN" i="1" dirty="0"/>
              <a:t>Z</a:t>
            </a:r>
            <a:r>
              <a:rPr lang="en-AU" altLang="zh-CN" dirty="0"/>
              <a:t> that are indistinguishable from real data</a:t>
            </a:r>
            <a:r>
              <a:rPr lang="zh-CN" altLang="en-US" dirty="0"/>
              <a:t> </a:t>
            </a:r>
            <a:r>
              <a:rPr lang="en-US" altLang="zh-CN" i="1" dirty="0"/>
              <a:t>X</a:t>
            </a:r>
            <a:r>
              <a:rPr lang="en-US" altLang="zh-CN" dirty="0"/>
              <a:t>.</a:t>
            </a:r>
          </a:p>
          <a:p>
            <a:pPr marL="1200150" lvl="3" indent="-285750"/>
            <a:endParaRPr lang="en-US" altLang="zh-CN" dirty="0"/>
          </a:p>
          <a:p>
            <a:pPr marL="1200150" lvl="3" indent="-285750"/>
            <a:r>
              <a:rPr lang="en-US" altLang="zh-CN" b="1" dirty="0"/>
              <a:t>Discriminator</a:t>
            </a:r>
            <a:r>
              <a:rPr lang="zh-CN" altLang="en-US" b="1" dirty="0"/>
              <a:t> </a:t>
            </a:r>
            <a:r>
              <a:rPr lang="en-US" altLang="zh-CN" b="1" dirty="0"/>
              <a:t>(</a:t>
            </a:r>
            <a:r>
              <a:rPr lang="en-US" altLang="zh-CN" b="1" i="1" dirty="0"/>
              <a:t>D</a:t>
            </a:r>
            <a:r>
              <a:rPr lang="en-US" altLang="zh-CN" b="1" dirty="0"/>
              <a:t>):</a:t>
            </a:r>
            <a:r>
              <a:rPr lang="zh-CN" altLang="en-US" b="1" dirty="0"/>
              <a:t> </a:t>
            </a:r>
            <a:r>
              <a:rPr lang="en-AU" altLang="zh-CN" b="1" dirty="0"/>
              <a:t> </a:t>
            </a:r>
            <a:r>
              <a:rPr lang="en-AU" altLang="zh-CN" dirty="0"/>
              <a:t>differentiate between real and fake</a:t>
            </a:r>
            <a:r>
              <a:rPr lang="zh-CN" altLang="en-US" dirty="0"/>
              <a:t> </a:t>
            </a:r>
            <a:r>
              <a:rPr lang="en-US" altLang="zh-CN" dirty="0"/>
              <a:t>data</a:t>
            </a:r>
            <a:r>
              <a:rPr lang="en-AU" altLang="zh-CN" dirty="0"/>
              <a:t> samples.</a:t>
            </a:r>
            <a:r>
              <a:rPr lang="zh-CN" altLang="en-US" dirty="0"/>
              <a:t> </a:t>
            </a:r>
            <a:r>
              <a:rPr lang="en-US" altLang="zh-CN" dirty="0"/>
              <a:t>Typically,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AU" altLang="zh-CN" dirty="0"/>
              <a:t>a binary classifier</a:t>
            </a:r>
            <a:r>
              <a:rPr lang="en-US" altLang="zh-CN" dirty="0"/>
              <a:t>:</a:t>
            </a:r>
            <a:r>
              <a:rPr lang="zh-CN" altLang="en-US" dirty="0"/>
              <a:t>     </a:t>
            </a:r>
            <a:r>
              <a:rPr lang="en-US" altLang="zh-CN" dirty="0"/>
              <a:t>(1</a:t>
            </a:r>
            <a:r>
              <a:rPr lang="zh-CN" altLang="en-US" dirty="0"/>
              <a:t> </a:t>
            </a:r>
            <a:r>
              <a:rPr lang="en-US" altLang="zh-CN" dirty="0"/>
              <a:t>-&gt;</a:t>
            </a:r>
            <a:r>
              <a:rPr lang="zh-CN" altLang="en-US" dirty="0"/>
              <a:t> </a:t>
            </a:r>
            <a:r>
              <a:rPr lang="en-US" altLang="zh-CN" dirty="0"/>
              <a:t>Real,</a:t>
            </a:r>
            <a:r>
              <a:rPr lang="zh-CN" altLang="en-US" dirty="0"/>
              <a:t> </a:t>
            </a:r>
            <a:r>
              <a:rPr lang="en-US" altLang="zh-CN" dirty="0"/>
              <a:t>0</a:t>
            </a:r>
            <a:r>
              <a:rPr lang="zh-CN" altLang="en-US" dirty="0"/>
              <a:t> </a:t>
            </a:r>
            <a:r>
              <a:rPr lang="en-US" altLang="zh-CN" dirty="0"/>
              <a:t>-&gt;</a:t>
            </a:r>
            <a:r>
              <a:rPr lang="zh-CN" altLang="en-US" dirty="0"/>
              <a:t> </a:t>
            </a:r>
            <a:r>
              <a:rPr lang="en-US" altLang="zh-CN" dirty="0"/>
              <a:t>False).</a:t>
            </a:r>
          </a:p>
          <a:p>
            <a:pPr marL="1200150" lvl="3" indent="-285750"/>
            <a:endParaRPr lang="en-US" altLang="zh-CN" dirty="0"/>
          </a:p>
          <a:p>
            <a:pPr marL="1200150" lvl="3" indent="-285750"/>
            <a:r>
              <a:rPr lang="en-US" altLang="zh-CN" b="1" dirty="0"/>
              <a:t>Training:</a:t>
            </a:r>
            <a:r>
              <a:rPr lang="zh-CN" altLang="en-US" b="1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two</a:t>
            </a:r>
            <a:r>
              <a:rPr lang="zh-CN" altLang="en-US" dirty="0"/>
              <a:t> </a:t>
            </a:r>
            <a:r>
              <a:rPr lang="en-AU" altLang="zh-CN" dirty="0"/>
              <a:t>networks engage in a </a:t>
            </a:r>
            <a:r>
              <a:rPr lang="en-AU" altLang="zh-CN" b="1" dirty="0"/>
              <a:t>min-max game</a:t>
            </a:r>
            <a:r>
              <a:rPr lang="en-AU" altLang="zh-CN" dirty="0"/>
              <a:t>, where the generator seeks to minimize the discriminator‘s ability to differentiate fake</a:t>
            </a:r>
            <a:r>
              <a:rPr lang="zh-CN" altLang="en-US" dirty="0"/>
              <a:t> </a:t>
            </a:r>
            <a:r>
              <a:rPr lang="en-US" altLang="zh-CN" i="1" dirty="0"/>
              <a:t>G</a:t>
            </a:r>
            <a:r>
              <a:rPr lang="en-US" altLang="zh-CN" dirty="0"/>
              <a:t>(</a:t>
            </a:r>
            <a:r>
              <a:rPr lang="en-US" altLang="zh-CN" i="1" dirty="0"/>
              <a:t>Z</a:t>
            </a:r>
            <a:r>
              <a:rPr lang="en-US" altLang="zh-CN" dirty="0"/>
              <a:t>)</a:t>
            </a:r>
            <a:r>
              <a:rPr lang="en-AU" altLang="zh-CN" dirty="0"/>
              <a:t> from real data</a:t>
            </a:r>
            <a:r>
              <a:rPr lang="zh-CN" altLang="en-US" dirty="0"/>
              <a:t> </a:t>
            </a:r>
            <a:r>
              <a:rPr lang="en-US" altLang="zh-CN" i="1" dirty="0"/>
              <a:t>X</a:t>
            </a:r>
            <a:r>
              <a:rPr lang="en-AU" altLang="zh-CN" dirty="0"/>
              <a:t>, while the discriminator aims to maximize its accuracy. This adversarial training process </a:t>
            </a:r>
            <a:r>
              <a:rPr lang="en-AU" altLang="zh-CN" b="1" dirty="0"/>
              <a:t>converges when the generator produces data</a:t>
            </a:r>
            <a:r>
              <a:rPr lang="zh-CN" altLang="en-US" b="1" dirty="0"/>
              <a:t> </a:t>
            </a:r>
            <a:r>
              <a:rPr lang="en-US" altLang="zh-CN" b="1" i="1" dirty="0"/>
              <a:t>G</a:t>
            </a:r>
            <a:r>
              <a:rPr lang="en-US" altLang="zh-CN" b="1" dirty="0"/>
              <a:t>(</a:t>
            </a:r>
            <a:r>
              <a:rPr lang="en-US" altLang="zh-CN" b="1" i="1" dirty="0"/>
              <a:t>Z</a:t>
            </a:r>
            <a:r>
              <a:rPr lang="en-US" altLang="zh-CN" b="1" dirty="0"/>
              <a:t>)</a:t>
            </a:r>
            <a:r>
              <a:rPr lang="en-AU" altLang="zh-CN" b="1" dirty="0"/>
              <a:t> indistinguishable from real samples</a:t>
            </a:r>
            <a:r>
              <a:rPr lang="zh-CN" altLang="en-US" b="1" dirty="0"/>
              <a:t> </a:t>
            </a:r>
            <a:r>
              <a:rPr lang="en-US" altLang="zh-CN" b="1" i="1" dirty="0"/>
              <a:t>X</a:t>
            </a:r>
            <a:r>
              <a:rPr lang="en-AU" altLang="zh-CN" dirty="0"/>
              <a:t>. </a:t>
            </a:r>
            <a:endParaRPr lang="en-US" altLang="zh-CN" dirty="0"/>
          </a:p>
          <a:p>
            <a:pPr marL="457200" lvl="2" indent="0">
              <a:buNone/>
            </a:pPr>
            <a:endParaRPr lang="en-AU" altLang="zh-CN" dirty="0"/>
          </a:p>
          <a:p>
            <a:pPr marL="177800" lvl="1" indent="-177800"/>
            <a:endParaRPr lang="zh-CN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D99BFC-DBD1-F9C4-14C5-927008E5C009}"/>
              </a:ext>
            </a:extLst>
          </p:cNvPr>
          <p:cNvSpPr txBox="1"/>
          <p:nvPr/>
        </p:nvSpPr>
        <p:spPr>
          <a:xfrm>
            <a:off x="6849645" y="6051485"/>
            <a:ext cx="484341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0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Zhang, C., Yu, S., Tian, Z., &amp; Yu, J. J. (2023). Generative Adversarial Networks: A Survey on Attack and </a:t>
            </a:r>
            <a:r>
              <a:rPr lang="en-AU" sz="1000" b="0" i="1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Defense</a:t>
            </a:r>
            <a:r>
              <a:rPr lang="en-AU" sz="10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Perspective. ACM Computing Surveys.</a:t>
            </a:r>
          </a:p>
          <a:p>
            <a:endParaRPr lang="en-AU" sz="1000" b="0" i="1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8193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B0A70-D443-478D-B59C-107EE2AD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103658-6428-D809-3145-8F9C7A3F4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16" name="标题 1">
            <a:extLst>
              <a:ext uri="{FF2B5EF4-FFF2-40B4-BE49-F238E27FC236}">
                <a16:creationId xmlns:a16="http://schemas.microsoft.com/office/drawing/2014/main" id="{7C21A75E-E8CC-BC2E-D81B-A83284B93839}"/>
              </a:ext>
            </a:extLst>
          </p:cNvPr>
          <p:cNvSpPr txBox="1">
            <a:spLocks/>
          </p:cNvSpPr>
          <p:nvPr/>
        </p:nvSpPr>
        <p:spPr>
          <a:xfrm>
            <a:off x="1173480" y="34427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/>
              <a:t>More</a:t>
            </a:r>
            <a:r>
              <a:rPr lang="zh-CN" altLang="en-US" dirty="0"/>
              <a:t> </a:t>
            </a:r>
            <a:r>
              <a:rPr lang="en-US" altLang="zh-CN" dirty="0"/>
              <a:t>powerful</a:t>
            </a:r>
            <a:r>
              <a:rPr lang="zh-CN" altLang="en-US" dirty="0"/>
              <a:t> </a:t>
            </a:r>
            <a:r>
              <a:rPr lang="en-US" altLang="zh-CN" dirty="0"/>
              <a:t>GANs</a:t>
            </a:r>
            <a:r>
              <a:rPr lang="zh-CN" altLang="en-US" dirty="0"/>
              <a:t> </a:t>
            </a:r>
            <a:r>
              <a:rPr lang="en-US" altLang="zh-CN" dirty="0"/>
              <a:t>-</a:t>
            </a:r>
            <a:r>
              <a:rPr lang="zh-CN" altLang="en-US" dirty="0"/>
              <a:t> </a:t>
            </a:r>
            <a:r>
              <a:rPr lang="en-US" altLang="zh-CN" dirty="0"/>
              <a:t>GANs’</a:t>
            </a:r>
            <a:r>
              <a:rPr lang="zh-CN" altLang="en-US" dirty="0"/>
              <a:t> </a:t>
            </a:r>
            <a:r>
              <a:rPr lang="en-US" altLang="zh-CN" dirty="0"/>
              <a:t>variants</a:t>
            </a:r>
            <a:endParaRPr lang="zh-CN" altLang="en-US" dirty="0"/>
          </a:p>
        </p:txBody>
      </p:sp>
      <p:pic>
        <p:nvPicPr>
          <p:cNvPr id="3" name="Picture 2" descr="A diagram of a sample&#10;&#10;Description automatically generated">
            <a:extLst>
              <a:ext uri="{FF2B5EF4-FFF2-40B4-BE49-F238E27FC236}">
                <a16:creationId xmlns:a16="http://schemas.microsoft.com/office/drawing/2014/main" id="{A75324BA-245A-702A-FB95-45451A2E60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5674" y="1560523"/>
            <a:ext cx="3095451" cy="1770308"/>
          </a:xfrm>
          <a:prstGeom prst="rect">
            <a:avLst/>
          </a:prstGeom>
        </p:spPr>
      </p:pic>
      <p:pic>
        <p:nvPicPr>
          <p:cNvPr id="7" name="Picture 6" descr="A diagram of a sample process&#10;&#10;Description automatically generated">
            <a:extLst>
              <a:ext uri="{FF2B5EF4-FFF2-40B4-BE49-F238E27FC236}">
                <a16:creationId xmlns:a16="http://schemas.microsoft.com/office/drawing/2014/main" id="{C40A1DED-9A28-EB50-BE88-AEE8307273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209" y="3981165"/>
            <a:ext cx="2992975" cy="1551176"/>
          </a:xfrm>
          <a:prstGeom prst="rect">
            <a:avLst/>
          </a:prstGeom>
        </p:spPr>
      </p:pic>
      <p:sp>
        <p:nvSpPr>
          <p:cNvPr id="8" name="内容占位符 2">
            <a:extLst>
              <a:ext uri="{FF2B5EF4-FFF2-40B4-BE49-F238E27FC236}">
                <a16:creationId xmlns:a16="http://schemas.microsoft.com/office/drawing/2014/main" id="{EB88ACCF-71F1-3A5A-E6BC-72D94D549C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288758" y="1200194"/>
            <a:ext cx="6314173" cy="5561943"/>
          </a:xfrm>
        </p:spPr>
        <p:txBody>
          <a:bodyPr>
            <a:normAutofit/>
          </a:bodyPr>
          <a:lstStyle/>
          <a:p>
            <a:pPr marL="177800" lvl="1" indent="-177800"/>
            <a:endParaRPr lang="en-US" altLang="zh-CN" b="1" dirty="0"/>
          </a:p>
          <a:p>
            <a:pPr marL="1200150" lvl="3" indent="-285750"/>
            <a:r>
              <a:rPr lang="en-US" altLang="zh-CN" b="1" dirty="0"/>
              <a:t>Conditional</a:t>
            </a:r>
            <a:r>
              <a:rPr lang="zh-CN" altLang="en-US" b="1" dirty="0"/>
              <a:t> </a:t>
            </a:r>
            <a:r>
              <a:rPr lang="en-US" altLang="zh-CN" b="1" dirty="0"/>
              <a:t>GAN</a:t>
            </a:r>
            <a:r>
              <a:rPr lang="zh-CN" altLang="en-US" b="1" dirty="0"/>
              <a:t> </a:t>
            </a:r>
            <a:r>
              <a:rPr lang="en-US" altLang="zh-CN" b="1" dirty="0"/>
              <a:t>(CGAN)</a:t>
            </a:r>
            <a:r>
              <a:rPr lang="en-AU" altLang="zh-CN" b="1" dirty="0"/>
              <a:t> </a:t>
            </a:r>
            <a:r>
              <a:rPr lang="en-AU" altLang="zh-CN" dirty="0"/>
              <a:t>introduces </a:t>
            </a:r>
            <a:r>
              <a:rPr lang="en-AU" altLang="zh-CN" b="1" dirty="0"/>
              <a:t>conditional information</a:t>
            </a:r>
            <a:r>
              <a:rPr lang="zh-CN" altLang="en-US" dirty="0"/>
              <a:t> </a:t>
            </a:r>
            <a:r>
              <a:rPr lang="en-US" altLang="zh-CN" dirty="0"/>
              <a:t>(e.g.,</a:t>
            </a:r>
            <a:r>
              <a:rPr lang="zh-CN" altLang="en-US" dirty="0"/>
              <a:t> </a:t>
            </a:r>
            <a:r>
              <a:rPr lang="en-US" altLang="zh-CN" dirty="0"/>
              <a:t>class</a:t>
            </a:r>
            <a:r>
              <a:rPr lang="zh-CN" altLang="en-US" dirty="0"/>
              <a:t> </a:t>
            </a:r>
            <a:r>
              <a:rPr lang="en-US" altLang="zh-CN" dirty="0"/>
              <a:t>information)</a:t>
            </a:r>
            <a:r>
              <a:rPr lang="en-AU" altLang="zh-CN" dirty="0"/>
              <a:t> during the data generation process</a:t>
            </a:r>
            <a:r>
              <a:rPr lang="en-US" altLang="zh-CN" dirty="0"/>
              <a:t>.</a:t>
            </a:r>
            <a:r>
              <a:rPr lang="zh-CN" altLang="en-US" dirty="0"/>
              <a:t> </a:t>
            </a:r>
            <a:r>
              <a:rPr lang="en-US" altLang="zh-CN" dirty="0"/>
              <a:t>CGAN</a:t>
            </a:r>
            <a:r>
              <a:rPr lang="zh-CN" altLang="en-US" dirty="0"/>
              <a:t> </a:t>
            </a:r>
            <a:r>
              <a:rPr lang="en-US" altLang="zh-CN" dirty="0"/>
              <a:t>enables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not</a:t>
            </a:r>
            <a:r>
              <a:rPr lang="zh-CN" altLang="en-US" dirty="0"/>
              <a:t> </a:t>
            </a:r>
            <a:r>
              <a:rPr lang="en-AU" altLang="zh-CN" dirty="0"/>
              <a:t>solely generate data from random noise but incorporates additional conditional information</a:t>
            </a:r>
            <a:r>
              <a:rPr lang="en-US" altLang="zh-CN" dirty="0"/>
              <a:t>.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way,</a:t>
            </a:r>
            <a:r>
              <a:rPr lang="zh-CN" altLang="en-US" dirty="0"/>
              <a:t> </a:t>
            </a:r>
            <a:r>
              <a:rPr lang="en-US" altLang="zh-CN" dirty="0"/>
              <a:t>we</a:t>
            </a:r>
            <a:r>
              <a:rPr lang="zh-CN" altLang="en-US" dirty="0"/>
              <a:t> </a:t>
            </a:r>
            <a:r>
              <a:rPr lang="en-US" altLang="zh-CN" dirty="0"/>
              <a:t>can</a:t>
            </a:r>
            <a:r>
              <a:rPr lang="zh-CN" altLang="en-US" dirty="0"/>
              <a:t> </a:t>
            </a:r>
            <a:r>
              <a:rPr lang="en-US" altLang="zh-CN" dirty="0"/>
              <a:t>specify</a:t>
            </a:r>
            <a:r>
              <a:rPr lang="zh-CN" altLang="en-US" dirty="0"/>
              <a:t> </a:t>
            </a:r>
            <a:r>
              <a:rPr lang="en-US" altLang="zh-CN" dirty="0"/>
              <a:t>attributes</a:t>
            </a:r>
            <a:r>
              <a:rPr lang="zh-CN" altLang="en-US" dirty="0"/>
              <a:t> </a:t>
            </a:r>
            <a:r>
              <a:rPr lang="en-US" altLang="zh-CN" dirty="0"/>
              <a:t>(e.g.,</a:t>
            </a:r>
            <a:r>
              <a:rPr lang="zh-CN" altLang="en-US" dirty="0"/>
              <a:t> </a:t>
            </a:r>
            <a:r>
              <a:rPr lang="en-US" altLang="zh-CN" dirty="0"/>
              <a:t>genders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species)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sample</a:t>
            </a:r>
            <a:r>
              <a:rPr lang="zh-CN" altLang="en-US" dirty="0"/>
              <a:t> </a:t>
            </a:r>
            <a:r>
              <a:rPr lang="en-US" altLang="zh-CN" dirty="0"/>
              <a:t>generation.</a:t>
            </a:r>
          </a:p>
          <a:p>
            <a:pPr marL="1200150" lvl="3" indent="-285750"/>
            <a:endParaRPr lang="en-US" altLang="zh-CN" dirty="0"/>
          </a:p>
          <a:p>
            <a:pPr marL="1200150" lvl="3" indent="-285750"/>
            <a:endParaRPr lang="en-US" altLang="zh-CN" dirty="0"/>
          </a:p>
          <a:p>
            <a:pPr marL="1200150" lvl="3" indent="-285750"/>
            <a:r>
              <a:rPr lang="en-AU" altLang="zh-CN" b="1" dirty="0"/>
              <a:t>Auxiliary Classifier</a:t>
            </a:r>
            <a:r>
              <a:rPr lang="zh-CN" altLang="en-US" b="1" dirty="0"/>
              <a:t> </a:t>
            </a:r>
            <a:r>
              <a:rPr lang="en-US" altLang="zh-CN" b="1" dirty="0"/>
              <a:t>GAN</a:t>
            </a:r>
            <a:r>
              <a:rPr lang="zh-CN" altLang="en-US" b="1" dirty="0"/>
              <a:t> </a:t>
            </a:r>
            <a:r>
              <a:rPr lang="en-US" altLang="zh-CN" b="1" dirty="0"/>
              <a:t>(ACGAN)</a:t>
            </a:r>
            <a:r>
              <a:rPr lang="zh-CN" altLang="en-US" b="1" dirty="0"/>
              <a:t> </a:t>
            </a:r>
            <a:r>
              <a:rPr lang="en-AU" altLang="zh-CN" dirty="0"/>
              <a:t>introduces auxiliary classifiers into the GAN architecture</a:t>
            </a:r>
            <a:r>
              <a:rPr lang="en-US" altLang="zh-CN" dirty="0"/>
              <a:t>.</a:t>
            </a:r>
            <a:r>
              <a:rPr lang="zh-CN" altLang="en-US" dirty="0"/>
              <a:t> </a:t>
            </a:r>
            <a:r>
              <a:rPr lang="en-US" altLang="zh-CN" dirty="0"/>
              <a:t>ACGAN</a:t>
            </a:r>
            <a:r>
              <a:rPr lang="en-AU" altLang="zh-CN" dirty="0"/>
              <a:t> providing a multi-task learning setup that not only generates realistic data but also </a:t>
            </a:r>
            <a:r>
              <a:rPr lang="en-US" altLang="zh-CN" dirty="0"/>
              <a:t>enables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AU" altLang="zh-CN" dirty="0" err="1"/>
              <a:t>classif</a:t>
            </a:r>
            <a:r>
              <a:rPr lang="en-US" altLang="zh-CN" dirty="0"/>
              <a:t>y</a:t>
            </a:r>
            <a:r>
              <a:rPr lang="en-AU" altLang="zh-CN" dirty="0"/>
              <a:t> it into predefined categories.</a:t>
            </a:r>
          </a:p>
          <a:p>
            <a:pPr marL="1200150" lvl="3" indent="-285750"/>
            <a:endParaRPr lang="en-US" altLang="zh-CN" dirty="0"/>
          </a:p>
          <a:p>
            <a:pPr marL="457200" lvl="2" indent="0">
              <a:buNone/>
            </a:pPr>
            <a:endParaRPr lang="en-AU" altLang="zh-CN" dirty="0"/>
          </a:p>
          <a:p>
            <a:pPr marL="177800" lvl="1" indent="-17780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74795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B0A70-D443-478D-B59C-107EE2AD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103658-6428-D809-3145-8F9C7A3F4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18" name="标题 1">
            <a:extLst>
              <a:ext uri="{FF2B5EF4-FFF2-40B4-BE49-F238E27FC236}">
                <a16:creationId xmlns:a16="http://schemas.microsoft.com/office/drawing/2014/main" id="{07A27D41-2BB0-FE39-CE99-659BCDE857DF}"/>
              </a:ext>
            </a:extLst>
          </p:cNvPr>
          <p:cNvSpPr txBox="1">
            <a:spLocks/>
          </p:cNvSpPr>
          <p:nvPr/>
        </p:nvSpPr>
        <p:spPr>
          <a:xfrm>
            <a:off x="838199" y="272632"/>
            <a:ext cx="583586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4000" dirty="0"/>
              <a:t>Learning/training strategy</a:t>
            </a:r>
          </a:p>
        </p:txBody>
      </p:sp>
      <p:sp>
        <p:nvSpPr>
          <p:cNvPr id="2" name="内容占位符 2">
            <a:extLst>
              <a:ext uri="{FF2B5EF4-FFF2-40B4-BE49-F238E27FC236}">
                <a16:creationId xmlns:a16="http://schemas.microsoft.com/office/drawing/2014/main" id="{A546F324-6614-E390-7DDD-7DC711714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69971"/>
            <a:ext cx="10313276" cy="5561943"/>
          </a:xfrm>
        </p:spPr>
        <p:txBody>
          <a:bodyPr>
            <a:normAutofit/>
          </a:bodyPr>
          <a:lstStyle/>
          <a:p>
            <a:pPr marL="177800" lvl="1" indent="-177800"/>
            <a:endParaRPr lang="en-US" altLang="zh-CN" b="1" dirty="0"/>
          </a:p>
          <a:p>
            <a:pPr marL="177800" lvl="1" indent="-177800"/>
            <a:r>
              <a:rPr lang="en-US" altLang="zh-CN" b="1" dirty="0"/>
              <a:t>Transfer</a:t>
            </a:r>
            <a:r>
              <a:rPr lang="zh-CN" altLang="en-US" b="1" dirty="0"/>
              <a:t> </a:t>
            </a:r>
            <a:r>
              <a:rPr lang="en-US" altLang="zh-CN" b="1" dirty="0"/>
              <a:t>Learning - </a:t>
            </a:r>
            <a:r>
              <a:rPr lang="en-US" altLang="zh-CN" dirty="0"/>
              <a:t>to achieve style transferring</a:t>
            </a:r>
          </a:p>
          <a:p>
            <a:pPr marL="635000" lvl="2" indent="-177800"/>
            <a:r>
              <a:rPr lang="en-US" altLang="zh-CN" dirty="0"/>
              <a:t>One-to-one:</a:t>
            </a:r>
            <a:r>
              <a:rPr lang="zh-CN" altLang="en-US" dirty="0"/>
              <a:t> </a:t>
            </a:r>
            <a:r>
              <a:rPr lang="en-AU" altLang="zh-CN" dirty="0"/>
              <a:t>A</a:t>
            </a:r>
            <a:r>
              <a:rPr lang="zh-CN" altLang="en-US" dirty="0"/>
              <a:t> </a:t>
            </a:r>
            <a:r>
              <a:rPr lang="en-AU" altLang="zh-CN" dirty="0"/>
              <a:t>model</a:t>
            </a:r>
            <a:r>
              <a:rPr lang="zh-CN" altLang="en-US" dirty="0"/>
              <a:t> </a:t>
            </a:r>
            <a:r>
              <a:rPr lang="en-AU" altLang="zh-CN" dirty="0"/>
              <a:t>that</a:t>
            </a:r>
            <a:r>
              <a:rPr lang="zh-CN" altLang="en-US" dirty="0"/>
              <a:t> </a:t>
            </a:r>
            <a:r>
              <a:rPr lang="en-AU" altLang="zh-CN" dirty="0"/>
              <a:t>uses</a:t>
            </a:r>
            <a:r>
              <a:rPr lang="zh-CN" altLang="en-US" dirty="0"/>
              <a:t> </a:t>
            </a:r>
            <a:r>
              <a:rPr lang="en-AU" altLang="zh-CN" dirty="0"/>
              <a:t>a</a:t>
            </a:r>
            <a:r>
              <a:rPr lang="zh-CN" altLang="en-US" dirty="0"/>
              <a:t> </a:t>
            </a:r>
            <a:r>
              <a:rPr lang="en-AU" altLang="zh-CN" dirty="0"/>
              <a:t>specific</a:t>
            </a:r>
            <a:r>
              <a:rPr lang="zh-CN" altLang="en-US" dirty="0"/>
              <a:t> </a:t>
            </a:r>
            <a:r>
              <a:rPr lang="en-AU" altLang="zh-CN" dirty="0"/>
              <a:t>identity</a:t>
            </a:r>
            <a:r>
              <a:rPr lang="zh-CN" altLang="en-US" dirty="0"/>
              <a:t> </a:t>
            </a:r>
            <a:r>
              <a:rPr lang="en-AU" altLang="zh-CN" dirty="0"/>
              <a:t>to</a:t>
            </a:r>
            <a:r>
              <a:rPr lang="zh-CN" altLang="en-US" dirty="0"/>
              <a:t> </a:t>
            </a:r>
            <a:r>
              <a:rPr lang="en-AU" altLang="zh-CN" dirty="0"/>
              <a:t>drive</a:t>
            </a:r>
            <a:r>
              <a:rPr lang="zh-CN" altLang="en-US" dirty="0"/>
              <a:t> </a:t>
            </a:r>
            <a:r>
              <a:rPr lang="en-AU" altLang="zh-CN" dirty="0"/>
              <a:t>a</a:t>
            </a:r>
            <a:r>
              <a:rPr lang="zh-CN" altLang="en-US" dirty="0"/>
              <a:t> </a:t>
            </a:r>
            <a:r>
              <a:rPr lang="en-AU" altLang="zh-CN" dirty="0"/>
              <a:t>specific</a:t>
            </a:r>
            <a:r>
              <a:rPr lang="zh-CN" altLang="en-US" dirty="0"/>
              <a:t> </a:t>
            </a:r>
            <a:r>
              <a:rPr lang="en-AU" altLang="zh-CN" dirty="0"/>
              <a:t>identity</a:t>
            </a:r>
            <a:r>
              <a:rPr lang="en-US" altLang="zh-CN" dirty="0"/>
              <a:t>.</a:t>
            </a:r>
            <a:endParaRPr lang="en-AU" altLang="zh-CN" dirty="0"/>
          </a:p>
          <a:p>
            <a:pPr marL="635000" lvl="2" indent="-177800"/>
            <a:r>
              <a:rPr lang="en-US" altLang="zh-CN" dirty="0"/>
              <a:t>Many-to-one:</a:t>
            </a:r>
            <a:r>
              <a:rPr lang="zh-CN" altLang="en-US" dirty="0"/>
              <a:t> </a:t>
            </a:r>
            <a:r>
              <a:rPr lang="en-AU" altLang="zh-CN" dirty="0"/>
              <a:t>A</a:t>
            </a:r>
            <a:r>
              <a:rPr lang="zh-CN" altLang="en-US" dirty="0"/>
              <a:t> </a:t>
            </a:r>
            <a:r>
              <a:rPr lang="en-AU" altLang="zh-CN" dirty="0"/>
              <a:t>model</a:t>
            </a:r>
            <a:r>
              <a:rPr lang="zh-CN" altLang="en-US" dirty="0"/>
              <a:t> </a:t>
            </a:r>
            <a:r>
              <a:rPr lang="en-AU" altLang="zh-CN" dirty="0"/>
              <a:t>that</a:t>
            </a:r>
            <a:r>
              <a:rPr lang="zh-CN" altLang="en-US" dirty="0"/>
              <a:t> </a:t>
            </a:r>
            <a:r>
              <a:rPr lang="en-AU" altLang="zh-CN" dirty="0"/>
              <a:t>uses</a:t>
            </a:r>
            <a:r>
              <a:rPr lang="zh-CN" altLang="en-US" dirty="0"/>
              <a:t>  </a:t>
            </a:r>
            <a:r>
              <a:rPr lang="en-US" altLang="zh-CN" dirty="0"/>
              <a:t>many</a:t>
            </a:r>
            <a:r>
              <a:rPr lang="zh-CN" altLang="en-US" dirty="0"/>
              <a:t> </a:t>
            </a:r>
            <a:r>
              <a:rPr lang="en-AU" altLang="zh-CN" dirty="0" err="1"/>
              <a:t>identit</a:t>
            </a:r>
            <a:r>
              <a:rPr lang="en-US" altLang="zh-CN" dirty="0" err="1"/>
              <a:t>ies</a:t>
            </a:r>
            <a:r>
              <a:rPr lang="zh-CN" altLang="en-US" dirty="0"/>
              <a:t> </a:t>
            </a:r>
            <a:r>
              <a:rPr lang="en-AU" altLang="zh-CN" dirty="0"/>
              <a:t>to</a:t>
            </a:r>
            <a:r>
              <a:rPr lang="zh-CN" altLang="en-US" dirty="0"/>
              <a:t> </a:t>
            </a:r>
            <a:r>
              <a:rPr lang="en-AU" altLang="zh-CN" dirty="0"/>
              <a:t>drive</a:t>
            </a:r>
            <a:r>
              <a:rPr lang="zh-CN" altLang="en-US" dirty="0"/>
              <a:t> </a:t>
            </a:r>
            <a:r>
              <a:rPr lang="en-AU" altLang="zh-CN" dirty="0"/>
              <a:t>a</a:t>
            </a:r>
            <a:r>
              <a:rPr lang="zh-CN" altLang="en-US" dirty="0"/>
              <a:t> </a:t>
            </a:r>
            <a:r>
              <a:rPr lang="en-AU" altLang="zh-CN" dirty="0"/>
              <a:t>specific</a:t>
            </a:r>
            <a:r>
              <a:rPr lang="zh-CN" altLang="en-US" dirty="0"/>
              <a:t> </a:t>
            </a:r>
            <a:r>
              <a:rPr lang="en-AU" altLang="zh-CN" dirty="0"/>
              <a:t>identity</a:t>
            </a:r>
            <a:r>
              <a:rPr lang="en-US" altLang="zh-CN" dirty="0"/>
              <a:t>.</a:t>
            </a:r>
          </a:p>
          <a:p>
            <a:pPr marL="635000" lvl="2" indent="-177800"/>
            <a:r>
              <a:rPr lang="en-US" altLang="zh-CN" dirty="0"/>
              <a:t>Many-to-many:</a:t>
            </a:r>
            <a:r>
              <a:rPr lang="zh-CN" altLang="en-US" dirty="0"/>
              <a:t>  </a:t>
            </a:r>
            <a:r>
              <a:rPr lang="en-AU" altLang="zh-CN" dirty="0"/>
              <a:t>A</a:t>
            </a:r>
            <a:r>
              <a:rPr lang="zh-CN" altLang="en-US" dirty="0"/>
              <a:t> </a:t>
            </a:r>
            <a:r>
              <a:rPr lang="en-AU" altLang="zh-CN" dirty="0"/>
              <a:t>model</a:t>
            </a:r>
            <a:r>
              <a:rPr lang="zh-CN" altLang="en-US" dirty="0"/>
              <a:t> </a:t>
            </a:r>
            <a:r>
              <a:rPr lang="en-AU" altLang="zh-CN" dirty="0"/>
              <a:t>that</a:t>
            </a:r>
            <a:r>
              <a:rPr lang="zh-CN" altLang="en-US" dirty="0"/>
              <a:t> </a:t>
            </a:r>
            <a:r>
              <a:rPr lang="en-AU" altLang="zh-CN" dirty="0"/>
              <a:t>uses</a:t>
            </a:r>
            <a:r>
              <a:rPr lang="zh-CN" altLang="en-US" dirty="0"/>
              <a:t> </a:t>
            </a:r>
            <a:r>
              <a:rPr lang="en-US" altLang="zh-CN" dirty="0"/>
              <a:t>any</a:t>
            </a:r>
            <a:r>
              <a:rPr lang="zh-CN" altLang="en-US" dirty="0"/>
              <a:t> </a:t>
            </a:r>
            <a:r>
              <a:rPr lang="en-AU" altLang="zh-CN" dirty="0"/>
              <a:t>identity</a:t>
            </a:r>
            <a:r>
              <a:rPr lang="zh-CN" altLang="en-US" dirty="0"/>
              <a:t> </a:t>
            </a:r>
            <a:r>
              <a:rPr lang="en-AU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any</a:t>
            </a:r>
            <a:r>
              <a:rPr lang="zh-CN" altLang="en-US" dirty="0"/>
              <a:t> </a:t>
            </a:r>
            <a:r>
              <a:rPr lang="en-AU" altLang="zh-CN" dirty="0"/>
              <a:t>identity</a:t>
            </a:r>
            <a:r>
              <a:rPr lang="en-US" altLang="zh-CN" dirty="0"/>
              <a:t>.</a:t>
            </a:r>
          </a:p>
          <a:p>
            <a:pPr marL="635000" lvl="2" indent="-177800"/>
            <a:r>
              <a:rPr lang="en-US" altLang="zh-CN" dirty="0"/>
              <a:t>Multi-modal source: A model use modal-A source (e.g., audio) to drive a model-B target (e.g., video).</a:t>
            </a:r>
          </a:p>
          <a:p>
            <a:pPr marL="635000" lvl="2" indent="-177800"/>
            <a:endParaRPr lang="en-US" altLang="zh-CN" dirty="0"/>
          </a:p>
          <a:p>
            <a:pPr marL="177800" lvl="1" indent="-177800"/>
            <a:endParaRPr lang="en-US" altLang="zh-CN" dirty="0"/>
          </a:p>
          <a:p>
            <a:pPr marL="177800" lvl="1" indent="-177800"/>
            <a:r>
              <a:rPr lang="en-US" altLang="zh-CN" b="1" dirty="0"/>
              <a:t>Few-shot</a:t>
            </a:r>
            <a:r>
              <a:rPr lang="zh-CN" altLang="en-US" b="1" dirty="0"/>
              <a:t> </a:t>
            </a:r>
            <a:r>
              <a:rPr lang="en-US" altLang="zh-CN" b="1" dirty="0"/>
              <a:t>Learning - </a:t>
            </a:r>
            <a:r>
              <a:rPr lang="en-US" altLang="zh-CN" dirty="0"/>
              <a:t>to handle lack of source samples</a:t>
            </a:r>
          </a:p>
          <a:p>
            <a:pPr marL="635000" lvl="2" indent="-177800"/>
            <a:r>
              <a:rPr lang="en-US" altLang="zh-CN" dirty="0"/>
              <a:t>Pretrain + few samples fine tuning.</a:t>
            </a:r>
          </a:p>
          <a:p>
            <a:pPr marL="635000" lvl="2" indent="-177800"/>
            <a:r>
              <a:rPr lang="en-US" altLang="zh-CN" dirty="0"/>
              <a:t>Contrastive learning</a:t>
            </a:r>
          </a:p>
          <a:p>
            <a:pPr marL="914400" lvl="3" indent="0">
              <a:buNone/>
            </a:pPr>
            <a:r>
              <a:rPr lang="en-US" altLang="zh-CN" dirty="0"/>
              <a:t>					</a:t>
            </a:r>
          </a:p>
          <a:p>
            <a:pPr marL="457200" lvl="2" indent="0">
              <a:buNone/>
            </a:pPr>
            <a:endParaRPr lang="en-AU" altLang="zh-CN" dirty="0"/>
          </a:p>
          <a:p>
            <a:pPr marL="177800" lvl="1" indent="-17780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585299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B0A70-D443-478D-B59C-107EE2AD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103658-6428-D809-3145-8F9C7A3F4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18" name="标题 1">
            <a:extLst>
              <a:ext uri="{FF2B5EF4-FFF2-40B4-BE49-F238E27FC236}">
                <a16:creationId xmlns:a16="http://schemas.microsoft.com/office/drawing/2014/main" id="{07A27D41-2BB0-FE39-CE99-659BCDE857DF}"/>
              </a:ext>
            </a:extLst>
          </p:cNvPr>
          <p:cNvSpPr txBox="1">
            <a:spLocks/>
          </p:cNvSpPr>
          <p:nvPr/>
        </p:nvSpPr>
        <p:spPr>
          <a:xfrm>
            <a:off x="761614" y="2506236"/>
            <a:ext cx="1153247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i="1" dirty="0"/>
              <a:t>Practical Deepfake models can be compounded</a:t>
            </a:r>
            <a:r>
              <a:rPr lang="zh-CN" altLang="en-US" sz="3200" i="1" dirty="0"/>
              <a:t> </a:t>
            </a:r>
            <a:r>
              <a:rPr lang="en-US" altLang="zh-CN" sz="3200" i="1" dirty="0"/>
              <a:t>and</a:t>
            </a:r>
            <a:r>
              <a:rPr lang="zh-CN" altLang="en-US" sz="3200" i="1" dirty="0"/>
              <a:t> </a:t>
            </a:r>
            <a:r>
              <a:rPr lang="en-US" altLang="zh-CN" sz="3200" i="1" dirty="0"/>
              <a:t>orchestrated! </a:t>
            </a:r>
          </a:p>
        </p:txBody>
      </p:sp>
    </p:spTree>
    <p:extLst>
      <p:ext uri="{BB962C8B-B14F-4D97-AF65-F5344CB8AC3E}">
        <p14:creationId xmlns:p14="http://schemas.microsoft.com/office/powerpoint/2010/main" val="11087700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91EF35-7C3D-4DFB-B377-09B89CC46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553497" cy="1325563"/>
          </a:xfrm>
        </p:spPr>
        <p:txBody>
          <a:bodyPr>
            <a:normAutofit/>
          </a:bodyPr>
          <a:lstStyle/>
          <a:p>
            <a:r>
              <a:rPr lang="en-US" altLang="zh-CN" sz="3200" dirty="0"/>
              <a:t>Facial</a:t>
            </a:r>
            <a:r>
              <a:rPr lang="zh-CN" altLang="en-US" sz="3200" dirty="0"/>
              <a:t> </a:t>
            </a:r>
            <a:r>
              <a:rPr lang="en-US" altLang="zh-CN" sz="3200" dirty="0"/>
              <a:t>deepfake:</a:t>
            </a:r>
            <a:r>
              <a:rPr lang="zh-CN" altLang="en-US" sz="3200" dirty="0"/>
              <a:t> </a:t>
            </a:r>
            <a:r>
              <a:rPr lang="en-AU" altLang="zh-CN" sz="3200" dirty="0"/>
              <a:t>D</a:t>
            </a:r>
            <a:r>
              <a:rPr lang="en-US" altLang="zh-CN" sz="3200" dirty="0" err="1"/>
              <a:t>eepfake</a:t>
            </a:r>
            <a:r>
              <a:rPr lang="zh-CN" altLang="en-US" sz="3200" dirty="0"/>
              <a:t> </a:t>
            </a:r>
            <a:r>
              <a:rPr lang="en-US" altLang="zh-CN" sz="3200" dirty="0"/>
              <a:t>attacks</a:t>
            </a:r>
            <a:r>
              <a:rPr lang="zh-CN" altLang="en-US" sz="3200" dirty="0"/>
              <a:t> </a:t>
            </a:r>
            <a:r>
              <a:rPr lang="en-US" altLang="zh-CN" sz="3200" dirty="0"/>
              <a:t>against</a:t>
            </a:r>
            <a:r>
              <a:rPr lang="zh-CN" altLang="en-US" sz="3200" dirty="0"/>
              <a:t> </a:t>
            </a:r>
            <a:r>
              <a:rPr lang="en-US" altLang="zh-CN" sz="3200" dirty="0"/>
              <a:t>human</a:t>
            </a:r>
            <a:r>
              <a:rPr lang="zh-CN" altLang="en-US" sz="3200" dirty="0"/>
              <a:t> </a:t>
            </a:r>
            <a:r>
              <a:rPr lang="en-US" altLang="zh-CN" sz="3200" dirty="0"/>
              <a:t>visuals</a:t>
            </a:r>
            <a:endParaRPr lang="zh-CN" altLang="en-US" sz="3200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D9DAF78-0E4C-44EC-A257-61BD3C79D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784D10-3345-A157-8D7A-2046DA02F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pic>
        <p:nvPicPr>
          <p:cNvPr id="9" name="Picture 8" descr="A diagram of a diagram&#10;&#10;Description automatically generated">
            <a:extLst>
              <a:ext uri="{FF2B5EF4-FFF2-40B4-BE49-F238E27FC236}">
                <a16:creationId xmlns:a16="http://schemas.microsoft.com/office/drawing/2014/main" id="{5ECB77AD-357B-0ECF-55A0-142994E076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75" y="1586148"/>
            <a:ext cx="3174848" cy="410327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E41FF21-65F0-8C93-AF2B-17D587BB3613}"/>
              </a:ext>
            </a:extLst>
          </p:cNvPr>
          <p:cNvSpPr txBox="1"/>
          <p:nvPr/>
        </p:nvSpPr>
        <p:spPr>
          <a:xfrm>
            <a:off x="838199" y="5927227"/>
            <a:ext cx="404911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0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Mirsky, Y., &amp; Lee, W. (2021). The creation and detection of deepfakes: A survey. ACM Computing Surveys (CSUR), 54(1), 1-41.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03D2E1-7AE1-4107-9C92-D5CEA78F14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2813" y="1990015"/>
            <a:ext cx="7541173" cy="4502860"/>
          </a:xfrm>
        </p:spPr>
        <p:txBody>
          <a:bodyPr>
            <a:normAutofit/>
          </a:bodyPr>
          <a:lstStyle/>
          <a:p>
            <a:pPr marL="177800" lvl="1" indent="-177800"/>
            <a:endParaRPr lang="en-US" altLang="zh-CN" b="1" dirty="0"/>
          </a:p>
          <a:p>
            <a:pPr marL="457200" lvl="2" indent="0">
              <a:buNone/>
            </a:pPr>
            <a:r>
              <a:rPr lang="en-US" altLang="zh-CN" b="1" dirty="0"/>
              <a:t>Two</a:t>
            </a:r>
            <a:r>
              <a:rPr lang="zh-CN" altLang="en-US" b="1" dirty="0"/>
              <a:t> </a:t>
            </a:r>
            <a:r>
              <a:rPr lang="en-US" altLang="zh-CN" b="1" dirty="0"/>
              <a:t>typical</a:t>
            </a:r>
            <a:r>
              <a:rPr lang="zh-CN" altLang="en-US" b="1" dirty="0"/>
              <a:t> </a:t>
            </a:r>
            <a:r>
              <a:rPr lang="en-US" altLang="zh-CN" b="1" dirty="0"/>
              <a:t>attacks:</a:t>
            </a:r>
          </a:p>
          <a:p>
            <a:pPr marL="1092200" lvl="3" indent="-177800"/>
            <a:r>
              <a:rPr lang="en-US" altLang="zh-CN" sz="1800" b="1" i="1" dirty="0"/>
              <a:t>Deepfake</a:t>
            </a:r>
            <a:r>
              <a:rPr lang="zh-CN" altLang="en-US" sz="1800" i="1" dirty="0"/>
              <a:t> </a:t>
            </a:r>
            <a:r>
              <a:rPr lang="en-US" altLang="zh-CN" sz="1800" i="1" dirty="0"/>
              <a:t>aims</a:t>
            </a:r>
            <a:r>
              <a:rPr lang="zh-CN" altLang="en-US" sz="1800" i="1" dirty="0"/>
              <a:t> </a:t>
            </a:r>
            <a:r>
              <a:rPr lang="en-US" altLang="zh-CN" sz="1800" i="1" dirty="0"/>
              <a:t>at</a:t>
            </a:r>
            <a:r>
              <a:rPr lang="zh-CN" altLang="en-US" sz="1800" i="1" dirty="0"/>
              <a:t> </a:t>
            </a:r>
            <a:r>
              <a:rPr lang="en-US" altLang="zh-CN" sz="1800" i="1" dirty="0"/>
              <a:t>confusing</a:t>
            </a:r>
            <a:r>
              <a:rPr lang="zh-CN" altLang="en-US" sz="1800" i="1" dirty="0"/>
              <a:t> </a:t>
            </a:r>
            <a:r>
              <a:rPr lang="en-US" altLang="zh-CN" sz="1800" b="1" i="1" dirty="0"/>
              <a:t>human-beings (</a:t>
            </a:r>
            <a:r>
              <a:rPr lang="en-US" altLang="zh-CN" b="1" i="1" dirty="0"/>
              <a:t>Type</a:t>
            </a:r>
            <a:r>
              <a:rPr lang="zh-CN" altLang="en-US" b="1" i="1" dirty="0"/>
              <a:t> </a:t>
            </a:r>
            <a:r>
              <a:rPr lang="en-US" altLang="zh-CN" b="1" i="1" dirty="0"/>
              <a:t>I</a:t>
            </a:r>
            <a:r>
              <a:rPr lang="zh-CN" altLang="en-US" b="1" i="1" dirty="0"/>
              <a:t> </a:t>
            </a:r>
            <a:r>
              <a:rPr lang="en-US" altLang="zh-CN" b="1" i="1" dirty="0"/>
              <a:t>attack</a:t>
            </a:r>
            <a:r>
              <a:rPr lang="en-US" altLang="zh-CN" sz="1800" b="1" i="1" dirty="0"/>
              <a:t>)</a:t>
            </a:r>
            <a:endParaRPr lang="en-US" altLang="zh-CN" b="1" dirty="0"/>
          </a:p>
          <a:p>
            <a:pPr marL="1092200" lvl="3" indent="-177800"/>
            <a:r>
              <a:rPr lang="en-US" altLang="zh-CN" b="1" dirty="0"/>
              <a:t>Adversarial samples </a:t>
            </a:r>
            <a:r>
              <a:rPr lang="en-US" altLang="zh-CN" dirty="0"/>
              <a:t>aims to confuse </a:t>
            </a:r>
            <a:r>
              <a:rPr lang="en-US" altLang="zh-CN" b="1" dirty="0"/>
              <a:t>machines </a:t>
            </a:r>
            <a:r>
              <a:rPr lang="en-US" altLang="zh-CN" sz="1800" b="1" i="1" dirty="0"/>
              <a:t>(</a:t>
            </a:r>
            <a:r>
              <a:rPr lang="en-US" altLang="zh-CN" b="1" i="1" dirty="0"/>
              <a:t>Type</a:t>
            </a:r>
            <a:r>
              <a:rPr lang="zh-CN" altLang="en-US" b="1" i="1" dirty="0"/>
              <a:t> </a:t>
            </a:r>
            <a:r>
              <a:rPr lang="en-US" altLang="zh-CN" b="1" i="1" dirty="0"/>
              <a:t>II</a:t>
            </a:r>
            <a:r>
              <a:rPr lang="zh-CN" altLang="en-US" b="1" i="1" dirty="0"/>
              <a:t> </a:t>
            </a:r>
            <a:r>
              <a:rPr lang="en-US" altLang="zh-CN" b="1" i="1" dirty="0"/>
              <a:t>attack</a:t>
            </a:r>
            <a:r>
              <a:rPr lang="en-US" altLang="zh-CN" sz="1800" b="1" i="1" dirty="0"/>
              <a:t>)</a:t>
            </a:r>
            <a:endParaRPr lang="en-US" altLang="zh-CN" b="1" dirty="0"/>
          </a:p>
          <a:p>
            <a:pPr marL="1092200" lvl="3" indent="-177800"/>
            <a:endParaRPr lang="en-US" altLang="zh-CN" dirty="0"/>
          </a:p>
          <a:p>
            <a:pPr marL="914400" lvl="3" indent="0">
              <a:buNone/>
            </a:pPr>
            <a:r>
              <a:rPr lang="en-US" altLang="zh-CN" dirty="0"/>
              <a:t>					</a:t>
            </a:r>
          </a:p>
          <a:p>
            <a:pPr marL="457200" lvl="2" indent="0">
              <a:buNone/>
            </a:pPr>
            <a:endParaRPr lang="en-AU" altLang="zh-CN" dirty="0"/>
          </a:p>
          <a:p>
            <a:pPr marL="177800" lvl="1" indent="-17780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107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91EF35-7C3D-4DFB-B377-09B89CC46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7038" y="-289931"/>
            <a:ext cx="10515600" cy="1325563"/>
          </a:xfrm>
        </p:spPr>
        <p:txBody>
          <a:bodyPr/>
          <a:lstStyle/>
          <a:p>
            <a:r>
              <a:rPr lang="en-US" altLang="zh-CN" dirty="0"/>
              <a:t>Facial</a:t>
            </a:r>
            <a:r>
              <a:rPr lang="zh-CN" altLang="en-US" dirty="0"/>
              <a:t> </a:t>
            </a:r>
            <a:r>
              <a:rPr lang="en-US" altLang="zh-CN" dirty="0"/>
              <a:t>Deepfakes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D9DAF78-0E4C-44EC-A257-61BD3C79D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AA82D27-25CD-493F-4528-3D7277875A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12" y="372850"/>
            <a:ext cx="13582186" cy="6889382"/>
          </a:xfrm>
        </p:spPr>
        <p:txBody>
          <a:bodyPr>
            <a:normAutofit/>
          </a:bodyPr>
          <a:lstStyle/>
          <a:p>
            <a:pPr marL="177800" lvl="1" indent="-177800"/>
            <a:endParaRPr lang="en-US" altLang="zh-CN" b="1" dirty="0"/>
          </a:p>
          <a:p>
            <a:pPr marL="635000" lvl="2" indent="-177800"/>
            <a:r>
              <a:rPr lang="en-US" altLang="zh-CN" b="1" dirty="0"/>
              <a:t>Processes:</a:t>
            </a:r>
          </a:p>
          <a:p>
            <a:pPr marL="1092200" lvl="3" indent="-177800"/>
            <a:r>
              <a:rPr lang="en-US" altLang="zh-CN" dirty="0"/>
              <a:t>Replacement</a:t>
            </a:r>
          </a:p>
          <a:p>
            <a:pPr marL="1549400" lvl="4" indent="-177800"/>
            <a:r>
              <a:rPr lang="en-US" altLang="zh-CN" dirty="0"/>
              <a:t>Transfer (change the face of the identify completely)</a:t>
            </a:r>
          </a:p>
          <a:p>
            <a:pPr marL="1549400" lvl="4" indent="-177800"/>
            <a:r>
              <a:rPr lang="en-US" altLang="zh-CN" dirty="0"/>
              <a:t>Swap (infusion, change the face but keep some other attributes: expressions, gaze…)</a:t>
            </a:r>
          </a:p>
          <a:p>
            <a:pPr marL="1092200" lvl="3" indent="-177800"/>
            <a:r>
              <a:rPr lang="en-US" altLang="zh-CN" dirty="0"/>
              <a:t>Reenactment</a:t>
            </a:r>
          </a:p>
          <a:p>
            <a:pPr marL="1549400" lvl="4" indent="-177800"/>
            <a:r>
              <a:rPr lang="en-US" altLang="zh-CN" dirty="0"/>
              <a:t>Expression (angry, surprised..)</a:t>
            </a:r>
          </a:p>
          <a:p>
            <a:pPr marL="1549400" lvl="4" indent="-177800"/>
            <a:r>
              <a:rPr lang="en-US" altLang="zh-CN" dirty="0"/>
              <a:t>Mouth</a:t>
            </a:r>
            <a:r>
              <a:rPr lang="zh-CN" altLang="en-US" dirty="0"/>
              <a:t> </a:t>
            </a:r>
            <a:r>
              <a:rPr lang="en-US" altLang="zh-CN" dirty="0"/>
              <a:t>(e.g.,</a:t>
            </a:r>
            <a:r>
              <a:rPr lang="zh-CN" altLang="en-US" dirty="0"/>
              <a:t> </a:t>
            </a:r>
            <a:r>
              <a:rPr lang="en-US" altLang="zh-CN" dirty="0"/>
              <a:t>David</a:t>
            </a:r>
            <a:r>
              <a:rPr lang="zh-CN" altLang="en-US" dirty="0"/>
              <a:t> </a:t>
            </a:r>
            <a:r>
              <a:rPr lang="en-US" altLang="zh-CN" dirty="0"/>
              <a:t>Beckham</a:t>
            </a:r>
            <a:r>
              <a:rPr lang="zh-CN" altLang="en-US" dirty="0"/>
              <a:t> </a:t>
            </a:r>
            <a:r>
              <a:rPr lang="en-US" altLang="zh-CN" dirty="0"/>
              <a:t>“speak”</a:t>
            </a:r>
            <a:r>
              <a:rPr lang="zh-CN" altLang="en-US" dirty="0"/>
              <a:t> </a:t>
            </a:r>
            <a:r>
              <a:rPr lang="en-US" altLang="zh-CN" dirty="0"/>
              <a:t>nine</a:t>
            </a:r>
            <a:r>
              <a:rPr lang="zh-CN" altLang="en-US" dirty="0"/>
              <a:t> </a:t>
            </a:r>
            <a:r>
              <a:rPr lang="en-US" altLang="zh-CN" dirty="0"/>
              <a:t>languages</a:t>
            </a:r>
            <a:r>
              <a:rPr lang="zh-CN" altLang="en-US" dirty="0"/>
              <a:t> </a:t>
            </a:r>
            <a:r>
              <a:rPr lang="en-US" altLang="zh-CN" dirty="0"/>
              <a:t>)</a:t>
            </a:r>
          </a:p>
          <a:p>
            <a:pPr marL="1549400" lvl="4" indent="-177800"/>
            <a:r>
              <a:rPr lang="en-US" altLang="zh-CN" dirty="0"/>
              <a:t>Gaze (stare at top ,at bottom ..)</a:t>
            </a:r>
          </a:p>
          <a:p>
            <a:pPr marL="1092200" lvl="3" indent="-177800"/>
            <a:r>
              <a:rPr lang="en-US" altLang="zh-CN" dirty="0"/>
              <a:t>Editing</a:t>
            </a:r>
          </a:p>
          <a:p>
            <a:pPr marL="1549400" lvl="4" indent="-177800"/>
            <a:r>
              <a:rPr lang="en-US" altLang="zh-CN" dirty="0"/>
              <a:t>Face</a:t>
            </a:r>
            <a:r>
              <a:rPr lang="zh-CN" altLang="en-US" dirty="0"/>
              <a:t> </a:t>
            </a:r>
            <a:r>
              <a:rPr lang="en-US" altLang="zh-CN" dirty="0"/>
              <a:t>color</a:t>
            </a:r>
          </a:p>
          <a:p>
            <a:pPr marL="1549400" lvl="4" indent="-177800"/>
            <a:r>
              <a:rPr lang="en-US" altLang="zh-CN" dirty="0"/>
              <a:t>Ethnicity</a:t>
            </a:r>
          </a:p>
          <a:p>
            <a:pPr marL="1092200" lvl="3" indent="-177800"/>
            <a:r>
              <a:rPr lang="en-US" altLang="zh-CN" dirty="0"/>
              <a:t>Synthesis</a:t>
            </a:r>
          </a:p>
          <a:p>
            <a:pPr marL="1092200" lvl="3" indent="-177800"/>
            <a:r>
              <a:rPr lang="en-US" altLang="zh-CN" dirty="0"/>
              <a:t>…</a:t>
            </a:r>
          </a:p>
          <a:p>
            <a:pPr marL="1092200" lvl="3" indent="-177800"/>
            <a:endParaRPr lang="en-US" altLang="zh-CN" dirty="0"/>
          </a:p>
          <a:p>
            <a:pPr marL="635000" lvl="2" indent="-177800"/>
            <a:r>
              <a:rPr lang="en-US" altLang="zh-CN" b="1" dirty="0"/>
              <a:t>Threats:</a:t>
            </a:r>
          </a:p>
          <a:p>
            <a:pPr marL="1092200" lvl="3" indent="-177800"/>
            <a:r>
              <a:rPr lang="en-US" altLang="zh-CN" sz="1900" dirty="0"/>
              <a:t>R</a:t>
            </a:r>
            <a:r>
              <a:rPr lang="en-AU" sz="1900" dirty="0" err="1"/>
              <a:t>evenge</a:t>
            </a:r>
            <a:r>
              <a:rPr lang="en-AU" sz="1900" dirty="0"/>
              <a:t> porn,</a:t>
            </a:r>
            <a:r>
              <a:rPr lang="zh-CN" altLang="en-US" sz="1900" dirty="0"/>
              <a:t> </a:t>
            </a:r>
            <a:r>
              <a:rPr lang="en-AU" altLang="zh-CN" sz="1900" dirty="0"/>
              <a:t>swaps a victim’s face onto the body of a porn actress</a:t>
            </a:r>
            <a:r>
              <a:rPr lang="zh-CN" altLang="en-US" sz="1900" dirty="0"/>
              <a:t> </a:t>
            </a:r>
            <a:r>
              <a:rPr lang="en-AU" altLang="zh-CN" sz="1900" dirty="0"/>
              <a:t>to humiliate or blackmail the victim.</a:t>
            </a:r>
          </a:p>
          <a:p>
            <a:pPr marL="1092200" lvl="3" indent="-177800"/>
            <a:r>
              <a:rPr lang="en-US" altLang="zh-CN" sz="1900" dirty="0"/>
              <a:t>Impersonate</a:t>
            </a:r>
            <a:r>
              <a:rPr lang="zh-CN" altLang="en-US" sz="1900" dirty="0"/>
              <a:t> </a:t>
            </a:r>
            <a:r>
              <a:rPr lang="en-US" altLang="zh-CN" sz="1900" dirty="0"/>
              <a:t>a</a:t>
            </a:r>
            <a:r>
              <a:rPr lang="zh-CN" altLang="en-US" sz="1900" dirty="0"/>
              <a:t> </a:t>
            </a:r>
            <a:r>
              <a:rPr lang="en-US" altLang="zh-CN" sz="1900" dirty="0"/>
              <a:t>person</a:t>
            </a:r>
            <a:r>
              <a:rPr lang="zh-CN" altLang="en-US" sz="1900" dirty="0"/>
              <a:t> </a:t>
            </a:r>
            <a:r>
              <a:rPr lang="en-US" altLang="zh-CN" sz="1900" dirty="0"/>
              <a:t>to</a:t>
            </a:r>
            <a:r>
              <a:rPr lang="zh-CN" altLang="en-US" sz="1900" dirty="0"/>
              <a:t> </a:t>
            </a:r>
            <a:r>
              <a:rPr lang="en-US" altLang="zh-CN" sz="1900" dirty="0"/>
              <a:t>gain</a:t>
            </a:r>
            <a:r>
              <a:rPr lang="zh-CN" altLang="en-US" sz="1900" dirty="0"/>
              <a:t> </a:t>
            </a:r>
            <a:r>
              <a:rPr lang="en-US" altLang="zh-CN" sz="1900" dirty="0"/>
              <a:t>victims’ trust</a:t>
            </a:r>
            <a:r>
              <a:rPr lang="zh-CN" altLang="en-US" sz="1900" dirty="0"/>
              <a:t> </a:t>
            </a:r>
            <a:r>
              <a:rPr lang="en-US" altLang="zh-CN" sz="1900" dirty="0"/>
              <a:t>for</a:t>
            </a:r>
            <a:r>
              <a:rPr lang="zh-CN" altLang="en-US" sz="1900" dirty="0"/>
              <a:t> </a:t>
            </a:r>
            <a:r>
              <a:rPr lang="en-US" altLang="zh-CN" sz="1900" dirty="0"/>
              <a:t>scamming.</a:t>
            </a:r>
          </a:p>
          <a:p>
            <a:pPr marL="1092200" lvl="3" indent="-177800"/>
            <a:r>
              <a:rPr lang="en-US" altLang="zh-CN" sz="1900" dirty="0"/>
              <a:t>Fake</a:t>
            </a:r>
            <a:r>
              <a:rPr lang="zh-CN" altLang="en-US" sz="1900" dirty="0"/>
              <a:t> </a:t>
            </a:r>
            <a:r>
              <a:rPr lang="en-US" altLang="zh-CN" sz="1900" dirty="0"/>
              <a:t>profile</a:t>
            </a:r>
            <a:r>
              <a:rPr lang="zh-CN" altLang="en-US" sz="1900" dirty="0"/>
              <a:t> </a:t>
            </a:r>
            <a:r>
              <a:rPr lang="en-US" altLang="zh-CN" sz="1900" dirty="0"/>
              <a:t>photos</a:t>
            </a:r>
          </a:p>
          <a:p>
            <a:pPr marL="1092200" lvl="3" indent="-177800"/>
            <a:r>
              <a:rPr lang="en-US" altLang="zh-CN" sz="1900" dirty="0"/>
              <a:t>…</a:t>
            </a:r>
            <a:endParaRPr lang="en-AU" altLang="zh-CN" sz="1900" dirty="0"/>
          </a:p>
          <a:p>
            <a:pPr marL="1092200" lvl="3" indent="-177800"/>
            <a:endParaRPr lang="en-AU" altLang="zh-CN" b="1" dirty="0"/>
          </a:p>
          <a:p>
            <a:pPr marL="177800" lvl="1" indent="-177800"/>
            <a:endParaRPr lang="zh-CN" altLang="en-US" dirty="0"/>
          </a:p>
        </p:txBody>
      </p:sp>
      <p:sp>
        <p:nvSpPr>
          <p:cNvPr id="13" name="内容占位符 2">
            <a:extLst>
              <a:ext uri="{FF2B5EF4-FFF2-40B4-BE49-F238E27FC236}">
                <a16:creationId xmlns:a16="http://schemas.microsoft.com/office/drawing/2014/main" id="{47F2DAC0-753F-7E43-D869-9D5B479A21FF}"/>
              </a:ext>
            </a:extLst>
          </p:cNvPr>
          <p:cNvSpPr txBox="1">
            <a:spLocks/>
          </p:cNvSpPr>
          <p:nvPr/>
        </p:nvSpPr>
        <p:spPr>
          <a:xfrm>
            <a:off x="838200" y="4756139"/>
            <a:ext cx="1031327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7800" lvl="1" indent="-177800"/>
            <a:endParaRPr lang="en-US" altLang="zh-CN" b="1" dirty="0"/>
          </a:p>
          <a:p>
            <a:pPr marL="177800" lvl="1" indent="-17780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52207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91EF35-7C3D-4DFB-B377-09B89CC46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544" y="-123606"/>
            <a:ext cx="13424338" cy="1325563"/>
          </a:xfrm>
        </p:spPr>
        <p:txBody>
          <a:bodyPr>
            <a:normAutofit/>
          </a:bodyPr>
          <a:lstStyle/>
          <a:p>
            <a:r>
              <a:rPr lang="en-US" altLang="zh-CN" sz="3200" dirty="0"/>
              <a:t>An</a:t>
            </a:r>
            <a:r>
              <a:rPr lang="zh-CN" altLang="en-US" sz="3200" dirty="0"/>
              <a:t> </a:t>
            </a:r>
            <a:r>
              <a:rPr lang="en-US" altLang="zh-CN" sz="3200" dirty="0"/>
              <a:t>illustration</a:t>
            </a:r>
            <a:r>
              <a:rPr lang="zh-CN" altLang="en-US" sz="3200" dirty="0"/>
              <a:t> </a:t>
            </a:r>
            <a:r>
              <a:rPr lang="en-US" altLang="zh-CN" sz="3200" dirty="0"/>
              <a:t>of</a:t>
            </a:r>
            <a:r>
              <a:rPr lang="zh-CN" altLang="en-US" sz="3200" dirty="0"/>
              <a:t> </a:t>
            </a:r>
            <a:r>
              <a:rPr lang="en-US" altLang="zh-CN" sz="3200" dirty="0"/>
              <a:t>facial</a:t>
            </a:r>
            <a:r>
              <a:rPr lang="zh-CN" altLang="en-US" sz="3200" dirty="0"/>
              <a:t> </a:t>
            </a:r>
            <a:r>
              <a:rPr lang="en-US" altLang="zh-CN" sz="3200" dirty="0"/>
              <a:t>expression</a:t>
            </a:r>
            <a:r>
              <a:rPr lang="zh-CN" altLang="en-US" sz="3200" dirty="0"/>
              <a:t> </a:t>
            </a:r>
            <a:r>
              <a:rPr lang="en-US" altLang="zh-CN" sz="3200" dirty="0"/>
              <a:t>swapping</a:t>
            </a:r>
            <a:r>
              <a:rPr lang="zh-CN" altLang="en-US" sz="3200" dirty="0"/>
              <a:t> </a:t>
            </a:r>
            <a:r>
              <a:rPr lang="en-US" altLang="zh-CN" sz="3200" dirty="0"/>
              <a:t>using</a:t>
            </a:r>
            <a:r>
              <a:rPr lang="zh-CN" altLang="en-US" sz="3200" dirty="0"/>
              <a:t> </a:t>
            </a:r>
            <a:r>
              <a:rPr lang="en-US" altLang="zh-CN" sz="3200" dirty="0"/>
              <a:t>GAN</a:t>
            </a:r>
            <a:endParaRPr lang="zh-CN" altLang="en-US" sz="3200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D9DAF78-0E4C-44EC-A257-61BD3C79D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52944" y="5867619"/>
            <a:ext cx="2743200" cy="365125"/>
          </a:xfrm>
        </p:spPr>
        <p:txBody>
          <a:bodyPr/>
          <a:lstStyle/>
          <a:p>
            <a:endParaRPr lang="en-AU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784D10-3345-A157-8D7A-2046DA02F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04199" y="4352970"/>
            <a:ext cx="4114800" cy="365125"/>
          </a:xfrm>
        </p:spPr>
        <p:txBody>
          <a:bodyPr/>
          <a:lstStyle/>
          <a:p>
            <a:r>
              <a:rPr lang="en-US"/>
              <a:t>Add a footer</a:t>
            </a:r>
          </a:p>
        </p:txBody>
      </p:sp>
      <p:pic>
        <p:nvPicPr>
          <p:cNvPr id="11" name="Picture 10" descr="A red rectangle with black text&#10;&#10;Description automatically generated">
            <a:extLst>
              <a:ext uri="{FF2B5EF4-FFF2-40B4-BE49-F238E27FC236}">
                <a16:creationId xmlns:a16="http://schemas.microsoft.com/office/drawing/2014/main" id="{E21611F2-058C-CBF6-D314-98DF47D190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9544" y="3429000"/>
            <a:ext cx="767256" cy="745334"/>
          </a:xfrm>
          <a:prstGeom prst="rect">
            <a:avLst/>
          </a:prstGeom>
        </p:spPr>
      </p:pic>
      <p:pic>
        <p:nvPicPr>
          <p:cNvPr id="13" name="Picture 12" descr="A blue rectangle with black text&#10;&#10;Description automatically generated">
            <a:extLst>
              <a:ext uri="{FF2B5EF4-FFF2-40B4-BE49-F238E27FC236}">
                <a16:creationId xmlns:a16="http://schemas.microsoft.com/office/drawing/2014/main" id="{26DC6343-F8D6-D207-4CBD-7274798CAB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3745" y="1338989"/>
            <a:ext cx="1257300" cy="850900"/>
          </a:xfrm>
          <a:prstGeom prst="rect">
            <a:avLst/>
          </a:prstGeom>
        </p:spPr>
      </p:pic>
      <p:sp>
        <p:nvSpPr>
          <p:cNvPr id="14" name="Down Arrow 13">
            <a:extLst>
              <a:ext uri="{FF2B5EF4-FFF2-40B4-BE49-F238E27FC236}">
                <a16:creationId xmlns:a16="http://schemas.microsoft.com/office/drawing/2014/main" id="{39024930-D1C6-1154-3F0E-DF2ADC6CB130}"/>
              </a:ext>
            </a:extLst>
          </p:cNvPr>
          <p:cNvSpPr/>
          <p:nvPr/>
        </p:nvSpPr>
        <p:spPr bwMode="auto">
          <a:xfrm rot="10800000">
            <a:off x="8018999" y="2292310"/>
            <a:ext cx="369744" cy="617035"/>
          </a:xfrm>
          <a:prstGeom prst="downArrow">
            <a:avLst/>
          </a:prstGeom>
          <a:solidFill>
            <a:schemeClr val="bg1">
              <a:lumMod val="75000"/>
            </a:schemeClr>
          </a:solidFill>
          <a:ln w="34925">
            <a:noFill/>
            <a:round/>
            <a:headEnd/>
            <a:tailEnd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15" name="Down Arrow 14">
            <a:extLst>
              <a:ext uri="{FF2B5EF4-FFF2-40B4-BE49-F238E27FC236}">
                <a16:creationId xmlns:a16="http://schemas.microsoft.com/office/drawing/2014/main" id="{D79A9F8E-1FFF-35B2-2E5C-F4E806383A7B}"/>
              </a:ext>
            </a:extLst>
          </p:cNvPr>
          <p:cNvSpPr/>
          <p:nvPr/>
        </p:nvSpPr>
        <p:spPr bwMode="auto">
          <a:xfrm rot="14554290">
            <a:off x="5664282" y="3906748"/>
            <a:ext cx="369744" cy="617035"/>
          </a:xfrm>
          <a:prstGeom prst="downArrow">
            <a:avLst/>
          </a:prstGeom>
          <a:solidFill>
            <a:schemeClr val="bg1">
              <a:lumMod val="75000"/>
            </a:schemeClr>
          </a:solidFill>
          <a:ln w="34925">
            <a:noFill/>
            <a:round/>
            <a:headEnd/>
            <a:tailEnd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355D28C-11B2-6186-D393-1DC65A1538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4726" y="1285562"/>
            <a:ext cx="577129" cy="824470"/>
          </a:xfrm>
          <a:prstGeom prst="rect">
            <a:avLst/>
          </a:prstGeom>
        </p:spPr>
      </p:pic>
      <p:pic>
        <p:nvPicPr>
          <p:cNvPr id="19" name="Picture 18" descr="A collage of different facial features&#10;&#10;Description automatically generated">
            <a:extLst>
              <a:ext uri="{FF2B5EF4-FFF2-40B4-BE49-F238E27FC236}">
                <a16:creationId xmlns:a16="http://schemas.microsoft.com/office/drawing/2014/main" id="{76A10C34-1333-33B8-1B48-7F9BFFF8838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672" y="3909253"/>
            <a:ext cx="3826486" cy="1999771"/>
          </a:xfrm>
          <a:prstGeom prst="rect">
            <a:avLst/>
          </a:prstGeom>
        </p:spPr>
      </p:pic>
      <p:pic>
        <p:nvPicPr>
          <p:cNvPr id="21" name="Picture 20" descr="A person with different facial features&#10;&#10;Description automatically generated">
            <a:extLst>
              <a:ext uri="{FF2B5EF4-FFF2-40B4-BE49-F238E27FC236}">
                <a16:creationId xmlns:a16="http://schemas.microsoft.com/office/drawing/2014/main" id="{8A48F4DF-FF53-7D5E-A016-094FF902708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3427" y="2854645"/>
            <a:ext cx="2617655" cy="2054494"/>
          </a:xfrm>
          <a:prstGeom prst="rect">
            <a:avLst/>
          </a:prstGeom>
        </p:spPr>
      </p:pic>
      <p:sp>
        <p:nvSpPr>
          <p:cNvPr id="22" name="Down Arrow 21">
            <a:extLst>
              <a:ext uri="{FF2B5EF4-FFF2-40B4-BE49-F238E27FC236}">
                <a16:creationId xmlns:a16="http://schemas.microsoft.com/office/drawing/2014/main" id="{6ADADA72-5A05-95BA-0CB2-B6872DC33A06}"/>
              </a:ext>
            </a:extLst>
          </p:cNvPr>
          <p:cNvSpPr/>
          <p:nvPr/>
        </p:nvSpPr>
        <p:spPr bwMode="auto">
          <a:xfrm rot="16200000">
            <a:off x="7095824" y="3493150"/>
            <a:ext cx="369744" cy="617035"/>
          </a:xfrm>
          <a:prstGeom prst="downArrow">
            <a:avLst/>
          </a:prstGeom>
          <a:solidFill>
            <a:schemeClr val="bg1">
              <a:lumMod val="75000"/>
            </a:schemeClr>
          </a:solidFill>
          <a:ln w="34925">
            <a:noFill/>
            <a:round/>
            <a:headEnd/>
            <a:tailEnd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23" name="Down Arrow 22">
            <a:extLst>
              <a:ext uri="{FF2B5EF4-FFF2-40B4-BE49-F238E27FC236}">
                <a16:creationId xmlns:a16="http://schemas.microsoft.com/office/drawing/2014/main" id="{34FC5875-6C0E-FB25-C53D-2EF7BF40A35B}"/>
              </a:ext>
            </a:extLst>
          </p:cNvPr>
          <p:cNvSpPr/>
          <p:nvPr/>
        </p:nvSpPr>
        <p:spPr bwMode="auto">
          <a:xfrm rot="16200000">
            <a:off x="9078013" y="1455921"/>
            <a:ext cx="369744" cy="617035"/>
          </a:xfrm>
          <a:prstGeom prst="downArrow">
            <a:avLst/>
          </a:prstGeom>
          <a:solidFill>
            <a:schemeClr val="bg1">
              <a:lumMod val="75000"/>
            </a:schemeClr>
          </a:solidFill>
          <a:ln w="34925">
            <a:noFill/>
            <a:round/>
            <a:headEnd/>
            <a:tailEnd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sp>
        <p:nvSpPr>
          <p:cNvPr id="24" name="Down Arrow 23">
            <a:extLst>
              <a:ext uri="{FF2B5EF4-FFF2-40B4-BE49-F238E27FC236}">
                <a16:creationId xmlns:a16="http://schemas.microsoft.com/office/drawing/2014/main" id="{18F73DD0-2DDA-6D6C-EFC5-ED0D46DDD39F}"/>
              </a:ext>
            </a:extLst>
          </p:cNvPr>
          <p:cNvSpPr/>
          <p:nvPr/>
        </p:nvSpPr>
        <p:spPr bwMode="auto">
          <a:xfrm rot="17922085">
            <a:off x="5652169" y="3095598"/>
            <a:ext cx="369744" cy="617035"/>
          </a:xfrm>
          <a:prstGeom prst="downArrow">
            <a:avLst/>
          </a:prstGeom>
          <a:solidFill>
            <a:schemeClr val="bg1">
              <a:lumMod val="75000"/>
            </a:schemeClr>
          </a:solidFill>
          <a:ln w="34925">
            <a:noFill/>
            <a:round/>
            <a:headEnd/>
            <a:tailEnd/>
          </a:ln>
        </p:spPr>
        <p:txBody>
          <a:bodyPr wrap="none" rtlCol="0" anchor="ctr"/>
          <a:lstStyle/>
          <a:p>
            <a:pPr algn="l"/>
            <a:endParaRPr lang="en-US"/>
          </a:p>
        </p:txBody>
      </p:sp>
      <p:pic>
        <p:nvPicPr>
          <p:cNvPr id="25" name="Picture 24" descr="A collage of different facial features&#10;&#10;Description automatically generated">
            <a:extLst>
              <a:ext uri="{FF2B5EF4-FFF2-40B4-BE49-F238E27FC236}">
                <a16:creationId xmlns:a16="http://schemas.microsoft.com/office/drawing/2014/main" id="{6064777D-450F-A64F-1756-3D17881D543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1159" y="1420401"/>
            <a:ext cx="3826486" cy="1999771"/>
          </a:xfrm>
          <a:prstGeom prst="rect">
            <a:avLst/>
          </a:prstGeom>
        </p:spPr>
      </p:pic>
      <p:pic>
        <p:nvPicPr>
          <p:cNvPr id="27" name="Picture 26" descr="A person with his mouth open&#10;&#10;Description automatically generated">
            <a:extLst>
              <a:ext uri="{FF2B5EF4-FFF2-40B4-BE49-F238E27FC236}">
                <a16:creationId xmlns:a16="http://schemas.microsoft.com/office/drawing/2014/main" id="{253C952E-FCA8-D68D-697B-EE1EE0034AC5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1159" y="1703651"/>
            <a:ext cx="1002526" cy="1275271"/>
          </a:xfrm>
          <a:prstGeom prst="rect">
            <a:avLst/>
          </a:prstGeom>
        </p:spPr>
      </p:pic>
      <p:pic>
        <p:nvPicPr>
          <p:cNvPr id="29" name="Picture 28" descr="A person with his mouth open&#10;&#10;Description automatically generated">
            <a:extLst>
              <a:ext uri="{FF2B5EF4-FFF2-40B4-BE49-F238E27FC236}">
                <a16:creationId xmlns:a16="http://schemas.microsoft.com/office/drawing/2014/main" id="{EB80ADFF-8385-341E-4038-0AC77F82E988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5783" y="1697797"/>
            <a:ext cx="562065" cy="521917"/>
          </a:xfrm>
          <a:prstGeom prst="rect">
            <a:avLst/>
          </a:prstGeom>
        </p:spPr>
      </p:pic>
      <p:pic>
        <p:nvPicPr>
          <p:cNvPr id="31" name="Picture 30" descr="A person with his mouth open&#10;&#10;Description automatically generated">
            <a:extLst>
              <a:ext uri="{FF2B5EF4-FFF2-40B4-BE49-F238E27FC236}">
                <a16:creationId xmlns:a16="http://schemas.microsoft.com/office/drawing/2014/main" id="{256BCBB0-EA2A-164D-C1BC-A812DFBCF2D9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5783" y="2292310"/>
            <a:ext cx="655523" cy="717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8337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91EF35-7C3D-4DFB-B377-09B89CC46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Portrait</a:t>
            </a:r>
            <a:r>
              <a:rPr lang="zh-CN" altLang="en-US" dirty="0"/>
              <a:t> </a:t>
            </a:r>
            <a:r>
              <a:rPr lang="en-US" altLang="zh-CN" dirty="0"/>
              <a:t>synthesis</a:t>
            </a:r>
            <a:r>
              <a:rPr lang="zh-CN" altLang="en-US" dirty="0"/>
              <a:t> </a:t>
            </a:r>
            <a:r>
              <a:rPr lang="en-AU" altLang="zh-CN" dirty="0"/>
              <a:t>showcase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D9DAF78-0E4C-44EC-A257-61BD3C79D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784D10-3345-A157-8D7A-2046DA02F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60073" y="5775661"/>
            <a:ext cx="4114800" cy="365125"/>
          </a:xfrm>
        </p:spPr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AA82D27-25CD-493F-4528-3D7277875A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604" y="1488626"/>
            <a:ext cx="10313276" cy="4351338"/>
          </a:xfrm>
        </p:spPr>
        <p:txBody>
          <a:bodyPr>
            <a:normAutofit/>
          </a:bodyPr>
          <a:lstStyle/>
          <a:p>
            <a:pPr marL="177800" lvl="1" indent="-177800"/>
            <a:endParaRPr lang="en-US" altLang="zh-CN" b="1" dirty="0"/>
          </a:p>
          <a:p>
            <a:pPr marL="0" lvl="1" indent="0">
              <a:buNone/>
            </a:pPr>
            <a:endParaRPr lang="zh-CN" altLang="en-US" dirty="0"/>
          </a:p>
        </p:txBody>
      </p:sp>
      <p:pic>
        <p:nvPicPr>
          <p:cNvPr id="11" name="Picture 10" descr="A collage of two people&#10;&#10;Description automatically generated">
            <a:extLst>
              <a:ext uri="{FF2B5EF4-FFF2-40B4-BE49-F238E27FC236}">
                <a16:creationId xmlns:a16="http://schemas.microsoft.com/office/drawing/2014/main" id="{E68D7C74-22FA-70DA-C1EC-14721AE93E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6911" y="1881938"/>
            <a:ext cx="7772400" cy="175817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09DE88-B5D8-45A3-97FB-D1C2DD2EB313}"/>
              </a:ext>
            </a:extLst>
          </p:cNvPr>
          <p:cNvSpPr txBox="1"/>
          <p:nvPr/>
        </p:nvSpPr>
        <p:spPr>
          <a:xfrm>
            <a:off x="967945" y="4338552"/>
            <a:ext cx="106357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Try</a:t>
            </a:r>
            <a:r>
              <a:rPr lang="zh-CN" altLang="en-US" dirty="0"/>
              <a:t> </a:t>
            </a:r>
            <a:r>
              <a:rPr lang="en-US" dirty="0">
                <a:hlinkClick r:id="rId3"/>
              </a:rPr>
              <a:t>https://thispersondoesnotexist.com/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US" altLang="zh-CN" dirty="0"/>
              <a:t>each</a:t>
            </a:r>
            <a:r>
              <a:rPr lang="zh-CN" altLang="en-US" dirty="0"/>
              <a:t> </a:t>
            </a:r>
            <a:r>
              <a:rPr lang="en-US" altLang="zh-CN" dirty="0"/>
              <a:t>time</a:t>
            </a:r>
            <a:r>
              <a:rPr lang="zh-CN" altLang="en-US" dirty="0"/>
              <a:t> </a:t>
            </a:r>
            <a:r>
              <a:rPr lang="en-US" altLang="zh-CN" dirty="0"/>
              <a:t>you</a:t>
            </a:r>
            <a:r>
              <a:rPr lang="zh-CN" altLang="en-US" dirty="0"/>
              <a:t> </a:t>
            </a:r>
            <a:r>
              <a:rPr lang="en-US" altLang="zh-CN" dirty="0"/>
              <a:t>refresh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page,</a:t>
            </a:r>
            <a:r>
              <a:rPr lang="zh-CN" altLang="en-US" dirty="0"/>
              <a:t> </a:t>
            </a:r>
            <a:r>
              <a:rPr lang="en-US" altLang="zh-CN" dirty="0"/>
              <a:t>you</a:t>
            </a:r>
            <a:r>
              <a:rPr lang="zh-CN" altLang="en-US" dirty="0"/>
              <a:t> </a:t>
            </a:r>
            <a:r>
              <a:rPr lang="en-US" altLang="zh-CN" dirty="0"/>
              <a:t>will</a:t>
            </a:r>
            <a:r>
              <a:rPr lang="zh-CN" altLang="en-US" dirty="0"/>
              <a:t> </a:t>
            </a:r>
            <a:r>
              <a:rPr lang="en-US" altLang="zh-CN" dirty="0"/>
              <a:t>get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generated</a:t>
            </a:r>
            <a:r>
              <a:rPr lang="zh-CN" altLang="en-US" dirty="0"/>
              <a:t> </a:t>
            </a:r>
            <a:r>
              <a:rPr lang="en-US" altLang="zh-CN" dirty="0"/>
              <a:t>fake</a:t>
            </a:r>
            <a:r>
              <a:rPr lang="zh-CN" altLang="en-US" dirty="0"/>
              <a:t> </a:t>
            </a:r>
            <a:r>
              <a:rPr lang="en-US" altLang="zh-CN" dirty="0"/>
              <a:t>portrait.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2064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1849" y="1709738"/>
            <a:ext cx="10862403" cy="2852737"/>
          </a:xfrm>
        </p:spPr>
        <p:txBody>
          <a:bodyPr/>
          <a:lstStyle/>
          <a:p>
            <a:r>
              <a:rPr lang="en-US" altLang="zh-CN" dirty="0"/>
              <a:t>Deepfake</a:t>
            </a:r>
            <a:r>
              <a:rPr lang="zh-CN" altLang="en-US" dirty="0"/>
              <a:t> </a:t>
            </a:r>
            <a:r>
              <a:rPr lang="en-US" dirty="0"/>
              <a:t>countermeasures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167755-2B94-5D93-A92A-4757DC8CB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</p:spTree>
    <p:extLst>
      <p:ext uri="{BB962C8B-B14F-4D97-AF65-F5344CB8AC3E}">
        <p14:creationId xmlns:p14="http://schemas.microsoft.com/office/powerpoint/2010/main" val="4264493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B0A70-D443-478D-B59C-107EE2AD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103658-6428-D809-3145-8F9C7A3F4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18" name="标题 1">
            <a:extLst>
              <a:ext uri="{FF2B5EF4-FFF2-40B4-BE49-F238E27FC236}">
                <a16:creationId xmlns:a16="http://schemas.microsoft.com/office/drawing/2014/main" id="{07A27D41-2BB0-FE39-CE99-659BCDE857DF}"/>
              </a:ext>
            </a:extLst>
          </p:cNvPr>
          <p:cNvSpPr txBox="1">
            <a:spLocks/>
          </p:cNvSpPr>
          <p:nvPr/>
        </p:nvSpPr>
        <p:spPr>
          <a:xfrm>
            <a:off x="838199" y="272632"/>
            <a:ext cx="852651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4000" dirty="0"/>
              <a:t>Deepfake</a:t>
            </a:r>
            <a:r>
              <a:rPr lang="zh-CN" altLang="en-US" sz="4000" dirty="0"/>
              <a:t> </a:t>
            </a:r>
            <a:r>
              <a:rPr lang="en-US" altLang="zh-CN" sz="4000" dirty="0"/>
              <a:t>countermeasure</a:t>
            </a:r>
            <a:r>
              <a:rPr lang="zh-CN" altLang="en-US" sz="4000" dirty="0"/>
              <a:t> </a:t>
            </a:r>
            <a:r>
              <a:rPr lang="en-US" altLang="zh-CN" sz="4000" dirty="0"/>
              <a:t>-</a:t>
            </a:r>
            <a:r>
              <a:rPr lang="zh-CN" altLang="en-US" sz="4000" dirty="0"/>
              <a:t> </a:t>
            </a:r>
            <a:r>
              <a:rPr lang="en-US" altLang="zh-CN" sz="4000" dirty="0"/>
              <a:t>strategy</a:t>
            </a:r>
          </a:p>
        </p:txBody>
      </p:sp>
      <p:sp>
        <p:nvSpPr>
          <p:cNvPr id="2" name="内容占位符 2">
            <a:extLst>
              <a:ext uri="{FF2B5EF4-FFF2-40B4-BE49-F238E27FC236}">
                <a16:creationId xmlns:a16="http://schemas.microsoft.com/office/drawing/2014/main" id="{A546F324-6614-E390-7DDD-7DC711714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9362" y="1932426"/>
            <a:ext cx="10313276" cy="5561943"/>
          </a:xfrm>
        </p:spPr>
        <p:txBody>
          <a:bodyPr>
            <a:normAutofit/>
          </a:bodyPr>
          <a:lstStyle/>
          <a:p>
            <a:pPr marL="177800" lvl="1" indent="-177800"/>
            <a:endParaRPr lang="en-US" altLang="zh-CN" b="1" dirty="0"/>
          </a:p>
          <a:p>
            <a:pPr marL="177800" lvl="1" indent="-177800"/>
            <a:r>
              <a:rPr lang="en-US" altLang="zh-CN" b="1" dirty="0"/>
              <a:t>Detection</a:t>
            </a:r>
            <a:r>
              <a:rPr lang="zh-CN" altLang="en-US" dirty="0"/>
              <a:t> </a:t>
            </a:r>
            <a:r>
              <a:rPr lang="en-US" altLang="zh-CN" dirty="0"/>
              <a:t>(active</a:t>
            </a:r>
            <a:r>
              <a:rPr lang="zh-CN" altLang="en-US" dirty="0"/>
              <a:t> </a:t>
            </a:r>
            <a:r>
              <a:rPr lang="en-US" altLang="zh-CN" dirty="0"/>
              <a:t>defense)</a:t>
            </a:r>
          </a:p>
          <a:p>
            <a:pPr marL="635000" lvl="2" indent="-177800"/>
            <a:r>
              <a:rPr lang="en-US" altLang="zh-CN" dirty="0"/>
              <a:t>Artifact-specific</a:t>
            </a:r>
            <a:r>
              <a:rPr lang="zh-CN" altLang="en-US" dirty="0"/>
              <a:t> </a:t>
            </a:r>
            <a:r>
              <a:rPr lang="en-US" altLang="zh-CN" dirty="0"/>
              <a:t>detection</a:t>
            </a:r>
          </a:p>
          <a:p>
            <a:pPr marL="635000" lvl="2" indent="-177800"/>
            <a:r>
              <a:rPr lang="en-US" altLang="zh-CN" dirty="0"/>
              <a:t>Generic detection</a:t>
            </a:r>
          </a:p>
          <a:p>
            <a:pPr marL="177800" lvl="1" indent="-177800"/>
            <a:endParaRPr lang="en-US" altLang="zh-CN" dirty="0"/>
          </a:p>
          <a:p>
            <a:pPr marL="177800" lvl="1" indent="-177800"/>
            <a:r>
              <a:rPr lang="en-US" altLang="zh-CN" b="1" dirty="0"/>
              <a:t>Prevention</a:t>
            </a:r>
            <a:r>
              <a:rPr lang="zh-CN" altLang="en-US" b="1" dirty="0"/>
              <a:t> </a:t>
            </a:r>
            <a:r>
              <a:rPr lang="en-US" altLang="zh-CN" b="1" dirty="0"/>
              <a:t>(</a:t>
            </a:r>
            <a:r>
              <a:rPr lang="en-US" altLang="zh-CN" dirty="0"/>
              <a:t>passive</a:t>
            </a:r>
            <a:r>
              <a:rPr lang="zh-CN" altLang="en-US" dirty="0"/>
              <a:t> </a:t>
            </a:r>
            <a:r>
              <a:rPr lang="en-US" altLang="zh-CN" dirty="0"/>
              <a:t>defense)</a:t>
            </a:r>
          </a:p>
          <a:p>
            <a:pPr marL="635000" lvl="2" indent="-177800"/>
            <a:r>
              <a:rPr lang="en-US" altLang="zh-CN" dirty="0"/>
              <a:t>Data provenance</a:t>
            </a:r>
          </a:p>
          <a:p>
            <a:pPr marL="635000" lvl="2" indent="-177800"/>
            <a:r>
              <a:rPr lang="en-US" altLang="zh-CN" dirty="0"/>
              <a:t>Adversarial</a:t>
            </a:r>
            <a:r>
              <a:rPr lang="zh-CN" altLang="en-US" dirty="0"/>
              <a:t> </a:t>
            </a:r>
            <a:r>
              <a:rPr lang="en-US" altLang="zh-CN" dirty="0"/>
              <a:t>machine</a:t>
            </a:r>
            <a:r>
              <a:rPr lang="zh-CN" altLang="en-US" dirty="0"/>
              <a:t> </a:t>
            </a:r>
            <a:r>
              <a:rPr lang="en-US" altLang="zh-CN" dirty="0"/>
              <a:t>learning					</a:t>
            </a:r>
          </a:p>
          <a:p>
            <a:pPr marL="457200" lvl="2" indent="0">
              <a:buNone/>
            </a:pPr>
            <a:endParaRPr lang="en-AU" altLang="zh-CN" dirty="0"/>
          </a:p>
          <a:p>
            <a:pPr marL="177800" lvl="1" indent="-17780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954888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B0A70-D443-478D-B59C-107EE2AD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103658-6428-D809-3145-8F9C7A3F4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18" name="标题 1">
            <a:extLst>
              <a:ext uri="{FF2B5EF4-FFF2-40B4-BE49-F238E27FC236}">
                <a16:creationId xmlns:a16="http://schemas.microsoft.com/office/drawing/2014/main" id="{07A27D41-2BB0-FE39-CE99-659BCDE857DF}"/>
              </a:ext>
            </a:extLst>
          </p:cNvPr>
          <p:cNvSpPr txBox="1">
            <a:spLocks/>
          </p:cNvSpPr>
          <p:nvPr/>
        </p:nvSpPr>
        <p:spPr>
          <a:xfrm>
            <a:off x="838199" y="272632"/>
            <a:ext cx="852651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4000" dirty="0"/>
              <a:t>Detection (active defense)</a:t>
            </a:r>
          </a:p>
        </p:txBody>
      </p:sp>
      <p:sp>
        <p:nvSpPr>
          <p:cNvPr id="2" name="内容占位符 2">
            <a:extLst>
              <a:ext uri="{FF2B5EF4-FFF2-40B4-BE49-F238E27FC236}">
                <a16:creationId xmlns:a16="http://schemas.microsoft.com/office/drawing/2014/main" id="{A546F324-6614-E390-7DDD-7DC711714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1776" y="1296057"/>
            <a:ext cx="4229100" cy="5561943"/>
          </a:xfrm>
        </p:spPr>
        <p:txBody>
          <a:bodyPr>
            <a:normAutofit/>
          </a:bodyPr>
          <a:lstStyle/>
          <a:p>
            <a:pPr marL="177800" lvl="1" indent="-177800"/>
            <a:endParaRPr lang="en-US" altLang="zh-CN" b="1" dirty="0"/>
          </a:p>
          <a:p>
            <a:pPr marL="177800" lvl="1" indent="-177800"/>
            <a:r>
              <a:rPr lang="en-US" altLang="zh-CN" b="1" dirty="0"/>
              <a:t>Artifact-specific detection </a:t>
            </a:r>
          </a:p>
          <a:p>
            <a:pPr marL="0" lvl="1" indent="0">
              <a:buNone/>
            </a:pPr>
            <a:r>
              <a:rPr lang="en-US" altLang="zh-CN" b="1" dirty="0"/>
              <a:t>          - need domain knowledge: </a:t>
            </a:r>
          </a:p>
          <a:p>
            <a:pPr marL="635000" lvl="2" indent="-177800"/>
            <a:r>
              <a:rPr lang="en-US" altLang="zh-CN" dirty="0"/>
              <a:t>Blending</a:t>
            </a:r>
          </a:p>
          <a:p>
            <a:pPr marL="635000" lvl="2" indent="-177800"/>
            <a:r>
              <a:rPr lang="en-US" altLang="zh-CN" dirty="0"/>
              <a:t>Environment</a:t>
            </a:r>
          </a:p>
          <a:p>
            <a:pPr marL="635000" lvl="2" indent="-177800"/>
            <a:r>
              <a:rPr lang="en-US" altLang="zh-CN" dirty="0"/>
              <a:t>Forensics</a:t>
            </a:r>
          </a:p>
          <a:p>
            <a:pPr marL="635000" lvl="2" indent="-177800"/>
            <a:r>
              <a:rPr lang="en-US" altLang="zh-CN" dirty="0"/>
              <a:t>Behavior</a:t>
            </a:r>
          </a:p>
          <a:p>
            <a:pPr marL="635000" lvl="2" indent="-177800"/>
            <a:r>
              <a:rPr lang="en-US" altLang="zh-CN" dirty="0"/>
              <a:t>Physiology</a:t>
            </a:r>
          </a:p>
          <a:p>
            <a:pPr marL="635000" lvl="2" indent="-177800"/>
            <a:r>
              <a:rPr lang="en-US" altLang="zh-CN" b="1" dirty="0"/>
              <a:t>…</a:t>
            </a:r>
          </a:p>
          <a:p>
            <a:pPr marL="635000" lvl="2" indent="-177800"/>
            <a:endParaRPr lang="en-US" altLang="zh-CN" b="1" dirty="0"/>
          </a:p>
          <a:p>
            <a:pPr marL="177800" lvl="1" indent="-177800"/>
            <a:endParaRPr lang="en-US" altLang="zh-CN" b="1" dirty="0"/>
          </a:p>
          <a:p>
            <a:pPr marL="457200" lvl="2" indent="0">
              <a:buNone/>
            </a:pPr>
            <a:endParaRPr lang="en-AU" altLang="zh-CN" dirty="0"/>
          </a:p>
          <a:p>
            <a:pPr marL="177800" lvl="1" indent="-177800"/>
            <a:endParaRPr lang="zh-CN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17E287-9050-869C-5180-375BF30A7EFD}"/>
              </a:ext>
            </a:extLst>
          </p:cNvPr>
          <p:cNvSpPr txBox="1"/>
          <p:nvPr/>
        </p:nvSpPr>
        <p:spPr>
          <a:xfrm>
            <a:off x="2951046" y="4921308"/>
            <a:ext cx="722293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800" i="1" dirty="0">
                <a:effectLst/>
                <a:latin typeface="LinLibertineT"/>
              </a:rPr>
              <a:t>Deepfakes often generate artifacts which maybe subtle to humans, </a:t>
            </a:r>
          </a:p>
          <a:p>
            <a:r>
              <a:rPr lang="en-AU" i="1" dirty="0">
                <a:latin typeface="LinLibertineT"/>
              </a:rPr>
              <a:t>      </a:t>
            </a:r>
            <a:r>
              <a:rPr lang="en-AU" sz="1800" i="1" dirty="0">
                <a:effectLst/>
                <a:latin typeface="LinLibertineT"/>
              </a:rPr>
              <a:t>but can be easily detected using machine learning and forensic analysis </a:t>
            </a:r>
            <a:endParaRPr lang="en-AU" i="1" dirty="0"/>
          </a:p>
          <a:p>
            <a:endParaRPr lang="en-US" i="1" dirty="0"/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EEF25349-7CD4-C655-1645-E89D1D946CC1}"/>
              </a:ext>
            </a:extLst>
          </p:cNvPr>
          <p:cNvSpPr txBox="1">
            <a:spLocks/>
          </p:cNvSpPr>
          <p:nvPr/>
        </p:nvSpPr>
        <p:spPr>
          <a:xfrm>
            <a:off x="6240779" y="1296056"/>
            <a:ext cx="4053841" cy="55619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7800" lvl="1" indent="-177800"/>
            <a:endParaRPr lang="en-US" altLang="zh-CN" b="1" dirty="0"/>
          </a:p>
          <a:p>
            <a:pPr marL="177800" lvl="1" indent="-177800"/>
            <a:r>
              <a:rPr lang="en-US" altLang="zh-CN" b="1" dirty="0"/>
              <a:t>Generic detection </a:t>
            </a:r>
          </a:p>
          <a:p>
            <a:pPr marL="0" lvl="1" indent="0">
              <a:buNone/>
            </a:pPr>
            <a:r>
              <a:rPr lang="en-US" altLang="zh-CN" b="1" dirty="0"/>
              <a:t>         – no domain knowledge</a:t>
            </a:r>
          </a:p>
          <a:p>
            <a:pPr marL="635000" lvl="2" indent="-177800"/>
            <a:r>
              <a:rPr lang="en-US" altLang="zh-CN" dirty="0"/>
              <a:t>Classification</a:t>
            </a:r>
          </a:p>
          <a:p>
            <a:pPr marL="635000" lvl="2" indent="-177800"/>
            <a:r>
              <a:rPr lang="en-US" altLang="zh-CN" dirty="0"/>
              <a:t>Anomaly detection</a:t>
            </a:r>
          </a:p>
          <a:p>
            <a:pPr marL="177800" lvl="1" indent="-177800"/>
            <a:endParaRPr lang="en-US" altLang="zh-CN" b="1" dirty="0"/>
          </a:p>
          <a:p>
            <a:pPr marL="457200" lvl="2" indent="0">
              <a:buFont typeface="Arial" panose="020B0604020202020204" pitchFamily="34" charset="0"/>
              <a:buNone/>
            </a:pPr>
            <a:endParaRPr lang="en-AU" altLang="zh-CN" dirty="0"/>
          </a:p>
          <a:p>
            <a:pPr marL="177800" lvl="1" indent="-17780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21954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B0A70-D443-478D-B59C-107EE2AD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103658-6428-D809-3145-8F9C7A3F4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18" name="标题 1">
            <a:extLst>
              <a:ext uri="{FF2B5EF4-FFF2-40B4-BE49-F238E27FC236}">
                <a16:creationId xmlns:a16="http://schemas.microsoft.com/office/drawing/2014/main" id="{07A27D41-2BB0-FE39-CE99-659BCDE857DF}"/>
              </a:ext>
            </a:extLst>
          </p:cNvPr>
          <p:cNvSpPr txBox="1">
            <a:spLocks/>
          </p:cNvSpPr>
          <p:nvPr/>
        </p:nvSpPr>
        <p:spPr>
          <a:xfrm>
            <a:off x="171450" y="136525"/>
            <a:ext cx="1317498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400" dirty="0"/>
              <a:t>Detection (active defense) – a blending boundaries detection example</a:t>
            </a:r>
          </a:p>
        </p:txBody>
      </p:sp>
      <p:pic>
        <p:nvPicPr>
          <p:cNvPr id="10" name="Picture 9" descr="A collage of people with different facial features&#10;&#10;Description automatically generated">
            <a:extLst>
              <a:ext uri="{FF2B5EF4-FFF2-40B4-BE49-F238E27FC236}">
                <a16:creationId xmlns:a16="http://schemas.microsoft.com/office/drawing/2014/main" id="{26ACDA45-C69E-455D-6A29-DA400036EB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240" y="1175399"/>
            <a:ext cx="6235700" cy="426424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5B3E831-E74E-BD9C-DC53-6AAA92D5503B}"/>
              </a:ext>
            </a:extLst>
          </p:cNvPr>
          <p:cNvSpPr txBox="1"/>
          <p:nvPr/>
        </p:nvSpPr>
        <p:spPr>
          <a:xfrm>
            <a:off x="6892754" y="2666036"/>
            <a:ext cx="517943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i="1" dirty="0"/>
              <a:t>Face</a:t>
            </a:r>
            <a:r>
              <a:rPr lang="zh-CN" altLang="en-US" sz="2400" b="1" i="1" dirty="0"/>
              <a:t> </a:t>
            </a:r>
            <a:r>
              <a:rPr lang="en-US" altLang="zh-CN" sz="2400" b="1" i="1" dirty="0"/>
              <a:t>“X-ray”</a:t>
            </a:r>
            <a:r>
              <a:rPr lang="zh-CN" altLang="en-US" sz="2400" b="1" i="1" dirty="0"/>
              <a:t> </a:t>
            </a:r>
            <a:r>
              <a:rPr lang="en-US" altLang="zh-CN" sz="2400" b="1" i="1" dirty="0"/>
              <a:t>(a</a:t>
            </a:r>
            <a:r>
              <a:rPr lang="zh-CN" altLang="en-US" sz="2400" b="1" i="1" dirty="0"/>
              <a:t> </a:t>
            </a:r>
            <a:r>
              <a:rPr lang="en-US" altLang="zh-CN" sz="2400" b="1" i="1" dirty="0"/>
              <a:t>masking</a:t>
            </a:r>
            <a:r>
              <a:rPr lang="zh-CN" altLang="en-US" sz="2400" b="1" i="1" dirty="0"/>
              <a:t> </a:t>
            </a:r>
            <a:r>
              <a:rPr lang="en-US" altLang="zh-CN" sz="2400" b="1" i="1" dirty="0"/>
              <a:t>technique</a:t>
            </a:r>
            <a:r>
              <a:rPr lang="zh-CN" altLang="en-US" sz="2400" b="1" i="1" dirty="0"/>
              <a:t> </a:t>
            </a:r>
            <a:r>
              <a:rPr lang="en-US" altLang="zh-CN" sz="2400" b="1" i="1" dirty="0"/>
              <a:t>applied</a:t>
            </a:r>
            <a:r>
              <a:rPr lang="zh-CN" altLang="en-US" sz="2400" b="1" i="1" dirty="0"/>
              <a:t> </a:t>
            </a:r>
            <a:r>
              <a:rPr lang="en-US" altLang="zh-CN" sz="2400" b="1" i="1" dirty="0"/>
              <a:t>to</a:t>
            </a:r>
            <a:r>
              <a:rPr lang="zh-CN" altLang="en-US" sz="2400" b="1" i="1" dirty="0"/>
              <a:t> </a:t>
            </a:r>
            <a:r>
              <a:rPr lang="en-US" altLang="zh-CN" sz="2400" b="1" i="1" dirty="0"/>
              <a:t>the</a:t>
            </a:r>
            <a:r>
              <a:rPr lang="zh-CN" altLang="en-US" sz="2400" b="1" i="1" dirty="0"/>
              <a:t> </a:t>
            </a:r>
            <a:r>
              <a:rPr lang="en-US" altLang="zh-CN" sz="2400" b="1" i="1" dirty="0"/>
              <a:t>face</a:t>
            </a:r>
            <a:r>
              <a:rPr lang="zh-CN" altLang="en-US" sz="2400" b="1" i="1" dirty="0"/>
              <a:t> </a:t>
            </a:r>
            <a:r>
              <a:rPr lang="en-US" altLang="zh-CN" sz="2400" b="1" i="1" dirty="0"/>
              <a:t>image)</a:t>
            </a:r>
            <a:r>
              <a:rPr lang="zh-CN" altLang="en-US" sz="2400" i="1" dirty="0"/>
              <a:t> </a:t>
            </a:r>
            <a:r>
              <a:rPr lang="en-US" altLang="zh-CN" sz="2400" i="1" dirty="0"/>
              <a:t>can</a:t>
            </a:r>
            <a:r>
              <a:rPr lang="zh-CN" altLang="en-US" sz="2400" i="1" dirty="0"/>
              <a:t> </a:t>
            </a:r>
            <a:r>
              <a:rPr lang="en-US" altLang="zh-CN" sz="2400" i="1" dirty="0"/>
              <a:t>be</a:t>
            </a:r>
            <a:r>
              <a:rPr lang="zh-CN" altLang="en-US" sz="2400" i="1" dirty="0"/>
              <a:t> </a:t>
            </a:r>
            <a:r>
              <a:rPr lang="en-US" altLang="zh-CN" sz="2400" i="1" dirty="0"/>
              <a:t>used</a:t>
            </a:r>
            <a:r>
              <a:rPr lang="zh-CN" altLang="en-US" sz="2400" i="1" dirty="0"/>
              <a:t> </a:t>
            </a:r>
            <a:r>
              <a:rPr lang="en-US" altLang="zh-CN" sz="2400" i="1" dirty="0"/>
              <a:t>to</a:t>
            </a:r>
            <a:r>
              <a:rPr lang="zh-CN" altLang="en-US" sz="2400" i="1" dirty="0"/>
              <a:t> </a:t>
            </a:r>
            <a:r>
              <a:rPr lang="en-US" altLang="zh-CN" sz="2400" i="1" dirty="0"/>
              <a:t>detect</a:t>
            </a:r>
            <a:r>
              <a:rPr lang="zh-CN" altLang="en-US" sz="2400" i="1" dirty="0"/>
              <a:t> </a:t>
            </a:r>
            <a:r>
              <a:rPr lang="en-US" altLang="zh-CN" sz="2400" i="1" dirty="0"/>
              <a:t>both</a:t>
            </a:r>
            <a:r>
              <a:rPr lang="zh-CN" altLang="en-US" sz="2400" i="1" dirty="0"/>
              <a:t> </a:t>
            </a:r>
            <a:r>
              <a:rPr lang="en-US" altLang="zh-CN" sz="2400" i="1" dirty="0"/>
              <a:t>whether</a:t>
            </a:r>
            <a:r>
              <a:rPr lang="zh-CN" altLang="en-US" sz="2400" i="1" dirty="0"/>
              <a:t> </a:t>
            </a:r>
            <a:r>
              <a:rPr lang="en-US" altLang="zh-CN" sz="2400" i="1" dirty="0"/>
              <a:t>the</a:t>
            </a:r>
            <a:r>
              <a:rPr lang="zh-CN" altLang="en-US" sz="2400" i="1" dirty="0"/>
              <a:t> </a:t>
            </a:r>
            <a:r>
              <a:rPr lang="en-US" altLang="zh-CN" sz="2400" i="1" dirty="0"/>
              <a:t>image</a:t>
            </a:r>
            <a:r>
              <a:rPr lang="zh-CN" altLang="en-US" sz="2400" i="1" dirty="0"/>
              <a:t> </a:t>
            </a:r>
            <a:r>
              <a:rPr lang="en-US" altLang="zh-CN" sz="2400" i="1" dirty="0"/>
              <a:t>is</a:t>
            </a:r>
            <a:r>
              <a:rPr lang="zh-CN" altLang="en-US" sz="2400" i="1" dirty="0"/>
              <a:t> </a:t>
            </a:r>
            <a:r>
              <a:rPr lang="en-US" altLang="zh-CN" sz="2400" i="1" dirty="0"/>
              <a:t>fake</a:t>
            </a:r>
            <a:r>
              <a:rPr lang="zh-CN" altLang="en-US" sz="2400" i="1" dirty="0"/>
              <a:t> </a:t>
            </a:r>
            <a:r>
              <a:rPr lang="en-US" altLang="zh-CN" sz="2400" i="1" dirty="0"/>
              <a:t>and</a:t>
            </a:r>
            <a:r>
              <a:rPr lang="zh-CN" altLang="en-US" sz="2400" i="1" dirty="0"/>
              <a:t> </a:t>
            </a:r>
            <a:r>
              <a:rPr lang="en-US" altLang="zh-CN" sz="2400" i="1" dirty="0"/>
              <a:t>the</a:t>
            </a:r>
            <a:r>
              <a:rPr lang="zh-CN" altLang="en-US" sz="2400" i="1" dirty="0"/>
              <a:t> </a:t>
            </a:r>
            <a:r>
              <a:rPr lang="en-US" altLang="zh-CN" sz="2400" i="1" dirty="0"/>
              <a:t>blending</a:t>
            </a:r>
            <a:r>
              <a:rPr lang="zh-CN" altLang="en-US" sz="2400" i="1" dirty="0"/>
              <a:t> </a:t>
            </a:r>
            <a:r>
              <a:rPr lang="en-US" altLang="zh-CN" sz="2400" i="1" dirty="0"/>
              <a:t>boundaries</a:t>
            </a:r>
            <a:r>
              <a:rPr lang="zh-CN" altLang="en-US" sz="2400" i="1" dirty="0"/>
              <a:t> </a:t>
            </a:r>
            <a:r>
              <a:rPr lang="en-US" altLang="zh-CN" sz="2400" i="1" dirty="0"/>
              <a:t>of</a:t>
            </a:r>
            <a:r>
              <a:rPr lang="zh-CN" altLang="en-US" sz="2400" i="1" dirty="0"/>
              <a:t> </a:t>
            </a:r>
            <a:r>
              <a:rPr lang="en-US" altLang="zh-CN" sz="2400" i="1" dirty="0"/>
              <a:t>fake</a:t>
            </a:r>
            <a:r>
              <a:rPr lang="zh-CN" altLang="en-US" sz="2400" i="1" dirty="0"/>
              <a:t> </a:t>
            </a:r>
            <a:r>
              <a:rPr lang="en-US" altLang="zh-CN" sz="2400" i="1" dirty="0"/>
              <a:t>images.</a:t>
            </a:r>
            <a:endParaRPr lang="en-US" sz="240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7E001B-2251-0AB6-F0AE-ED732E77CEEA}"/>
              </a:ext>
            </a:extLst>
          </p:cNvPr>
          <p:cNvSpPr txBox="1"/>
          <p:nvPr/>
        </p:nvSpPr>
        <p:spPr>
          <a:xfrm>
            <a:off x="171450" y="5697942"/>
            <a:ext cx="787302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0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Li, L., Bao, J., Zhang, T., Yang, H., Chen, D., Wen, F., &amp; Guo, B. (2020). Face x-ray for more general face forgery detection. In Proceedings of the IEEE/CVF conference on computer vision and pattern recognition (pp. 5001-5010).</a:t>
            </a:r>
          </a:p>
        </p:txBody>
      </p:sp>
    </p:spTree>
    <p:extLst>
      <p:ext uri="{BB962C8B-B14F-4D97-AF65-F5344CB8AC3E}">
        <p14:creationId xmlns:p14="http://schemas.microsoft.com/office/powerpoint/2010/main" val="339263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B0A70-D443-478D-B59C-107EE2AD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103658-6428-D809-3145-8F9C7A3F4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18" name="标题 1">
            <a:extLst>
              <a:ext uri="{FF2B5EF4-FFF2-40B4-BE49-F238E27FC236}">
                <a16:creationId xmlns:a16="http://schemas.microsoft.com/office/drawing/2014/main" id="{07A27D41-2BB0-FE39-CE99-659BCDE857DF}"/>
              </a:ext>
            </a:extLst>
          </p:cNvPr>
          <p:cNvSpPr txBox="1">
            <a:spLocks/>
          </p:cNvSpPr>
          <p:nvPr/>
        </p:nvSpPr>
        <p:spPr>
          <a:xfrm>
            <a:off x="171450" y="136525"/>
            <a:ext cx="1317498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dirty="0"/>
              <a:t>Detection (active defense) – a model</a:t>
            </a:r>
            <a:r>
              <a:rPr lang="zh-CN" altLang="en-US" sz="2800" dirty="0"/>
              <a:t> </a:t>
            </a:r>
            <a:r>
              <a:rPr lang="en-US" altLang="zh-CN" sz="2800" dirty="0"/>
              <a:t>anomaly</a:t>
            </a:r>
            <a:r>
              <a:rPr lang="zh-CN" altLang="en-US" sz="2800" dirty="0"/>
              <a:t> </a:t>
            </a:r>
            <a:r>
              <a:rPr lang="en-US" altLang="zh-CN" sz="2800" dirty="0"/>
              <a:t>detection</a:t>
            </a:r>
            <a:r>
              <a:rPr lang="zh-CN" altLang="en-US" sz="2800" dirty="0"/>
              <a:t> </a:t>
            </a:r>
            <a:r>
              <a:rPr lang="en-US" altLang="zh-CN" sz="2800" dirty="0"/>
              <a:t>example</a:t>
            </a:r>
          </a:p>
        </p:txBody>
      </p:sp>
      <p:pic>
        <p:nvPicPr>
          <p:cNvPr id="3" name="Picture 2" descr="A diagram of a group of people&#10;&#10;Description automatically generated">
            <a:extLst>
              <a:ext uri="{FF2B5EF4-FFF2-40B4-BE49-F238E27FC236}">
                <a16:creationId xmlns:a16="http://schemas.microsoft.com/office/drawing/2014/main" id="{F256584C-0D0E-040F-6BCC-204EF2986A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892" y="1564071"/>
            <a:ext cx="5738625" cy="30729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067AB1F-80C0-BFFC-12CA-BFB08C0864AE}"/>
              </a:ext>
            </a:extLst>
          </p:cNvPr>
          <p:cNvSpPr txBox="1"/>
          <p:nvPr/>
        </p:nvSpPr>
        <p:spPr>
          <a:xfrm>
            <a:off x="6758940" y="2685042"/>
            <a:ext cx="54839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altLang="zh-CN" sz="2400" i="1" dirty="0"/>
              <a:t>Monito</a:t>
            </a:r>
            <a:r>
              <a:rPr lang="en-US" altLang="zh-CN" sz="2400" i="1" dirty="0"/>
              <a:t>r</a:t>
            </a:r>
            <a:r>
              <a:rPr lang="zh-CN" altLang="en-US" sz="2400" i="1" dirty="0"/>
              <a:t> </a:t>
            </a:r>
            <a:r>
              <a:rPr lang="en-US" altLang="zh-CN" sz="2400" i="1" dirty="0"/>
              <a:t>the</a:t>
            </a:r>
            <a:r>
              <a:rPr lang="zh-CN" altLang="en-US" sz="2400" i="1" dirty="0"/>
              <a:t> </a:t>
            </a:r>
            <a:r>
              <a:rPr lang="en-US" altLang="zh-CN" sz="2400" b="1" i="1" dirty="0"/>
              <a:t>neuron</a:t>
            </a:r>
            <a:r>
              <a:rPr lang="zh-CN" altLang="en-US" sz="2400" b="1" i="1" dirty="0"/>
              <a:t> </a:t>
            </a:r>
            <a:r>
              <a:rPr lang="en-US" altLang="zh-CN" sz="2400" b="1" i="1" dirty="0"/>
              <a:t>behaviors</a:t>
            </a:r>
            <a:r>
              <a:rPr lang="zh-CN" altLang="en-US" sz="2400" b="1" i="1" dirty="0"/>
              <a:t> </a:t>
            </a:r>
            <a:r>
              <a:rPr lang="en-US" altLang="zh-CN" sz="2400" i="1" dirty="0"/>
              <a:t>to</a:t>
            </a:r>
            <a:r>
              <a:rPr lang="zh-CN" altLang="en-US" sz="2400" i="1" dirty="0"/>
              <a:t> </a:t>
            </a:r>
            <a:r>
              <a:rPr lang="en-US" altLang="zh-CN" sz="2400" i="1" dirty="0"/>
              <a:t>identify</a:t>
            </a:r>
            <a:r>
              <a:rPr lang="zh-CN" altLang="en-US" sz="2400" i="1" dirty="0"/>
              <a:t> </a:t>
            </a:r>
            <a:r>
              <a:rPr lang="en-US" altLang="zh-CN" sz="2400" i="1" dirty="0"/>
              <a:t>synthesized</a:t>
            </a:r>
            <a:r>
              <a:rPr lang="zh-CN" altLang="en-US" sz="2400" i="1" dirty="0"/>
              <a:t> </a:t>
            </a:r>
            <a:r>
              <a:rPr lang="en-US" altLang="zh-CN" sz="2400" i="1" dirty="0"/>
              <a:t>fake</a:t>
            </a:r>
            <a:r>
              <a:rPr lang="zh-CN" altLang="en-US" sz="2400" i="1" dirty="0"/>
              <a:t> </a:t>
            </a:r>
            <a:r>
              <a:rPr lang="en-US" altLang="zh-CN" sz="2400" i="1" dirty="0"/>
              <a:t>faces.</a:t>
            </a:r>
            <a:endParaRPr lang="en-US" sz="2400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F4AF27-3412-A32E-42D7-7A027DCDA2E7}"/>
              </a:ext>
            </a:extLst>
          </p:cNvPr>
          <p:cNvSpPr txBox="1"/>
          <p:nvPr/>
        </p:nvSpPr>
        <p:spPr>
          <a:xfrm>
            <a:off x="462395" y="5016930"/>
            <a:ext cx="787302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0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Wang, R., Ma, L., </a:t>
            </a:r>
            <a:r>
              <a:rPr lang="en-AU" sz="1000" b="0" i="1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Juefei</a:t>
            </a:r>
            <a:r>
              <a:rPr lang="en-AU" sz="10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-Xu, F., </a:t>
            </a:r>
            <a:r>
              <a:rPr lang="en-AU" sz="1000" b="0" i="1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Xie</a:t>
            </a:r>
            <a:r>
              <a:rPr lang="en-AU" sz="10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 X., Wang, J., &amp; Liu, Y. </a:t>
            </a:r>
            <a:r>
              <a:rPr lang="en-AU" sz="1000" b="0" i="1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Fakespotter</a:t>
            </a:r>
            <a:r>
              <a:rPr lang="en-AU" sz="10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: A simple baseline for spotting ai-synthesized fake faces. </a:t>
            </a:r>
            <a:r>
              <a:rPr lang="en-AU" sz="1000" b="0" i="1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arXiv</a:t>
            </a:r>
            <a:r>
              <a:rPr lang="en-AU" sz="10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2019. </a:t>
            </a:r>
            <a:r>
              <a:rPr lang="en-AU" sz="1000" b="0" i="1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arXiv</a:t>
            </a:r>
            <a:r>
              <a:rPr lang="en-AU" sz="10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preprint arXiv:1909.06122.</a:t>
            </a:r>
          </a:p>
          <a:p>
            <a:endParaRPr lang="en-AU" sz="1000" b="0" i="1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70794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B0A70-D443-478D-B59C-107EE2AD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103658-6428-D809-3145-8F9C7A3F4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18" name="标题 1">
            <a:extLst>
              <a:ext uri="{FF2B5EF4-FFF2-40B4-BE49-F238E27FC236}">
                <a16:creationId xmlns:a16="http://schemas.microsoft.com/office/drawing/2014/main" id="{07A27D41-2BB0-FE39-CE99-659BCDE857DF}"/>
              </a:ext>
            </a:extLst>
          </p:cNvPr>
          <p:cNvSpPr txBox="1">
            <a:spLocks/>
          </p:cNvSpPr>
          <p:nvPr/>
        </p:nvSpPr>
        <p:spPr>
          <a:xfrm>
            <a:off x="838199" y="272632"/>
            <a:ext cx="852651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4000" dirty="0"/>
              <a:t>Prevention (passive</a:t>
            </a:r>
            <a:r>
              <a:rPr lang="zh-CN" altLang="en-US" sz="4000" dirty="0"/>
              <a:t> </a:t>
            </a:r>
            <a:r>
              <a:rPr lang="en-US" altLang="zh-CN" sz="4000" dirty="0"/>
              <a:t>defense)</a:t>
            </a:r>
          </a:p>
        </p:txBody>
      </p:sp>
      <p:sp>
        <p:nvSpPr>
          <p:cNvPr id="2" name="内容占位符 2">
            <a:extLst>
              <a:ext uri="{FF2B5EF4-FFF2-40B4-BE49-F238E27FC236}">
                <a16:creationId xmlns:a16="http://schemas.microsoft.com/office/drawing/2014/main" id="{A546F324-6614-E390-7DDD-7DC711714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9980" y="1847003"/>
            <a:ext cx="9712595" cy="3040881"/>
          </a:xfrm>
        </p:spPr>
        <p:txBody>
          <a:bodyPr>
            <a:normAutofit/>
          </a:bodyPr>
          <a:lstStyle/>
          <a:p>
            <a:pPr marL="177800" lvl="1" indent="-177800"/>
            <a:endParaRPr lang="en-US" altLang="zh-CN" b="1" dirty="0"/>
          </a:p>
          <a:p>
            <a:pPr marL="635000" lvl="2" indent="-177800"/>
            <a:r>
              <a:rPr lang="en-US" altLang="zh-CN" b="1" dirty="0"/>
              <a:t>Adversarial</a:t>
            </a:r>
            <a:r>
              <a:rPr lang="zh-CN" altLang="en-US" b="1" dirty="0"/>
              <a:t> </a:t>
            </a:r>
            <a:r>
              <a:rPr lang="en-US" altLang="zh-CN" b="1" dirty="0"/>
              <a:t>machine</a:t>
            </a:r>
            <a:r>
              <a:rPr lang="zh-CN" altLang="en-US" b="1" dirty="0"/>
              <a:t> </a:t>
            </a:r>
            <a:r>
              <a:rPr lang="en-US" altLang="zh-CN" b="1" dirty="0"/>
              <a:t>learning	</a:t>
            </a:r>
          </a:p>
          <a:p>
            <a:pPr marL="177800" lvl="1" indent="-177800"/>
            <a:endParaRPr lang="en-US" altLang="zh-CN" b="1" dirty="0"/>
          </a:p>
          <a:p>
            <a:pPr marL="457200" lvl="2" indent="0">
              <a:buNone/>
            </a:pPr>
            <a:endParaRPr lang="en-AU" altLang="zh-CN" dirty="0"/>
          </a:p>
          <a:p>
            <a:pPr marL="177800" lvl="1" indent="-177800"/>
            <a:endParaRPr lang="zh-CN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17E287-9050-869C-5180-375BF30A7EFD}"/>
              </a:ext>
            </a:extLst>
          </p:cNvPr>
          <p:cNvSpPr txBox="1"/>
          <p:nvPr/>
        </p:nvSpPr>
        <p:spPr>
          <a:xfrm>
            <a:off x="1129981" y="3577162"/>
            <a:ext cx="97125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000" i="1" dirty="0">
                <a:latin typeface="LinLibertineT"/>
              </a:rPr>
              <a:t>Focusing on protecting data privacy, we can also d</a:t>
            </a:r>
            <a:r>
              <a:rPr lang="en-US" altLang="zh-CN" sz="2000" i="1" dirty="0" err="1">
                <a:latin typeface="LinLibertineT"/>
              </a:rPr>
              <a:t>efend</a:t>
            </a:r>
            <a:r>
              <a:rPr lang="en-US" altLang="zh-CN" sz="2000" i="1" dirty="0">
                <a:latin typeface="LinLibertineT"/>
              </a:rPr>
              <a:t> against </a:t>
            </a:r>
            <a:r>
              <a:rPr lang="en-AU" sz="2000" i="1" dirty="0">
                <a:effectLst/>
                <a:latin typeface="LinLibertineT"/>
              </a:rPr>
              <a:t>Deepfakes</a:t>
            </a:r>
            <a:r>
              <a:rPr lang="zh-CN" altLang="en-US" sz="2000" i="1" dirty="0">
                <a:effectLst/>
                <a:latin typeface="LinLibertineT"/>
              </a:rPr>
              <a:t> </a:t>
            </a:r>
            <a:r>
              <a:rPr lang="en-AU" sz="2000" i="1" dirty="0">
                <a:effectLst/>
                <a:latin typeface="LinLibertineT"/>
              </a:rPr>
              <a:t>in a passive way.</a:t>
            </a:r>
            <a:endParaRPr lang="en-US" sz="2000" i="1" dirty="0"/>
          </a:p>
        </p:txBody>
      </p:sp>
    </p:spTree>
    <p:extLst>
      <p:ext uri="{BB962C8B-B14F-4D97-AF65-F5344CB8AC3E}">
        <p14:creationId xmlns:p14="http://schemas.microsoft.com/office/powerpoint/2010/main" val="1730542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B0A70-D443-478D-B59C-107EE2AD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103658-6428-D809-3145-8F9C7A3F4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18" name="标题 1">
            <a:extLst>
              <a:ext uri="{FF2B5EF4-FFF2-40B4-BE49-F238E27FC236}">
                <a16:creationId xmlns:a16="http://schemas.microsoft.com/office/drawing/2014/main" id="{07A27D41-2BB0-FE39-CE99-659BCDE857DF}"/>
              </a:ext>
            </a:extLst>
          </p:cNvPr>
          <p:cNvSpPr txBox="1">
            <a:spLocks/>
          </p:cNvSpPr>
          <p:nvPr/>
        </p:nvSpPr>
        <p:spPr>
          <a:xfrm>
            <a:off x="1139139" y="411529"/>
            <a:ext cx="1029664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000" dirty="0"/>
              <a:t>Prevention (passive</a:t>
            </a:r>
            <a:r>
              <a:rPr lang="zh-CN" altLang="en-US" sz="2000" dirty="0"/>
              <a:t> </a:t>
            </a:r>
            <a:r>
              <a:rPr lang="en-US" altLang="zh-CN" sz="2000" dirty="0"/>
              <a:t>defense) –</a:t>
            </a:r>
            <a:r>
              <a:rPr lang="zh-CN" altLang="en-US" sz="2000" dirty="0"/>
              <a:t> </a:t>
            </a:r>
            <a:r>
              <a:rPr lang="en-US" altLang="zh-CN" sz="2000" dirty="0"/>
              <a:t>an</a:t>
            </a:r>
            <a:r>
              <a:rPr lang="zh-CN" altLang="en-US" sz="2000" dirty="0"/>
              <a:t> </a:t>
            </a:r>
            <a:r>
              <a:rPr lang="en-US" altLang="zh-CN" sz="2000" dirty="0"/>
              <a:t>adversarial perturbation-based</a:t>
            </a:r>
            <a:r>
              <a:rPr lang="zh-CN" altLang="en-US" sz="2000" dirty="0"/>
              <a:t> </a:t>
            </a:r>
            <a:r>
              <a:rPr lang="en-US" altLang="zh-CN" sz="2000" dirty="0"/>
              <a:t>source</a:t>
            </a:r>
            <a:r>
              <a:rPr lang="zh-CN" altLang="en-US" sz="2000" dirty="0"/>
              <a:t> </a:t>
            </a:r>
            <a:r>
              <a:rPr lang="en-US" altLang="zh-CN" sz="2000" dirty="0"/>
              <a:t>data</a:t>
            </a:r>
            <a:r>
              <a:rPr lang="zh-CN" altLang="en-US" sz="2000" dirty="0"/>
              <a:t> </a:t>
            </a:r>
            <a:r>
              <a:rPr lang="en-US" altLang="zh-CN" sz="2000" dirty="0"/>
              <a:t>protection</a:t>
            </a:r>
            <a:r>
              <a:rPr lang="zh-CN" altLang="en-US" sz="2000" dirty="0"/>
              <a:t> </a:t>
            </a:r>
            <a:r>
              <a:rPr lang="en-US" altLang="zh-CN" sz="2000" dirty="0"/>
              <a:t>example</a:t>
            </a:r>
          </a:p>
        </p:txBody>
      </p:sp>
      <p:pic>
        <p:nvPicPr>
          <p:cNvPr id="3" name="Picture 2" descr="A diagram of a person's face&#10;&#10;Description automatically generated">
            <a:extLst>
              <a:ext uri="{FF2B5EF4-FFF2-40B4-BE49-F238E27FC236}">
                <a16:creationId xmlns:a16="http://schemas.microsoft.com/office/drawing/2014/main" id="{7301686B-1FA5-C0BF-0A9B-F2DF0B3A19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8660" y="1545490"/>
            <a:ext cx="8974679" cy="33104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637B3B7-C000-533C-ECCA-062EBE7BB81B}"/>
              </a:ext>
            </a:extLst>
          </p:cNvPr>
          <p:cNvSpPr txBox="1"/>
          <p:nvPr/>
        </p:nvSpPr>
        <p:spPr>
          <a:xfrm>
            <a:off x="1272490" y="5710019"/>
            <a:ext cx="98050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The adversarial perturbation can be unnoticeable to the human eye but effective</a:t>
            </a:r>
            <a:r>
              <a:rPr lang="zh-CN" altLang="en-US" i="1" dirty="0"/>
              <a:t> </a:t>
            </a:r>
            <a:r>
              <a:rPr lang="en-US" altLang="zh-CN" i="1" dirty="0"/>
              <a:t>to</a:t>
            </a:r>
            <a:r>
              <a:rPr lang="zh-CN" altLang="en-US" i="1" dirty="0"/>
              <a:t> </a:t>
            </a:r>
            <a:r>
              <a:rPr lang="en-US" altLang="zh-CN" i="1" dirty="0"/>
              <a:t>mislead</a:t>
            </a:r>
            <a:r>
              <a:rPr lang="zh-CN" altLang="en-US" i="1" dirty="0"/>
              <a:t> </a:t>
            </a:r>
            <a:r>
              <a:rPr lang="en-US" altLang="zh-CN" i="1" dirty="0"/>
              <a:t>the</a:t>
            </a:r>
            <a:r>
              <a:rPr lang="zh-CN" altLang="en-US" i="1" dirty="0"/>
              <a:t> </a:t>
            </a:r>
            <a:r>
              <a:rPr lang="en-US" altLang="zh-CN" i="1" dirty="0"/>
              <a:t>model,</a:t>
            </a:r>
            <a:r>
              <a:rPr lang="zh-CN" altLang="en-US" i="1" dirty="0"/>
              <a:t> </a:t>
            </a:r>
            <a:r>
              <a:rPr lang="en-US" altLang="zh-CN" i="1" dirty="0"/>
              <a:t>i.e.,</a:t>
            </a:r>
            <a:r>
              <a:rPr lang="zh-CN" altLang="en-US" i="1" dirty="0"/>
              <a:t> </a:t>
            </a:r>
            <a:r>
              <a:rPr lang="en-US" altLang="zh-CN" i="1" dirty="0"/>
              <a:t>lead</a:t>
            </a:r>
            <a:r>
              <a:rPr lang="zh-CN" altLang="en-US" i="1" dirty="0"/>
              <a:t> </a:t>
            </a:r>
            <a:r>
              <a:rPr lang="en-US" altLang="zh-CN" i="1" dirty="0"/>
              <a:t>model</a:t>
            </a:r>
            <a:r>
              <a:rPr lang="zh-CN" altLang="en-US" i="1" dirty="0"/>
              <a:t> </a:t>
            </a:r>
            <a:r>
              <a:rPr lang="en-US" altLang="zh-CN" i="1" dirty="0"/>
              <a:t>to</a:t>
            </a:r>
            <a:r>
              <a:rPr lang="zh-CN" altLang="en-US" i="1" dirty="0"/>
              <a:t> </a:t>
            </a:r>
            <a:r>
              <a:rPr lang="en-US" altLang="zh-CN" i="1" dirty="0"/>
              <a:t>Type</a:t>
            </a:r>
            <a:r>
              <a:rPr lang="zh-CN" altLang="en-US" i="1" dirty="0"/>
              <a:t> </a:t>
            </a:r>
            <a:r>
              <a:rPr lang="en-US" altLang="zh-CN" i="1" dirty="0"/>
              <a:t>II</a:t>
            </a:r>
            <a:r>
              <a:rPr lang="zh-CN" altLang="en-US" i="1" dirty="0"/>
              <a:t> </a:t>
            </a:r>
            <a:r>
              <a:rPr lang="en-US" altLang="zh-CN" i="1" dirty="0"/>
              <a:t>error.</a:t>
            </a:r>
            <a:endParaRPr lang="en-US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F8958E-CD37-E237-53C1-CB1886056EBA}"/>
              </a:ext>
            </a:extLst>
          </p:cNvPr>
          <p:cNvSpPr txBox="1"/>
          <p:nvPr/>
        </p:nvSpPr>
        <p:spPr>
          <a:xfrm>
            <a:off x="2705099" y="4945307"/>
            <a:ext cx="6781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i="1" dirty="0">
                <a:solidFill>
                  <a:srgbClr val="222222"/>
                </a:solidFill>
                <a:latin typeface="Arial" panose="020B0604020202020204" pitchFamily="34" charset="0"/>
              </a:rPr>
              <a:t>Shan, S., Wenger, E., Zhang, J., Li, H., Zheng, H., &amp; Zhao, B. Y. (2020). Fawkes: Protecting privacy against unauthorized deep learning models. In 29th USENIX security symposium (USENIX Security 20) (pp. 1589-1604).</a:t>
            </a:r>
          </a:p>
          <a:p>
            <a:endParaRPr lang="en-US" sz="1000" i="1" dirty="0">
              <a:solidFill>
                <a:srgbClr val="222222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0882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B0A6A-3756-48AB-0266-B963495B2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56F6B-9E25-F78B-F495-63244B1E4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49459" y="361378"/>
            <a:ext cx="7882128" cy="1076914"/>
          </a:xfrm>
        </p:spPr>
        <p:txBody>
          <a:bodyPr vert="horz" lIns="45720" tIns="22860" rIns="45720" bIns="22860" rtlCol="0" anchor="ctr">
            <a:normAutofit/>
          </a:bodyPr>
          <a:lstStyle/>
          <a:p>
            <a:pPr defTabSz="457200"/>
            <a:r>
              <a:rPr lang="en-US" sz="4000" spc="-30" dirty="0">
                <a:solidFill>
                  <a:schemeClr val="tx1"/>
                </a:solidFill>
              </a:rPr>
              <a:t>Deepfake Detection- Theoretical </a:t>
            </a:r>
            <a:endParaRPr lang="en-US" sz="4000" dirty="0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694F66-7513-81BB-BDCB-F73967651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3998" y="2320554"/>
            <a:ext cx="4914817" cy="238638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341F114-285B-F2BE-68A3-E4BD59E3144B}"/>
              </a:ext>
            </a:extLst>
          </p:cNvPr>
          <p:cNvSpPr txBox="1"/>
          <p:nvPr/>
        </p:nvSpPr>
        <p:spPr>
          <a:xfrm>
            <a:off x="3810000" y="4889843"/>
            <a:ext cx="457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304038">
              <a:spcAft>
                <a:spcPts val="300"/>
              </a:spcAft>
            </a:pPr>
            <a:r>
              <a:rPr lang="en-US" sz="2400" dirty="0"/>
              <a:t>Authentic  or  AI generated ?</a:t>
            </a:r>
          </a:p>
        </p:txBody>
      </p:sp>
    </p:spTree>
    <p:extLst>
      <p:ext uri="{BB962C8B-B14F-4D97-AF65-F5344CB8AC3E}">
        <p14:creationId xmlns:p14="http://schemas.microsoft.com/office/powerpoint/2010/main" val="36160840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2643A-85F7-5B84-0F3D-0BDC3997F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0193F-9F76-A160-6DA7-C5928B5F16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4936" y="334644"/>
            <a:ext cx="7882128" cy="1076914"/>
          </a:xfrm>
        </p:spPr>
        <p:txBody>
          <a:bodyPr vert="horz" lIns="45720" tIns="22860" rIns="45720" bIns="22860" rtlCol="0" anchor="ctr">
            <a:normAutofit/>
          </a:bodyPr>
          <a:lstStyle/>
          <a:p>
            <a:pPr defTabSz="457200"/>
            <a:r>
              <a:rPr lang="en-US" sz="3500" spc="-30" dirty="0">
                <a:solidFill>
                  <a:schemeClr val="tx1"/>
                </a:solidFill>
              </a:rPr>
              <a:t>Methodology: Parameterized Curves</a:t>
            </a:r>
            <a:endParaRPr lang="en-US" sz="35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31E82C-B8DF-0442-D723-B55FC3FDD52D}"/>
              </a:ext>
            </a:extLst>
          </p:cNvPr>
          <p:cNvSpPr txBox="1"/>
          <p:nvPr/>
        </p:nvSpPr>
        <p:spPr>
          <a:xfrm>
            <a:off x="2384282" y="1682740"/>
            <a:ext cx="7879842" cy="5221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036" indent="-285036" defTabSz="304038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2793" dirty="0"/>
              <a:t>T</a:t>
            </a:r>
            <a:r>
              <a:rPr lang="en-AU" sz="2793" dirty="0" err="1"/>
              <a:t>ransforming</a:t>
            </a:r>
            <a:r>
              <a:rPr lang="en-AU" sz="2793" dirty="0"/>
              <a:t> geometry to algebra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ED4E6B7-4B5D-BC52-269F-32F5B814B8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6612" y="2296650"/>
            <a:ext cx="6998777" cy="204182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A056A67-9485-8C9E-FA9B-FE0C85B2F8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9728" y="4338473"/>
            <a:ext cx="1983748" cy="1963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0362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5D85A1-7B61-15FF-39B4-9EC009EE7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EA68E-7CC6-E634-D0A6-6A1E4331A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4936" y="334644"/>
            <a:ext cx="7882128" cy="1076914"/>
          </a:xfrm>
        </p:spPr>
        <p:txBody>
          <a:bodyPr vert="horz" lIns="45720" tIns="22860" rIns="45720" bIns="22860" rtlCol="0" anchor="ctr">
            <a:normAutofit/>
          </a:bodyPr>
          <a:lstStyle/>
          <a:p>
            <a:pPr defTabSz="457200"/>
            <a:r>
              <a:rPr lang="en-US" sz="3500" spc="-30" dirty="0">
                <a:solidFill>
                  <a:schemeClr val="tx1"/>
                </a:solidFill>
              </a:rPr>
              <a:t>Deepfake Detection - Theoretical</a:t>
            </a:r>
            <a:endParaRPr lang="en-US" sz="35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B09B8A-4286-C252-05EB-B547A6101F75}"/>
              </a:ext>
            </a:extLst>
          </p:cNvPr>
          <p:cNvSpPr txBox="1"/>
          <p:nvPr/>
        </p:nvSpPr>
        <p:spPr>
          <a:xfrm>
            <a:off x="3133258" y="5007996"/>
            <a:ext cx="6517705" cy="14201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304038">
              <a:spcAft>
                <a:spcPts val="300"/>
              </a:spcAft>
            </a:pPr>
            <a:r>
              <a:rPr lang="en-US" sz="2793" dirty="0"/>
              <a:t>AI generated one is more “smooth”  given the mechanism of CNN ? </a:t>
            </a:r>
          </a:p>
          <a:p>
            <a:pPr defTabSz="304038">
              <a:spcAft>
                <a:spcPts val="300"/>
              </a:spcAft>
            </a:pPr>
            <a:endParaRPr lang="en-AU" sz="2793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1CCB36-34A5-5D97-A3FF-8C836F5234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3998" y="1732726"/>
            <a:ext cx="4914817" cy="238638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662F11-5A06-6C58-B576-5F6777454065}"/>
              </a:ext>
            </a:extLst>
          </p:cNvPr>
          <p:cNvSpPr txBox="1"/>
          <p:nvPr/>
        </p:nvSpPr>
        <p:spPr>
          <a:xfrm>
            <a:off x="3810000" y="4241066"/>
            <a:ext cx="457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304038">
              <a:spcAft>
                <a:spcPts val="300"/>
              </a:spcAft>
            </a:pPr>
            <a:r>
              <a:rPr lang="en-US" sz="2400" dirty="0"/>
              <a:t>Authentic                   AI generated</a:t>
            </a:r>
          </a:p>
        </p:txBody>
      </p:sp>
    </p:spTree>
    <p:extLst>
      <p:ext uri="{BB962C8B-B14F-4D97-AF65-F5344CB8AC3E}">
        <p14:creationId xmlns:p14="http://schemas.microsoft.com/office/powerpoint/2010/main" val="32844790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34E71-3C40-704D-E271-8B4211A7A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2422E-16DF-F0C2-772E-964A5D789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4936" y="399364"/>
            <a:ext cx="7882128" cy="1076914"/>
          </a:xfrm>
        </p:spPr>
        <p:txBody>
          <a:bodyPr vert="horz" lIns="45720" tIns="22860" rIns="45720" bIns="22860" rtlCol="0" anchor="ctr">
            <a:normAutofit/>
          </a:bodyPr>
          <a:lstStyle/>
          <a:p>
            <a:pPr defTabSz="457200"/>
            <a:r>
              <a:rPr lang="en-US" sz="4000" spc="-30" dirty="0">
                <a:solidFill>
                  <a:schemeClr val="tx1"/>
                </a:solidFill>
              </a:rPr>
              <a:t>Gradient and Curvature</a:t>
            </a:r>
            <a:endParaRPr lang="en-US" sz="40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D905BB-00C8-0286-CD6C-9877AF85703B}"/>
              </a:ext>
            </a:extLst>
          </p:cNvPr>
          <p:cNvSpPr txBox="1"/>
          <p:nvPr/>
        </p:nvSpPr>
        <p:spPr>
          <a:xfrm>
            <a:off x="2508107" y="4732354"/>
            <a:ext cx="7731268" cy="14586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304038">
              <a:spcAft>
                <a:spcPts val="300"/>
              </a:spcAft>
            </a:pPr>
            <a:r>
              <a:rPr lang="en-US" sz="2793" dirty="0"/>
              <a:t>First order derivative of f(x) – </a:t>
            </a:r>
            <a:r>
              <a:rPr lang="en-US" sz="2793" b="1" dirty="0"/>
              <a:t>gradient</a:t>
            </a:r>
            <a:r>
              <a:rPr lang="en-US" sz="2793" dirty="0"/>
              <a:t> at x</a:t>
            </a:r>
          </a:p>
          <a:p>
            <a:pPr defTabSz="304038">
              <a:spcAft>
                <a:spcPts val="300"/>
              </a:spcAft>
            </a:pPr>
            <a:r>
              <a:rPr lang="en-US" sz="2793" dirty="0"/>
              <a:t>Second order derivative of f(x) – </a:t>
            </a:r>
            <a:r>
              <a:rPr lang="en-US" sz="2793" b="1" dirty="0"/>
              <a:t>curvature</a:t>
            </a:r>
            <a:r>
              <a:rPr lang="en-US" sz="2793" dirty="0"/>
              <a:t> at x</a:t>
            </a:r>
          </a:p>
          <a:p>
            <a:pPr defTabSz="304038">
              <a:spcAft>
                <a:spcPts val="300"/>
              </a:spcAft>
            </a:pPr>
            <a:endParaRPr lang="en-AU" sz="2793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6DE76F-7F5B-5EEC-275A-55E61BCB23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4936" y="1818686"/>
            <a:ext cx="7639853" cy="2228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6073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DF11894-062E-42A9-B239-97AFB0B82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D1DE2CE-42AF-B683-D4FB-AD99CCD3B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9" name="标题 1">
            <a:extLst>
              <a:ext uri="{FF2B5EF4-FFF2-40B4-BE49-F238E27FC236}">
                <a16:creationId xmlns:a16="http://schemas.microsoft.com/office/drawing/2014/main" id="{43151E8E-9382-979A-2D54-C6BEAFB25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1553"/>
            <a:ext cx="10515600" cy="1325563"/>
          </a:xfrm>
        </p:spPr>
        <p:txBody>
          <a:bodyPr/>
          <a:lstStyle/>
          <a:p>
            <a:r>
              <a:rPr lang="en-US" altLang="zh-CN" dirty="0"/>
              <a:t>Reference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Resources</a:t>
            </a:r>
            <a:endParaRPr lang="zh-CN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ACA351-2C05-21F6-2433-BB7152A2DF29}"/>
              </a:ext>
            </a:extLst>
          </p:cNvPr>
          <p:cNvSpPr txBox="1"/>
          <p:nvPr/>
        </p:nvSpPr>
        <p:spPr>
          <a:xfrm>
            <a:off x="838200" y="1923393"/>
            <a:ext cx="10805932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AU" sz="14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Karras</a:t>
            </a:r>
            <a:r>
              <a:rPr lang="en-AU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 T., Laine, S., &amp; Aila, T. (2019). A style-based generator architecture for generative adversarial networks. In </a:t>
            </a:r>
            <a:r>
              <a:rPr lang="en-AU" sz="14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Proceedings of the IEEE/CVF conference on computer vision and pattern recognition</a:t>
            </a:r>
            <a:r>
              <a:rPr lang="en-AU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(pp. 4401-4410). </a:t>
            </a:r>
          </a:p>
          <a:p>
            <a:pPr marL="342900" indent="-342900">
              <a:buFont typeface="+mj-lt"/>
              <a:buAutoNum type="arabicPeriod"/>
            </a:pPr>
            <a:endParaRPr lang="en-AU" sz="14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AU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Li, L., Bao, J., Zhang, T., Yang, H., Chen, D., Wen, F., &amp; Guo, B. (2020). Face x-ray for more general face forgery detection. In </a:t>
            </a:r>
            <a:r>
              <a:rPr lang="en-AU" sz="14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Proceedings of the IEEE/CVF conference on computer vision and pattern recognition</a:t>
            </a:r>
            <a:r>
              <a:rPr lang="en-AU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(pp. 5001-5010).</a:t>
            </a:r>
          </a:p>
          <a:p>
            <a:pPr marL="342900" indent="-342900">
              <a:buFont typeface="+mj-lt"/>
              <a:buAutoNum type="arabicPeriod"/>
            </a:pPr>
            <a:endParaRPr lang="en-AU" sz="14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AU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Wang, R., Ma, L., </a:t>
            </a:r>
            <a:r>
              <a:rPr lang="en-AU" sz="14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Juefei</a:t>
            </a:r>
            <a:r>
              <a:rPr lang="en-AU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-Xu, F., </a:t>
            </a:r>
            <a:r>
              <a:rPr lang="en-AU" sz="14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Xie</a:t>
            </a:r>
            <a:r>
              <a:rPr lang="en-AU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 X., Wang, J., &amp; Liu, Y. </a:t>
            </a:r>
            <a:r>
              <a:rPr lang="en-AU" sz="14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Fakespotter</a:t>
            </a:r>
            <a:r>
              <a:rPr lang="en-AU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: A simple baseline for spotting ai-synthesized fake faces. </a:t>
            </a:r>
            <a:r>
              <a:rPr lang="en-AU" sz="14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arXiv</a:t>
            </a:r>
            <a:r>
              <a:rPr lang="en-AU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2019. </a:t>
            </a:r>
            <a:r>
              <a:rPr lang="en-AU" sz="1400" b="0" i="1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arXiv</a:t>
            </a:r>
            <a:r>
              <a:rPr lang="en-AU" sz="14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preprint arXiv:1909.06122</a:t>
            </a:r>
            <a:r>
              <a:rPr lang="en-AU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342900" indent="-342900">
              <a:buFont typeface="+mj-lt"/>
              <a:buAutoNum type="arabicPeriod"/>
            </a:pPr>
            <a:endParaRPr lang="en-AU" sz="14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AU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Shan, S., Wenger, E., Zhang, J., Li, H., Zheng, H., &amp; Zhao, B. Y. (2020). Fawkes: Protecting privacy against unauthorized deep learning models. In </a:t>
            </a:r>
            <a:r>
              <a:rPr lang="en-AU" sz="14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29th USENIX security symposium (USENIX Security 20)</a:t>
            </a:r>
            <a:r>
              <a:rPr lang="en-AU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(pp. 1589-1604).</a:t>
            </a:r>
          </a:p>
          <a:p>
            <a:pPr marL="342900" indent="-342900">
              <a:buFont typeface="+mj-lt"/>
              <a:buAutoNum type="arabicPeriod"/>
            </a:pPr>
            <a:endParaRPr lang="en-AU" sz="14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AU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Mirsky, Y., &amp; Lee, W. (2021). The creation and detection of deepfakes: A survey. </a:t>
            </a:r>
            <a:r>
              <a:rPr lang="en-AU" sz="14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ACM Computing Surveys (CSUR)</a:t>
            </a:r>
            <a:r>
              <a:rPr lang="en-AU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AU" sz="14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54</a:t>
            </a:r>
            <a:r>
              <a:rPr lang="en-AU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(1), 1-41.</a:t>
            </a:r>
          </a:p>
          <a:p>
            <a:pPr marL="342900" indent="-342900">
              <a:buFont typeface="+mj-lt"/>
              <a:buAutoNum type="arabicPeriod"/>
            </a:pPr>
            <a:endParaRPr lang="en-AU" sz="14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AU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Zhang, C., Yu, S., Tian, Z., &amp; Yu, J. J. (2023). Generative Adversarial Networks: A Survey on Attack and </a:t>
            </a:r>
            <a:r>
              <a:rPr lang="en-AU" sz="14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Defense</a:t>
            </a:r>
            <a:r>
              <a:rPr lang="en-AU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Perspective. </a:t>
            </a:r>
            <a:r>
              <a:rPr lang="en-AU" sz="14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ACM Computing Surveys</a:t>
            </a:r>
            <a:r>
              <a:rPr lang="en-AU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342900" indent="-342900">
              <a:buFont typeface="+mj-lt"/>
              <a:buAutoNum type="arabicPeriod"/>
            </a:pPr>
            <a:endParaRPr lang="en-AU" sz="14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hlinkClick r:id="rId2"/>
              </a:rPr>
              <a:t>https://discuss.pytorch.org/t/cnn-lstm-implementation-for-video-classification/52018/10</a:t>
            </a:r>
            <a:endParaRPr lang="en-US" sz="1400" dirty="0"/>
          </a:p>
          <a:p>
            <a:pPr marL="342900" indent="-342900">
              <a:buFont typeface="+mj-lt"/>
              <a:buAutoNum type="arabicPeriod"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70958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CSPtemplat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noFill/>
        <a:ln w="34925">
          <a:solidFill>
            <a:srgbClr val="FF0000"/>
          </a:solidFill>
          <a:round/>
          <a:headEnd/>
          <a:tailEnd/>
        </a:ln>
      </a:spPr>
      <a:bodyPr wrap="none" anchor="ctr"/>
      <a:lstStyle>
        <a:defPPr algn="l">
          <a:defRPr/>
        </a:defPPr>
      </a:lstStyle>
    </a:spDef>
  </a:objectDefaults>
  <a:extraClrSchemeLst/>
  <a:extLst>
    <a:ext uri="{05A4C25C-085E-4340-85A3-A5531E510DB2}">
      <thm15:themeFamily xmlns:thm15="http://schemas.microsoft.com/office/thememl/2012/main" name="CSPtemplate.potx" id="{D3B57CF6-4FCD-4119-B968-54434F79A08D}" vid="{A60A91C8-10B7-45D5-9F5B-55460C6D5BB7}"/>
    </a:ext>
  </a:extLst>
</a:theme>
</file>

<file path=ppt/theme/theme2.xml><?xml version="1.0" encoding="utf-8"?>
<a:theme xmlns:a="http://schemas.openxmlformats.org/drawingml/2006/main" name="Office Theme">
  <a:themeElements>
    <a:clrScheme name="Banded_Design_Teal">
      <a:dk1>
        <a:srgbClr val="363D3D"/>
      </a:dk1>
      <a:lt1>
        <a:sysClr val="window" lastClr="FFFFFF"/>
      </a:lt1>
      <a:dk2>
        <a:srgbClr val="000000"/>
      </a:dk2>
      <a:lt2>
        <a:srgbClr val="E5E8E8"/>
      </a:lt2>
      <a:accent1>
        <a:srgbClr val="3AAFB2"/>
      </a:accent1>
      <a:accent2>
        <a:srgbClr val="6ABD45"/>
      </a:accent2>
      <a:accent3>
        <a:srgbClr val="EBCA21"/>
      </a:accent3>
      <a:accent4>
        <a:srgbClr val="EB8D21"/>
      </a:accent4>
      <a:accent5>
        <a:srgbClr val="EB5638"/>
      </a:accent5>
      <a:accent6>
        <a:srgbClr val="5172B1"/>
      </a:accent6>
      <a:hlink>
        <a:srgbClr val="3A9CDB"/>
      </a:hlink>
      <a:folHlink>
        <a:srgbClr val="5172B1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Banded_Design_Teal">
      <a:dk1>
        <a:srgbClr val="363D3D"/>
      </a:dk1>
      <a:lt1>
        <a:sysClr val="window" lastClr="FFFFFF"/>
      </a:lt1>
      <a:dk2>
        <a:srgbClr val="000000"/>
      </a:dk2>
      <a:lt2>
        <a:srgbClr val="E5E8E8"/>
      </a:lt2>
      <a:accent1>
        <a:srgbClr val="3AAFB2"/>
      </a:accent1>
      <a:accent2>
        <a:srgbClr val="6ABD45"/>
      </a:accent2>
      <a:accent3>
        <a:srgbClr val="EBCA21"/>
      </a:accent3>
      <a:accent4>
        <a:srgbClr val="EB8D21"/>
      </a:accent4>
      <a:accent5>
        <a:srgbClr val="EB5638"/>
      </a:accent5>
      <a:accent6>
        <a:srgbClr val="5172B1"/>
      </a:accent6>
      <a:hlink>
        <a:srgbClr val="3A9CDB"/>
      </a:hlink>
      <a:folHlink>
        <a:srgbClr val="5172B1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Props1.xml><?xml version="1.0" encoding="utf-8"?>
<ds:datastoreItem xmlns:ds="http://schemas.openxmlformats.org/officeDocument/2006/customXml" ds:itemID="{ED65A2C9-CB67-4F36-A412-EEC1AD297F3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AC2023F-644C-4F7E-8E8C-CDBE4A63C7D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0B0D886-CB8D-4564-A797-C05BC7D513A8}">
  <ds:schemaRefs>
    <ds:schemaRef ds:uri="http://purl.org/dc/terms/"/>
    <ds:schemaRef ds:uri="http://purl.org/dc/elements/1.1/"/>
    <ds:schemaRef ds:uri="http://schemas.microsoft.com/office/2006/documentManagement/types"/>
    <ds:schemaRef ds:uri="http://www.w3.org/XML/1998/namespace"/>
    <ds:schemaRef ds:uri="http://purl.org/dc/dcmitype/"/>
    <ds:schemaRef ds:uri="http://schemas.openxmlformats.org/package/2006/metadata/core-properties"/>
    <ds:schemaRef ds:uri="40262f94-9f35-4ac3-9a90-690165a166b7"/>
    <ds:schemaRef ds:uri="http://schemas.microsoft.com/office/infopath/2007/PartnerControls"/>
    <ds:schemaRef ds:uri="a4f35948-e619-41b3-aa29-22878b09cfd2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CSPtemplate</Template>
  <TotalTime>3290</TotalTime>
  <Words>1672</Words>
  <Application>Microsoft Office PowerPoint</Application>
  <PresentationFormat>Widescreen</PresentationFormat>
  <Paragraphs>189</Paragraphs>
  <Slides>29</Slides>
  <Notes>2</Notes>
  <HiddenSlides>0</HiddenSlides>
  <MMClips>1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6" baseType="lpstr">
      <vt:lpstr>LinLibertineT</vt:lpstr>
      <vt:lpstr>Arial</vt:lpstr>
      <vt:lpstr>Calibri</vt:lpstr>
      <vt:lpstr>Calibri Light</vt:lpstr>
      <vt:lpstr>Helvetica</vt:lpstr>
      <vt:lpstr>Wingdings</vt:lpstr>
      <vt:lpstr>CSPtemplate</vt:lpstr>
      <vt:lpstr>41183 PRIVACY PRESERVING</vt:lpstr>
      <vt:lpstr>Outline</vt:lpstr>
      <vt:lpstr>Deepfake background </vt:lpstr>
      <vt:lpstr>What is Deepfake?</vt:lpstr>
      <vt:lpstr>In the following two images, one is real and the other is generated by Deepfake. Have a guess!</vt:lpstr>
      <vt:lpstr>David Beckham can “speak” nine languages! Using Deepfake</vt:lpstr>
      <vt:lpstr>Deepfake is a double-edged sword. </vt:lpstr>
      <vt:lpstr>Deepfake attacks</vt:lpstr>
      <vt:lpstr>Deepfake attacks – Technical Background</vt:lpstr>
      <vt:lpstr>PowerPoint Presentation</vt:lpstr>
      <vt:lpstr>PowerPoint Presentation</vt:lpstr>
      <vt:lpstr>PowerPoint Presentation</vt:lpstr>
      <vt:lpstr>PowerPoint Presentation</vt:lpstr>
      <vt:lpstr>Facial deepfake: Deepfake attacks against human visuals</vt:lpstr>
      <vt:lpstr>Facial Deepfakes</vt:lpstr>
      <vt:lpstr>An illustration of facial expression swapping using GAN</vt:lpstr>
      <vt:lpstr>Portrait synthesis showcase</vt:lpstr>
      <vt:lpstr>Deepfake countermeasures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Deepfake Detection- Theoretical </vt:lpstr>
      <vt:lpstr>Methodology: Parameterized Curves</vt:lpstr>
      <vt:lpstr>Deepfake Detection - Theoretical</vt:lpstr>
      <vt:lpstr>Gradient and Curvature</vt:lpstr>
      <vt:lpstr>Reference and 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Differential privacy and its Applications</dc:title>
  <dc:creator>tianqing zhu</dc:creator>
  <cp:lastModifiedBy>Shui Yu</cp:lastModifiedBy>
  <cp:revision>282</cp:revision>
  <dcterms:created xsi:type="dcterms:W3CDTF">2017-06-08T01:46:25Z</dcterms:created>
  <dcterms:modified xsi:type="dcterms:W3CDTF">2025-09-15T02:43:40Z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  <property fmtid="{D5CDD505-2E9C-101B-9397-08002B2CF9AE}" pid="8" name="MSIP_Label_f0ace377-55b7-42ba-b903-b7b4f0d57b90_Enabled">
    <vt:lpwstr>true</vt:lpwstr>
  </property>
  <property fmtid="{D5CDD505-2E9C-101B-9397-08002B2CF9AE}" pid="9" name="MSIP_Label_f0ace377-55b7-42ba-b903-b7b4f0d57b90_SetDate">
    <vt:lpwstr>2023-07-27T04:05:12Z</vt:lpwstr>
  </property>
  <property fmtid="{D5CDD505-2E9C-101B-9397-08002B2CF9AE}" pid="10" name="MSIP_Label_f0ace377-55b7-42ba-b903-b7b4f0d57b90_Method">
    <vt:lpwstr>Privileged</vt:lpwstr>
  </property>
  <property fmtid="{D5CDD505-2E9C-101B-9397-08002B2CF9AE}" pid="11" name="MSIP_Label_f0ace377-55b7-42ba-b903-b7b4f0d57b90_Name">
    <vt:lpwstr>UTS-Sensitive</vt:lpwstr>
  </property>
  <property fmtid="{D5CDD505-2E9C-101B-9397-08002B2CF9AE}" pid="12" name="MSIP_Label_f0ace377-55b7-42ba-b903-b7b4f0d57b90_SiteId">
    <vt:lpwstr>e8911c26-cf9f-4a9c-878e-527807be8791</vt:lpwstr>
  </property>
  <property fmtid="{D5CDD505-2E9C-101B-9397-08002B2CF9AE}" pid="13" name="MSIP_Label_f0ace377-55b7-42ba-b903-b7b4f0d57b90_ActionId">
    <vt:lpwstr>ef8677b2-dbab-4633-b5aa-5c8445da3006</vt:lpwstr>
  </property>
  <property fmtid="{D5CDD505-2E9C-101B-9397-08002B2CF9AE}" pid="14" name="MSIP_Label_f0ace377-55b7-42ba-b903-b7b4f0d57b90_ContentBits">
    <vt:lpwstr>0</vt:lpwstr>
  </property>
</Properties>
</file>