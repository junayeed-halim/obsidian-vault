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99" r:id="rId2"/>
    <p:sldId id="384" r:id="rId3"/>
    <p:sldId id="411" r:id="rId4"/>
    <p:sldId id="401" r:id="rId5"/>
    <p:sldId id="406" r:id="rId6"/>
    <p:sldId id="407" r:id="rId7"/>
    <p:sldId id="408" r:id="rId8"/>
    <p:sldId id="410" r:id="rId9"/>
    <p:sldId id="409" r:id="rId10"/>
    <p:sldId id="412" r:id="rId11"/>
    <p:sldId id="413" r:id="rId12"/>
    <p:sldId id="414" r:id="rId13"/>
    <p:sldId id="415" r:id="rId14"/>
    <p:sldId id="416" r:id="rId15"/>
    <p:sldId id="48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30F5E-B324-4CEE-88F7-835D69DFE4FC}" v="139" dt="2026-08-20T06:27:39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3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i Yu" userId="c938b994-a30e-4cc7-a189-187a9b224868" providerId="ADAL" clId="{D378DF58-4452-4BC8-839A-4D178FE0AA68}"/>
    <pc:docChg chg="custSel addSld modSld">
      <pc:chgData name="Shui Yu" userId="c938b994-a30e-4cc7-a189-187a9b224868" providerId="ADAL" clId="{D378DF58-4452-4BC8-839A-4D178FE0AA68}" dt="2026-08-20T08:58:37.540" v="158" actId="1076"/>
      <pc:docMkLst>
        <pc:docMk/>
      </pc:docMkLst>
      <pc:sldChg chg="addSp modSp mod setBg">
        <pc:chgData name="Shui Yu" userId="c938b994-a30e-4cc7-a189-187a9b224868" providerId="ADAL" clId="{D378DF58-4452-4BC8-839A-4D178FE0AA68}" dt="2026-08-20T06:07:13.302" v="5" actId="26606"/>
        <pc:sldMkLst>
          <pc:docMk/>
          <pc:sldMk cId="0" sldId="384"/>
        </pc:sldMkLst>
        <pc:spChg chg="mod">
          <ac:chgData name="Shui Yu" userId="c938b994-a30e-4cc7-a189-187a9b224868" providerId="ADAL" clId="{D378DF58-4452-4BC8-839A-4D178FE0AA68}" dt="2026-08-20T06:07:13.302" v="5" actId="26606"/>
          <ac:spMkLst>
            <pc:docMk/>
            <pc:sldMk cId="0" sldId="384"/>
            <ac:spMk id="2" creationId="{00000000-0000-0000-0000-000000000000}"/>
          </ac:spMkLst>
        </pc:spChg>
        <pc:spChg chg="mod">
          <ac:chgData name="Shui Yu" userId="c938b994-a30e-4cc7-a189-187a9b224868" providerId="ADAL" clId="{D378DF58-4452-4BC8-839A-4D178FE0AA68}" dt="2026-08-20T06:07:13.302" v="5" actId="26606"/>
          <ac:spMkLst>
            <pc:docMk/>
            <pc:sldMk cId="0" sldId="384"/>
            <ac:spMk id="3" creationId="{00000000-0000-0000-0000-000000000000}"/>
          </ac:spMkLst>
        </pc:spChg>
        <pc:spChg chg="mod">
          <ac:chgData name="Shui Yu" userId="c938b994-a30e-4cc7-a189-187a9b224868" providerId="ADAL" clId="{D378DF58-4452-4BC8-839A-4D178FE0AA68}" dt="2026-08-20T06:07:13.302" v="5" actId="26606"/>
          <ac:spMkLst>
            <pc:docMk/>
            <pc:sldMk cId="0" sldId="384"/>
            <ac:spMk id="4" creationId="{00000000-0000-0000-0000-000000000000}"/>
          </ac:spMkLst>
        </pc:spChg>
        <pc:spChg chg="add">
          <ac:chgData name="Shui Yu" userId="c938b994-a30e-4cc7-a189-187a9b224868" providerId="ADAL" clId="{D378DF58-4452-4BC8-839A-4D178FE0AA68}" dt="2026-08-20T06:07:13.302" v="5" actId="26606"/>
          <ac:spMkLst>
            <pc:docMk/>
            <pc:sldMk cId="0" sldId="384"/>
            <ac:spMk id="10" creationId="{9F7D5CDA-D291-4307-BF55-1381FED29634}"/>
          </ac:spMkLst>
        </pc:spChg>
        <pc:picChg chg="add">
          <ac:chgData name="Shui Yu" userId="c938b994-a30e-4cc7-a189-187a9b224868" providerId="ADAL" clId="{D378DF58-4452-4BC8-839A-4D178FE0AA68}" dt="2026-08-20T06:07:13.302" v="5" actId="26606"/>
          <ac:picMkLst>
            <pc:docMk/>
            <pc:sldMk cId="0" sldId="384"/>
            <ac:picMk id="6" creationId="{CBC1CE12-CD10-039B-C20C-F435BD6A9FD6}"/>
          </ac:picMkLst>
        </pc:picChg>
      </pc:sldChg>
      <pc:sldChg chg="modSp mod">
        <pc:chgData name="Shui Yu" userId="c938b994-a30e-4cc7-a189-187a9b224868" providerId="ADAL" clId="{D378DF58-4452-4BC8-839A-4D178FE0AA68}" dt="2026-08-20T06:10:33.953" v="12" actId="27636"/>
        <pc:sldMkLst>
          <pc:docMk/>
          <pc:sldMk cId="606262608" sldId="401"/>
        </pc:sldMkLst>
        <pc:spChg chg="mod">
          <ac:chgData name="Shui Yu" userId="c938b994-a30e-4cc7-a189-187a9b224868" providerId="ADAL" clId="{D378DF58-4452-4BC8-839A-4D178FE0AA68}" dt="2026-08-20T06:10:33.953" v="12" actId="27636"/>
          <ac:spMkLst>
            <pc:docMk/>
            <pc:sldMk cId="606262608" sldId="401"/>
            <ac:spMk id="6" creationId="{00000000-0000-0000-0000-000000000000}"/>
          </ac:spMkLst>
        </pc:spChg>
      </pc:sldChg>
      <pc:sldChg chg="addSp modSp mod">
        <pc:chgData name="Shui Yu" userId="c938b994-a30e-4cc7-a189-187a9b224868" providerId="ADAL" clId="{D378DF58-4452-4BC8-839A-4D178FE0AA68}" dt="2026-08-20T06:24:48.268" v="19" actId="1076"/>
        <pc:sldMkLst>
          <pc:docMk/>
          <pc:sldMk cId="2905666289" sldId="409"/>
        </pc:sldMkLst>
        <pc:spChg chg="mod">
          <ac:chgData name="Shui Yu" userId="c938b994-a30e-4cc7-a189-187a9b224868" providerId="ADAL" clId="{D378DF58-4452-4BC8-839A-4D178FE0AA68}" dt="2026-08-20T06:24:42.199" v="17" actId="14100"/>
          <ac:spMkLst>
            <pc:docMk/>
            <pc:sldMk cId="2905666289" sldId="409"/>
            <ac:spMk id="10" creationId="{C6226BB0-86F6-E5B1-8AA3-5FE45FA710E7}"/>
          </ac:spMkLst>
        </pc:spChg>
        <pc:picChg chg="add mod">
          <ac:chgData name="Shui Yu" userId="c938b994-a30e-4cc7-a189-187a9b224868" providerId="ADAL" clId="{D378DF58-4452-4BC8-839A-4D178FE0AA68}" dt="2026-08-20T06:24:48.268" v="19" actId="1076"/>
          <ac:picMkLst>
            <pc:docMk/>
            <pc:sldMk cId="2905666289" sldId="409"/>
            <ac:picMk id="7" creationId="{2F2250D9-81EE-B278-0F1A-8780EAF4CD40}"/>
          </ac:picMkLst>
        </pc:picChg>
      </pc:sldChg>
      <pc:sldChg chg="addSp modSp mod">
        <pc:chgData name="Shui Yu" userId="c938b994-a30e-4cc7-a189-187a9b224868" providerId="ADAL" clId="{D378DF58-4452-4BC8-839A-4D178FE0AA68}" dt="2026-08-20T06:24:22.807" v="16" actId="1076"/>
        <pc:sldMkLst>
          <pc:docMk/>
          <pc:sldMk cId="4100258580" sldId="410"/>
        </pc:sldMkLst>
        <pc:spChg chg="mod">
          <ac:chgData name="Shui Yu" userId="c938b994-a30e-4cc7-a189-187a9b224868" providerId="ADAL" clId="{D378DF58-4452-4BC8-839A-4D178FE0AA68}" dt="2026-08-20T06:23:53.982" v="13" actId="14100"/>
          <ac:spMkLst>
            <pc:docMk/>
            <pc:sldMk cId="4100258580" sldId="410"/>
            <ac:spMk id="6" creationId="{00000000-0000-0000-0000-000000000000}"/>
          </ac:spMkLst>
        </pc:spChg>
        <pc:picChg chg="add mod">
          <ac:chgData name="Shui Yu" userId="c938b994-a30e-4cc7-a189-187a9b224868" providerId="ADAL" clId="{D378DF58-4452-4BC8-839A-4D178FE0AA68}" dt="2026-08-20T06:24:22.807" v="16" actId="1076"/>
          <ac:picMkLst>
            <pc:docMk/>
            <pc:sldMk cId="4100258580" sldId="410"/>
            <ac:picMk id="7" creationId="{F32C4434-0F9B-F5EC-D71E-5D3E61A4D9AE}"/>
          </ac:picMkLst>
        </pc:picChg>
      </pc:sldChg>
      <pc:sldChg chg="addSp modSp mod setBg">
        <pc:chgData name="Shui Yu" userId="c938b994-a30e-4cc7-a189-187a9b224868" providerId="ADAL" clId="{D378DF58-4452-4BC8-839A-4D178FE0AA68}" dt="2026-08-20T06:10:25.243" v="10" actId="255"/>
        <pc:sldMkLst>
          <pc:docMk/>
          <pc:sldMk cId="2369508476" sldId="411"/>
        </pc:sldMkLst>
        <pc:spChg chg="mod">
          <ac:chgData name="Shui Yu" userId="c938b994-a30e-4cc7-a189-187a9b224868" providerId="ADAL" clId="{D378DF58-4452-4BC8-839A-4D178FE0AA68}" dt="2026-08-20T06:07:26.675" v="6" actId="26606"/>
          <ac:spMkLst>
            <pc:docMk/>
            <pc:sldMk cId="2369508476" sldId="411"/>
            <ac:spMk id="2" creationId="{00000000-0000-0000-0000-000000000000}"/>
          </ac:spMkLst>
        </pc:spChg>
        <pc:spChg chg="mod">
          <ac:chgData name="Shui Yu" userId="c938b994-a30e-4cc7-a189-187a9b224868" providerId="ADAL" clId="{D378DF58-4452-4BC8-839A-4D178FE0AA68}" dt="2026-08-20T06:10:25.243" v="10" actId="255"/>
          <ac:spMkLst>
            <pc:docMk/>
            <pc:sldMk cId="2369508476" sldId="411"/>
            <ac:spMk id="3" creationId="{00000000-0000-0000-0000-000000000000}"/>
          </ac:spMkLst>
        </pc:spChg>
        <pc:spChg chg="mod">
          <ac:chgData name="Shui Yu" userId="c938b994-a30e-4cc7-a189-187a9b224868" providerId="ADAL" clId="{D378DF58-4452-4BC8-839A-4D178FE0AA68}" dt="2026-08-20T06:07:26.675" v="6" actId="26606"/>
          <ac:spMkLst>
            <pc:docMk/>
            <pc:sldMk cId="2369508476" sldId="411"/>
            <ac:spMk id="4" creationId="{00000000-0000-0000-0000-000000000000}"/>
          </ac:spMkLst>
        </pc:spChg>
        <pc:spChg chg="add">
          <ac:chgData name="Shui Yu" userId="c938b994-a30e-4cc7-a189-187a9b224868" providerId="ADAL" clId="{D378DF58-4452-4BC8-839A-4D178FE0AA68}" dt="2026-08-20T06:07:26.675" v="6" actId="26606"/>
          <ac:spMkLst>
            <pc:docMk/>
            <pc:sldMk cId="2369508476" sldId="411"/>
            <ac:spMk id="10" creationId="{9F7D5CDA-D291-4307-BF55-1381FED29634}"/>
          </ac:spMkLst>
        </pc:spChg>
        <pc:picChg chg="add">
          <ac:chgData name="Shui Yu" userId="c938b994-a30e-4cc7-a189-187a9b224868" providerId="ADAL" clId="{D378DF58-4452-4BC8-839A-4D178FE0AA68}" dt="2026-08-20T06:07:26.675" v="6" actId="26606"/>
          <ac:picMkLst>
            <pc:docMk/>
            <pc:sldMk cId="2369508476" sldId="411"/>
            <ac:picMk id="6" creationId="{BCB24366-1916-9F69-E010-F890E88711C6}"/>
          </ac:picMkLst>
        </pc:picChg>
      </pc:sldChg>
      <pc:sldChg chg="addSp modSp mod modAnim">
        <pc:chgData name="Shui Yu" userId="c938b994-a30e-4cc7-a189-187a9b224868" providerId="ADAL" clId="{D378DF58-4452-4BC8-839A-4D178FE0AA68}" dt="2026-08-20T08:58:37.540" v="158" actId="1076"/>
        <pc:sldMkLst>
          <pc:docMk/>
          <pc:sldMk cId="1393648392" sldId="414"/>
        </pc:sldMkLst>
        <pc:spChg chg="mod">
          <ac:chgData name="Shui Yu" userId="c938b994-a30e-4cc7-a189-187a9b224868" providerId="ADAL" clId="{D378DF58-4452-4BC8-839A-4D178FE0AA68}" dt="2026-08-20T06:27:39.883" v="156" actId="20577"/>
          <ac:spMkLst>
            <pc:docMk/>
            <pc:sldMk cId="1393648392" sldId="414"/>
            <ac:spMk id="6" creationId="{00000000-0000-0000-0000-000000000000}"/>
          </ac:spMkLst>
        </pc:spChg>
        <pc:picChg chg="add mod">
          <ac:chgData name="Shui Yu" userId="c938b994-a30e-4cc7-a189-187a9b224868" providerId="ADAL" clId="{D378DF58-4452-4BC8-839A-4D178FE0AA68}" dt="2026-08-20T08:58:37.540" v="158" actId="1076"/>
          <ac:picMkLst>
            <pc:docMk/>
            <pc:sldMk cId="1393648392" sldId="414"/>
            <ac:picMk id="7" creationId="{69467CE8-6550-6CF4-6FE3-D4D4B9D0EA83}"/>
          </ac:picMkLst>
        </pc:picChg>
      </pc:sldChg>
      <pc:sldChg chg="add">
        <pc:chgData name="Shui Yu" userId="c938b994-a30e-4cc7-a189-187a9b224868" providerId="ADAL" clId="{D378DF58-4452-4BC8-839A-4D178FE0AA68}" dt="2026-08-20T06:06:37.311" v="4"/>
        <pc:sldMkLst>
          <pc:docMk/>
          <pc:sldMk cId="751095194" sldId="4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2C468-91E1-4DCD-937E-1C399232D48F}" type="datetimeFigureOut">
              <a:rPr lang="en-AU" smtClean="0"/>
              <a:t>20/08/2026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C81EF-49F5-4199-BE4E-3F90F7140D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7365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28C508-9378-416B-A78D-286D5528740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868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20/08/2026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831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20/08/2026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240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20/08/2026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7007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20/08/2026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898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20/08/2026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592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20/08/2026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623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20/08/2026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1846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20/08/2026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4603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20/08/2026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1171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20/08/2026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6048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20/08/2026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635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_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7417 UTS Corp PPT 16x9_new 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81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490513" y="3039415"/>
            <a:ext cx="7344912" cy="1231107"/>
          </a:xfrm>
        </p:spPr>
        <p:txBody>
          <a:bodyPr/>
          <a:lstStyle>
            <a:lvl1pPr>
              <a:lnSpc>
                <a:spcPts val="4800"/>
              </a:lnSpc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7934313" y="6370147"/>
            <a:ext cx="3860800" cy="3077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uts.edu.au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3434369" y="6429884"/>
            <a:ext cx="3777801" cy="2228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760"/>
              </a:lnSpc>
            </a:pPr>
            <a:r>
              <a:rPr lang="en-AU" sz="1467" cap="all" baseline="0" noProof="0" dirty="0">
                <a:solidFill>
                  <a:schemeClr val="bg1"/>
                </a:solidFill>
              </a:rPr>
              <a:t>uts cricos provider code: 00099f</a:t>
            </a:r>
          </a:p>
        </p:txBody>
      </p:sp>
    </p:spTree>
    <p:extLst>
      <p:ext uri="{BB962C8B-B14F-4D97-AF65-F5344CB8AC3E}">
        <p14:creationId xmlns:p14="http://schemas.microsoft.com/office/powerpoint/2010/main" val="3025250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3DDD2-5D5D-4F2E-A43D-A5B3200CE74E}" type="datetimeFigureOut">
              <a:rPr lang="en-AU" smtClean="0"/>
              <a:t>20/08/2026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457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6.jpeg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6.jpeg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affiliates.art.com/get.art?T=15029119&amp;A=934828&amp;L=8&amp;P=10078681&amp;S=2&amp;Y=0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950741" y="2000132"/>
            <a:ext cx="8176665" cy="1231107"/>
          </a:xfrm>
        </p:spPr>
        <p:txBody>
          <a:bodyPr/>
          <a:lstStyle/>
          <a:p>
            <a:r>
              <a:rPr lang="en-US" dirty="0"/>
              <a:t>41183 PRIVACY PRESERVING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uts.edu.au</a:t>
            </a:r>
          </a:p>
        </p:txBody>
      </p:sp>
      <p:sp>
        <p:nvSpPr>
          <p:cNvPr id="6" name="Title 4"/>
          <p:cNvSpPr txBox="1">
            <a:spLocks/>
          </p:cNvSpPr>
          <p:nvPr/>
        </p:nvSpPr>
        <p:spPr>
          <a:xfrm>
            <a:off x="4699215" y="3404008"/>
            <a:ext cx="5673788" cy="44550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sz="3200" b="1" i="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33" cap="none" dirty="0"/>
              <a:t>Lecture 6. Personalized Privacy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AU" sz="4000"/>
              <a:t>Assignment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AU" sz="2000"/>
              <a:t>Due on Friday, September 11, 2026.</a:t>
            </a:r>
          </a:p>
          <a:p>
            <a:r>
              <a:rPr lang="en-AU" sz="2000"/>
              <a:t>2- 3 members in a group</a:t>
            </a:r>
          </a:p>
          <a:p>
            <a:r>
              <a:rPr lang="en-AU" sz="2000"/>
              <a:t>Only one submission to Canvas</a:t>
            </a:r>
          </a:p>
          <a:p>
            <a:r>
              <a:rPr lang="en-AU" sz="2000"/>
              <a:t>Please include the membership information (student number, name) on the cover page.</a:t>
            </a:r>
          </a:p>
          <a:p>
            <a:r>
              <a:rPr lang="en-AU" sz="2000"/>
              <a:t>In general, the members will obtain the same marks if there is no complaints. </a:t>
            </a:r>
          </a:p>
        </p:txBody>
      </p:sp>
      <p:pic>
        <p:nvPicPr>
          <p:cNvPr id="6" name="Picture 5" descr="Periodic table of elements">
            <a:extLst>
              <a:ext uri="{FF2B5EF4-FFF2-40B4-BE49-F238E27FC236}">
                <a16:creationId xmlns:a16="http://schemas.microsoft.com/office/drawing/2014/main" id="{CBC1CE12-CD10-039B-C20C-F435BD6A9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69" r="23089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167869" y="6356350"/>
            <a:ext cx="17684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A8D9AD5-F248-4919-864A-CFD76CC027D6}" type="slidenum">
              <a:rPr lang="en-AU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AU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3644"/>
    </mc:Choice>
    <mc:Fallback xmlns="">
      <p:transition advTm="3364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AU" sz="4000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AU" sz="3200" dirty="0"/>
              <a:t>Background</a:t>
            </a:r>
          </a:p>
          <a:p>
            <a:r>
              <a:rPr lang="en-AU" sz="3200" dirty="0"/>
              <a:t>Privacy measurement</a:t>
            </a:r>
          </a:p>
          <a:p>
            <a:r>
              <a:rPr lang="en-AU" sz="3200" dirty="0"/>
              <a:t>Personalized privacy implementation</a:t>
            </a:r>
          </a:p>
        </p:txBody>
      </p:sp>
      <p:pic>
        <p:nvPicPr>
          <p:cNvPr id="6" name="Picture 5" descr="Blue digital binary data on a screen">
            <a:extLst>
              <a:ext uri="{FF2B5EF4-FFF2-40B4-BE49-F238E27FC236}">
                <a16:creationId xmlns:a16="http://schemas.microsoft.com/office/drawing/2014/main" id="{BCB24366-1916-9F69-E010-F890E887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922" r="23395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167869" y="6356350"/>
            <a:ext cx="17684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A8D9AD5-F248-4919-864A-CFD76CC027D6}" type="slidenum">
              <a:rPr lang="en-AU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AU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50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3644"/>
    </mc:Choice>
    <mc:Fallback xmlns="">
      <p:transition advTm="3364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Background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646883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mainstream privacy protection mechanisms</a:t>
            </a:r>
          </a:p>
          <a:p>
            <a:r>
              <a:rPr lang="en-US" dirty="0"/>
              <a:t>Encryption</a:t>
            </a:r>
          </a:p>
          <a:p>
            <a:r>
              <a:rPr lang="en-US" dirty="0"/>
              <a:t>Differential privacy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Common assumption: all users’ privacy expectations are the same (a homogeneous setting)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626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Background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In practice, people’s expectation for privacy protection are quite different</a:t>
            </a:r>
          </a:p>
          <a:p>
            <a:r>
              <a:rPr lang="en-US" dirty="0"/>
              <a:t>Culture</a:t>
            </a:r>
          </a:p>
          <a:p>
            <a:r>
              <a:rPr lang="en-US" dirty="0"/>
              <a:t>Religion</a:t>
            </a:r>
          </a:p>
          <a:p>
            <a:r>
              <a:rPr lang="en-US" dirty="0"/>
              <a:t>Gender</a:t>
            </a:r>
          </a:p>
          <a:p>
            <a:r>
              <a:rPr lang="en-US" dirty="0"/>
              <a:t>Timing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Therefore, personalized (customized) privacy protection is highly demanded in practice.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5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589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Background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personalized privacy protection, we have to have a measure of </a:t>
            </a:r>
          </a:p>
          <a:p>
            <a:r>
              <a:rPr lang="en-US" dirty="0"/>
              <a:t>Individual privacy expectation (independent)</a:t>
            </a:r>
          </a:p>
          <a:p>
            <a:r>
              <a:rPr lang="en-US" dirty="0"/>
              <a:t>Relative privacy expectation (dependent)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Therefore, we need measurements on privacy in various fashions. 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6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31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Privacy measurement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60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Independent measurement</a:t>
            </a:r>
          </a:p>
          <a:p>
            <a:r>
              <a:rPr lang="en-US" dirty="0"/>
              <a:t>Given an individual, what is the privacy expectation?</a:t>
            </a:r>
          </a:p>
          <a:p>
            <a:pPr>
              <a:buFontTx/>
              <a:buChar char="-"/>
            </a:pPr>
            <a:r>
              <a:rPr lang="en-US" dirty="0"/>
              <a:t>It is hard to measure </a:t>
            </a:r>
          </a:p>
          <a:p>
            <a:pPr>
              <a:buFontTx/>
              <a:buChar char="-"/>
            </a:pPr>
            <a:r>
              <a:rPr lang="en-US" dirty="0"/>
              <a:t>There is no independent (direct) measurement so far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 descr="http://www.kramola.info/sites/default/files/any_images/35_Icaak_Njuton.jpg">
            <a:extLst>
              <a:ext uri="{FF2B5EF4-FFF2-40B4-BE49-F238E27FC236}">
                <a16:creationId xmlns:a16="http://schemas.microsoft.com/office/drawing/2014/main" id="{0C118321-356C-7985-6CD9-CDF587852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63" y="4178967"/>
            <a:ext cx="2092651" cy="2616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7EC1402D-B94C-235A-C205-4FF1BB868048}"/>
              </a:ext>
            </a:extLst>
          </p:cNvPr>
          <p:cNvSpPr txBox="1">
            <a:spLocks/>
          </p:cNvSpPr>
          <p:nvPr/>
        </p:nvSpPr>
        <p:spPr>
          <a:xfrm>
            <a:off x="3774824" y="4289041"/>
            <a:ext cx="4775618" cy="2252604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altLang="en-US" sz="24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“I can calculate the movement of stars, but cannot measure the madness of men”</a:t>
            </a:r>
          </a:p>
          <a:p>
            <a:pPr>
              <a:defRPr/>
            </a:pPr>
            <a:endParaRPr lang="en-US" altLang="en-US" sz="2800" dirty="0">
              <a:latin typeface="Myriad Pro" pitchFamily="34" charset="0"/>
              <a:ea typeface="ＭＳ Ｐゴシック" panose="020B0600070205080204" pitchFamily="34" charset="-128"/>
              <a:cs typeface="Myriad Pro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175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Privacy measurement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6738258" cy="4158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900" dirty="0"/>
              <a:t>Independent measurement</a:t>
            </a:r>
          </a:p>
          <a:p>
            <a:pPr marL="0" indent="0">
              <a:buNone/>
            </a:pPr>
            <a:r>
              <a:rPr lang="en-US" sz="2900" dirty="0"/>
              <a:t>The solution is in cross disciplinary methodologies</a:t>
            </a:r>
          </a:p>
          <a:p>
            <a:endParaRPr lang="en-US" sz="2900" dirty="0"/>
          </a:p>
          <a:p>
            <a:pPr>
              <a:buFontTx/>
              <a:buChar char="-"/>
              <a:defRPr/>
            </a:pPr>
            <a:r>
              <a:rPr lang="en-US" altLang="en-US" sz="29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Psychology + Computer Science</a:t>
            </a:r>
          </a:p>
          <a:p>
            <a:pPr>
              <a:buFontTx/>
              <a:buChar char="-"/>
              <a:defRPr/>
            </a:pPr>
            <a:r>
              <a:rPr lang="en-US" altLang="en-US" sz="29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Social Science + Computer Science</a:t>
            </a:r>
          </a:p>
          <a:p>
            <a:pPr>
              <a:buFontTx/>
              <a:buChar char="-"/>
              <a:defRPr/>
            </a:pPr>
            <a:r>
              <a:rPr lang="en-US" altLang="en-US" sz="29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…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2" descr="1,012,587 Instrument Of Measurement Stock Photos, Pictures ...">
            <a:extLst>
              <a:ext uri="{FF2B5EF4-FFF2-40B4-BE49-F238E27FC236}">
                <a16:creationId xmlns:a16="http://schemas.microsoft.com/office/drawing/2014/main" id="{F32C4434-0F9B-F5EC-D71E-5D3E61A4D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242" y="2313305"/>
            <a:ext cx="3558359" cy="245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00258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Privacy measurement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21608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Dependent (relative) measurement</a:t>
            </a:r>
          </a:p>
          <a:p>
            <a:r>
              <a:rPr lang="en-US" dirty="0"/>
              <a:t>Given a benchmark, what is the relative privacy expectation compared to the benchmark?</a:t>
            </a:r>
          </a:p>
          <a:p>
            <a:pPr>
              <a:buFontTx/>
              <a:buChar char="-"/>
            </a:pPr>
            <a:r>
              <a:rPr lang="en-US" dirty="0"/>
              <a:t>E.g., females have a higher privacy expectation compared with males in a class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9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26BB0-86F6-E5B1-8AA3-5FE45FA710E7}"/>
              </a:ext>
            </a:extLst>
          </p:cNvPr>
          <p:cNvSpPr txBox="1"/>
          <p:nvPr/>
        </p:nvSpPr>
        <p:spPr>
          <a:xfrm>
            <a:off x="1459832" y="3968043"/>
            <a:ext cx="440212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en-US" sz="20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Available measures </a:t>
            </a:r>
          </a:p>
          <a:p>
            <a:pPr marL="285750" indent="-285750">
              <a:buFontTx/>
              <a:buChar char="-"/>
              <a:defRPr/>
            </a:pPr>
            <a:r>
              <a:rPr lang="en-US" altLang="en-US" sz="20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k-anonymity</a:t>
            </a:r>
          </a:p>
          <a:p>
            <a:pPr>
              <a:defRPr/>
            </a:pPr>
            <a:endParaRPr lang="en-US" altLang="en-US" sz="2000" dirty="0">
              <a:latin typeface="Myriad Pro" pitchFamily="34" charset="0"/>
              <a:ea typeface="ＭＳ Ｐゴシック" panose="020B0600070205080204" pitchFamily="34" charset="-128"/>
              <a:cs typeface="Myriad Pro" pitchFamily="34" charset="0"/>
            </a:endParaRPr>
          </a:p>
          <a:p>
            <a:pPr marL="0" indent="0">
              <a:buNone/>
              <a:defRPr/>
            </a:pPr>
            <a:r>
              <a:rPr lang="en-US" altLang="en-US" sz="20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- information theoretical measures </a:t>
            </a:r>
          </a:p>
          <a:p>
            <a:pPr marL="0" indent="0">
              <a:buNone/>
              <a:defRPr/>
            </a:pPr>
            <a:r>
              <a:rPr lang="en-US" altLang="en-US" sz="20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    Information leakage</a:t>
            </a:r>
          </a:p>
          <a:p>
            <a:pPr marL="0" indent="0">
              <a:buNone/>
              <a:defRPr/>
            </a:pPr>
            <a:r>
              <a:rPr lang="en-US" altLang="en-US" sz="20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    Entropy variation</a:t>
            </a:r>
          </a:p>
          <a:p>
            <a:pPr marL="0" indent="0">
              <a:buNone/>
              <a:defRPr/>
            </a:pPr>
            <a:r>
              <a:rPr lang="en-US" altLang="en-US" sz="20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    Social distance</a:t>
            </a:r>
          </a:p>
        </p:txBody>
      </p:sp>
      <p:pic>
        <p:nvPicPr>
          <p:cNvPr id="7" name="Picture 2" descr="1,012,587 Instrument Of Measurement Stock Photos, Pictures ...">
            <a:extLst>
              <a:ext uri="{FF2B5EF4-FFF2-40B4-BE49-F238E27FC236}">
                <a16:creationId xmlns:a16="http://schemas.microsoft.com/office/drawing/2014/main" id="{2F2250D9-81EE-B278-0F1A-8780EAF4C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342" y="3681663"/>
            <a:ext cx="3558359" cy="245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566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Personalized Privacy Preserving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33926" y="1344361"/>
            <a:ext cx="9669379" cy="50119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900" dirty="0"/>
              <a:t>Application scenarios (Social networks, e.g., </a:t>
            </a:r>
            <a:r>
              <a:rPr lang="en-US" sz="2900" dirty="0" err="1"/>
              <a:t>facebook</a:t>
            </a:r>
            <a:r>
              <a:rPr lang="en-US" sz="2900" dirty="0"/>
              <a:t>)</a:t>
            </a:r>
          </a:p>
          <a:p>
            <a:pPr marL="0" indent="0">
              <a:buNone/>
            </a:pPr>
            <a:r>
              <a:rPr lang="en-US" sz="2900" dirty="0"/>
              <a:t> </a:t>
            </a:r>
          </a:p>
          <a:p>
            <a:pPr marL="0" indent="0">
              <a:buNone/>
            </a:pPr>
            <a:r>
              <a:rPr lang="en-US" sz="2900" dirty="0"/>
              <a:t>   Alice plans to post her dinner photos on social networks, viewers will see the photos with exact location information without any protection, e.g., UTS, Sydney, NSW </a:t>
            </a:r>
          </a:p>
          <a:p>
            <a:pPr marL="0" indent="0">
              <a:buNone/>
            </a:pPr>
            <a:r>
              <a:rPr lang="en-US" sz="2900" dirty="0"/>
              <a:t> However, Alice wants to reveal the location information against the closeness between she and the viewers</a:t>
            </a:r>
          </a:p>
          <a:p>
            <a:pPr marL="0" indent="0">
              <a:buNone/>
            </a:pPr>
            <a:r>
              <a:rPr lang="en-US" sz="2900" dirty="0"/>
              <a:t> </a:t>
            </a:r>
          </a:p>
          <a:p>
            <a:pPr marL="0" indent="0">
              <a:buNone/>
            </a:pPr>
            <a:r>
              <a:rPr lang="en-US" sz="2900" dirty="0"/>
              <a:t>UTS, Sydney, NSW  for close friends (e.g., Bella)</a:t>
            </a:r>
          </a:p>
          <a:p>
            <a:pPr marL="0" indent="0">
              <a:buNone/>
            </a:pPr>
            <a:r>
              <a:rPr lang="en-US" sz="2900" dirty="0"/>
              <a:t>Sydney, NSW  for friends (e.g., Chris)</a:t>
            </a:r>
          </a:p>
          <a:p>
            <a:pPr marL="0" indent="0">
              <a:buNone/>
            </a:pPr>
            <a:r>
              <a:rPr lang="en-US" sz="2900" dirty="0"/>
              <a:t>NSW for others (e.g., David)</a:t>
            </a:r>
          </a:p>
          <a:p>
            <a:pPr marL="0" indent="0">
              <a:buNone/>
            </a:pPr>
            <a:r>
              <a:rPr lang="en-US" sz="2900" dirty="0"/>
              <a:t>…</a:t>
            </a:r>
          </a:p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10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053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Personalized Privacy Preserving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33927" y="1344361"/>
            <a:ext cx="9156032" cy="50119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r>
              <a:rPr lang="en-US" sz="2900" dirty="0"/>
              <a:t>Measure the </a:t>
            </a:r>
            <a:r>
              <a:rPr lang="en-US" sz="2900" i="1" dirty="0"/>
              <a:t>social distance </a:t>
            </a:r>
            <a:r>
              <a:rPr lang="en-US" sz="2900" dirty="0"/>
              <a:t>between the pair (information publisher and the viewer)</a:t>
            </a:r>
          </a:p>
          <a:p>
            <a:pPr marL="0" indent="0">
              <a:buNone/>
            </a:pPr>
            <a:r>
              <a:rPr lang="en-US" sz="2900" dirty="0"/>
              <a:t> </a:t>
            </a:r>
          </a:p>
          <a:p>
            <a:pPr marL="0" indent="0">
              <a:buNone/>
            </a:pPr>
            <a:r>
              <a:rPr lang="en-US" sz="2900" dirty="0"/>
              <a:t>Social distance (</a:t>
            </a:r>
            <a:r>
              <a:rPr lang="en-US" sz="2900" i="1" dirty="0" err="1"/>
              <a:t>sd</a:t>
            </a:r>
            <a:r>
              <a:rPr lang="en-US" sz="2900" dirty="0"/>
              <a:t>) measurement</a:t>
            </a:r>
          </a:p>
          <a:p>
            <a:pPr marL="0" indent="0">
              <a:buNone/>
            </a:pPr>
            <a:r>
              <a:rPr lang="en-US" sz="2900" dirty="0"/>
              <a:t>Alice - Bella (AB)</a:t>
            </a:r>
          </a:p>
          <a:p>
            <a:pPr marL="0" indent="0">
              <a:buNone/>
            </a:pPr>
            <a:r>
              <a:rPr lang="en-US" sz="2900" dirty="0"/>
              <a:t>Alice – Chris (AC)</a:t>
            </a:r>
          </a:p>
          <a:p>
            <a:pPr marL="0" indent="0">
              <a:buNone/>
            </a:pPr>
            <a:r>
              <a:rPr lang="en-US" sz="2900" dirty="0"/>
              <a:t>Alice – David (AD)</a:t>
            </a:r>
          </a:p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r>
              <a:rPr lang="en-US" sz="2900" dirty="0"/>
              <a:t>Methods: </a:t>
            </a:r>
          </a:p>
          <a:p>
            <a:pPr marL="0" indent="0">
              <a:buNone/>
            </a:pPr>
            <a:r>
              <a:rPr lang="en-US" sz="2900" dirty="0"/>
              <a:t>interactions between the pair</a:t>
            </a:r>
          </a:p>
          <a:p>
            <a:pPr marL="0" indent="0">
              <a:buNone/>
            </a:pPr>
            <a:r>
              <a:rPr lang="en-US" sz="2900" dirty="0"/>
              <a:t>Sentiment analysis (AI)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11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5397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Personalized Privacy Preserving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33927" y="1344361"/>
            <a:ext cx="9156032" cy="50119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r>
              <a:rPr lang="en-US" sz="2900" dirty="0"/>
              <a:t>Personalized privacy implementation</a:t>
            </a:r>
          </a:p>
          <a:p>
            <a:pPr marL="0" indent="0">
              <a:buNone/>
            </a:pPr>
            <a:r>
              <a:rPr lang="en-US" sz="2900" i="1" dirty="0"/>
              <a:t>social distance </a:t>
            </a:r>
            <a:r>
              <a:rPr lang="en-US" sz="2900" dirty="0"/>
              <a:t>+ differential privacy</a:t>
            </a:r>
          </a:p>
          <a:p>
            <a:pPr marL="0" indent="0">
              <a:buNone/>
            </a:pPr>
            <a:r>
              <a:rPr lang="en-US" sz="2900" dirty="0"/>
              <a:t> </a:t>
            </a:r>
          </a:p>
          <a:p>
            <a:pPr marL="0" indent="0">
              <a:buNone/>
            </a:pPr>
            <a:r>
              <a:rPr lang="en-US" sz="2900" dirty="0"/>
              <a:t>Social distance -&gt; privacy budget </a:t>
            </a:r>
          </a:p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r>
              <a:rPr lang="en-US" altLang="zh-CN" sz="2900" dirty="0"/>
              <a:t>How to measure social distance ? </a:t>
            </a:r>
          </a:p>
          <a:p>
            <a:pPr>
              <a:buFontTx/>
              <a:buChar char="-"/>
            </a:pPr>
            <a:r>
              <a:rPr lang="en-US" sz="2900" dirty="0"/>
              <a:t>Counting</a:t>
            </a:r>
          </a:p>
          <a:p>
            <a:pPr>
              <a:buFontTx/>
              <a:buChar char="-"/>
            </a:pPr>
            <a:r>
              <a:rPr lang="en-US" sz="2900" dirty="0"/>
              <a:t>Sentiment analysis</a:t>
            </a:r>
          </a:p>
          <a:p>
            <a:pPr>
              <a:buFontTx/>
              <a:buChar char="-"/>
            </a:pPr>
            <a:r>
              <a:rPr lang="en-US" sz="2900" dirty="0"/>
              <a:t>Group distance</a:t>
            </a:r>
          </a:p>
          <a:p>
            <a:pPr>
              <a:buFontTx/>
              <a:buChar char="-"/>
            </a:pPr>
            <a:r>
              <a:rPr lang="en-US" sz="2900" dirty="0"/>
              <a:t>Features of working space (flat or curved ?)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467CE8-6550-6CF4-6FE3-D4D4B9D0EA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6523" y="2300777"/>
            <a:ext cx="4957277" cy="34454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9364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Personalized Privacy Preserving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33927" y="1344361"/>
            <a:ext cx="9156032" cy="50119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900" dirty="0"/>
          </a:p>
          <a:p>
            <a:r>
              <a:rPr lang="en-US" sz="2900" dirty="0"/>
              <a:t>Using cryptography methods</a:t>
            </a:r>
          </a:p>
          <a:p>
            <a:pPr marL="0" indent="0">
              <a:buNone/>
            </a:pPr>
            <a:r>
              <a:rPr lang="en-US" dirty="0"/>
              <a:t> - customize content, then encrypt – deliver – decrypt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challenges </a:t>
            </a:r>
          </a:p>
          <a:p>
            <a:pPr marL="0" indent="0">
              <a:buNone/>
            </a:pPr>
            <a:r>
              <a:rPr lang="en-US" dirty="0"/>
              <a:t> - key management</a:t>
            </a:r>
          </a:p>
          <a:p>
            <a:pPr marL="0" indent="0">
              <a:buNone/>
            </a:pPr>
            <a:r>
              <a:rPr lang="en-US" dirty="0"/>
              <a:t> - big challenge for large number of pairs</a:t>
            </a:r>
          </a:p>
          <a:p>
            <a:pPr marL="0" indent="0">
              <a:buNone/>
            </a:pPr>
            <a:r>
              <a:rPr lang="en-US" dirty="0"/>
              <a:t> - efficiency of encryption and decryption</a:t>
            </a:r>
          </a:p>
          <a:p>
            <a:pPr marL="0" indent="0">
              <a:buNone/>
            </a:pPr>
            <a:r>
              <a:rPr lang="en-US" dirty="0"/>
              <a:t>     -- asymmetric encryption for key management</a:t>
            </a:r>
          </a:p>
          <a:p>
            <a:pPr marL="0" indent="0">
              <a:buNone/>
            </a:pPr>
            <a:r>
              <a:rPr lang="en-US" dirty="0"/>
              <a:t>     -- symmetric encryption for content transportation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13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745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Personalized Privacy Preserving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33927" y="1344361"/>
            <a:ext cx="9156032" cy="50119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900" dirty="0"/>
          </a:p>
          <a:p>
            <a:r>
              <a:rPr lang="en-US" sz="2900" dirty="0"/>
              <a:t>Using ABE (attribute based encryption)</a:t>
            </a:r>
          </a:p>
          <a:p>
            <a:pPr marL="0" indent="0">
              <a:buNone/>
            </a:pPr>
            <a:r>
              <a:rPr lang="en-US" dirty="0"/>
              <a:t> - a small number of receivers sharing a decryption key based on their shared features.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challenges </a:t>
            </a:r>
          </a:p>
          <a:p>
            <a:pPr marL="0" indent="0">
              <a:buNone/>
            </a:pPr>
            <a:r>
              <a:rPr lang="en-US" dirty="0"/>
              <a:t> - scalability of key management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14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755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B799D6-B687-03D5-6C5E-8EA7129F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94021-86F1-435D-A406-B4777E6B2643}" type="slidenum">
              <a:rPr lang="en-AU" smtClean="0"/>
              <a:t>15</a:t>
            </a:fld>
            <a:endParaRPr lang="en-AU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7B53B3-E5BE-9C4B-A687-85326CCF313A}"/>
              </a:ext>
            </a:extLst>
          </p:cNvPr>
          <p:cNvSpPr txBox="1">
            <a:spLocks/>
          </p:cNvSpPr>
          <p:nvPr/>
        </p:nvSpPr>
        <p:spPr>
          <a:xfrm>
            <a:off x="1244404" y="1213127"/>
            <a:ext cx="3882072" cy="3884168"/>
          </a:xfrm>
          <a:prstGeom prst="rect">
            <a:avLst/>
          </a:prstGeom>
        </p:spPr>
        <p:txBody>
          <a:bodyPr vert="horz" lIns="45720" tIns="22860" rIns="45720" bIns="22860" rtlCol="0" anchor="b" anchorCtr="0">
            <a:normAutofit/>
          </a:bodyPr>
          <a:lstStyle>
            <a:lvl1pPr marL="0" indent="0" algn="l" defTabSz="1828709" rtl="0" eaLnBrk="1" latinLnBrk="0" hangingPunct="1">
              <a:lnSpc>
                <a:spcPts val="6600"/>
              </a:lnSpc>
              <a:spcBef>
                <a:spcPct val="0"/>
              </a:spcBef>
              <a:buNone/>
              <a:tabLst>
                <a:tab pos="2524125" algn="l"/>
                <a:tab pos="3730625" algn="l"/>
              </a:tabLst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189">
              <a:lnSpc>
                <a:spcPct val="90000"/>
              </a:lnSpc>
              <a:spcAft>
                <a:spcPts val="300"/>
              </a:spcAft>
            </a:pPr>
            <a:r>
              <a:rPr lang="en-US" altLang="en-US" sz="2300" dirty="0">
                <a:solidFill>
                  <a:schemeClr val="tx1"/>
                </a:solidFill>
              </a:rPr>
              <a:t>                 Thank you </a:t>
            </a:r>
            <a:br>
              <a:rPr lang="en-US" altLang="en-US" sz="2300" dirty="0">
                <a:solidFill>
                  <a:schemeClr val="tx1"/>
                </a:solidFill>
              </a:rPr>
            </a:br>
            <a:r>
              <a:rPr lang="en-US" altLang="en-US" sz="2300" dirty="0">
                <a:solidFill>
                  <a:schemeClr val="tx1"/>
                </a:solidFill>
              </a:rPr>
              <a:t>                        &amp;</a:t>
            </a:r>
            <a:br>
              <a:rPr lang="en-US" altLang="en-US" sz="2300" dirty="0">
                <a:solidFill>
                  <a:schemeClr val="tx1"/>
                </a:solidFill>
              </a:rPr>
            </a:br>
            <a:r>
              <a:rPr lang="en-US" altLang="en-US" sz="2300" dirty="0">
                <a:solidFill>
                  <a:schemeClr val="tx1"/>
                </a:solidFill>
              </a:rPr>
              <a:t>                Questions</a:t>
            </a:r>
            <a:br>
              <a:rPr lang="en-US" altLang="en-US" sz="2300" dirty="0">
                <a:solidFill>
                  <a:schemeClr val="tx1"/>
                </a:solidFill>
              </a:rPr>
            </a:br>
            <a:br>
              <a:rPr lang="en-US" altLang="en-US" sz="2300" dirty="0">
                <a:solidFill>
                  <a:schemeClr val="tx1"/>
                </a:solidFill>
              </a:rPr>
            </a:br>
            <a:br>
              <a:rPr lang="en-US" altLang="en-US" sz="2300" dirty="0">
                <a:solidFill>
                  <a:schemeClr val="tx1"/>
                </a:solidFill>
              </a:rPr>
            </a:br>
            <a:r>
              <a:rPr lang="en-US" altLang="en-US" sz="2300" dirty="0">
                <a:solidFill>
                  <a:schemeClr val="tx1"/>
                </a:solidFill>
              </a:rPr>
              <a:t>http://www.uts.edu.au/syu</a:t>
            </a:r>
            <a:br>
              <a:rPr lang="en-US" altLang="en-US" sz="2300" dirty="0">
                <a:solidFill>
                  <a:schemeClr val="tx1"/>
                </a:solidFill>
              </a:rPr>
            </a:br>
            <a:r>
              <a:rPr lang="en-US" altLang="en-US" sz="2300" dirty="0">
                <a:solidFill>
                  <a:schemeClr val="tx1"/>
                </a:solidFill>
              </a:rPr>
              <a:t>email: shui.yu@uts.edu.au</a:t>
            </a:r>
          </a:p>
        </p:txBody>
      </p:sp>
      <p:pic>
        <p:nvPicPr>
          <p:cNvPr id="4" name="Picture 5" descr="monet paintings">
            <a:hlinkClick r:id="rId2"/>
            <a:extLst>
              <a:ext uri="{FF2B5EF4-FFF2-40B4-BE49-F238E27FC236}">
                <a16:creationId xmlns:a16="http://schemas.microsoft.com/office/drawing/2014/main" id="{8F1C63F9-FDC7-3431-B391-392238C5D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90228" y="1028302"/>
            <a:ext cx="6428208" cy="4793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10951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</TotalTime>
  <Words>624</Words>
  <Application>Microsoft Office PowerPoint</Application>
  <PresentationFormat>Widescreen</PresentationFormat>
  <Paragraphs>130</Paragraphs>
  <Slides>15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Myriad Pro</vt:lpstr>
      <vt:lpstr>Arial</vt:lpstr>
      <vt:lpstr>Calibri</vt:lpstr>
      <vt:lpstr>Calibri Light</vt:lpstr>
      <vt:lpstr>Office Theme</vt:lpstr>
      <vt:lpstr>Equation</vt:lpstr>
      <vt:lpstr>41183 PRIVACY PRESERVING</vt:lpstr>
      <vt:lpstr>Assignment 1</vt:lpstr>
      <vt:lpstr>Outline</vt:lpstr>
      <vt:lpstr>Background</vt:lpstr>
      <vt:lpstr>Background</vt:lpstr>
      <vt:lpstr>Background</vt:lpstr>
      <vt:lpstr>Privacy measurement</vt:lpstr>
      <vt:lpstr>Privacy measurement</vt:lpstr>
      <vt:lpstr>Privacy measurement</vt:lpstr>
      <vt:lpstr>Personalized Privacy Preserving</vt:lpstr>
      <vt:lpstr>Personalized Privacy Preserving</vt:lpstr>
      <vt:lpstr>Personalized Privacy Preserving</vt:lpstr>
      <vt:lpstr>Personalized Privacy Preserving</vt:lpstr>
      <vt:lpstr>Personalized Privacy Preserving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Differentially Private Applications</dc:title>
  <dc:creator>Tianqing Zhu</dc:creator>
  <cp:lastModifiedBy>Shui Yu</cp:lastModifiedBy>
  <cp:revision>6</cp:revision>
  <dcterms:created xsi:type="dcterms:W3CDTF">2020-07-15T11:15:21Z</dcterms:created>
  <dcterms:modified xsi:type="dcterms:W3CDTF">2026-08-20T08:58:42Z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1a6c3db-1667-4f49-995a-8b9973972958_Enabled">
    <vt:lpwstr>true</vt:lpwstr>
  </property>
  <property fmtid="{D5CDD505-2E9C-101B-9397-08002B2CF9AE}" pid="3" name="MSIP_Label_51a6c3db-1667-4f49-995a-8b9973972958_SetDate">
    <vt:lpwstr>2022-08-10T06:48:14Z</vt:lpwstr>
  </property>
  <property fmtid="{D5CDD505-2E9C-101B-9397-08002B2CF9AE}" pid="4" name="MSIP_Label_51a6c3db-1667-4f49-995a-8b9973972958_Method">
    <vt:lpwstr>Standard</vt:lpwstr>
  </property>
  <property fmtid="{D5CDD505-2E9C-101B-9397-08002B2CF9AE}" pid="5" name="MSIP_Label_51a6c3db-1667-4f49-995a-8b9973972958_Name">
    <vt:lpwstr>UTS-Internal</vt:lpwstr>
  </property>
  <property fmtid="{D5CDD505-2E9C-101B-9397-08002B2CF9AE}" pid="6" name="MSIP_Label_51a6c3db-1667-4f49-995a-8b9973972958_SiteId">
    <vt:lpwstr>e8911c26-cf9f-4a9c-878e-527807be8791</vt:lpwstr>
  </property>
  <property fmtid="{D5CDD505-2E9C-101B-9397-08002B2CF9AE}" pid="7" name="MSIP_Label_51a6c3db-1667-4f49-995a-8b9973972958_ActionId">
    <vt:lpwstr>693e2f14-b8fb-4305-9ece-c57d6ed9d904</vt:lpwstr>
  </property>
  <property fmtid="{D5CDD505-2E9C-101B-9397-08002B2CF9AE}" pid="8" name="MSIP_Label_51a6c3db-1667-4f49-995a-8b9973972958_ContentBits">
    <vt:lpwstr>0</vt:lpwstr>
  </property>
</Properties>
</file>