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3"/>
  </p:notesMasterIdLst>
  <p:handoutMasterIdLst>
    <p:handoutMasterId r:id="rId44"/>
  </p:handoutMasterIdLst>
  <p:sldIdLst>
    <p:sldId id="438" r:id="rId2"/>
    <p:sldId id="384" r:id="rId3"/>
    <p:sldId id="383" r:id="rId4"/>
    <p:sldId id="385" r:id="rId5"/>
    <p:sldId id="435" r:id="rId6"/>
    <p:sldId id="429" r:id="rId7"/>
    <p:sldId id="420" r:id="rId8"/>
    <p:sldId id="386" r:id="rId9"/>
    <p:sldId id="387" r:id="rId10"/>
    <p:sldId id="418" r:id="rId11"/>
    <p:sldId id="419" r:id="rId12"/>
    <p:sldId id="421" r:id="rId13"/>
    <p:sldId id="422" r:id="rId14"/>
    <p:sldId id="423" r:id="rId15"/>
    <p:sldId id="388" r:id="rId16"/>
    <p:sldId id="393" r:id="rId17"/>
    <p:sldId id="436" r:id="rId18"/>
    <p:sldId id="401" r:id="rId19"/>
    <p:sldId id="402" r:id="rId20"/>
    <p:sldId id="390" r:id="rId21"/>
    <p:sldId id="404" r:id="rId22"/>
    <p:sldId id="405" r:id="rId23"/>
    <p:sldId id="406" r:id="rId24"/>
    <p:sldId id="391" r:id="rId25"/>
    <p:sldId id="409" r:id="rId26"/>
    <p:sldId id="397" r:id="rId27"/>
    <p:sldId id="398" r:id="rId28"/>
    <p:sldId id="412" r:id="rId29"/>
    <p:sldId id="413" r:id="rId30"/>
    <p:sldId id="399" r:id="rId31"/>
    <p:sldId id="400" r:id="rId32"/>
    <p:sldId id="433" r:id="rId33"/>
    <p:sldId id="424" r:id="rId34"/>
    <p:sldId id="425" r:id="rId35"/>
    <p:sldId id="439" r:id="rId36"/>
    <p:sldId id="440" r:id="rId37"/>
    <p:sldId id="434" r:id="rId38"/>
    <p:sldId id="441" r:id="rId39"/>
    <p:sldId id="457" r:id="rId40"/>
    <p:sldId id="458" r:id="rId41"/>
    <p:sldId id="339"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260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15957E-CDAF-43CC-8E06-995905040E52}" v="1" dt="2026-07-31T00:34:40.241"/>
  </p1510:revLst>
</p1510:revInfo>
</file>

<file path=ppt/tableStyles.xml><?xml version="1.0" encoding="utf-8"?>
<a:tblStyleLst xmlns:a="http://schemas.openxmlformats.org/drawingml/2006/main" def="{B301B821-A1FF-4177-AEE7-76D212191A09}">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7" autoAdjust="0"/>
    <p:restoredTop sz="86860" autoAdjust="0"/>
  </p:normalViewPr>
  <p:slideViewPr>
    <p:cSldViewPr snapToGrid="0">
      <p:cViewPr varScale="1">
        <p:scale>
          <a:sx n="119" d="100"/>
          <a:sy n="119" d="100"/>
        </p:scale>
        <p:origin x="84" y="84"/>
      </p:cViewPr>
      <p:guideLst>
        <p:guide pos="3840"/>
        <p:guide orient="horz" pos="2160"/>
      </p:guideLst>
    </p:cSldViewPr>
  </p:slideViewPr>
  <p:notesTextViewPr>
    <p:cViewPr>
      <p:scale>
        <a:sx n="1" d="1"/>
        <a:sy n="1" d="1"/>
      </p:scale>
      <p:origin x="0" y="0"/>
    </p:cViewPr>
  </p:notesTextViewPr>
  <p:notesViewPr>
    <p:cSldViewPr snapToGrid="0">
      <p:cViewPr varScale="1">
        <p:scale>
          <a:sx n="63" d="100"/>
          <a:sy n="63" d="100"/>
        </p:scale>
        <p:origin x="1986"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ui Yu" userId="c938b994-a30e-4cc7-a189-187a9b224868" providerId="ADAL" clId="{D378DF58-4452-4BC8-839A-4D178FE0AA68}"/>
    <pc:docChg chg="custSel addSld delSld modSld">
      <pc:chgData name="Shui Yu" userId="c938b994-a30e-4cc7-a189-187a9b224868" providerId="ADAL" clId="{D378DF58-4452-4BC8-839A-4D178FE0AA68}" dt="2026-07-31T00:54:09.568" v="264" actId="27636"/>
      <pc:docMkLst>
        <pc:docMk/>
      </pc:docMkLst>
      <pc:sldChg chg="delSp add setBg delDesignElem modNotes">
        <pc:chgData name="Shui Yu" userId="c938b994-a30e-4cc7-a189-187a9b224868" providerId="ADAL" clId="{D378DF58-4452-4BC8-839A-4D178FE0AA68}" dt="2026-07-24T03:31:36.101" v="194"/>
        <pc:sldMkLst>
          <pc:docMk/>
          <pc:sldMk cId="3609299567" sldId="339"/>
        </pc:sldMkLst>
      </pc:sldChg>
      <pc:sldChg chg="modSp mod">
        <pc:chgData name="Shui Yu" userId="c938b994-a30e-4cc7-a189-187a9b224868" providerId="ADAL" clId="{D378DF58-4452-4BC8-839A-4D178FE0AA68}" dt="2026-07-21T04:33:48.206" v="101" actId="20577"/>
        <pc:sldMkLst>
          <pc:docMk/>
          <pc:sldMk cId="0" sldId="384"/>
        </pc:sldMkLst>
        <pc:spChg chg="mod">
          <ac:chgData name="Shui Yu" userId="c938b994-a30e-4cc7-a189-187a9b224868" providerId="ADAL" clId="{D378DF58-4452-4BC8-839A-4D178FE0AA68}" dt="2026-07-21T04:33:48.206" v="101" actId="20577"/>
          <ac:spMkLst>
            <pc:docMk/>
            <pc:sldMk cId="0" sldId="384"/>
            <ac:spMk id="3" creationId="{00000000-0000-0000-0000-000000000000}"/>
          </ac:spMkLst>
        </pc:spChg>
      </pc:sldChg>
      <pc:sldChg chg="modSp mod">
        <pc:chgData name="Shui Yu" userId="c938b994-a30e-4cc7-a189-187a9b224868" providerId="ADAL" clId="{D378DF58-4452-4BC8-839A-4D178FE0AA68}" dt="2026-07-31T00:33:46.258" v="208" actId="1076"/>
        <pc:sldMkLst>
          <pc:docMk/>
          <pc:sldMk cId="0" sldId="438"/>
        </pc:sldMkLst>
        <pc:spChg chg="mod">
          <ac:chgData name="Shui Yu" userId="c938b994-a30e-4cc7-a189-187a9b224868" providerId="ADAL" clId="{D378DF58-4452-4BC8-839A-4D178FE0AA68}" dt="2026-07-31T00:33:46.258" v="208" actId="1076"/>
          <ac:spMkLst>
            <pc:docMk/>
            <pc:sldMk cId="0" sldId="438"/>
            <ac:spMk id="6" creationId="{00000000-0000-0000-0000-000000000000}"/>
          </ac:spMkLst>
        </pc:spChg>
      </pc:sldChg>
      <pc:sldChg chg="modSp mod">
        <pc:chgData name="Shui Yu" userId="c938b994-a30e-4cc7-a189-187a9b224868" providerId="ADAL" clId="{D378DF58-4452-4BC8-839A-4D178FE0AA68}" dt="2026-07-21T04:47:55.467" v="192" actId="20577"/>
        <pc:sldMkLst>
          <pc:docMk/>
          <pc:sldMk cId="1750596704" sldId="439"/>
        </pc:sldMkLst>
        <pc:spChg chg="mod">
          <ac:chgData name="Shui Yu" userId="c938b994-a30e-4cc7-a189-187a9b224868" providerId="ADAL" clId="{D378DF58-4452-4BC8-839A-4D178FE0AA68}" dt="2026-07-21T04:47:55.467" v="192" actId="20577"/>
          <ac:spMkLst>
            <pc:docMk/>
            <pc:sldMk cId="1750596704" sldId="439"/>
            <ac:spMk id="3" creationId="{00000000-0000-0000-0000-000000000000}"/>
          </ac:spMkLst>
        </pc:spChg>
      </pc:sldChg>
      <pc:sldChg chg="modSp mod">
        <pc:chgData name="Shui Yu" userId="c938b994-a30e-4cc7-a189-187a9b224868" providerId="ADAL" clId="{D378DF58-4452-4BC8-839A-4D178FE0AA68}" dt="2026-07-21T04:39:07.368" v="129" actId="5793"/>
        <pc:sldMkLst>
          <pc:docMk/>
          <pc:sldMk cId="639760718" sldId="440"/>
        </pc:sldMkLst>
        <pc:spChg chg="mod">
          <ac:chgData name="Shui Yu" userId="c938b994-a30e-4cc7-a189-187a9b224868" providerId="ADAL" clId="{D378DF58-4452-4BC8-839A-4D178FE0AA68}" dt="2026-07-21T04:39:07.368" v="129" actId="5793"/>
          <ac:spMkLst>
            <pc:docMk/>
            <pc:sldMk cId="639760718" sldId="440"/>
            <ac:spMk id="3" creationId="{00000000-0000-0000-0000-000000000000}"/>
          </ac:spMkLst>
        </pc:spChg>
      </pc:sldChg>
      <pc:sldChg chg="modSp add mod">
        <pc:chgData name="Shui Yu" userId="c938b994-a30e-4cc7-a189-187a9b224868" providerId="ADAL" clId="{D378DF58-4452-4BC8-839A-4D178FE0AA68}" dt="2026-07-21T04:07:53.396" v="79" actId="20577"/>
        <pc:sldMkLst>
          <pc:docMk/>
          <pc:sldMk cId="4100274765" sldId="441"/>
        </pc:sldMkLst>
        <pc:spChg chg="mod">
          <ac:chgData name="Shui Yu" userId="c938b994-a30e-4cc7-a189-187a9b224868" providerId="ADAL" clId="{D378DF58-4452-4BC8-839A-4D178FE0AA68}" dt="2026-07-21T04:07:53.396" v="79" actId="20577"/>
          <ac:spMkLst>
            <pc:docMk/>
            <pc:sldMk cId="4100274765" sldId="441"/>
            <ac:spMk id="4" creationId="{00FD14D2-BF04-2297-7819-7B77B67B3964}"/>
          </ac:spMkLst>
        </pc:spChg>
      </pc:sldChg>
      <pc:sldChg chg="addSp delSp modSp add mod">
        <pc:chgData name="Shui Yu" userId="c938b994-a30e-4cc7-a189-187a9b224868" providerId="ADAL" clId="{D378DF58-4452-4BC8-839A-4D178FE0AA68}" dt="2026-07-21T04:43:53.891" v="184" actId="478"/>
        <pc:sldMkLst>
          <pc:docMk/>
          <pc:sldMk cId="2281210403" sldId="457"/>
        </pc:sldMkLst>
        <pc:spChg chg="mod">
          <ac:chgData name="Shui Yu" userId="c938b994-a30e-4cc7-a189-187a9b224868" providerId="ADAL" clId="{D378DF58-4452-4BC8-839A-4D178FE0AA68}" dt="2026-07-21T04:41:13.327" v="171" actId="5793"/>
          <ac:spMkLst>
            <pc:docMk/>
            <pc:sldMk cId="2281210403" sldId="457"/>
            <ac:spMk id="3" creationId="{B79ED414-BDFD-83BD-FDAC-BA74DA84DC6B}"/>
          </ac:spMkLst>
        </pc:spChg>
      </pc:sldChg>
      <pc:sldChg chg="addSp modSp add mod">
        <pc:chgData name="Shui Yu" userId="c938b994-a30e-4cc7-a189-187a9b224868" providerId="ADAL" clId="{D378DF58-4452-4BC8-839A-4D178FE0AA68}" dt="2026-07-31T00:54:09.568" v="264" actId="27636"/>
        <pc:sldMkLst>
          <pc:docMk/>
          <pc:sldMk cId="3726004292" sldId="458"/>
        </pc:sldMkLst>
        <pc:spChg chg="mod">
          <ac:chgData name="Shui Yu" userId="c938b994-a30e-4cc7-a189-187a9b224868" providerId="ADAL" clId="{D378DF58-4452-4BC8-839A-4D178FE0AA68}" dt="2026-07-31T00:54:09.568" v="264" actId="27636"/>
          <ac:spMkLst>
            <pc:docMk/>
            <pc:sldMk cId="3726004292" sldId="458"/>
            <ac:spMk id="3" creationId="{A95006B1-A07B-FE29-A777-3599EC139409}"/>
          </ac:spMkLst>
        </pc:spChg>
        <pc:picChg chg="add mod">
          <ac:chgData name="Shui Yu" userId="c938b994-a30e-4cc7-a189-187a9b224868" providerId="ADAL" clId="{D378DF58-4452-4BC8-839A-4D178FE0AA68}" dt="2026-07-21T04:43:50.380" v="183" actId="1076"/>
          <ac:picMkLst>
            <pc:docMk/>
            <pc:sldMk cId="3726004292" sldId="458"/>
            <ac:picMk id="6" creationId="{4D0DF418-E7A5-6C71-E9B0-A311E3410C71}"/>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0EA5F0D-C1DC-412F-A146-DDB3A74B588F}" type="datetimeFigureOut">
              <a:rPr lang="en-US"/>
              <a:t>7/31/2026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BAE14B8-3CC9-472D-9BC5-A84D80684DE2}" type="slidenum">
              <a:rPr/>
              <a:t>‹#›</a:t>
            </a:fld>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CDE508-72C8-4AB5-AA9C-1584D31690E0}" type="datetimeFigureOut">
              <a:rPr lang="en-US"/>
              <a:t>7/31/2026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B667E1-E601-4AAF-B95C-B25720D70A60}" type="slidenum">
              <a:rPr/>
              <a:t>‹#›</a:t>
            </a:fld>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2128C508-9378-416B-A78D-286D55287404}" type="slidenum">
              <a:rPr lang="en-US" smtClean="0"/>
              <a:pPr/>
              <a:t>1</a:t>
            </a:fld>
            <a:endParaRPr lang="en-US" dirty="0"/>
          </a:p>
        </p:txBody>
      </p:sp>
    </p:spTree>
    <p:extLst>
      <p:ext uri="{BB962C8B-B14F-4D97-AF65-F5344CB8AC3E}">
        <p14:creationId xmlns:p14="http://schemas.microsoft.com/office/powerpoint/2010/main" val="6518687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 means getting into</a:t>
            </a:r>
            <a:r>
              <a:rPr lang="en-US" baseline="0" dirty="0"/>
              <a:t> a building or some place. It also means using some system resource or network resource. Control means regulating such access. </a:t>
            </a:r>
          </a:p>
          <a:p>
            <a:r>
              <a:rPr lang="en-AU" dirty="0"/>
              <a:t>Technically, access control is a security technique. It regulates who can get into what places and who</a:t>
            </a:r>
            <a:r>
              <a:rPr lang="en-AU" baseline="0" dirty="0"/>
              <a:t> can use what resources.</a:t>
            </a:r>
            <a:r>
              <a:rPr lang="en-AU" dirty="0"/>
              <a:t> </a:t>
            </a:r>
          </a:p>
          <a:p>
            <a:r>
              <a:rPr lang="en-US" dirty="0"/>
              <a:t>There are types of access control.</a:t>
            </a:r>
            <a:r>
              <a:rPr lang="en-US" baseline="0" dirty="0"/>
              <a:t> One is physical and the other is logical. </a:t>
            </a:r>
          </a:p>
          <a:p>
            <a:r>
              <a:rPr lang="en-AU" dirty="0"/>
              <a:t>Physical access control limits access to campuses, buildings, rooms and physical IT assets. </a:t>
            </a:r>
          </a:p>
          <a:p>
            <a:r>
              <a:rPr lang="en-AU" dirty="0"/>
              <a:t>To achieve physical</a:t>
            </a:r>
            <a:r>
              <a:rPr lang="en-AU" baseline="0" dirty="0"/>
              <a:t> access control</a:t>
            </a:r>
            <a:r>
              <a:rPr lang="en-AU" dirty="0"/>
              <a:t>, organizations use electronic access control systems that rely on user credentials, access card readers, auditing and reports to track employee access to restricted locations. </a:t>
            </a:r>
          </a:p>
          <a:p>
            <a:r>
              <a:rPr lang="en-AU" dirty="0"/>
              <a:t>Logical access control limits connections to computer networks, system files and data.</a:t>
            </a:r>
          </a:p>
          <a:p>
            <a:r>
              <a:rPr lang="en-US" dirty="0"/>
              <a:t>To achieve logical access</a:t>
            </a:r>
            <a:r>
              <a:rPr lang="en-US" baseline="0" dirty="0"/>
              <a:t> control, organizations set up login credentials including password, PIN number, biometric scans and security tokens. </a:t>
            </a:r>
          </a:p>
          <a:p>
            <a:r>
              <a:rPr lang="en-US" baseline="0" dirty="0"/>
              <a:t>In this course, we focus on logical access control.</a:t>
            </a:r>
            <a:endParaRPr lang="en-AU" dirty="0"/>
          </a:p>
        </p:txBody>
      </p:sp>
      <p:sp>
        <p:nvSpPr>
          <p:cNvPr id="4" name="Slide Number Placeholder 3"/>
          <p:cNvSpPr>
            <a:spLocks noGrp="1"/>
          </p:cNvSpPr>
          <p:nvPr>
            <p:ph type="sldNum" sz="quarter" idx="10"/>
          </p:nvPr>
        </p:nvSpPr>
        <p:spPr/>
        <p:txBody>
          <a:bodyPr/>
          <a:lstStyle/>
          <a:p>
            <a:fld id="{7FB667E1-E601-4AAF-B95C-B25720D70A60}" type="slidenum">
              <a:rPr lang="en-AU" smtClean="0"/>
              <a:t>4</a:t>
            </a:fld>
            <a:endParaRPr lang="en-AU"/>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 means getting into</a:t>
            </a:r>
            <a:r>
              <a:rPr lang="en-US" baseline="0" dirty="0"/>
              <a:t> a building or some place. It also means using some system resource or network resource. Control means regulating such access. </a:t>
            </a:r>
          </a:p>
          <a:p>
            <a:r>
              <a:rPr lang="en-AU" dirty="0"/>
              <a:t>Technically, access control is a security technique. It regulates who can get into what places and who</a:t>
            </a:r>
            <a:r>
              <a:rPr lang="en-AU" baseline="0" dirty="0"/>
              <a:t> can use what resources.</a:t>
            </a:r>
            <a:r>
              <a:rPr lang="en-AU" dirty="0"/>
              <a:t> </a:t>
            </a:r>
          </a:p>
          <a:p>
            <a:r>
              <a:rPr lang="en-US" dirty="0"/>
              <a:t>There are types of access control.</a:t>
            </a:r>
            <a:r>
              <a:rPr lang="en-US" baseline="0" dirty="0"/>
              <a:t> One is physical and the other is logical. </a:t>
            </a:r>
          </a:p>
          <a:p>
            <a:r>
              <a:rPr lang="en-AU" dirty="0"/>
              <a:t>Physical access control limits access to campuses, buildings, rooms and physical IT assets. </a:t>
            </a:r>
          </a:p>
          <a:p>
            <a:r>
              <a:rPr lang="en-AU" dirty="0"/>
              <a:t>To achieve physical</a:t>
            </a:r>
            <a:r>
              <a:rPr lang="en-AU" baseline="0" dirty="0"/>
              <a:t> access control</a:t>
            </a:r>
            <a:r>
              <a:rPr lang="en-AU" dirty="0"/>
              <a:t>, organizations use electronic access control systems that rely on user credentials, access card readers, auditing and reports to track employee access to restricted locations. </a:t>
            </a:r>
          </a:p>
          <a:p>
            <a:r>
              <a:rPr lang="en-AU" dirty="0"/>
              <a:t>Logical access control limits connections to computer networks, system files and data.</a:t>
            </a:r>
          </a:p>
          <a:p>
            <a:r>
              <a:rPr lang="en-US" dirty="0"/>
              <a:t>To achieve logical access</a:t>
            </a:r>
            <a:r>
              <a:rPr lang="en-US" baseline="0" dirty="0"/>
              <a:t> control, organizations set up login credentials including password, PIN number, biometric scans and security tokens. </a:t>
            </a:r>
          </a:p>
          <a:p>
            <a:r>
              <a:rPr lang="en-US" baseline="0" dirty="0"/>
              <a:t>In this course, we focus on logical access control.</a:t>
            </a:r>
            <a:endParaRPr lang="en-AU" dirty="0"/>
          </a:p>
        </p:txBody>
      </p:sp>
      <p:sp>
        <p:nvSpPr>
          <p:cNvPr id="4" name="Slide Number Placeholder 3"/>
          <p:cNvSpPr>
            <a:spLocks noGrp="1"/>
          </p:cNvSpPr>
          <p:nvPr>
            <p:ph type="sldNum" sz="quarter" idx="10"/>
          </p:nvPr>
        </p:nvSpPr>
        <p:spPr/>
        <p:txBody>
          <a:bodyPr/>
          <a:lstStyle/>
          <a:p>
            <a:fld id="{7FB667E1-E601-4AAF-B95C-B25720D70A60}" type="slidenum">
              <a:rPr lang="en-AU" smtClean="0"/>
              <a:t>6</a:t>
            </a:fld>
            <a:endParaRPr lang="en-AU"/>
          </a:p>
        </p:txBody>
      </p:sp>
    </p:spTree>
    <p:extLst>
      <p:ext uri="{BB962C8B-B14F-4D97-AF65-F5344CB8AC3E}">
        <p14:creationId xmlns:p14="http://schemas.microsoft.com/office/powerpoint/2010/main" val="39463826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In order words, authentication is as</a:t>
            </a:r>
            <a:r>
              <a:rPr lang="en-US" altLang="zh-CN" baseline="0" dirty="0"/>
              <a:t> a door to control users getting into a system. </a:t>
            </a:r>
          </a:p>
          <a:p>
            <a:r>
              <a:rPr lang="en-US" baseline="0" dirty="0"/>
              <a:t>Access control models are as policies to regulate authorized users’ behavior in the system.</a:t>
            </a:r>
            <a:endParaRPr lang="en-AU" dirty="0"/>
          </a:p>
        </p:txBody>
      </p:sp>
      <p:sp>
        <p:nvSpPr>
          <p:cNvPr id="4" name="Slide Number Placeholder 3"/>
          <p:cNvSpPr>
            <a:spLocks noGrp="1"/>
          </p:cNvSpPr>
          <p:nvPr>
            <p:ph type="sldNum" sz="quarter" idx="10"/>
          </p:nvPr>
        </p:nvSpPr>
        <p:spPr/>
        <p:txBody>
          <a:bodyPr/>
          <a:lstStyle/>
          <a:p>
            <a:fld id="{7FB667E1-E601-4AAF-B95C-B25720D70A60}" type="slidenum">
              <a:rPr lang="en-AU" smtClean="0"/>
              <a:t>7</a:t>
            </a:fld>
            <a:endParaRPr lang="en-AU"/>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a:t>
            </a:r>
            <a:r>
              <a:rPr lang="en-US" baseline="0" dirty="0"/>
              <a:t> risks could be from various aspects, such as hacking, human error, virus and so on.</a:t>
            </a:r>
            <a:endParaRPr lang="en-AU" dirty="0"/>
          </a:p>
        </p:txBody>
      </p:sp>
      <p:sp>
        <p:nvSpPr>
          <p:cNvPr id="4" name="Slide Number Placeholder 3"/>
          <p:cNvSpPr>
            <a:spLocks noGrp="1"/>
          </p:cNvSpPr>
          <p:nvPr>
            <p:ph type="sldNum" sz="quarter" idx="10"/>
          </p:nvPr>
        </p:nvSpPr>
        <p:spPr/>
        <p:txBody>
          <a:bodyPr/>
          <a:lstStyle/>
          <a:p>
            <a:fld id="{7FB667E1-E601-4AAF-B95C-B25720D70A60}" type="slidenum">
              <a:rPr lang="en-AU" smtClean="0"/>
              <a:t>8</a:t>
            </a:fld>
            <a:endParaRPr lang="en-AU"/>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I give some real-world examples about security risks. These examples show what happened if an organization failed on access control.</a:t>
            </a:r>
            <a:endParaRPr lang="en-AU" dirty="0"/>
          </a:p>
        </p:txBody>
      </p:sp>
      <p:sp>
        <p:nvSpPr>
          <p:cNvPr id="4" name="Slide Number Placeholder 3"/>
          <p:cNvSpPr>
            <a:spLocks noGrp="1"/>
          </p:cNvSpPr>
          <p:nvPr>
            <p:ph type="sldNum" sz="quarter" idx="10"/>
          </p:nvPr>
        </p:nvSpPr>
        <p:spPr/>
        <p:txBody>
          <a:bodyPr/>
          <a:lstStyle/>
          <a:p>
            <a:fld id="{7FB667E1-E601-4AAF-B95C-B25720D70A60}" type="slidenum">
              <a:rPr lang="en-AU" smtClean="0"/>
              <a:t>9</a:t>
            </a:fld>
            <a:endParaRPr lang="en-AU"/>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7FB667E1-E601-4AAF-B95C-B25720D70A60}" type="slidenum">
              <a:rPr lang="en-AU" smtClean="0"/>
              <a:t>11</a:t>
            </a:fld>
            <a:endParaRPr lang="en-AU"/>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7FB667E1-E601-4AAF-B95C-B25720D70A60}" type="slidenum">
              <a:rPr lang="en-AU" smtClean="0"/>
              <a:t>12</a:t>
            </a:fld>
            <a:endParaRPr lang="en-AU"/>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7FB667E1-E601-4AAF-B95C-B25720D70A60}" type="slidenum">
              <a:rPr lang="en-AU" smtClean="0"/>
              <a:t>13</a:t>
            </a:fld>
            <a:endParaRPr lang="en-AU"/>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7FB667E1-E601-4AAF-B95C-B25720D70A60}" type="slidenum">
              <a:rPr lang="en-AU" smtClean="0"/>
              <a:t>14</a:t>
            </a:fld>
            <a:endParaRPr lang="en-AU"/>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buNone/>
            </a:pPr>
            <a:r>
              <a:rPr lang="en-US" sz="1200" dirty="0"/>
              <a:t>There are three main types of access control models: mandatory access</a:t>
            </a:r>
            <a:r>
              <a:rPr lang="en-US" sz="1200" baseline="0" dirty="0"/>
              <a:t> control model (MAC), discretionary access control model (DAC), and role-based access control model (RBAC). </a:t>
            </a:r>
          </a:p>
          <a:p>
            <a:pPr marL="0" indent="0" algn="just">
              <a:buNone/>
            </a:pPr>
            <a:r>
              <a:rPr lang="en-US" sz="1200" dirty="0"/>
              <a:t>MAC is the strictest</a:t>
            </a:r>
            <a:r>
              <a:rPr lang="en-US" sz="1200" baseline="0" dirty="0"/>
              <a:t> access control model. It takes the control of all level resources. </a:t>
            </a:r>
          </a:p>
          <a:p>
            <a:pPr marL="0" indent="0" algn="just">
              <a:buNone/>
            </a:pPr>
            <a:r>
              <a:rPr lang="en-US" sz="1200" baseline="0" dirty="0"/>
              <a:t>Access to resources is predefined by an authority and remains unchanged thereafter. </a:t>
            </a:r>
          </a:p>
          <a:p>
            <a:pPr marL="0" indent="0" algn="just">
              <a:buNone/>
            </a:pPr>
            <a:r>
              <a:rPr lang="en-US" sz="1200" baseline="0" dirty="0"/>
              <a:t>Any other system entities cannot transfer access rights to others.</a:t>
            </a:r>
          </a:p>
          <a:p>
            <a:pPr marL="0" indent="0" algn="just">
              <a:buNone/>
            </a:pPr>
            <a:r>
              <a:rPr lang="en-US" sz="1200" dirty="0"/>
              <a:t>Because of its strictness</a:t>
            </a:r>
            <a:r>
              <a:rPr lang="en-US" sz="1200" baseline="0" dirty="0"/>
              <a:t>, MAC is often used in government and military environments.</a:t>
            </a:r>
            <a:endParaRPr lang="en-US" sz="1200" dirty="0"/>
          </a:p>
        </p:txBody>
      </p:sp>
      <p:sp>
        <p:nvSpPr>
          <p:cNvPr id="4" name="Slide Number Placeholder 3"/>
          <p:cNvSpPr>
            <a:spLocks noGrp="1"/>
          </p:cNvSpPr>
          <p:nvPr>
            <p:ph type="sldNum" sz="quarter" idx="10"/>
          </p:nvPr>
        </p:nvSpPr>
        <p:spPr/>
        <p:txBody>
          <a:bodyPr/>
          <a:lstStyle/>
          <a:p>
            <a:fld id="{7FB667E1-E601-4AAF-B95C-B25720D70A60}" type="slidenum">
              <a:rPr lang="en-AU" smtClean="0"/>
              <a:t>16</a:t>
            </a:fld>
            <a:endParaRPr lang="en-AU"/>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buNone/>
            </a:pPr>
            <a:r>
              <a:rPr lang="en-US" sz="1200" dirty="0"/>
              <a:t>The most important part is to create the security class and information flow graph.</a:t>
            </a:r>
          </a:p>
          <a:p>
            <a:pPr marL="0" indent="0" algn="just">
              <a:buNone/>
            </a:pPr>
            <a:r>
              <a:rPr lang="en-US" sz="1200" dirty="0"/>
              <a:t>Then, other entities can be bounded to the graph.</a:t>
            </a:r>
          </a:p>
        </p:txBody>
      </p:sp>
      <p:sp>
        <p:nvSpPr>
          <p:cNvPr id="4" name="Slide Number Placeholder 3"/>
          <p:cNvSpPr>
            <a:spLocks noGrp="1"/>
          </p:cNvSpPr>
          <p:nvPr>
            <p:ph type="sldNum" sz="quarter" idx="10"/>
          </p:nvPr>
        </p:nvSpPr>
        <p:spPr/>
        <p:txBody>
          <a:bodyPr/>
          <a:lstStyle/>
          <a:p>
            <a:fld id="{7FB667E1-E601-4AAF-B95C-B25720D70A60}" type="slidenum">
              <a:rPr lang="en-AU" smtClean="0"/>
              <a:t>17</a:t>
            </a:fld>
            <a:endParaRPr lang="en-AU"/>
          </a:p>
        </p:txBody>
      </p:sp>
    </p:spTree>
    <p:extLst>
      <p:ext uri="{BB962C8B-B14F-4D97-AF65-F5344CB8AC3E}">
        <p14:creationId xmlns:p14="http://schemas.microsoft.com/office/powerpoint/2010/main" val="28347641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indent="0" algn="just">
                  <a:buNone/>
                </a:pPr>
                <a:r>
                  <a:rPr lang="en-US" sz="1200" dirty="0"/>
                  <a:t>In other words, </a:t>
                </a:r>
                <a14:m>
                  <m:oMath xmlns:m="http://schemas.openxmlformats.org/officeDocument/2006/math">
                    <m:r>
                      <a:rPr lang="en-US" altLang="zh-CN" sz="1200" i="1" smtClean="0">
                        <a:latin typeface="Cambria Math" panose="02040503050406030204" pitchFamily="18" charset="0"/>
                      </a:rPr>
                      <m:t>⊕</m:t>
                    </m:r>
                  </m:oMath>
                </a14:m>
                <a:r>
                  <a:rPr lang="en-US" sz="1200" dirty="0"/>
                  <a:t> defines which security class</a:t>
                </a:r>
                <a:r>
                  <a:rPr lang="en-US" sz="1200" baseline="0" dirty="0"/>
                  <a:t> has the higher level.</a:t>
                </a:r>
              </a:p>
              <a:p>
                <a:pPr marL="0" indent="0" algn="just">
                  <a:buNone/>
                </a:pPr>
                <a:r>
                  <a:rPr lang="en-US" sz="1200" baseline="0" dirty="0"/>
                  <a:t>In other words, </a:t>
                </a:r>
                <a14:m>
                  <m:oMath xmlns:m="http://schemas.openxmlformats.org/officeDocument/2006/math">
                    <m:r>
                      <a:rPr lang="en-US" altLang="zh-CN" sz="1200" i="1" smtClean="0">
                        <a:latin typeface="Cambria Math" panose="02040503050406030204" pitchFamily="18" charset="0"/>
                      </a:rPr>
                      <m:t>⊗</m:t>
                    </m:r>
                  </m:oMath>
                </a14:m>
                <a:r>
                  <a:rPr lang="en-US" sz="1200" dirty="0"/>
                  <a:t> defines which security class has the lower level.</a:t>
                </a:r>
              </a:p>
              <a:p>
                <a:pPr marL="0" indent="0" algn="just">
                  <a:buNone/>
                </a:pPr>
                <a:r>
                  <a:rPr lang="en-US" sz="1200" dirty="0"/>
                  <a:t>In other words, </a:t>
                </a:r>
                <a14:m>
                  <m:oMath xmlns:m="http://schemas.openxmlformats.org/officeDocument/2006/math">
                    <m:r>
                      <a:rPr lang="en-US" altLang="zh-CN" b="0" i="0" smtClean="0">
                        <a:solidFill>
                          <a:prstClr val="black"/>
                        </a:solidFill>
                        <a:latin typeface="Cambria Math" panose="02040503050406030204" pitchFamily="18" charset="0"/>
                      </a:rPr>
                      <m:t> </m:t>
                    </m:r>
                    <m:r>
                      <a:rPr lang="en-US" altLang="zh-CN" i="1" smtClean="0">
                        <a:solidFill>
                          <a:prstClr val="black"/>
                        </a:solidFill>
                        <a:latin typeface="Cambria Math" panose="02040503050406030204" pitchFamily="18" charset="0"/>
                      </a:rPr>
                      <m:t>𝐴</m:t>
                    </m:r>
                    <m:r>
                      <a:rPr lang="en-US" altLang="zh-CN" i="1" smtClean="0">
                        <a:solidFill>
                          <a:prstClr val="black"/>
                        </a:solidFill>
                        <a:latin typeface="Cambria Math" panose="02040503050406030204" pitchFamily="18" charset="0"/>
                        <a:ea typeface="Cambria Math" panose="02040503050406030204" pitchFamily="18" charset="0"/>
                      </a:rPr>
                      <m:t>→</m:t>
                    </m:r>
                    <m:r>
                      <a:rPr lang="en-US" altLang="zh-CN" i="1">
                        <a:solidFill>
                          <a:prstClr val="black"/>
                        </a:solidFill>
                        <a:latin typeface="Cambria Math" panose="02040503050406030204" pitchFamily="18" charset="0"/>
                      </a:rPr>
                      <m:t>𝐵</m:t>
                    </m:r>
                  </m:oMath>
                </a14:m>
                <a:r>
                  <a:rPr lang="en-US" sz="1200" dirty="0"/>
                  <a:t>means that</a:t>
                </a:r>
                <a:r>
                  <a:rPr lang="en-US" sz="1200" baseline="0" dirty="0"/>
                  <a:t> users bounded to class </a:t>
                </a:r>
                <a:r>
                  <a:rPr lang="en-US" sz="1200" i="1" baseline="0" dirty="0"/>
                  <a:t>B</a:t>
                </a:r>
                <a:r>
                  <a:rPr lang="en-US" sz="1200" baseline="0" dirty="0"/>
                  <a:t> can access the resources bounded to class </a:t>
                </a:r>
                <a:r>
                  <a:rPr lang="en-US" sz="1200" i="1" baseline="0" dirty="0"/>
                  <a:t>A</a:t>
                </a:r>
                <a:r>
                  <a:rPr lang="en-US" sz="1200" i="0" baseline="0" dirty="0"/>
                  <a:t>.</a:t>
                </a:r>
                <a:endParaRPr lang="en-US" sz="1200" dirty="0"/>
              </a:p>
            </p:txBody>
          </p:sp>
        </mc:Choice>
        <mc:Fallback xmlns="">
          <p:sp>
            <p:nvSpPr>
              <p:cNvPr id="3" name="Notes Placeholder 2"/>
              <p:cNvSpPr>
                <a:spLocks noGrp="1"/>
              </p:cNvSpPr>
              <p:nvPr>
                <p:ph type="body" idx="1"/>
              </p:nvPr>
            </p:nvSpPr>
            <p:spPr/>
            <p:txBody>
              <a:bodyPr/>
              <a:lstStyle/>
              <a:p>
                <a:pPr marL="0" indent="0" algn="just">
                  <a:buNone/>
                </a:pPr>
                <a:r>
                  <a:rPr lang="en-US" sz="1200" dirty="0"/>
                  <a:t>In other words, </a:t>
                </a:r>
                <a:r>
                  <a:rPr lang="en-US" altLang="zh-CN" sz="1200" i="0">
                    <a:latin typeface="Cambria Math" panose="02040503050406030204" pitchFamily="18" charset="0"/>
                  </a:rPr>
                  <a:t>⊕</a:t>
                </a:r>
                <a:r>
                  <a:rPr lang="en-US" sz="1200" dirty="0"/>
                  <a:t> defines which security class</a:t>
                </a:r>
                <a:r>
                  <a:rPr lang="en-US" sz="1200" baseline="0" dirty="0"/>
                  <a:t> has the higher level.</a:t>
                </a:r>
                <a:endParaRPr lang="en-US" sz="1200" baseline="0" dirty="0"/>
              </a:p>
              <a:p>
                <a:pPr marL="0" indent="0" algn="just">
                  <a:buNone/>
                </a:pPr>
                <a:r>
                  <a:rPr lang="en-US" sz="1200" baseline="0" dirty="0"/>
                  <a:t>In other words, </a:t>
                </a:r>
                <a:r>
                  <a:rPr lang="en-US" altLang="zh-CN" sz="1200" i="0">
                    <a:latin typeface="Cambria Math" panose="02040503050406030204" pitchFamily="18" charset="0"/>
                  </a:rPr>
                  <a:t>⊗</a:t>
                </a:r>
                <a:r>
                  <a:rPr lang="en-US" sz="1200" dirty="0"/>
                  <a:t> defines which security class has the lower level.</a:t>
                </a:r>
                <a:endParaRPr lang="en-US" sz="1200" dirty="0"/>
              </a:p>
              <a:p>
                <a:pPr marL="0" indent="0" algn="just">
                  <a:buNone/>
                </a:pPr>
                <a:r>
                  <a:rPr lang="en-US" sz="1200" dirty="0"/>
                  <a:t>In other words, </a:t>
                </a:r>
                <a:r>
                  <a:rPr lang="en-US" altLang="zh-CN" b="0" i="0">
                    <a:solidFill>
                      <a:prstClr val="black"/>
                    </a:solidFill>
                    <a:latin typeface="Cambria Math" panose="02040503050406030204" pitchFamily="18" charset="0"/>
                  </a:rPr>
                  <a:t> </a:t>
                </a:r>
                <a:r>
                  <a:rPr lang="en-US" altLang="zh-CN" i="0">
                    <a:solidFill>
                      <a:prstClr val="black"/>
                    </a:solidFill>
                    <a:latin typeface="Cambria Math" panose="02040503050406030204" pitchFamily="18" charset="0"/>
                  </a:rPr>
                  <a:t>𝐴</a:t>
                </a:r>
                <a:r>
                  <a:rPr lang="en-US" altLang="zh-CN" i="0">
                    <a:solidFill>
                      <a:prstClr val="black"/>
                    </a:solidFill>
                    <a:latin typeface="Cambria Math" panose="02040503050406030204" pitchFamily="18" charset="0"/>
                    <a:ea typeface="Cambria Math" panose="02040503050406030204" pitchFamily="18" charset="0"/>
                  </a:rPr>
                  <a:t>→</a:t>
                </a:r>
                <a:r>
                  <a:rPr lang="en-US" altLang="zh-CN" i="0">
                    <a:solidFill>
                      <a:prstClr val="black"/>
                    </a:solidFill>
                    <a:latin typeface="Cambria Math" panose="02040503050406030204" pitchFamily="18" charset="0"/>
                  </a:rPr>
                  <a:t>𝐵</a:t>
                </a:r>
                <a:r>
                  <a:rPr lang="en-US" sz="1200" dirty="0"/>
                  <a:t>means that</a:t>
                </a:r>
                <a:r>
                  <a:rPr lang="en-US" sz="1200" baseline="0" dirty="0"/>
                  <a:t> users bounded to class </a:t>
                </a:r>
                <a:r>
                  <a:rPr lang="en-US" sz="1200" i="1" baseline="0" dirty="0"/>
                  <a:t>B</a:t>
                </a:r>
                <a:r>
                  <a:rPr lang="en-US" sz="1200" baseline="0" dirty="0"/>
                  <a:t> can access the resources bounded to class </a:t>
                </a:r>
                <a:r>
                  <a:rPr lang="en-US" sz="1200" i="1" baseline="0" dirty="0"/>
                  <a:t>A</a:t>
                </a:r>
                <a:r>
                  <a:rPr lang="en-US" sz="1200" i="0" baseline="0" dirty="0"/>
                  <a:t>.</a:t>
                </a:r>
                <a:endParaRPr lang="en-US" sz="1200" dirty="0"/>
              </a:p>
            </p:txBody>
          </p:sp>
        </mc:Fallback>
      </mc:AlternateContent>
      <p:sp>
        <p:nvSpPr>
          <p:cNvPr id="4" name="Slide Number Placeholder 3"/>
          <p:cNvSpPr>
            <a:spLocks noGrp="1"/>
          </p:cNvSpPr>
          <p:nvPr>
            <p:ph type="sldNum" sz="quarter" idx="10"/>
          </p:nvPr>
        </p:nvSpPr>
        <p:spPr/>
        <p:txBody>
          <a:bodyPr/>
          <a:lstStyle/>
          <a:p>
            <a:fld id="{7FB667E1-E601-4AAF-B95C-B25720D70A60}" type="slidenum">
              <a:rPr lang="en-AU" smtClean="0"/>
              <a:t>18</a:t>
            </a:fld>
            <a:endParaRPr lang="en-AU"/>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buNone/>
            </a:pPr>
            <a:endParaRPr lang="en-US" sz="1200" dirty="0"/>
          </a:p>
        </p:txBody>
      </p:sp>
      <p:sp>
        <p:nvSpPr>
          <p:cNvPr id="4" name="Slide Number Placeholder 3"/>
          <p:cNvSpPr>
            <a:spLocks noGrp="1"/>
          </p:cNvSpPr>
          <p:nvPr>
            <p:ph type="sldNum" sz="quarter" idx="10"/>
          </p:nvPr>
        </p:nvSpPr>
        <p:spPr/>
        <p:txBody>
          <a:bodyPr/>
          <a:lstStyle/>
          <a:p>
            <a:fld id="{7FB667E1-E601-4AAF-B95C-B25720D70A60}" type="slidenum">
              <a:rPr lang="en-AU" smtClean="0"/>
              <a:t>19</a:t>
            </a:fld>
            <a:endParaRPr lang="en-AU"/>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buNone/>
            </a:pPr>
            <a:endParaRPr lang="en-US" sz="1200" dirty="0"/>
          </a:p>
        </p:txBody>
      </p:sp>
      <p:sp>
        <p:nvSpPr>
          <p:cNvPr id="4" name="Slide Number Placeholder 3"/>
          <p:cNvSpPr>
            <a:spLocks noGrp="1"/>
          </p:cNvSpPr>
          <p:nvPr>
            <p:ph type="sldNum" sz="quarter" idx="10"/>
          </p:nvPr>
        </p:nvSpPr>
        <p:spPr/>
        <p:txBody>
          <a:bodyPr/>
          <a:lstStyle/>
          <a:p>
            <a:fld id="{7FB667E1-E601-4AAF-B95C-B25720D70A60}" type="slidenum">
              <a:rPr lang="en-AU" smtClean="0"/>
              <a:t>20</a:t>
            </a:fld>
            <a:endParaRPr lang="en-AU"/>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buNone/>
            </a:pPr>
            <a:endParaRPr lang="en-US" sz="1200" dirty="0"/>
          </a:p>
        </p:txBody>
      </p:sp>
      <p:sp>
        <p:nvSpPr>
          <p:cNvPr id="4" name="Slide Number Placeholder 3"/>
          <p:cNvSpPr>
            <a:spLocks noGrp="1"/>
          </p:cNvSpPr>
          <p:nvPr>
            <p:ph type="sldNum" sz="quarter" idx="10"/>
          </p:nvPr>
        </p:nvSpPr>
        <p:spPr/>
        <p:txBody>
          <a:bodyPr/>
          <a:lstStyle/>
          <a:p>
            <a:fld id="{7FB667E1-E601-4AAF-B95C-B25720D70A60}" type="slidenum">
              <a:rPr lang="en-AU" smtClean="0"/>
              <a:t>21</a:t>
            </a:fld>
            <a:endParaRPr lang="en-AU"/>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buNone/>
            </a:pPr>
            <a:endParaRPr lang="en-US" sz="1200" dirty="0"/>
          </a:p>
        </p:txBody>
      </p:sp>
      <p:sp>
        <p:nvSpPr>
          <p:cNvPr id="4" name="Slide Number Placeholder 3"/>
          <p:cNvSpPr>
            <a:spLocks noGrp="1"/>
          </p:cNvSpPr>
          <p:nvPr>
            <p:ph type="sldNum" sz="quarter" idx="10"/>
          </p:nvPr>
        </p:nvSpPr>
        <p:spPr/>
        <p:txBody>
          <a:bodyPr/>
          <a:lstStyle/>
          <a:p>
            <a:fld id="{7FB667E1-E601-4AAF-B95C-B25720D70A60}" type="slidenum">
              <a:rPr lang="en-AU" smtClean="0"/>
              <a:t>22</a:t>
            </a:fld>
            <a:endParaRPr lang="en-AU"/>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buNone/>
            </a:pPr>
            <a:r>
              <a:rPr lang="en-US" sz="1200" dirty="0"/>
              <a:t>In other words, an entire row shows what a subject (user) can do in a system.</a:t>
            </a:r>
          </a:p>
          <a:p>
            <a:pPr marL="0" indent="0" algn="just">
              <a:buNone/>
            </a:pPr>
            <a:r>
              <a:rPr lang="en-US" sz="1200" dirty="0"/>
              <a:t>In other words, a column gives a list about who can use an object.</a:t>
            </a:r>
          </a:p>
        </p:txBody>
      </p:sp>
      <p:sp>
        <p:nvSpPr>
          <p:cNvPr id="4" name="Slide Number Placeholder 3"/>
          <p:cNvSpPr>
            <a:spLocks noGrp="1"/>
          </p:cNvSpPr>
          <p:nvPr>
            <p:ph type="sldNum" sz="quarter" idx="10"/>
          </p:nvPr>
        </p:nvSpPr>
        <p:spPr/>
        <p:txBody>
          <a:bodyPr/>
          <a:lstStyle/>
          <a:p>
            <a:fld id="{7FB667E1-E601-4AAF-B95C-B25720D70A60}" type="slidenum">
              <a:rPr lang="en-AU" smtClean="0"/>
              <a:t>23</a:t>
            </a:fld>
            <a:endParaRPr lang="en-AU"/>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buNone/>
            </a:pPr>
            <a:r>
              <a:rPr lang="en-US" sz="1200" dirty="0"/>
              <a:t>In RBAC, access</a:t>
            </a:r>
            <a:r>
              <a:rPr lang="en-US" sz="1200" baseline="0" dirty="0"/>
              <a:t> rights are assigned to roles instead of entities. Each user is then assigned to a particular role.</a:t>
            </a:r>
            <a:endParaRPr lang="en-US" sz="1200" dirty="0"/>
          </a:p>
        </p:txBody>
      </p:sp>
      <p:sp>
        <p:nvSpPr>
          <p:cNvPr id="4" name="Slide Number Placeholder 3"/>
          <p:cNvSpPr>
            <a:spLocks noGrp="1"/>
          </p:cNvSpPr>
          <p:nvPr>
            <p:ph type="sldNum" sz="quarter" idx="10"/>
          </p:nvPr>
        </p:nvSpPr>
        <p:spPr/>
        <p:txBody>
          <a:bodyPr/>
          <a:lstStyle/>
          <a:p>
            <a:fld id="{7FB667E1-E601-4AAF-B95C-B25720D70A60}" type="slidenum">
              <a:rPr lang="en-AU" smtClean="0"/>
              <a:t>24</a:t>
            </a:fld>
            <a:endParaRPr lang="en-AU"/>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buNone/>
            </a:pPr>
            <a:endParaRPr lang="en-US" sz="1200" dirty="0"/>
          </a:p>
        </p:txBody>
      </p:sp>
      <p:sp>
        <p:nvSpPr>
          <p:cNvPr id="4" name="Slide Number Placeholder 3"/>
          <p:cNvSpPr>
            <a:spLocks noGrp="1"/>
          </p:cNvSpPr>
          <p:nvPr>
            <p:ph type="sldNum" sz="quarter" idx="10"/>
          </p:nvPr>
        </p:nvSpPr>
        <p:spPr/>
        <p:txBody>
          <a:bodyPr/>
          <a:lstStyle/>
          <a:p>
            <a:fld id="{7FB667E1-E601-4AAF-B95C-B25720D70A60}" type="slidenum">
              <a:rPr lang="en-AU" smtClean="0"/>
              <a:t>25</a:t>
            </a:fld>
            <a:endParaRPr lang="en-AU"/>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buNone/>
            </a:pPr>
            <a:r>
              <a:rPr lang="en-US" sz="1200" dirty="0"/>
              <a:t>Generally, there are three major threats to access control. The first one is insider attack.</a:t>
            </a:r>
          </a:p>
        </p:txBody>
      </p:sp>
      <p:sp>
        <p:nvSpPr>
          <p:cNvPr id="4" name="Slide Number Placeholder 3"/>
          <p:cNvSpPr>
            <a:spLocks noGrp="1"/>
          </p:cNvSpPr>
          <p:nvPr>
            <p:ph type="sldNum" sz="quarter" idx="10"/>
          </p:nvPr>
        </p:nvSpPr>
        <p:spPr/>
        <p:txBody>
          <a:bodyPr/>
          <a:lstStyle/>
          <a:p>
            <a:fld id="{7FB667E1-E601-4AAF-B95C-B25720D70A60}" type="slidenum">
              <a:rPr lang="en-AU" smtClean="0"/>
              <a:t>27</a:t>
            </a:fld>
            <a:endParaRPr lang="en-AU"/>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buNone/>
            </a:pPr>
            <a:r>
              <a:rPr lang="en-US" sz="1200" dirty="0"/>
              <a:t>This is an insider threat report started by a survey company. Here are some major results.</a:t>
            </a:r>
          </a:p>
        </p:txBody>
      </p:sp>
      <p:sp>
        <p:nvSpPr>
          <p:cNvPr id="4" name="Slide Number Placeholder 3"/>
          <p:cNvSpPr>
            <a:spLocks noGrp="1"/>
          </p:cNvSpPr>
          <p:nvPr>
            <p:ph type="sldNum" sz="quarter" idx="10"/>
          </p:nvPr>
        </p:nvSpPr>
        <p:spPr/>
        <p:txBody>
          <a:bodyPr/>
          <a:lstStyle/>
          <a:p>
            <a:fld id="{7FB667E1-E601-4AAF-B95C-B25720D70A60}" type="slidenum">
              <a:rPr lang="en-AU" smtClean="0"/>
              <a:t>28</a:t>
            </a:fld>
            <a:endParaRPr lang="en-AU"/>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buNone/>
            </a:pPr>
            <a:endParaRPr lang="en-US" sz="1200" dirty="0"/>
          </a:p>
        </p:txBody>
      </p:sp>
      <p:sp>
        <p:nvSpPr>
          <p:cNvPr id="4" name="Slide Number Placeholder 3"/>
          <p:cNvSpPr>
            <a:spLocks noGrp="1"/>
          </p:cNvSpPr>
          <p:nvPr>
            <p:ph type="sldNum" sz="quarter" idx="10"/>
          </p:nvPr>
        </p:nvSpPr>
        <p:spPr/>
        <p:txBody>
          <a:bodyPr/>
          <a:lstStyle/>
          <a:p>
            <a:fld id="{7FB667E1-E601-4AAF-B95C-B25720D70A60}" type="slidenum">
              <a:rPr lang="en-AU" smtClean="0"/>
              <a:t>29</a:t>
            </a:fld>
            <a:endParaRPr lang="en-AU"/>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buNone/>
            </a:pPr>
            <a:endParaRPr lang="en-US" sz="1200" dirty="0"/>
          </a:p>
        </p:txBody>
      </p:sp>
      <p:sp>
        <p:nvSpPr>
          <p:cNvPr id="4" name="Slide Number Placeholder 3"/>
          <p:cNvSpPr>
            <a:spLocks noGrp="1"/>
          </p:cNvSpPr>
          <p:nvPr>
            <p:ph type="sldNum" sz="quarter" idx="10"/>
          </p:nvPr>
        </p:nvSpPr>
        <p:spPr/>
        <p:txBody>
          <a:bodyPr/>
          <a:lstStyle/>
          <a:p>
            <a:fld id="{7FB667E1-E601-4AAF-B95C-B25720D70A60}" type="slidenum">
              <a:rPr lang="en-AU" smtClean="0"/>
              <a:t>30</a:t>
            </a:fld>
            <a:endParaRPr lang="en-AU"/>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buNone/>
            </a:pPr>
            <a:r>
              <a:rPr lang="en-US" sz="1200" dirty="0"/>
              <a:t>This picture looks very like the Commonwealth Bank login page. But actually, when you check the this address. That’s not Commonwealth Bank.</a:t>
            </a:r>
          </a:p>
        </p:txBody>
      </p:sp>
      <p:sp>
        <p:nvSpPr>
          <p:cNvPr id="4" name="Slide Number Placeholder 3"/>
          <p:cNvSpPr>
            <a:spLocks noGrp="1"/>
          </p:cNvSpPr>
          <p:nvPr>
            <p:ph type="sldNum" sz="quarter" idx="10"/>
          </p:nvPr>
        </p:nvSpPr>
        <p:spPr/>
        <p:txBody>
          <a:bodyPr/>
          <a:lstStyle/>
          <a:p>
            <a:fld id="{7FB667E1-E601-4AAF-B95C-B25720D70A60}" type="slidenum">
              <a:rPr lang="en-AU" smtClean="0"/>
              <a:t>31</a:t>
            </a:fld>
            <a:endParaRPr lang="en-AU"/>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buNone/>
            </a:pPr>
            <a:r>
              <a:rPr lang="en-US" sz="1200" dirty="0"/>
              <a:t>This picture looks very like the Commonwealth Bank login page. But actually, when you check the this address. That’s not Commonwealth Bank.</a:t>
            </a:r>
          </a:p>
        </p:txBody>
      </p:sp>
      <p:sp>
        <p:nvSpPr>
          <p:cNvPr id="4" name="Slide Number Placeholder 3"/>
          <p:cNvSpPr>
            <a:spLocks noGrp="1"/>
          </p:cNvSpPr>
          <p:nvPr>
            <p:ph type="sldNum" sz="quarter" idx="10"/>
          </p:nvPr>
        </p:nvSpPr>
        <p:spPr/>
        <p:txBody>
          <a:bodyPr/>
          <a:lstStyle/>
          <a:p>
            <a:fld id="{7FB667E1-E601-4AAF-B95C-B25720D70A60}" type="slidenum">
              <a:rPr lang="en-AU" smtClean="0"/>
              <a:t>32</a:t>
            </a:fld>
            <a:endParaRPr lang="en-AU"/>
          </a:p>
        </p:txBody>
      </p:sp>
    </p:spTree>
    <p:extLst>
      <p:ext uri="{BB962C8B-B14F-4D97-AF65-F5344CB8AC3E}">
        <p14:creationId xmlns:p14="http://schemas.microsoft.com/office/powerpoint/2010/main" val="6034839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buNone/>
            </a:pPr>
            <a:endParaRPr lang="en-US" sz="1200" dirty="0"/>
          </a:p>
        </p:txBody>
      </p:sp>
      <p:sp>
        <p:nvSpPr>
          <p:cNvPr id="4" name="Slide Number Placeholder 3"/>
          <p:cNvSpPr>
            <a:spLocks noGrp="1"/>
          </p:cNvSpPr>
          <p:nvPr>
            <p:ph type="sldNum" sz="quarter" idx="10"/>
          </p:nvPr>
        </p:nvSpPr>
        <p:spPr/>
        <p:txBody>
          <a:bodyPr/>
          <a:lstStyle/>
          <a:p>
            <a:fld id="{7FB667E1-E601-4AAF-B95C-B25720D70A60}" type="slidenum">
              <a:rPr lang="en-AU" smtClean="0"/>
              <a:t>34</a:t>
            </a:fld>
            <a:endParaRPr lang="en-AU"/>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buNone/>
            </a:pPr>
            <a:endParaRPr lang="en-US" sz="1200" dirty="0"/>
          </a:p>
        </p:txBody>
      </p:sp>
      <p:sp>
        <p:nvSpPr>
          <p:cNvPr id="4" name="Slide Number Placeholder 3"/>
          <p:cNvSpPr>
            <a:spLocks noGrp="1"/>
          </p:cNvSpPr>
          <p:nvPr>
            <p:ph type="sldNum" sz="quarter" idx="10"/>
          </p:nvPr>
        </p:nvSpPr>
        <p:spPr/>
        <p:txBody>
          <a:bodyPr/>
          <a:lstStyle/>
          <a:p>
            <a:fld id="{7FB667E1-E601-4AAF-B95C-B25720D70A60}" type="slidenum">
              <a:rPr lang="en-AU" smtClean="0"/>
              <a:t>35</a:t>
            </a:fld>
            <a:endParaRPr lang="en-AU"/>
          </a:p>
        </p:txBody>
      </p:sp>
    </p:spTree>
    <p:extLst>
      <p:ext uri="{BB962C8B-B14F-4D97-AF65-F5344CB8AC3E}">
        <p14:creationId xmlns:p14="http://schemas.microsoft.com/office/powerpoint/2010/main" val="24547361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buNone/>
            </a:pPr>
            <a:endParaRPr lang="en-US" sz="1200" dirty="0"/>
          </a:p>
        </p:txBody>
      </p:sp>
      <p:sp>
        <p:nvSpPr>
          <p:cNvPr id="4" name="Slide Number Placeholder 3"/>
          <p:cNvSpPr>
            <a:spLocks noGrp="1"/>
          </p:cNvSpPr>
          <p:nvPr>
            <p:ph type="sldNum" sz="quarter" idx="10"/>
          </p:nvPr>
        </p:nvSpPr>
        <p:spPr/>
        <p:txBody>
          <a:bodyPr/>
          <a:lstStyle/>
          <a:p>
            <a:fld id="{7FB667E1-E601-4AAF-B95C-B25720D70A60}" type="slidenum">
              <a:rPr lang="en-AU" smtClean="0"/>
              <a:t>36</a:t>
            </a:fld>
            <a:endParaRPr lang="en-AU"/>
          </a:p>
        </p:txBody>
      </p:sp>
    </p:spTree>
    <p:extLst>
      <p:ext uri="{BB962C8B-B14F-4D97-AF65-F5344CB8AC3E}">
        <p14:creationId xmlns:p14="http://schemas.microsoft.com/office/powerpoint/2010/main" val="22873974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buNone/>
            </a:pPr>
            <a:endParaRPr lang="en-US" sz="1200" dirty="0"/>
          </a:p>
        </p:txBody>
      </p:sp>
      <p:sp>
        <p:nvSpPr>
          <p:cNvPr id="4" name="Slide Number Placeholder 3"/>
          <p:cNvSpPr>
            <a:spLocks noGrp="1"/>
          </p:cNvSpPr>
          <p:nvPr>
            <p:ph type="sldNum" sz="quarter" idx="10"/>
          </p:nvPr>
        </p:nvSpPr>
        <p:spPr/>
        <p:txBody>
          <a:bodyPr/>
          <a:lstStyle/>
          <a:p>
            <a:fld id="{7FB667E1-E601-4AAF-B95C-B25720D70A60}" type="slidenum">
              <a:rPr lang="en-AU" smtClean="0"/>
              <a:t>37</a:t>
            </a:fld>
            <a:endParaRPr lang="en-AU"/>
          </a:p>
        </p:txBody>
      </p:sp>
    </p:spTree>
    <p:extLst>
      <p:ext uri="{BB962C8B-B14F-4D97-AF65-F5344CB8AC3E}">
        <p14:creationId xmlns:p14="http://schemas.microsoft.com/office/powerpoint/2010/main" val="4640849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3AFCE-5E5E-D84F-2A73-AF3A5A78D8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979EC6-5455-7140-109D-19894CE8CA7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DA46BAE-80B2-8A50-3B35-D113B74382E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05B8C86-5E99-96EE-A544-606CA647A4EF}"/>
              </a:ext>
            </a:extLst>
          </p:cNvPr>
          <p:cNvSpPr>
            <a:spLocks noGrp="1"/>
          </p:cNvSpPr>
          <p:nvPr>
            <p:ph type="sldNum" sz="quarter" idx="10"/>
          </p:nvPr>
        </p:nvSpPr>
        <p:spPr/>
        <p:txBody>
          <a:bodyPr/>
          <a:lstStyle/>
          <a:p>
            <a:fld id="{B2DC19A9-32A9-484D-B09C-D36619F0147E}" type="slidenum">
              <a:rPr lang="en-AU" smtClean="0"/>
              <a:t>41</a:t>
            </a:fld>
            <a:endParaRPr lang="en-AU"/>
          </a:p>
        </p:txBody>
      </p:sp>
    </p:spTree>
    <p:extLst>
      <p:ext uri="{BB962C8B-B14F-4D97-AF65-F5344CB8AC3E}">
        <p14:creationId xmlns:p14="http://schemas.microsoft.com/office/powerpoint/2010/main" val="42434064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AU"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DFEA4663-1CE8-46CA-8819-117DC9D2A481}" type="datetimeFigureOut">
              <a:rPr lang="en-AU" smtClean="0"/>
              <a:t>31/07/2026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8AD7488-9259-4D32-8D43-C85FF87DB2DF}" type="slidenum">
              <a:rPr lang="en-AU" smtClean="0"/>
              <a:t>‹#›</a:t>
            </a:fld>
            <a:endParaRPr lang="en-AU"/>
          </a:p>
        </p:txBody>
      </p:sp>
      <p:sp>
        <p:nvSpPr>
          <p:cNvPr id="8" name="AutoShape 4" descr="Image result for uts"/>
          <p:cNvSpPr>
            <a:spLocks noChangeAspect="1" noChangeArrowheads="1"/>
          </p:cNvSpPr>
          <p:nvPr userDrawn="1"/>
        </p:nvSpPr>
        <p:spPr bwMode="auto">
          <a:xfrm>
            <a:off x="155575" y="-144463"/>
            <a:ext cx="1715106" cy="171511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AU"/>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p:cNvSpPr>
            <a:spLocks noGrp="1"/>
          </p:cNvSpPr>
          <p:nvPr>
            <p:ph type="dt" sz="half" idx="10"/>
          </p:nvPr>
        </p:nvSpPr>
        <p:spPr/>
        <p:txBody>
          <a:bodyPr/>
          <a:lstStyle/>
          <a:p>
            <a:fld id="{63D17C4A-3502-4E24-8C6F-E642403B27FB}" type="datetime1">
              <a:rPr lang="en-US" smtClean="0"/>
              <a:t>7/31/2026</a:t>
            </a:fld>
            <a:endParaRPr lang="en-US"/>
          </a:p>
        </p:txBody>
      </p:sp>
      <p:sp>
        <p:nvSpPr>
          <p:cNvPr id="5" name="Footer Placeholder 4"/>
          <p:cNvSpPr>
            <a:spLocks noGrp="1"/>
          </p:cNvSpPr>
          <p:nvPr>
            <p:ph type="ftr" sz="quarter" idx="11"/>
          </p:nvPr>
        </p:nvSpPr>
        <p:spPr/>
        <p:txBody>
          <a:bodyPr/>
          <a:lstStyle/>
          <a:p>
            <a:r>
              <a:rPr lang="en-US"/>
              <a:t>Add a footer</a:t>
            </a:r>
          </a:p>
        </p:txBody>
      </p:sp>
      <p:sp>
        <p:nvSpPr>
          <p:cNvPr id="6" name="Slide Number Placeholder 5"/>
          <p:cNvSpPr>
            <a:spLocks noGrp="1"/>
          </p:cNvSpPr>
          <p:nvPr>
            <p:ph type="sldNum" sz="quarter" idx="12"/>
          </p:nvPr>
        </p:nvSpPr>
        <p:spPr/>
        <p:txBody>
          <a:bodyPr/>
          <a:lstStyle/>
          <a:p>
            <a:fld id="{CA8D9AD5-F248-4919-864A-CFD76CC027D6}" type="slidenum">
              <a:rPr lang="en-AU" smtClean="0"/>
              <a:t>‹#›</a:t>
            </a:fld>
            <a:endParaRPr lang="en-AU"/>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F4ABAEC-7446-49C8-B0D5-31A58A4BB276}" type="datetime1">
              <a:rPr lang="en-US" smtClean="0"/>
              <a:t>7/31/2026</a:t>
            </a:fld>
            <a:endParaRPr lang="en-US"/>
          </a:p>
        </p:txBody>
      </p:sp>
      <p:sp>
        <p:nvSpPr>
          <p:cNvPr id="5" name="Footer Placeholder 4"/>
          <p:cNvSpPr>
            <a:spLocks noGrp="1"/>
          </p:cNvSpPr>
          <p:nvPr>
            <p:ph type="ftr" sz="quarter" idx="11"/>
          </p:nvPr>
        </p:nvSpPr>
        <p:spPr/>
        <p:txBody>
          <a:bodyPr/>
          <a:lstStyle/>
          <a:p>
            <a:r>
              <a:rPr lang="en-US"/>
              <a:t>Add a footer</a:t>
            </a:r>
          </a:p>
        </p:txBody>
      </p:sp>
      <p:sp>
        <p:nvSpPr>
          <p:cNvPr id="6" name="Slide Number Placeholder 5"/>
          <p:cNvSpPr>
            <a:spLocks noGrp="1"/>
          </p:cNvSpPr>
          <p:nvPr>
            <p:ph type="sldNum" sz="quarter" idx="12"/>
          </p:nvPr>
        </p:nvSpPr>
        <p:spPr/>
        <p:txBody>
          <a:bodyPr/>
          <a:lstStyle/>
          <a:p>
            <a:fld id="{CA8D9AD5-F248-4919-864A-CFD76CC027D6}" type="slidenum">
              <a:rPr lang="en-AU" smtClean="0"/>
              <a:t>‹#›</a:t>
            </a:fld>
            <a:endParaRPr lang="en-AU"/>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5881462B-FDFA-48A2-9E92-099F175D8C42}" type="datetime1">
              <a:rPr lang="en-US" smtClean="0"/>
              <a:t>7/31/2026</a:t>
            </a:fld>
            <a:endParaRPr lang="en-US"/>
          </a:p>
        </p:txBody>
      </p:sp>
      <p:sp>
        <p:nvSpPr>
          <p:cNvPr id="6" name="Footer Placeholder 5"/>
          <p:cNvSpPr>
            <a:spLocks noGrp="1"/>
          </p:cNvSpPr>
          <p:nvPr>
            <p:ph type="ftr" sz="quarter" idx="11"/>
          </p:nvPr>
        </p:nvSpPr>
        <p:spPr/>
        <p:txBody>
          <a:bodyPr/>
          <a:lstStyle/>
          <a:p>
            <a:r>
              <a:rPr lang="en-US"/>
              <a:t>Add a footer</a:t>
            </a:r>
          </a:p>
        </p:txBody>
      </p:sp>
      <p:sp>
        <p:nvSpPr>
          <p:cNvPr id="7" name="Slide Number Placeholder 6"/>
          <p:cNvSpPr>
            <a:spLocks noGrp="1"/>
          </p:cNvSpPr>
          <p:nvPr>
            <p:ph type="sldNum" sz="quarter" idx="12"/>
          </p:nvPr>
        </p:nvSpPr>
        <p:spPr/>
        <p:txBody>
          <a:bodyPr/>
          <a:lstStyle/>
          <a:p>
            <a:fld id="{0D06EF73-9DB8-4763-865F-2F88181A4732}" type="slidenum">
              <a:rPr lang="en-AU" smtClean="0"/>
              <a:t>‹#›</a:t>
            </a:fld>
            <a:endParaRPr lang="en-AU"/>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175803D0-9D57-40DF-874D-3488A0B526B0}" type="datetime1">
              <a:rPr lang="en-US" smtClean="0"/>
              <a:t>7/31/2026</a:t>
            </a:fld>
            <a:endParaRPr lang="en-US"/>
          </a:p>
        </p:txBody>
      </p:sp>
      <p:sp>
        <p:nvSpPr>
          <p:cNvPr id="4" name="Footer Placeholder 3"/>
          <p:cNvSpPr>
            <a:spLocks noGrp="1"/>
          </p:cNvSpPr>
          <p:nvPr>
            <p:ph type="ftr" sz="quarter" idx="11"/>
          </p:nvPr>
        </p:nvSpPr>
        <p:spPr/>
        <p:txBody>
          <a:bodyPr/>
          <a:lstStyle/>
          <a:p>
            <a:r>
              <a:rPr lang="en-US"/>
              <a:t>Add a footer</a:t>
            </a:r>
          </a:p>
        </p:txBody>
      </p:sp>
      <p:sp>
        <p:nvSpPr>
          <p:cNvPr id="5" name="Slide Number Placeholder 4"/>
          <p:cNvSpPr>
            <a:spLocks noGrp="1"/>
          </p:cNvSpPr>
          <p:nvPr>
            <p:ph type="sldNum" sz="quarter" idx="12"/>
          </p:nvPr>
        </p:nvSpPr>
        <p:spPr/>
        <p:txBody>
          <a:bodyPr/>
          <a:lstStyle/>
          <a:p>
            <a:fld id="{CA8D9AD5-F248-4919-864A-CFD76CC027D6}" type="slidenum">
              <a:rPr lang="en-AU" smtClean="0"/>
              <a:t>‹#›</a:t>
            </a:fld>
            <a:endParaRPr lang="en-AU"/>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ED5D7B-1E2C-43F2-BD41-097E059973F7}" type="datetime1">
              <a:rPr lang="en-US" smtClean="0"/>
              <a:t>7/31/2026</a:t>
            </a:fld>
            <a:endParaRPr lang="en-US"/>
          </a:p>
        </p:txBody>
      </p:sp>
      <p:sp>
        <p:nvSpPr>
          <p:cNvPr id="3" name="Footer Placeholder 2"/>
          <p:cNvSpPr>
            <a:spLocks noGrp="1"/>
          </p:cNvSpPr>
          <p:nvPr>
            <p:ph type="ftr" sz="quarter" idx="11"/>
          </p:nvPr>
        </p:nvSpPr>
        <p:spPr/>
        <p:txBody>
          <a:bodyPr/>
          <a:lstStyle/>
          <a:p>
            <a:r>
              <a:rPr lang="en-US"/>
              <a:t>Add a footer</a:t>
            </a:r>
          </a:p>
        </p:txBody>
      </p:sp>
      <p:sp>
        <p:nvSpPr>
          <p:cNvPr id="4" name="Slide Number Placeholder 3"/>
          <p:cNvSpPr>
            <a:spLocks noGrp="1"/>
          </p:cNvSpPr>
          <p:nvPr>
            <p:ph type="sldNum" sz="quarter" idx="12"/>
          </p:nvPr>
        </p:nvSpPr>
        <p:spPr/>
        <p:txBody>
          <a:bodyPr/>
          <a:lstStyle/>
          <a:p>
            <a:fld id="{CA8D9AD5-F248-4919-864A-CFD76CC027D6}" type="slidenum">
              <a:rPr lang="en-AU" smtClean="0"/>
              <a:t>‹#›</a:t>
            </a:fld>
            <a:endParaRPr lang="en-AU"/>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Slide_with image">
    <p:spTree>
      <p:nvGrpSpPr>
        <p:cNvPr id="1" name=""/>
        <p:cNvGrpSpPr/>
        <p:nvPr/>
      </p:nvGrpSpPr>
      <p:grpSpPr>
        <a:xfrm>
          <a:off x="0" y="0"/>
          <a:ext cx="0" cy="0"/>
          <a:chOff x="0" y="0"/>
          <a:chExt cx="0" cy="0"/>
        </a:xfrm>
      </p:grpSpPr>
      <p:pic>
        <p:nvPicPr>
          <p:cNvPr id="3" name="Picture 2" descr="17417 UTS Corp PPT 16x9_new logo.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68160"/>
          </a:xfrm>
          <a:prstGeom prst="rect">
            <a:avLst/>
          </a:prstGeom>
        </p:spPr>
      </p:pic>
      <p:sp>
        <p:nvSpPr>
          <p:cNvPr id="2" name="Title 1"/>
          <p:cNvSpPr>
            <a:spLocks noGrp="1"/>
          </p:cNvSpPr>
          <p:nvPr userDrawn="1">
            <p:ph type="ctrTitle"/>
          </p:nvPr>
        </p:nvSpPr>
        <p:spPr>
          <a:xfrm>
            <a:off x="3490513" y="3039415"/>
            <a:ext cx="7344912" cy="1231107"/>
          </a:xfrm>
        </p:spPr>
        <p:txBody>
          <a:bodyPr/>
          <a:lstStyle>
            <a:lvl1pPr>
              <a:lnSpc>
                <a:spcPts val="4800"/>
              </a:lnSpc>
              <a:defRPr sz="4267">
                <a:solidFill>
                  <a:schemeClr val="bg1"/>
                </a:solidFill>
              </a:defRPr>
            </a:lvl1pPr>
          </a:lstStyle>
          <a:p>
            <a:r>
              <a:rPr lang="en-US" noProof="0"/>
              <a:t>Click to edit Master title style</a:t>
            </a:r>
            <a:endParaRPr lang="en-AU" noProof="0" dirty="0"/>
          </a:p>
        </p:txBody>
      </p:sp>
      <p:sp>
        <p:nvSpPr>
          <p:cNvPr id="5" name="Footer Placeholder 4"/>
          <p:cNvSpPr>
            <a:spLocks noGrp="1"/>
          </p:cNvSpPr>
          <p:nvPr userDrawn="1">
            <p:ph type="ftr" sz="quarter" idx="11"/>
          </p:nvPr>
        </p:nvSpPr>
        <p:spPr>
          <a:xfrm>
            <a:off x="7934313" y="6370147"/>
            <a:ext cx="3860800" cy="307776"/>
          </a:xfrm>
        </p:spPr>
        <p:txBody>
          <a:bodyPr/>
          <a:lstStyle>
            <a:lvl1pPr>
              <a:defRPr>
                <a:solidFill>
                  <a:schemeClr val="tx1"/>
                </a:solidFill>
              </a:defRPr>
            </a:lvl1pPr>
          </a:lstStyle>
          <a:p>
            <a:r>
              <a:rPr lang="en-AU" dirty="0"/>
              <a:t>uts.edu.au</a:t>
            </a:r>
          </a:p>
        </p:txBody>
      </p:sp>
      <p:sp>
        <p:nvSpPr>
          <p:cNvPr id="29" name="TextBox 28"/>
          <p:cNvSpPr txBox="1"/>
          <p:nvPr userDrawn="1"/>
        </p:nvSpPr>
        <p:spPr>
          <a:xfrm>
            <a:off x="3434369" y="6429884"/>
            <a:ext cx="3777801" cy="222818"/>
          </a:xfrm>
          <a:prstGeom prst="rect">
            <a:avLst/>
          </a:prstGeom>
          <a:noFill/>
        </p:spPr>
        <p:txBody>
          <a:bodyPr wrap="square" lIns="0" tIns="0" rIns="0" bIns="0" rtlCol="0">
            <a:spAutoFit/>
          </a:bodyPr>
          <a:lstStyle/>
          <a:p>
            <a:pPr>
              <a:lnSpc>
                <a:spcPts val="1760"/>
              </a:lnSpc>
            </a:pPr>
            <a:r>
              <a:rPr lang="en-AU" sz="1467" cap="all" baseline="0" noProof="0" dirty="0">
                <a:solidFill>
                  <a:schemeClr val="bg1"/>
                </a:solidFill>
              </a:rPr>
              <a:t>uts cricos provider code: 00099f</a:t>
            </a:r>
          </a:p>
        </p:txBody>
      </p:sp>
    </p:spTree>
    <p:extLst>
      <p:ext uri="{BB962C8B-B14F-4D97-AF65-F5344CB8AC3E}">
        <p14:creationId xmlns:p14="http://schemas.microsoft.com/office/powerpoint/2010/main" val="3364541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Title and large text">
    <p:bg>
      <p:bgPr>
        <a:solidFill>
          <a:schemeClr val="bg1"/>
        </a:solidFill>
        <a:effectLst/>
      </p:bgPr>
    </p:bg>
    <p:spTree>
      <p:nvGrpSpPr>
        <p:cNvPr id="1" name=""/>
        <p:cNvGrpSpPr/>
        <p:nvPr/>
      </p:nvGrpSpPr>
      <p:grpSpPr>
        <a:xfrm>
          <a:off x="0" y="0"/>
          <a:ext cx="0" cy="0"/>
          <a:chOff x="0" y="0"/>
          <a:chExt cx="0" cy="0"/>
        </a:xfrm>
      </p:grpSpPr>
      <p:grpSp>
        <p:nvGrpSpPr>
          <p:cNvPr id="163" name="Group 162"/>
          <p:cNvGrpSpPr/>
          <p:nvPr userDrawn="1"/>
        </p:nvGrpSpPr>
        <p:grpSpPr>
          <a:xfrm>
            <a:off x="266718" y="1"/>
            <a:ext cx="11914963" cy="2274888"/>
            <a:chOff x="533400" y="0"/>
            <a:chExt cx="23828375" cy="4549775"/>
          </a:xfrm>
        </p:grpSpPr>
        <p:sp>
          <p:nvSpPr>
            <p:cNvPr id="164" name="AutoShape 1"/>
            <p:cNvSpPr>
              <a:spLocks/>
            </p:cNvSpPr>
            <p:nvPr userDrawn="1"/>
          </p:nvSpPr>
          <p:spPr bwMode="auto">
            <a:xfrm>
              <a:off x="5118100" y="0"/>
              <a:ext cx="511175" cy="450850"/>
            </a:xfrm>
            <a:custGeom>
              <a:avLst/>
              <a:gdLst/>
              <a:ahLst/>
              <a:cxnLst/>
              <a:rect l="0" t="0" r="r" b="b"/>
              <a:pathLst>
                <a:path w="21600" h="21600">
                  <a:moveTo>
                    <a:pt x="0" y="0"/>
                  </a:moveTo>
                  <a:lnTo>
                    <a:pt x="66" y="21600"/>
                  </a:lnTo>
                  <a:lnTo>
                    <a:pt x="21600" y="21515"/>
                  </a:lnTo>
                  <a:lnTo>
                    <a:pt x="21534" y="0"/>
                  </a:lnTo>
                  <a:cubicBezTo>
                    <a:pt x="21534" y="0"/>
                    <a:pt x="0" y="0"/>
                    <a:pt x="0" y="0"/>
                  </a:cubicBezTo>
                  <a:close/>
                  <a:moveTo>
                    <a:pt x="0"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800"/>
            </a:p>
          </p:txBody>
        </p:sp>
        <p:sp>
          <p:nvSpPr>
            <p:cNvPr id="165" name="AutoShape 2"/>
            <p:cNvSpPr>
              <a:spLocks/>
            </p:cNvSpPr>
            <p:nvPr userDrawn="1"/>
          </p:nvSpPr>
          <p:spPr bwMode="auto">
            <a:xfrm>
              <a:off x="3581400" y="0"/>
              <a:ext cx="511175" cy="457200"/>
            </a:xfrm>
            <a:custGeom>
              <a:avLst/>
              <a:gdLst/>
              <a:ahLst/>
              <a:cxnLst/>
              <a:rect l="0" t="0" r="r" b="b"/>
              <a:pathLst>
                <a:path w="21600" h="21600">
                  <a:moveTo>
                    <a:pt x="0" y="0"/>
                  </a:moveTo>
                  <a:lnTo>
                    <a:pt x="68" y="21600"/>
                  </a:lnTo>
                  <a:lnTo>
                    <a:pt x="21600" y="21516"/>
                  </a:lnTo>
                  <a:lnTo>
                    <a:pt x="21533" y="0"/>
                  </a:lnTo>
                  <a:cubicBezTo>
                    <a:pt x="21533" y="0"/>
                    <a:pt x="0" y="0"/>
                    <a:pt x="0" y="0"/>
                  </a:cubicBezTo>
                  <a:close/>
                  <a:moveTo>
                    <a:pt x="0"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800"/>
            </a:p>
          </p:txBody>
        </p:sp>
        <p:sp>
          <p:nvSpPr>
            <p:cNvPr id="166" name="AutoShape 3"/>
            <p:cNvSpPr>
              <a:spLocks/>
            </p:cNvSpPr>
            <p:nvPr userDrawn="1"/>
          </p:nvSpPr>
          <p:spPr bwMode="auto">
            <a:xfrm>
              <a:off x="4610100" y="965200"/>
              <a:ext cx="511175" cy="511175"/>
            </a:xfrm>
            <a:custGeom>
              <a:avLst/>
              <a:gdLst/>
              <a:ahLst/>
              <a:cxnLst/>
              <a:rect l="0" t="0" r="r" b="b"/>
              <a:pathLst>
                <a:path w="21600" h="21600">
                  <a:moveTo>
                    <a:pt x="21525" y="0"/>
                  </a:moveTo>
                  <a:lnTo>
                    <a:pt x="21600" y="21525"/>
                  </a:lnTo>
                  <a:lnTo>
                    <a:pt x="75" y="21600"/>
                  </a:lnTo>
                  <a:lnTo>
                    <a:pt x="0" y="75"/>
                  </a:lnTo>
                  <a:cubicBezTo>
                    <a:pt x="0" y="75"/>
                    <a:pt x="21525" y="0"/>
                    <a:pt x="21525" y="0"/>
                  </a:cubicBezTo>
                  <a:close/>
                  <a:moveTo>
                    <a:pt x="21525"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800"/>
            </a:p>
          </p:txBody>
        </p:sp>
        <p:sp>
          <p:nvSpPr>
            <p:cNvPr id="167" name="AutoShape 4"/>
            <p:cNvSpPr>
              <a:spLocks/>
            </p:cNvSpPr>
            <p:nvPr userDrawn="1"/>
          </p:nvSpPr>
          <p:spPr bwMode="auto">
            <a:xfrm>
              <a:off x="533400" y="4038600"/>
              <a:ext cx="511175" cy="511175"/>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800"/>
            </a:p>
          </p:txBody>
        </p:sp>
        <p:sp>
          <p:nvSpPr>
            <p:cNvPr id="169" name="AutoShape 6"/>
            <p:cNvSpPr>
              <a:spLocks/>
            </p:cNvSpPr>
            <p:nvPr userDrawn="1"/>
          </p:nvSpPr>
          <p:spPr bwMode="auto">
            <a:xfrm>
              <a:off x="16700500" y="25400"/>
              <a:ext cx="511175" cy="477838"/>
            </a:xfrm>
            <a:custGeom>
              <a:avLst/>
              <a:gdLst/>
              <a:ahLst/>
              <a:cxnLst/>
              <a:rect l="0" t="0" r="r" b="b"/>
              <a:pathLst>
                <a:path w="21600" h="21600">
                  <a:moveTo>
                    <a:pt x="0" y="0"/>
                  </a:moveTo>
                  <a:lnTo>
                    <a:pt x="71" y="21600"/>
                  </a:lnTo>
                  <a:lnTo>
                    <a:pt x="21600" y="21520"/>
                  </a:lnTo>
                  <a:lnTo>
                    <a:pt x="21530" y="0"/>
                  </a:lnTo>
                  <a:cubicBezTo>
                    <a:pt x="21530" y="0"/>
                    <a:pt x="0" y="0"/>
                    <a:pt x="0" y="0"/>
                  </a:cubicBezTo>
                  <a:close/>
                  <a:moveTo>
                    <a:pt x="0" y="0"/>
                  </a:moveTo>
                </a:path>
              </a:pathLst>
            </a:custGeom>
            <a:solidFill>
              <a:srgbClr val="FFFFFF"/>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800"/>
            </a:p>
          </p:txBody>
        </p:sp>
        <p:sp>
          <p:nvSpPr>
            <p:cNvPr id="170" name="AutoShape 7"/>
            <p:cNvSpPr>
              <a:spLocks/>
            </p:cNvSpPr>
            <p:nvPr userDrawn="1"/>
          </p:nvSpPr>
          <p:spPr bwMode="auto">
            <a:xfrm>
              <a:off x="16192500" y="25400"/>
              <a:ext cx="511175" cy="479425"/>
            </a:xfrm>
            <a:custGeom>
              <a:avLst/>
              <a:gdLst/>
              <a:ahLst/>
              <a:cxnLst/>
              <a:rect l="0" t="0" r="r" b="b"/>
              <a:pathLst>
                <a:path w="21600" h="21600">
                  <a:moveTo>
                    <a:pt x="0" y="0"/>
                  </a:moveTo>
                  <a:lnTo>
                    <a:pt x="71" y="21600"/>
                  </a:lnTo>
                  <a:lnTo>
                    <a:pt x="21600" y="21519"/>
                  </a:lnTo>
                  <a:lnTo>
                    <a:pt x="21529" y="0"/>
                  </a:lnTo>
                  <a:cubicBezTo>
                    <a:pt x="21529" y="0"/>
                    <a:pt x="0" y="0"/>
                    <a:pt x="0" y="0"/>
                  </a:cubicBezTo>
                  <a:close/>
                  <a:moveTo>
                    <a:pt x="0" y="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800"/>
            </a:p>
          </p:txBody>
        </p:sp>
        <p:sp>
          <p:nvSpPr>
            <p:cNvPr id="171" name="AutoShape 8"/>
            <p:cNvSpPr>
              <a:spLocks/>
            </p:cNvSpPr>
            <p:nvPr userDrawn="1"/>
          </p:nvSpPr>
          <p:spPr bwMode="auto">
            <a:xfrm>
              <a:off x="20789900" y="482600"/>
              <a:ext cx="511175" cy="511175"/>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800"/>
            </a:p>
          </p:txBody>
        </p:sp>
        <p:sp>
          <p:nvSpPr>
            <p:cNvPr id="172" name="AutoShape 9"/>
            <p:cNvSpPr>
              <a:spLocks/>
            </p:cNvSpPr>
            <p:nvPr userDrawn="1"/>
          </p:nvSpPr>
          <p:spPr bwMode="auto">
            <a:xfrm>
              <a:off x="15684500" y="495300"/>
              <a:ext cx="511175" cy="511175"/>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800"/>
            </a:p>
          </p:txBody>
        </p:sp>
        <p:sp>
          <p:nvSpPr>
            <p:cNvPr id="173" name="AutoShape 10"/>
            <p:cNvSpPr>
              <a:spLocks/>
            </p:cNvSpPr>
            <p:nvPr userDrawn="1"/>
          </p:nvSpPr>
          <p:spPr bwMode="auto">
            <a:xfrm>
              <a:off x="14655800" y="508000"/>
              <a:ext cx="511175" cy="511175"/>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800"/>
            </a:p>
          </p:txBody>
        </p:sp>
        <p:sp>
          <p:nvSpPr>
            <p:cNvPr id="174" name="AutoShape 11"/>
            <p:cNvSpPr>
              <a:spLocks/>
            </p:cNvSpPr>
            <p:nvPr userDrawn="1"/>
          </p:nvSpPr>
          <p:spPr bwMode="auto">
            <a:xfrm>
              <a:off x="19253200" y="1003300"/>
              <a:ext cx="511175" cy="511175"/>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800"/>
            </a:p>
          </p:txBody>
        </p:sp>
        <p:sp>
          <p:nvSpPr>
            <p:cNvPr id="175" name="AutoShape 12"/>
            <p:cNvSpPr>
              <a:spLocks/>
            </p:cNvSpPr>
            <p:nvPr userDrawn="1"/>
          </p:nvSpPr>
          <p:spPr bwMode="auto">
            <a:xfrm>
              <a:off x="21297900" y="1497013"/>
              <a:ext cx="511175" cy="512762"/>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800"/>
            </a:p>
          </p:txBody>
        </p:sp>
        <p:sp>
          <p:nvSpPr>
            <p:cNvPr id="176" name="AutoShape 13"/>
            <p:cNvSpPr>
              <a:spLocks/>
            </p:cNvSpPr>
            <p:nvPr userDrawn="1"/>
          </p:nvSpPr>
          <p:spPr bwMode="auto">
            <a:xfrm>
              <a:off x="20281900" y="1511300"/>
              <a:ext cx="511175" cy="511175"/>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800"/>
            </a:p>
          </p:txBody>
        </p:sp>
        <p:sp>
          <p:nvSpPr>
            <p:cNvPr id="177" name="AutoShape 14"/>
            <p:cNvSpPr>
              <a:spLocks/>
            </p:cNvSpPr>
            <p:nvPr userDrawn="1"/>
          </p:nvSpPr>
          <p:spPr bwMode="auto">
            <a:xfrm>
              <a:off x="19253200" y="1509713"/>
              <a:ext cx="511175" cy="512762"/>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800"/>
            </a:p>
          </p:txBody>
        </p:sp>
        <p:sp>
          <p:nvSpPr>
            <p:cNvPr id="178" name="AutoShape 15"/>
            <p:cNvSpPr>
              <a:spLocks/>
            </p:cNvSpPr>
            <p:nvPr userDrawn="1"/>
          </p:nvSpPr>
          <p:spPr bwMode="auto">
            <a:xfrm>
              <a:off x="17729200" y="1509713"/>
              <a:ext cx="511175" cy="512762"/>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800"/>
            </a:p>
          </p:txBody>
        </p:sp>
        <p:sp>
          <p:nvSpPr>
            <p:cNvPr id="179" name="AutoShape 16"/>
            <p:cNvSpPr>
              <a:spLocks/>
            </p:cNvSpPr>
            <p:nvPr userDrawn="1"/>
          </p:nvSpPr>
          <p:spPr bwMode="auto">
            <a:xfrm>
              <a:off x="15176500" y="1524000"/>
              <a:ext cx="511175" cy="511175"/>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800"/>
            </a:p>
          </p:txBody>
        </p:sp>
        <p:sp>
          <p:nvSpPr>
            <p:cNvPr id="180" name="AutoShape 17"/>
            <p:cNvSpPr>
              <a:spLocks/>
            </p:cNvSpPr>
            <p:nvPr userDrawn="1"/>
          </p:nvSpPr>
          <p:spPr bwMode="auto">
            <a:xfrm>
              <a:off x="20789900" y="2019300"/>
              <a:ext cx="511175" cy="511175"/>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800"/>
            </a:p>
          </p:txBody>
        </p:sp>
        <p:sp>
          <p:nvSpPr>
            <p:cNvPr id="181" name="AutoShape 18"/>
            <p:cNvSpPr>
              <a:spLocks/>
            </p:cNvSpPr>
            <p:nvPr userDrawn="1"/>
          </p:nvSpPr>
          <p:spPr bwMode="auto">
            <a:xfrm>
              <a:off x="18745200" y="2019300"/>
              <a:ext cx="511175" cy="511175"/>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800"/>
            </a:p>
          </p:txBody>
        </p:sp>
        <p:sp>
          <p:nvSpPr>
            <p:cNvPr id="182" name="AutoShape 19"/>
            <p:cNvSpPr>
              <a:spLocks/>
            </p:cNvSpPr>
            <p:nvPr userDrawn="1"/>
          </p:nvSpPr>
          <p:spPr bwMode="auto">
            <a:xfrm>
              <a:off x="21297900" y="2527300"/>
              <a:ext cx="511175" cy="511175"/>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rgbClr val="FFFFFF"/>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800"/>
            </a:p>
          </p:txBody>
        </p:sp>
        <p:sp>
          <p:nvSpPr>
            <p:cNvPr id="183" name="AutoShape 20"/>
            <p:cNvSpPr>
              <a:spLocks/>
            </p:cNvSpPr>
            <p:nvPr userDrawn="1"/>
          </p:nvSpPr>
          <p:spPr bwMode="auto">
            <a:xfrm>
              <a:off x="20789900" y="2527300"/>
              <a:ext cx="511175" cy="511175"/>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800"/>
            </a:p>
          </p:txBody>
        </p:sp>
        <p:sp>
          <p:nvSpPr>
            <p:cNvPr id="184" name="AutoShape 21"/>
            <p:cNvSpPr>
              <a:spLocks/>
            </p:cNvSpPr>
            <p:nvPr userDrawn="1"/>
          </p:nvSpPr>
          <p:spPr bwMode="auto">
            <a:xfrm>
              <a:off x="23850600" y="3022600"/>
              <a:ext cx="511175" cy="479425"/>
            </a:xfrm>
            <a:custGeom>
              <a:avLst/>
              <a:gdLst/>
              <a:ahLst/>
              <a:cxnLst/>
              <a:rect l="0" t="0" r="r" b="b"/>
              <a:pathLst>
                <a:path w="21600" h="21600">
                  <a:moveTo>
                    <a:pt x="0" y="80"/>
                  </a:moveTo>
                  <a:lnTo>
                    <a:pt x="71" y="21600"/>
                  </a:lnTo>
                  <a:lnTo>
                    <a:pt x="21600" y="21600"/>
                  </a:lnTo>
                  <a:lnTo>
                    <a:pt x="21529" y="0"/>
                  </a:lnTo>
                  <a:cubicBezTo>
                    <a:pt x="21529" y="0"/>
                    <a:pt x="0" y="80"/>
                    <a:pt x="0" y="80"/>
                  </a:cubicBezTo>
                  <a:close/>
                  <a:moveTo>
                    <a:pt x="0" y="80"/>
                  </a:moveTo>
                </a:path>
              </a:pathLst>
            </a:custGeom>
            <a:solidFill>
              <a:srgbClr val="FFFFFF"/>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800"/>
            </a:p>
          </p:txBody>
        </p:sp>
        <p:sp>
          <p:nvSpPr>
            <p:cNvPr id="185" name="AutoShape 22"/>
            <p:cNvSpPr>
              <a:spLocks/>
            </p:cNvSpPr>
            <p:nvPr userDrawn="1"/>
          </p:nvSpPr>
          <p:spPr bwMode="auto">
            <a:xfrm>
              <a:off x="23342600" y="3021013"/>
              <a:ext cx="511175" cy="479425"/>
            </a:xfrm>
            <a:custGeom>
              <a:avLst/>
              <a:gdLst/>
              <a:ahLst/>
              <a:cxnLst/>
              <a:rect l="0" t="0" r="r" b="b"/>
              <a:pathLst>
                <a:path w="21600" h="21600">
                  <a:moveTo>
                    <a:pt x="0" y="80"/>
                  </a:moveTo>
                  <a:lnTo>
                    <a:pt x="70" y="21600"/>
                  </a:lnTo>
                  <a:lnTo>
                    <a:pt x="21600" y="21600"/>
                  </a:lnTo>
                  <a:lnTo>
                    <a:pt x="21529" y="0"/>
                  </a:lnTo>
                  <a:cubicBezTo>
                    <a:pt x="21529" y="0"/>
                    <a:pt x="0" y="80"/>
                    <a:pt x="0" y="80"/>
                  </a:cubicBezTo>
                  <a:close/>
                  <a:moveTo>
                    <a:pt x="0" y="8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800"/>
            </a:p>
          </p:txBody>
        </p:sp>
      </p:grpSp>
      <p:sp>
        <p:nvSpPr>
          <p:cNvPr id="2" name="Title 1"/>
          <p:cNvSpPr>
            <a:spLocks noGrp="1"/>
          </p:cNvSpPr>
          <p:nvPr userDrawn="1">
            <p:ph type="ctrTitle"/>
          </p:nvPr>
        </p:nvSpPr>
        <p:spPr>
          <a:xfrm>
            <a:off x="672696" y="1205942"/>
            <a:ext cx="5224225" cy="1046440"/>
          </a:xfrm>
        </p:spPr>
        <p:txBody>
          <a:bodyPr lIns="0" tIns="0" rIns="0" bIns="0" anchor="t" anchorCtr="0">
            <a:noAutofit/>
          </a:bodyPr>
          <a:lstStyle>
            <a:lvl1pPr marL="0" indent="0" algn="l">
              <a:lnSpc>
                <a:spcPts val="3300"/>
              </a:lnSpc>
              <a:tabLst>
                <a:tab pos="1262063" algn="l"/>
                <a:tab pos="1865313" algn="l"/>
              </a:tabLst>
              <a:defRPr sz="3000">
                <a:solidFill>
                  <a:schemeClr val="accent1"/>
                </a:solidFill>
              </a:defRPr>
            </a:lvl1pPr>
          </a:lstStyle>
          <a:p>
            <a:r>
              <a:rPr lang="en-US" dirty="0"/>
              <a:t>Click to edit Master title style</a:t>
            </a:r>
          </a:p>
        </p:txBody>
      </p:sp>
      <p:sp>
        <p:nvSpPr>
          <p:cNvPr id="162" name="Text Placeholder 5"/>
          <p:cNvSpPr>
            <a:spLocks noGrp="1"/>
          </p:cNvSpPr>
          <p:nvPr>
            <p:ph type="body" sz="quarter" idx="12"/>
          </p:nvPr>
        </p:nvSpPr>
        <p:spPr>
          <a:xfrm>
            <a:off x="342923" y="2370326"/>
            <a:ext cx="10926502" cy="2915117"/>
          </a:xfrm>
        </p:spPr>
        <p:txBody>
          <a:bodyPr lIns="0" tIns="0" rIns="0" bIns="0" numCol="1" spcCol="720000">
            <a:noAutofit/>
          </a:bodyPr>
          <a:lstStyle>
            <a:lvl1pPr marL="341313" indent="0">
              <a:lnSpc>
                <a:spcPct val="100000"/>
              </a:lnSpc>
              <a:spcBef>
                <a:spcPts val="600"/>
              </a:spcBef>
              <a:spcAft>
                <a:spcPts val="300"/>
              </a:spcAft>
              <a:buNone/>
              <a:tabLst/>
              <a:defRPr sz="2000">
                <a:solidFill>
                  <a:schemeClr val="tx1"/>
                </a:solidFill>
              </a:defRPr>
            </a:lvl1pPr>
            <a:lvl2pPr marL="317500" indent="-317500">
              <a:lnSpc>
                <a:spcPct val="100000"/>
              </a:lnSpc>
              <a:spcBef>
                <a:spcPts val="600"/>
              </a:spcBef>
              <a:spcAft>
                <a:spcPts val="300"/>
              </a:spcAft>
              <a:buClr>
                <a:schemeClr val="accent1"/>
              </a:buClr>
              <a:buFont typeface="Arial" charset="0"/>
              <a:buChar char="•"/>
              <a:tabLst/>
              <a:defRPr sz="2000">
                <a:solidFill>
                  <a:schemeClr val="tx1"/>
                </a:solidFill>
              </a:defRPr>
            </a:lvl2pPr>
            <a:lvl3pPr marL="539750" indent="-182563">
              <a:lnSpc>
                <a:spcPct val="100000"/>
              </a:lnSpc>
              <a:spcBef>
                <a:spcPts val="600"/>
              </a:spcBef>
              <a:spcAft>
                <a:spcPts val="300"/>
              </a:spcAft>
              <a:buClr>
                <a:schemeClr val="tx1"/>
              </a:buClr>
              <a:tabLst/>
              <a:defRPr sz="2000">
                <a:solidFill>
                  <a:schemeClr val="tx1"/>
                </a:solidFill>
              </a:defRPr>
            </a:lvl3pPr>
            <a:lvl4pPr marL="825500" indent="-261938">
              <a:lnSpc>
                <a:spcPct val="100000"/>
              </a:lnSpc>
              <a:spcBef>
                <a:spcPts val="600"/>
              </a:spcBef>
              <a:spcAft>
                <a:spcPts val="0"/>
              </a:spcAft>
              <a:buFont typeface=".AppleSystemUIFont" charset="-120"/>
              <a:buChar char="–"/>
              <a:tabLst/>
              <a:defRPr sz="2000">
                <a:solidFill>
                  <a:schemeClr val="tx1"/>
                </a:solidFill>
              </a:defRPr>
            </a:lvl4pPr>
            <a:lvl5pPr marL="825500" indent="-285750">
              <a:lnSpc>
                <a:spcPct val="100000"/>
              </a:lnSpc>
              <a:spcBef>
                <a:spcPts val="600"/>
              </a:spcBef>
              <a:buFont typeface="+mj-lt"/>
              <a:buAutoNum type="arabicPeriod"/>
              <a:tabLst/>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6" name="Text Placeholder 9"/>
          <p:cNvSpPr>
            <a:spLocks noGrp="1"/>
          </p:cNvSpPr>
          <p:nvPr>
            <p:ph type="body" sz="quarter" idx="11"/>
          </p:nvPr>
        </p:nvSpPr>
        <p:spPr>
          <a:xfrm>
            <a:off x="326881" y="294774"/>
            <a:ext cx="5401821" cy="269082"/>
          </a:xfrm>
        </p:spPr>
        <p:txBody>
          <a:bodyPr lIns="0" tIns="0" rIns="0" bIns="0" anchor="ctr" anchorCtr="0">
            <a:noAutofit/>
          </a:bodyPr>
          <a:lstStyle>
            <a:lvl1pPr marL="0" indent="0">
              <a:buNone/>
              <a:defRPr sz="700" cap="all" baseline="0">
                <a:solidFill>
                  <a:schemeClr val="accent1"/>
                </a:solidFill>
              </a:defRPr>
            </a:lvl1pPr>
          </a:lstStyle>
          <a:p>
            <a:pPr lvl="0"/>
            <a:r>
              <a:rPr lang="en-US" dirty="0"/>
              <a:t>Click to edit Master text styles</a:t>
            </a:r>
          </a:p>
        </p:txBody>
      </p:sp>
      <p:sp>
        <p:nvSpPr>
          <p:cNvPr id="187" name="TextBox 186"/>
          <p:cNvSpPr txBox="1"/>
          <p:nvPr userDrawn="1"/>
        </p:nvSpPr>
        <p:spPr>
          <a:xfrm>
            <a:off x="10677661" y="372036"/>
            <a:ext cx="1171445" cy="107722"/>
          </a:xfrm>
          <a:prstGeom prst="rect">
            <a:avLst/>
          </a:prstGeom>
          <a:noFill/>
        </p:spPr>
        <p:txBody>
          <a:bodyPr wrap="square" lIns="0" tIns="0" rIns="0" bIns="0" rtlCol="0">
            <a:spAutoFit/>
          </a:bodyPr>
          <a:lstStyle/>
          <a:p>
            <a:pPr marL="0" marR="0" lvl="0" indent="0" algn="r" defTabSz="914355" rtl="0" eaLnBrk="1" fontAlgn="auto" latinLnBrk="0" hangingPunct="1">
              <a:lnSpc>
                <a:spcPct val="100000"/>
              </a:lnSpc>
              <a:spcBef>
                <a:spcPts val="0"/>
              </a:spcBef>
              <a:spcAft>
                <a:spcPts val="0"/>
              </a:spcAft>
              <a:buClrTx/>
              <a:buSzTx/>
              <a:buFontTx/>
              <a:buNone/>
              <a:tabLst/>
              <a:defRPr/>
            </a:pPr>
            <a:fld id="{15B00FCE-1FC4-5243-BFE3-0A2F0D5084C4}" type="slidenum">
              <a:rPr lang="en-US" sz="700" smtClean="0">
                <a:solidFill>
                  <a:schemeClr val="accent1"/>
                </a:solidFill>
              </a:rPr>
              <a:pPr marL="0" marR="0" lvl="0" indent="0" algn="r" defTabSz="914355" rtl="0" eaLnBrk="1" fontAlgn="auto" latinLnBrk="0" hangingPunct="1">
                <a:lnSpc>
                  <a:spcPct val="100000"/>
                </a:lnSpc>
                <a:spcBef>
                  <a:spcPts val="0"/>
                </a:spcBef>
                <a:spcAft>
                  <a:spcPts val="0"/>
                </a:spcAft>
                <a:buClrTx/>
                <a:buSzTx/>
                <a:buFontTx/>
                <a:buNone/>
                <a:tabLst/>
                <a:defRPr/>
              </a:pPr>
              <a:t>‹#›</a:t>
            </a:fld>
            <a:endParaRPr lang="en-US" sz="700" dirty="0">
              <a:solidFill>
                <a:schemeClr val="accent1"/>
              </a:solidFill>
            </a:endParaRPr>
          </a:p>
        </p:txBody>
      </p:sp>
    </p:spTree>
    <p:extLst>
      <p:ext uri="{BB962C8B-B14F-4D97-AF65-F5344CB8AC3E}">
        <p14:creationId xmlns:p14="http://schemas.microsoft.com/office/powerpoint/2010/main" val="1712039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21FD2E-BAAA-472C-961C-5C714F86B7CB}" type="datetime1">
              <a:rPr lang="en-US" smtClean="0"/>
              <a:t>7/31/2026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Add a footer</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8D9AD5-F248-4919-864A-CFD76CC027D6}"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nytimes.com/2016/12/14/technology/yahoo-hack.html"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hyperlink" Target="https://investor.equifax.com/news-and-events/news/2017/09-07-2017-213000628"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8" Type="http://schemas.openxmlformats.org/officeDocument/2006/relationships/image" Target="../media/image170.png"/><Relationship Id="rId13" Type="http://schemas.openxmlformats.org/officeDocument/2006/relationships/image" Target="../media/image220.png"/><Relationship Id="rId18" Type="http://schemas.openxmlformats.org/officeDocument/2006/relationships/image" Target="../media/image270.png"/><Relationship Id="rId3" Type="http://schemas.openxmlformats.org/officeDocument/2006/relationships/image" Target="../media/image4.png"/><Relationship Id="rId7" Type="http://schemas.openxmlformats.org/officeDocument/2006/relationships/image" Target="../media/image160.png"/><Relationship Id="rId12" Type="http://schemas.openxmlformats.org/officeDocument/2006/relationships/image" Target="../media/image210.png"/><Relationship Id="rId17" Type="http://schemas.openxmlformats.org/officeDocument/2006/relationships/image" Target="../media/image260.png"/><Relationship Id="rId2" Type="http://schemas.openxmlformats.org/officeDocument/2006/relationships/notesSlide" Target="../notesSlides/notesSlide12.xml"/><Relationship Id="rId16"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150.png"/><Relationship Id="rId11" Type="http://schemas.openxmlformats.org/officeDocument/2006/relationships/image" Target="../media/image15.png"/><Relationship Id="rId15" Type="http://schemas.openxmlformats.org/officeDocument/2006/relationships/image" Target="../media/image240.png"/><Relationship Id="rId10" Type="http://schemas.openxmlformats.org/officeDocument/2006/relationships/image" Target="../media/image5.png"/><Relationship Id="rId19" Type="http://schemas.openxmlformats.org/officeDocument/2006/relationships/image" Target="../media/image280.png"/><Relationship Id="rId9" Type="http://schemas.openxmlformats.org/officeDocument/2006/relationships/image" Target="../media/image18.png"/><Relationship Id="rId14" Type="http://schemas.openxmlformats.org/officeDocument/2006/relationships/image" Target="../media/image230.png"/></Relationships>
</file>

<file path=ppt/slides/_rels/slide18.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00.png"/></Relationships>
</file>

<file path=ppt/slides/_rels/slide22.xml.rels><?xml version="1.0" encoding="UTF-8" standalone="yes"?>
<Relationships xmlns="http://schemas.openxmlformats.org/package/2006/relationships"><Relationship Id="rId8" Type="http://schemas.openxmlformats.org/officeDocument/2006/relationships/image" Target="../media/image340.png"/><Relationship Id="rId7" Type="http://schemas.openxmlformats.org/officeDocument/2006/relationships/image" Target="../media/image330.png"/><Relationship Id="rId12"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20.png"/><Relationship Id="rId11" Type="http://schemas.openxmlformats.org/officeDocument/2006/relationships/image" Target="../media/image370.png"/><Relationship Id="rId5" Type="http://schemas.openxmlformats.org/officeDocument/2006/relationships/image" Target="../media/image310.png"/><Relationship Id="rId10" Type="http://schemas.openxmlformats.org/officeDocument/2006/relationships/image" Target="../media/image360.png"/><Relationship Id="rId9" Type="http://schemas.openxmlformats.org/officeDocument/2006/relationships/image" Target="../media/image350.png"/></Relationships>
</file>

<file path=ppt/slides/_rels/slide23.xml.rels><?xml version="1.0" encoding="UTF-8" standalone="yes"?>
<Relationships xmlns="http://schemas.openxmlformats.org/package/2006/relationships"><Relationship Id="rId8" Type="http://schemas.openxmlformats.org/officeDocument/2006/relationships/image" Target="../media/image42.png"/><Relationship Id="rId7" Type="http://schemas.openxmlformats.org/officeDocument/2006/relationships/image" Target="../media/image41.png"/><Relationship Id="rId12" Type="http://schemas.openxmlformats.org/officeDocument/2006/relationships/image" Target="../media/image46.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0.png"/><Relationship Id="rId10" Type="http://schemas.openxmlformats.org/officeDocument/2006/relationships/image" Target="../media/image44.png"/><Relationship Id="rId9" Type="http://schemas.openxmlformats.org/officeDocument/2006/relationships/image" Target="../media/image43.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4.e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affiliates.art.com/get.art?T=15029119&amp;A=934828&amp;L=8&amp;P=10078681&amp;S=2&amp;Y=0" TargetMode="External"/><Relationship Id="rId2" Type="http://schemas.openxmlformats.org/officeDocument/2006/relationships/notesSlide" Target="../notesSlides/notesSlide31.xml"/><Relationship Id="rId1" Type="http://schemas.openxmlformats.org/officeDocument/2006/relationships/slideLayout" Target="../slideLayouts/slideLayout8.xml"/><Relationship Id="rId4" Type="http://schemas.openxmlformats.org/officeDocument/2006/relationships/image" Target="../media/image2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3718130" y="1727459"/>
            <a:ext cx="8176665" cy="1231107"/>
          </a:xfrm>
        </p:spPr>
        <p:txBody>
          <a:bodyPr/>
          <a:lstStyle/>
          <a:p>
            <a:r>
              <a:rPr lang="en-US" dirty="0"/>
              <a:t>41183 PRIVACY PRESERVING</a:t>
            </a:r>
          </a:p>
        </p:txBody>
      </p:sp>
      <p:sp>
        <p:nvSpPr>
          <p:cNvPr id="4" name="Footer Placeholder 3"/>
          <p:cNvSpPr>
            <a:spLocks noGrp="1"/>
          </p:cNvSpPr>
          <p:nvPr>
            <p:ph type="ftr" sz="quarter" idx="11"/>
          </p:nvPr>
        </p:nvSpPr>
        <p:spPr/>
        <p:txBody>
          <a:bodyPr/>
          <a:lstStyle/>
          <a:p>
            <a:r>
              <a:rPr lang="en-AU" dirty="0"/>
              <a:t>uts.edu.au</a:t>
            </a:r>
          </a:p>
        </p:txBody>
      </p:sp>
      <p:sp>
        <p:nvSpPr>
          <p:cNvPr id="6" name="Title 4"/>
          <p:cNvSpPr txBox="1">
            <a:spLocks/>
          </p:cNvSpPr>
          <p:nvPr/>
        </p:nvSpPr>
        <p:spPr>
          <a:xfrm>
            <a:off x="2474419" y="3676681"/>
            <a:ext cx="8506402" cy="445507"/>
          </a:xfrm>
          <a:prstGeom prst="rect">
            <a:avLst/>
          </a:prstGeom>
        </p:spPr>
        <p:txBody>
          <a:bodyPr vert="horz" wrap="square" lIns="0" tIns="0" rIns="0" bIns="0" rtlCol="0" anchor="t" anchorCtr="0">
            <a:spAutoFit/>
          </a:bodyPr>
          <a:lstStyle>
            <a:lvl1pPr algn="l" defTabSz="914400" rtl="0" eaLnBrk="1" latinLnBrk="0" hangingPunct="1">
              <a:lnSpc>
                <a:spcPts val="3600"/>
              </a:lnSpc>
              <a:spcBef>
                <a:spcPct val="0"/>
              </a:spcBef>
              <a:buNone/>
              <a:defRPr sz="3200" b="1" i="0" kern="1200" cap="all" baseline="0">
                <a:solidFill>
                  <a:schemeClr val="bg1"/>
                </a:solidFill>
                <a:latin typeface="+mj-lt"/>
                <a:ea typeface="+mj-ea"/>
                <a:cs typeface="+mj-cs"/>
              </a:defRPr>
            </a:lvl1pPr>
          </a:lstStyle>
          <a:p>
            <a:r>
              <a:rPr lang="en-US" sz="2933" cap="none" dirty="0"/>
              <a:t>Lecture 2. Access Control, Encryption and LLM for Privacy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outline</a:t>
            </a:r>
          </a:p>
        </p:txBody>
      </p:sp>
      <p:sp>
        <p:nvSpPr>
          <p:cNvPr id="3" name="Content Placeholder 2"/>
          <p:cNvSpPr>
            <a:spLocks noGrp="1"/>
          </p:cNvSpPr>
          <p:nvPr>
            <p:ph idx="1"/>
          </p:nvPr>
        </p:nvSpPr>
        <p:spPr/>
        <p:txBody>
          <a:bodyPr>
            <a:normAutofit/>
          </a:bodyPr>
          <a:lstStyle/>
          <a:p>
            <a:r>
              <a:rPr lang="en-US" sz="3100" dirty="0"/>
              <a:t>Background of access control</a:t>
            </a:r>
          </a:p>
          <a:p>
            <a:r>
              <a:rPr lang="en-US" altLang="zh-CN" sz="3100" dirty="0"/>
              <a:t>Authentication</a:t>
            </a:r>
            <a:endParaRPr lang="en-US" sz="3100" dirty="0"/>
          </a:p>
          <a:p>
            <a:r>
              <a:rPr lang="en-US" sz="3100" dirty="0"/>
              <a:t>Access control models</a:t>
            </a:r>
          </a:p>
          <a:p>
            <a:r>
              <a:rPr lang="en-US" sz="3100" dirty="0"/>
              <a:t>Threats to access control</a:t>
            </a:r>
          </a:p>
          <a:p>
            <a:r>
              <a:rPr lang="en-US" sz="3100" dirty="0"/>
              <a:t>Encryption for privacy protection</a:t>
            </a:r>
          </a:p>
          <a:p>
            <a:r>
              <a:rPr lang="en-US" sz="3100" dirty="0"/>
              <a:t>Large Language Models (LLM) Security and Privacy</a:t>
            </a:r>
          </a:p>
          <a:p>
            <a:pPr marL="0" indent="0">
              <a:buNone/>
            </a:pPr>
            <a:endParaRPr lang="en-US" dirty="0"/>
          </a:p>
        </p:txBody>
      </p:sp>
      <p:sp>
        <p:nvSpPr>
          <p:cNvPr id="4" name="Slide Number Placeholder 3"/>
          <p:cNvSpPr>
            <a:spLocks noGrp="1"/>
          </p:cNvSpPr>
          <p:nvPr>
            <p:ph type="sldNum" sz="quarter" idx="12"/>
          </p:nvPr>
        </p:nvSpPr>
        <p:spPr/>
        <p:txBody>
          <a:bodyPr/>
          <a:lstStyle/>
          <a:p>
            <a:fld id="{CA8D9AD5-F248-4919-864A-CFD76CC027D6}" type="slidenum">
              <a:rPr lang="en-AU" smtClean="0"/>
              <a:t>2</a:t>
            </a:fld>
            <a:endParaRPr lang="en-AU"/>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1. Background of access control</a:t>
            </a:r>
          </a:p>
        </p:txBody>
      </p:sp>
      <p:sp>
        <p:nvSpPr>
          <p:cNvPr id="5" name="Text Placeholder 4"/>
          <p:cNvSpPr>
            <a:spLocks noGrp="1"/>
          </p:cNvSpPr>
          <p:nvPr>
            <p:ph type="body" idx="1"/>
          </p:nvPr>
        </p:nvSpPr>
        <p:spPr/>
        <p:txBody>
          <a:bodyPr/>
          <a:lstStyle/>
          <a:p>
            <a:endParaRPr lang="en-US"/>
          </a:p>
        </p:txBody>
      </p:sp>
      <p:sp>
        <p:nvSpPr>
          <p:cNvPr id="2" name="Slide Number Placeholder 1"/>
          <p:cNvSpPr>
            <a:spLocks noGrp="1"/>
          </p:cNvSpPr>
          <p:nvPr>
            <p:ph type="sldNum" sz="quarter" idx="12"/>
          </p:nvPr>
        </p:nvSpPr>
        <p:spPr/>
        <p:txBody>
          <a:bodyPr/>
          <a:lstStyle/>
          <a:p>
            <a:fld id="{CA8D9AD5-F248-4919-864A-CFD76CC027D6}" type="slidenum">
              <a:rPr lang="en-AU" smtClean="0"/>
              <a:t>3</a:t>
            </a:fld>
            <a:endParaRPr lang="en-AU"/>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1.1 What is access control</a:t>
            </a:r>
          </a:p>
        </p:txBody>
      </p:sp>
      <p:sp>
        <p:nvSpPr>
          <p:cNvPr id="3" name="Content Placeholder 2"/>
          <p:cNvSpPr>
            <a:spLocks noGrp="1"/>
          </p:cNvSpPr>
          <p:nvPr>
            <p:ph idx="1"/>
          </p:nvPr>
        </p:nvSpPr>
        <p:spPr/>
        <p:txBody>
          <a:bodyPr>
            <a:normAutofit/>
          </a:bodyPr>
          <a:lstStyle/>
          <a:p>
            <a:r>
              <a:rPr lang="en-US" sz="2400" b="1" dirty="0"/>
              <a:t>A</a:t>
            </a:r>
            <a:r>
              <a:rPr lang="en-AU" sz="2400" b="1" dirty="0" err="1"/>
              <a:t>ccess</a:t>
            </a:r>
            <a:r>
              <a:rPr lang="en-AU" sz="2400" b="1" dirty="0"/>
              <a:t> control </a:t>
            </a:r>
            <a:r>
              <a:rPr lang="en-AU" sz="2400" dirty="0"/>
              <a:t>(AC) is the selective restriction of access to a place or a resource.</a:t>
            </a:r>
          </a:p>
          <a:p>
            <a:endParaRPr lang="en-AU" sz="2400" dirty="0"/>
          </a:p>
          <a:p>
            <a:r>
              <a:rPr lang="en-US" altLang="zh-CN" sz="2400" dirty="0"/>
              <a:t>Access control = access (consume, use) + control (manage, restrict)</a:t>
            </a:r>
            <a:endParaRPr lang="en-AU" sz="2400" dirty="0"/>
          </a:p>
          <a:p>
            <a:endParaRPr lang="en-US" dirty="0"/>
          </a:p>
          <a:p>
            <a:pPr marL="0" indent="0">
              <a:buNone/>
            </a:pPr>
            <a:endParaRPr lang="en-US" sz="2400" dirty="0"/>
          </a:p>
        </p:txBody>
      </p:sp>
      <p:sp>
        <p:nvSpPr>
          <p:cNvPr id="4" name="Slide Number Placeholder 3"/>
          <p:cNvSpPr>
            <a:spLocks noGrp="1"/>
          </p:cNvSpPr>
          <p:nvPr>
            <p:ph type="sldNum" sz="quarter" idx="12"/>
          </p:nvPr>
        </p:nvSpPr>
        <p:spPr/>
        <p:txBody>
          <a:bodyPr/>
          <a:lstStyle/>
          <a:p>
            <a:fld id="{CA8D9AD5-F248-4919-864A-CFD76CC027D6}" type="slidenum">
              <a:rPr lang="en-AU" smtClean="0"/>
              <a:t>4</a:t>
            </a:fld>
            <a:endParaRPr lang="en-AU"/>
          </a:p>
        </p:txBody>
      </p:sp>
      <p:pic>
        <p:nvPicPr>
          <p:cNvPr id="1026" name="Picture 2" descr="Image result for access contro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627050"/>
            <a:ext cx="4172585" cy="254991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network access control"/>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81215" y="3627049"/>
            <a:ext cx="4172585" cy="25499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Traditional Privacy vs. Today’s Public Sharing</a:t>
            </a:r>
          </a:p>
        </p:txBody>
      </p:sp>
      <p:sp>
        <p:nvSpPr>
          <p:cNvPr id="4" name="Slide Number Placeholder 3"/>
          <p:cNvSpPr>
            <a:spLocks noGrp="1"/>
          </p:cNvSpPr>
          <p:nvPr>
            <p:ph type="sldNum" sz="quarter" idx="12"/>
          </p:nvPr>
        </p:nvSpPr>
        <p:spPr/>
        <p:txBody>
          <a:bodyPr/>
          <a:lstStyle/>
          <a:p>
            <a:fld id="{CA8D9AD5-F248-4919-864A-CFD76CC027D6}" type="slidenum">
              <a:rPr lang="en-AU" smtClean="0"/>
              <a:t>5</a:t>
            </a:fld>
            <a:endParaRPr lang="en-AU"/>
          </a:p>
        </p:txBody>
      </p:sp>
      <p:pic>
        <p:nvPicPr>
          <p:cNvPr id="5" name="Picture 2" descr="Image result for use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41942" y="2401122"/>
            <a:ext cx="1027873" cy="102787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Image result for fil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79612" y="2401124"/>
            <a:ext cx="1027873" cy="1027873"/>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Arrow Connector 9"/>
          <p:cNvCxnSpPr/>
          <p:nvPr/>
        </p:nvCxnSpPr>
        <p:spPr>
          <a:xfrm>
            <a:off x="3495822" y="2862775"/>
            <a:ext cx="18639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 name="Content Placeholder 10" descr="Image result for file"/>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2464994" y="4601082"/>
            <a:ext cx="1030828" cy="103082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Image result for use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78950" y="3960291"/>
            <a:ext cx="1027873" cy="102787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Image result for use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78950" y="5005521"/>
            <a:ext cx="1027873" cy="1027873"/>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Straight Arrow Connector 14"/>
          <p:cNvCxnSpPr/>
          <p:nvPr/>
        </p:nvCxnSpPr>
        <p:spPr>
          <a:xfrm flipV="1">
            <a:off x="3847514" y="4445391"/>
            <a:ext cx="1632098" cy="5427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cxnSpLocks/>
          </p:cNvCxnSpPr>
          <p:nvPr/>
        </p:nvCxnSpPr>
        <p:spPr>
          <a:xfrm>
            <a:off x="3847514" y="5043178"/>
            <a:ext cx="1531436" cy="5887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3650702" y="2545726"/>
            <a:ext cx="1554208" cy="369332"/>
          </a:xfrm>
          <a:prstGeom prst="rect">
            <a:avLst/>
          </a:prstGeom>
          <a:noFill/>
        </p:spPr>
        <p:txBody>
          <a:bodyPr wrap="none" rtlCol="0">
            <a:spAutoFit/>
          </a:bodyPr>
          <a:lstStyle/>
          <a:p>
            <a:r>
              <a:rPr lang="en-AU" dirty="0"/>
              <a:t>Access Control</a:t>
            </a:r>
          </a:p>
        </p:txBody>
      </p:sp>
      <p:sp>
        <p:nvSpPr>
          <p:cNvPr id="19" name="TextBox 18"/>
          <p:cNvSpPr txBox="1"/>
          <p:nvPr/>
        </p:nvSpPr>
        <p:spPr>
          <a:xfrm>
            <a:off x="3847514" y="4126203"/>
            <a:ext cx="1505540" cy="369332"/>
          </a:xfrm>
          <a:prstGeom prst="rect">
            <a:avLst/>
          </a:prstGeom>
          <a:noFill/>
        </p:spPr>
        <p:txBody>
          <a:bodyPr wrap="none" rtlCol="0">
            <a:spAutoFit/>
          </a:bodyPr>
          <a:lstStyle/>
          <a:p>
            <a:r>
              <a:rPr lang="en-AU" dirty="0"/>
              <a:t>Public Sharing</a:t>
            </a:r>
          </a:p>
        </p:txBody>
      </p:sp>
    </p:spTree>
    <p:extLst>
      <p:ext uri="{BB962C8B-B14F-4D97-AF65-F5344CB8AC3E}">
        <p14:creationId xmlns:p14="http://schemas.microsoft.com/office/powerpoint/2010/main" val="3477949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1.1 What is access control</a:t>
            </a:r>
          </a:p>
        </p:txBody>
      </p:sp>
      <p:sp>
        <p:nvSpPr>
          <p:cNvPr id="3" name="Content Placeholder 2"/>
          <p:cNvSpPr>
            <a:spLocks noGrp="1"/>
          </p:cNvSpPr>
          <p:nvPr>
            <p:ph idx="1"/>
          </p:nvPr>
        </p:nvSpPr>
        <p:spPr/>
        <p:txBody>
          <a:bodyPr>
            <a:normAutofit/>
          </a:bodyPr>
          <a:lstStyle/>
          <a:p>
            <a:r>
              <a:rPr lang="en-US" dirty="0"/>
              <a:t>There are two types of access control.</a:t>
            </a:r>
          </a:p>
          <a:p>
            <a:pPr lvl="1"/>
            <a:r>
              <a:rPr lang="en-US" dirty="0"/>
              <a:t>Physical access control, e.g., get into buildings, rooms… ;</a:t>
            </a:r>
          </a:p>
          <a:p>
            <a:pPr lvl="1"/>
            <a:r>
              <a:rPr lang="en-US" dirty="0"/>
              <a:t>Logical access control, e.g., connect to computer networks, system files … .</a:t>
            </a:r>
          </a:p>
          <a:p>
            <a:pPr marL="0" indent="0">
              <a:buNone/>
            </a:pPr>
            <a:endParaRPr lang="en-US" sz="2400" dirty="0"/>
          </a:p>
        </p:txBody>
      </p:sp>
      <p:sp>
        <p:nvSpPr>
          <p:cNvPr id="4" name="Slide Number Placeholder 3"/>
          <p:cNvSpPr>
            <a:spLocks noGrp="1"/>
          </p:cNvSpPr>
          <p:nvPr>
            <p:ph type="sldNum" sz="quarter" idx="12"/>
          </p:nvPr>
        </p:nvSpPr>
        <p:spPr/>
        <p:txBody>
          <a:bodyPr/>
          <a:lstStyle/>
          <a:p>
            <a:fld id="{CA8D9AD5-F248-4919-864A-CFD76CC027D6}" type="slidenum">
              <a:rPr lang="en-AU" smtClean="0"/>
              <a:t>6</a:t>
            </a:fld>
            <a:endParaRPr lang="en-AU"/>
          </a:p>
        </p:txBody>
      </p:sp>
      <p:pic>
        <p:nvPicPr>
          <p:cNvPr id="1026" name="Picture 2" descr="Image result for access contro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627050"/>
            <a:ext cx="4172585" cy="254991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network access control"/>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81215" y="3627049"/>
            <a:ext cx="4172585" cy="25499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99697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1.1 What is access control</a:t>
            </a:r>
          </a:p>
        </p:txBody>
      </p:sp>
      <p:sp>
        <p:nvSpPr>
          <p:cNvPr id="3" name="Content Placeholder 2"/>
          <p:cNvSpPr>
            <a:spLocks noGrp="1"/>
          </p:cNvSpPr>
          <p:nvPr>
            <p:ph idx="1"/>
          </p:nvPr>
        </p:nvSpPr>
        <p:spPr/>
        <p:txBody>
          <a:bodyPr>
            <a:normAutofit/>
          </a:bodyPr>
          <a:lstStyle/>
          <a:p>
            <a:pPr algn="just"/>
            <a:r>
              <a:rPr lang="en-US" sz="2400" dirty="0"/>
              <a:t>A</a:t>
            </a:r>
            <a:r>
              <a:rPr lang="en-AU" sz="2400" dirty="0" err="1"/>
              <a:t>ccess</a:t>
            </a:r>
            <a:r>
              <a:rPr lang="en-AU" sz="2400" dirty="0"/>
              <a:t> control techniques typically include two components: </a:t>
            </a:r>
            <a:r>
              <a:rPr lang="en-AU" sz="2400" b="1" dirty="0"/>
              <a:t>authentication</a:t>
            </a:r>
            <a:r>
              <a:rPr lang="en-AU" sz="2400" dirty="0"/>
              <a:t> and </a:t>
            </a:r>
            <a:r>
              <a:rPr lang="en-AU" sz="2400" b="1" dirty="0"/>
              <a:t>access control models</a:t>
            </a:r>
            <a:r>
              <a:rPr lang="en-AU" sz="2400" dirty="0"/>
              <a:t>.</a:t>
            </a:r>
          </a:p>
          <a:p>
            <a:pPr algn="just"/>
            <a:endParaRPr lang="en-AU" sz="2400" dirty="0"/>
          </a:p>
          <a:p>
            <a:pPr algn="just"/>
            <a:r>
              <a:rPr lang="en-US" altLang="zh-CN" sz="2400" dirty="0"/>
              <a:t>Authentication is used to identify and verify users by letting users present a secret to a system. The goal is to have only authorized users access a computer system, a network or a particular service.</a:t>
            </a:r>
          </a:p>
          <a:p>
            <a:pPr algn="just"/>
            <a:endParaRPr lang="en-US" sz="2400" dirty="0"/>
          </a:p>
          <a:p>
            <a:pPr algn="just"/>
            <a:r>
              <a:rPr lang="en-US" sz="2400" dirty="0"/>
              <a:t>Access control models are used to manage and control the </a:t>
            </a:r>
            <a:r>
              <a:rPr lang="en-US" sz="2400" dirty="0" err="1"/>
              <a:t>behaviour</a:t>
            </a:r>
            <a:r>
              <a:rPr lang="en-US" sz="2400" dirty="0"/>
              <a:t> </a:t>
            </a:r>
            <a:r>
              <a:rPr lang="en-US" sz="2400"/>
              <a:t>of authorized </a:t>
            </a:r>
            <a:r>
              <a:rPr lang="en-US" sz="2400" dirty="0"/>
              <a:t>users by making a set of regulations.</a:t>
            </a:r>
            <a:endParaRPr lang="en-AU" sz="2400" dirty="0"/>
          </a:p>
          <a:p>
            <a:endParaRPr lang="en-US" dirty="0"/>
          </a:p>
          <a:p>
            <a:pPr marL="0" indent="0">
              <a:buNone/>
            </a:pPr>
            <a:endParaRPr lang="en-US" sz="2400" dirty="0"/>
          </a:p>
        </p:txBody>
      </p:sp>
      <p:sp>
        <p:nvSpPr>
          <p:cNvPr id="4" name="Slide Number Placeholder 3"/>
          <p:cNvSpPr>
            <a:spLocks noGrp="1"/>
          </p:cNvSpPr>
          <p:nvPr>
            <p:ph type="sldNum" sz="quarter" idx="12"/>
          </p:nvPr>
        </p:nvSpPr>
        <p:spPr/>
        <p:txBody>
          <a:bodyPr/>
          <a:lstStyle/>
          <a:p>
            <a:fld id="{CA8D9AD5-F248-4919-864A-CFD76CC027D6}" type="slidenum">
              <a:rPr lang="en-AU" smtClean="0"/>
              <a:t>7</a:t>
            </a:fld>
            <a:endParaRPr lang="en-AU"/>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1.2 Why do we need access control</a:t>
            </a:r>
          </a:p>
        </p:txBody>
      </p:sp>
      <p:sp>
        <p:nvSpPr>
          <p:cNvPr id="3" name="Content Placeholder 2"/>
          <p:cNvSpPr>
            <a:spLocks noGrp="1"/>
          </p:cNvSpPr>
          <p:nvPr>
            <p:ph idx="1"/>
          </p:nvPr>
        </p:nvSpPr>
        <p:spPr/>
        <p:txBody>
          <a:bodyPr/>
          <a:lstStyle/>
          <a:p>
            <a:pPr algn="just"/>
            <a:r>
              <a:rPr lang="en-US" sz="2400" dirty="0"/>
              <a:t>Organizations have high desirability on their resource security.</a:t>
            </a:r>
            <a:endParaRPr lang="en-AU" sz="2400" dirty="0"/>
          </a:p>
          <a:p>
            <a:pPr algn="just"/>
            <a:r>
              <a:rPr lang="en-AU" altLang="zh-CN" sz="2400" dirty="0"/>
              <a:t>Access control is a fundamental technique minimizing security risk to organizations.</a:t>
            </a:r>
          </a:p>
          <a:p>
            <a:pPr marL="0" indent="0">
              <a:buNone/>
            </a:pPr>
            <a:endParaRPr lang="en-AU" dirty="0"/>
          </a:p>
        </p:txBody>
      </p:sp>
      <p:sp>
        <p:nvSpPr>
          <p:cNvPr id="4" name="Slide Number Placeholder 3"/>
          <p:cNvSpPr>
            <a:spLocks noGrp="1"/>
          </p:cNvSpPr>
          <p:nvPr>
            <p:ph type="sldNum" sz="quarter" idx="12"/>
          </p:nvPr>
        </p:nvSpPr>
        <p:spPr/>
        <p:txBody>
          <a:bodyPr/>
          <a:lstStyle/>
          <a:p>
            <a:fld id="{CA8D9AD5-F248-4919-864A-CFD76CC027D6}" type="slidenum">
              <a:rPr lang="en-AU" smtClean="0"/>
              <a:t>8</a:t>
            </a:fld>
            <a:endParaRPr lang="en-AU"/>
          </a:p>
        </p:txBody>
      </p:sp>
      <p:pic>
        <p:nvPicPr>
          <p:cNvPr id="2050" name="Picture 2" descr="Image result for organization security"/>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75476" y="3265215"/>
            <a:ext cx="5241047" cy="309113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1.2 Why do we need access control</a:t>
            </a:r>
          </a:p>
        </p:txBody>
      </p:sp>
      <p:sp>
        <p:nvSpPr>
          <p:cNvPr id="3" name="Content Placeholder 2"/>
          <p:cNvSpPr>
            <a:spLocks noGrp="1"/>
          </p:cNvSpPr>
          <p:nvPr>
            <p:ph idx="1"/>
          </p:nvPr>
        </p:nvSpPr>
        <p:spPr/>
        <p:txBody>
          <a:bodyPr>
            <a:normAutofit lnSpcReduction="10000"/>
          </a:bodyPr>
          <a:lstStyle/>
          <a:p>
            <a:pPr marL="0" indent="0" algn="just">
              <a:buNone/>
            </a:pPr>
            <a:r>
              <a:rPr lang="en-AU" sz="2400" dirty="0"/>
              <a:t>Example 1: Yahoo Says 1 Billion User Accounts Were Hacked</a:t>
            </a:r>
          </a:p>
          <a:p>
            <a:pPr marL="0" indent="0" algn="just">
              <a:buNone/>
            </a:pPr>
            <a:r>
              <a:rPr lang="en-AU" sz="2000" dirty="0">
                <a:hlinkClick r:id="rId3"/>
              </a:rPr>
              <a:t>https://www.nytimes.com/2016/12/14/technology/yahoo-hack.html</a:t>
            </a:r>
            <a:endParaRPr lang="en-AU" sz="2000" dirty="0"/>
          </a:p>
          <a:p>
            <a:pPr marL="0" indent="0" algn="just">
              <a:buNone/>
            </a:pPr>
            <a:r>
              <a:rPr lang="en-US" sz="2400" dirty="0"/>
              <a:t>These user accounts include users’ names, date of birth, telephone numbers, encrypted passwords and unencrypted security questions.</a:t>
            </a:r>
          </a:p>
          <a:p>
            <a:pPr marL="0" indent="0" algn="just">
              <a:buNone/>
            </a:pPr>
            <a:endParaRPr lang="en-US" dirty="0"/>
          </a:p>
          <a:p>
            <a:pPr marL="0" indent="0" algn="just">
              <a:buNone/>
            </a:pPr>
            <a:r>
              <a:rPr lang="en-US" sz="2400" dirty="0"/>
              <a:t>Example 2: </a:t>
            </a:r>
            <a:r>
              <a:rPr lang="en-AU" sz="2400" dirty="0"/>
              <a:t>Equifax Announces Cybersecurity Incident</a:t>
            </a:r>
          </a:p>
          <a:p>
            <a:pPr marL="0" indent="0" algn="just">
              <a:buNone/>
            </a:pPr>
            <a:r>
              <a:rPr lang="en-AU" sz="2000" dirty="0">
                <a:hlinkClick r:id="rId4"/>
              </a:rPr>
              <a:t>https://investor.equifax.com/news-and-events/news/2017/09-07-2017-213000628</a:t>
            </a:r>
            <a:endParaRPr lang="en-AU" sz="2000" dirty="0"/>
          </a:p>
          <a:p>
            <a:pPr marL="0" indent="0" algn="just">
              <a:buNone/>
            </a:pPr>
            <a:r>
              <a:rPr lang="en-AU" sz="2400" dirty="0"/>
              <a:t>There was unauthorized access to Equifax’s consumer database impacting 143 million US consumers. The information accessed primarily includes names, social security numbers, birth dates, addresses, driver's license numbers, and even credit card numbers.</a:t>
            </a:r>
          </a:p>
          <a:p>
            <a:pPr marL="0" indent="0" algn="just">
              <a:buNone/>
            </a:pPr>
            <a:endParaRPr lang="en-AU" sz="2400" dirty="0"/>
          </a:p>
        </p:txBody>
      </p:sp>
      <p:sp>
        <p:nvSpPr>
          <p:cNvPr id="4" name="Slide Number Placeholder 3"/>
          <p:cNvSpPr>
            <a:spLocks noGrp="1"/>
          </p:cNvSpPr>
          <p:nvPr>
            <p:ph type="sldNum" sz="quarter" idx="12"/>
          </p:nvPr>
        </p:nvSpPr>
        <p:spPr/>
        <p:txBody>
          <a:bodyPr/>
          <a:lstStyle/>
          <a:p>
            <a:fld id="{CA8D9AD5-F248-4919-864A-CFD76CC027D6}" type="slidenum">
              <a:rPr lang="en-AU" smtClean="0"/>
              <a:t>9</a:t>
            </a:fld>
            <a:endParaRPr lang="en-AU"/>
          </a:p>
        </p:txBody>
      </p:sp>
      <p:pic>
        <p:nvPicPr>
          <p:cNvPr id="3074" name="Picture 2" descr="Image result for yaho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737091" y="1825625"/>
            <a:ext cx="1365109" cy="778112"/>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Image result for equifax"/>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737091" y="3772694"/>
            <a:ext cx="1365109" cy="7781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2. Authentication</a:t>
            </a:r>
          </a:p>
        </p:txBody>
      </p:sp>
      <p:sp>
        <p:nvSpPr>
          <p:cNvPr id="5" name="Text Placeholder 4"/>
          <p:cNvSpPr>
            <a:spLocks noGrp="1"/>
          </p:cNvSpPr>
          <p:nvPr>
            <p:ph type="body" idx="1"/>
          </p:nvPr>
        </p:nvSpPr>
        <p:spPr/>
        <p:txBody>
          <a:bodyPr/>
          <a:lstStyle/>
          <a:p>
            <a:endParaRPr lang="en-US"/>
          </a:p>
        </p:txBody>
      </p:sp>
      <p:sp>
        <p:nvSpPr>
          <p:cNvPr id="2" name="Slide Number Placeholder 1"/>
          <p:cNvSpPr>
            <a:spLocks noGrp="1"/>
          </p:cNvSpPr>
          <p:nvPr>
            <p:ph type="sldNum" sz="quarter" idx="12"/>
          </p:nvPr>
        </p:nvSpPr>
        <p:spPr/>
        <p:txBody>
          <a:bodyPr/>
          <a:lstStyle/>
          <a:p>
            <a:fld id="{CA8D9AD5-F248-4919-864A-CFD76CC027D6}" type="slidenum">
              <a:rPr lang="en-AU" smtClean="0"/>
              <a:t>10</a:t>
            </a:fld>
            <a:endParaRPr lang="en-AU"/>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2.1 Password authentication</a:t>
            </a:r>
          </a:p>
        </p:txBody>
      </p:sp>
      <p:sp>
        <p:nvSpPr>
          <p:cNvPr id="3" name="Content Placeholder 2"/>
          <p:cNvSpPr>
            <a:spLocks noGrp="1"/>
          </p:cNvSpPr>
          <p:nvPr>
            <p:ph idx="1"/>
          </p:nvPr>
        </p:nvSpPr>
        <p:spPr/>
        <p:txBody>
          <a:bodyPr>
            <a:normAutofit/>
          </a:bodyPr>
          <a:lstStyle/>
          <a:p>
            <a:r>
              <a:rPr lang="en-US" sz="2400" dirty="0"/>
              <a:t>The idea of password authentication is to </a:t>
            </a:r>
            <a:r>
              <a:rPr lang="en-US" sz="2400" b="1" dirty="0"/>
              <a:t>present something that a user knows</a:t>
            </a:r>
            <a:r>
              <a:rPr lang="en-US" sz="2400" dirty="0"/>
              <a:t>.</a:t>
            </a:r>
          </a:p>
          <a:p>
            <a:endParaRPr lang="en-US" sz="2400" b="1" dirty="0"/>
          </a:p>
          <a:p>
            <a:r>
              <a:rPr lang="en-US" sz="2400" dirty="0"/>
              <a:t>The common scheme of password authentication includes: passwords, personal identification numbers (PIN), and pass-phrases.</a:t>
            </a:r>
            <a:endParaRPr lang="en-AU" sz="2400" dirty="0"/>
          </a:p>
          <a:p>
            <a:endParaRPr lang="en-US" dirty="0"/>
          </a:p>
          <a:p>
            <a:pPr marL="0" indent="0">
              <a:buNone/>
            </a:pPr>
            <a:endParaRPr lang="en-US" sz="2400" dirty="0"/>
          </a:p>
        </p:txBody>
      </p:sp>
      <p:sp>
        <p:nvSpPr>
          <p:cNvPr id="4" name="Slide Number Placeholder 3"/>
          <p:cNvSpPr>
            <a:spLocks noGrp="1"/>
          </p:cNvSpPr>
          <p:nvPr>
            <p:ph type="sldNum" sz="quarter" idx="12"/>
          </p:nvPr>
        </p:nvSpPr>
        <p:spPr/>
        <p:txBody>
          <a:bodyPr/>
          <a:lstStyle/>
          <a:p>
            <a:fld id="{CA8D9AD5-F248-4919-864A-CFD76CC027D6}" type="slidenum">
              <a:rPr lang="en-AU" smtClean="0"/>
              <a:t>11</a:t>
            </a:fld>
            <a:endParaRPr lang="en-AU"/>
          </a:p>
        </p:txBody>
      </p:sp>
      <p:pic>
        <p:nvPicPr>
          <p:cNvPr id="1028" name="Picture 4" descr="List of passwords versus passphrases on graphic note-car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2387" y="3793610"/>
            <a:ext cx="4467225" cy="23833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2.2 Token authentication</a:t>
            </a:r>
          </a:p>
        </p:txBody>
      </p:sp>
      <p:sp>
        <p:nvSpPr>
          <p:cNvPr id="3" name="Content Placeholder 2"/>
          <p:cNvSpPr>
            <a:spLocks noGrp="1"/>
          </p:cNvSpPr>
          <p:nvPr>
            <p:ph idx="1"/>
          </p:nvPr>
        </p:nvSpPr>
        <p:spPr/>
        <p:txBody>
          <a:bodyPr>
            <a:normAutofit/>
          </a:bodyPr>
          <a:lstStyle/>
          <a:p>
            <a:r>
              <a:rPr lang="en-US" sz="2400" dirty="0"/>
              <a:t>The idea of token authentication is to </a:t>
            </a:r>
            <a:r>
              <a:rPr lang="en-US" sz="2400" b="1" dirty="0"/>
              <a:t>present something that a user has</a:t>
            </a:r>
            <a:r>
              <a:rPr lang="en-US" sz="2400" dirty="0"/>
              <a:t>.</a:t>
            </a:r>
          </a:p>
          <a:p>
            <a:endParaRPr lang="en-US" sz="2400" b="1" dirty="0"/>
          </a:p>
          <a:p>
            <a:r>
              <a:rPr lang="en-US" sz="2400" dirty="0"/>
              <a:t>The common scheme of token authentication is various smart cards.</a:t>
            </a:r>
            <a:endParaRPr lang="en-AU" sz="2400" dirty="0"/>
          </a:p>
          <a:p>
            <a:endParaRPr lang="en-US" dirty="0"/>
          </a:p>
          <a:p>
            <a:pPr marL="0" indent="0">
              <a:buNone/>
            </a:pPr>
            <a:endParaRPr lang="en-US" sz="2400" dirty="0"/>
          </a:p>
        </p:txBody>
      </p:sp>
      <p:sp>
        <p:nvSpPr>
          <p:cNvPr id="4" name="Slide Number Placeholder 3"/>
          <p:cNvSpPr>
            <a:spLocks noGrp="1"/>
          </p:cNvSpPr>
          <p:nvPr>
            <p:ph type="sldNum" sz="quarter" idx="12"/>
          </p:nvPr>
        </p:nvSpPr>
        <p:spPr/>
        <p:txBody>
          <a:bodyPr/>
          <a:lstStyle/>
          <a:p>
            <a:fld id="{CA8D9AD5-F248-4919-864A-CFD76CC027D6}" type="slidenum">
              <a:rPr lang="en-AU" smtClean="0"/>
              <a:t>12</a:t>
            </a:fld>
            <a:endParaRPr lang="en-AU"/>
          </a:p>
        </p:txBody>
      </p:sp>
      <p:pic>
        <p:nvPicPr>
          <p:cNvPr id="2050" name="Picture 2" descr="Image result for smart card authentic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3917950"/>
            <a:ext cx="2438400" cy="2438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2.2 Biometric authentication</a:t>
            </a:r>
          </a:p>
        </p:txBody>
      </p:sp>
      <p:sp>
        <p:nvSpPr>
          <p:cNvPr id="3" name="Content Placeholder 2"/>
          <p:cNvSpPr>
            <a:spLocks noGrp="1"/>
          </p:cNvSpPr>
          <p:nvPr>
            <p:ph idx="1"/>
          </p:nvPr>
        </p:nvSpPr>
        <p:spPr/>
        <p:txBody>
          <a:bodyPr>
            <a:normAutofit/>
          </a:bodyPr>
          <a:lstStyle/>
          <a:p>
            <a:r>
              <a:rPr lang="en-US" sz="2400" dirty="0"/>
              <a:t>The idea of biometric authentication is to </a:t>
            </a:r>
            <a:r>
              <a:rPr lang="en-US" sz="2400" b="1" dirty="0"/>
              <a:t>present something that a user is</a:t>
            </a:r>
            <a:r>
              <a:rPr lang="en-US" sz="2400" dirty="0"/>
              <a:t>.</a:t>
            </a:r>
          </a:p>
          <a:p>
            <a:endParaRPr lang="en-US" sz="2400" b="1" dirty="0"/>
          </a:p>
          <a:p>
            <a:pPr algn="just"/>
            <a:r>
              <a:rPr lang="en-US" sz="2400" dirty="0"/>
              <a:t>The common scheme of biometric authentication includes: fingerprint, hand geometry, eye iris and so on.</a:t>
            </a:r>
            <a:endParaRPr lang="en-AU" sz="2400" dirty="0"/>
          </a:p>
          <a:p>
            <a:endParaRPr lang="en-US" dirty="0"/>
          </a:p>
          <a:p>
            <a:pPr marL="0" indent="0">
              <a:buNone/>
            </a:pPr>
            <a:endParaRPr lang="en-US" sz="2400" dirty="0"/>
          </a:p>
        </p:txBody>
      </p:sp>
      <p:sp>
        <p:nvSpPr>
          <p:cNvPr id="4" name="Slide Number Placeholder 3"/>
          <p:cNvSpPr>
            <a:spLocks noGrp="1"/>
          </p:cNvSpPr>
          <p:nvPr>
            <p:ph type="sldNum" sz="quarter" idx="12"/>
          </p:nvPr>
        </p:nvSpPr>
        <p:spPr/>
        <p:txBody>
          <a:bodyPr/>
          <a:lstStyle/>
          <a:p>
            <a:fld id="{CA8D9AD5-F248-4919-864A-CFD76CC027D6}" type="slidenum">
              <a:rPr lang="en-AU" smtClean="0"/>
              <a:t>13</a:t>
            </a:fld>
            <a:endParaRPr lang="en-AU"/>
          </a:p>
        </p:txBody>
      </p:sp>
      <p:pic>
        <p:nvPicPr>
          <p:cNvPr id="3076" name="Picture 4" descr="Image result for fingerpri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826764"/>
            <a:ext cx="4521200" cy="2350199"/>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Image result for hand geometr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2600" y="3826764"/>
            <a:ext cx="4521200" cy="23475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2.2 Comparison of the three authentication methods</a:t>
            </a:r>
          </a:p>
        </p:txBody>
      </p:sp>
      <p:sp>
        <p:nvSpPr>
          <p:cNvPr id="3" name="Content Placeholder 2"/>
          <p:cNvSpPr>
            <a:spLocks noGrp="1"/>
          </p:cNvSpPr>
          <p:nvPr>
            <p:ph idx="1"/>
          </p:nvPr>
        </p:nvSpPr>
        <p:spPr/>
        <p:txBody>
          <a:bodyPr>
            <a:normAutofit/>
          </a:bodyPr>
          <a:lstStyle/>
          <a:p>
            <a:endParaRPr lang="en-US" dirty="0"/>
          </a:p>
          <a:p>
            <a:pPr marL="0" indent="0">
              <a:buNone/>
            </a:pPr>
            <a:endParaRPr lang="en-US" sz="2400" dirty="0"/>
          </a:p>
        </p:txBody>
      </p:sp>
      <p:sp>
        <p:nvSpPr>
          <p:cNvPr id="4" name="Slide Number Placeholder 3"/>
          <p:cNvSpPr>
            <a:spLocks noGrp="1"/>
          </p:cNvSpPr>
          <p:nvPr>
            <p:ph type="sldNum" sz="quarter" idx="12"/>
          </p:nvPr>
        </p:nvSpPr>
        <p:spPr/>
        <p:txBody>
          <a:bodyPr/>
          <a:lstStyle/>
          <a:p>
            <a:fld id="{CA8D9AD5-F248-4919-864A-CFD76CC027D6}" type="slidenum">
              <a:rPr lang="en-AU" smtClean="0"/>
              <a:t>14</a:t>
            </a:fld>
            <a:endParaRPr lang="en-AU"/>
          </a:p>
        </p:txBody>
      </p:sp>
      <p:sp>
        <p:nvSpPr>
          <p:cNvPr id="7" name="矩形 20"/>
          <p:cNvSpPr/>
          <p:nvPr/>
        </p:nvSpPr>
        <p:spPr>
          <a:xfrm>
            <a:off x="1543002" y="1794634"/>
            <a:ext cx="1328737"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b="1" i="1" dirty="0"/>
              <a:t>Passwords</a:t>
            </a:r>
            <a:endParaRPr lang="zh-CN" altLang="en-US" sz="2000" b="1" i="1" dirty="0"/>
          </a:p>
        </p:txBody>
      </p:sp>
      <p:sp>
        <p:nvSpPr>
          <p:cNvPr id="8" name="矩形 20"/>
          <p:cNvSpPr/>
          <p:nvPr/>
        </p:nvSpPr>
        <p:spPr>
          <a:xfrm>
            <a:off x="5491161" y="1794633"/>
            <a:ext cx="1209675"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b="1" i="1" dirty="0"/>
              <a:t>Tokens</a:t>
            </a:r>
            <a:endParaRPr lang="zh-CN" altLang="en-US" sz="2000" b="1" i="1" dirty="0"/>
          </a:p>
        </p:txBody>
      </p:sp>
      <p:sp>
        <p:nvSpPr>
          <p:cNvPr id="9" name="矩形 20"/>
          <p:cNvSpPr/>
          <p:nvPr/>
        </p:nvSpPr>
        <p:spPr>
          <a:xfrm>
            <a:off x="9313068" y="1794632"/>
            <a:ext cx="1338262"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b="1" i="1" dirty="0"/>
              <a:t>Biometrics</a:t>
            </a:r>
            <a:endParaRPr lang="zh-CN" altLang="en-US" sz="2000" b="1" i="1" dirty="0"/>
          </a:p>
        </p:txBody>
      </p:sp>
      <p:sp>
        <p:nvSpPr>
          <p:cNvPr id="10" name="矩形 13"/>
          <p:cNvSpPr/>
          <p:nvPr/>
        </p:nvSpPr>
        <p:spPr>
          <a:xfrm>
            <a:off x="1194173" y="2254480"/>
            <a:ext cx="2031252" cy="498245"/>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AU" altLang="zh-CN" dirty="0"/>
              <a:t>Easy to implement and low cost</a:t>
            </a:r>
            <a:endParaRPr lang="zh-CN" altLang="en-US" dirty="0"/>
          </a:p>
        </p:txBody>
      </p:sp>
      <p:sp>
        <p:nvSpPr>
          <p:cNvPr id="11" name="矩形 13"/>
          <p:cNvSpPr/>
          <p:nvPr/>
        </p:nvSpPr>
        <p:spPr>
          <a:xfrm>
            <a:off x="5080373" y="2254480"/>
            <a:ext cx="2031252" cy="498245"/>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AU" altLang="zh-CN" dirty="0"/>
              <a:t>Require special device readers</a:t>
            </a:r>
            <a:endParaRPr lang="zh-CN" altLang="en-US" dirty="0"/>
          </a:p>
        </p:txBody>
      </p:sp>
      <p:sp>
        <p:nvSpPr>
          <p:cNvPr id="12" name="矩形 13"/>
          <p:cNvSpPr/>
          <p:nvPr/>
        </p:nvSpPr>
        <p:spPr>
          <a:xfrm>
            <a:off x="8966573" y="2254480"/>
            <a:ext cx="2031252" cy="498245"/>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AU" altLang="zh-CN" dirty="0"/>
              <a:t>Require special equipment</a:t>
            </a:r>
            <a:endParaRPr lang="zh-CN" altLang="en-US" dirty="0"/>
          </a:p>
        </p:txBody>
      </p:sp>
      <p:sp>
        <p:nvSpPr>
          <p:cNvPr id="13" name="矩形 13"/>
          <p:cNvSpPr/>
          <p:nvPr/>
        </p:nvSpPr>
        <p:spPr>
          <a:xfrm>
            <a:off x="1191745" y="3181580"/>
            <a:ext cx="2031252" cy="498245"/>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AU" altLang="zh-CN" dirty="0"/>
              <a:t>Need to be memorised</a:t>
            </a:r>
            <a:endParaRPr lang="zh-CN" altLang="en-US" dirty="0"/>
          </a:p>
        </p:txBody>
      </p:sp>
      <p:sp>
        <p:nvSpPr>
          <p:cNvPr id="14" name="矩形 13"/>
          <p:cNvSpPr/>
          <p:nvPr/>
        </p:nvSpPr>
        <p:spPr>
          <a:xfrm>
            <a:off x="5139015" y="3181580"/>
            <a:ext cx="1913963" cy="498245"/>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AU" altLang="zh-CN" dirty="0"/>
              <a:t>Need to be carried around</a:t>
            </a:r>
            <a:endParaRPr lang="zh-CN" altLang="en-US" dirty="0"/>
          </a:p>
        </p:txBody>
      </p:sp>
      <p:sp>
        <p:nvSpPr>
          <p:cNvPr id="15" name="矩形 13"/>
          <p:cNvSpPr/>
          <p:nvPr/>
        </p:nvSpPr>
        <p:spPr>
          <a:xfrm>
            <a:off x="8795125" y="3181580"/>
            <a:ext cx="2558675" cy="498245"/>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AU" altLang="zh-CN" dirty="0"/>
              <a:t>Naturally present without taking anything</a:t>
            </a:r>
            <a:endParaRPr lang="zh-CN" altLang="en-US" dirty="0"/>
          </a:p>
        </p:txBody>
      </p:sp>
      <p:sp>
        <p:nvSpPr>
          <p:cNvPr id="16" name="矩形 13"/>
          <p:cNvSpPr/>
          <p:nvPr/>
        </p:nvSpPr>
        <p:spPr>
          <a:xfrm>
            <a:off x="1367373" y="4171386"/>
            <a:ext cx="1679994" cy="498245"/>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AU" altLang="zh-CN" dirty="0"/>
              <a:t>Susceptible to be guessed</a:t>
            </a:r>
            <a:endParaRPr lang="zh-CN" altLang="en-US" dirty="0"/>
          </a:p>
        </p:txBody>
      </p:sp>
      <p:sp>
        <p:nvSpPr>
          <p:cNvPr id="17" name="矩形 13"/>
          <p:cNvSpPr/>
          <p:nvPr/>
        </p:nvSpPr>
        <p:spPr>
          <a:xfrm>
            <a:off x="5197657" y="4171385"/>
            <a:ext cx="1796677" cy="498245"/>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AU" altLang="zh-CN" dirty="0"/>
              <a:t>Possible to lose or be stolen</a:t>
            </a:r>
            <a:endParaRPr lang="zh-CN" altLang="en-US" dirty="0"/>
          </a:p>
        </p:txBody>
      </p:sp>
      <p:sp>
        <p:nvSpPr>
          <p:cNvPr id="18" name="矩形 13"/>
          <p:cNvSpPr/>
          <p:nvPr/>
        </p:nvSpPr>
        <p:spPr>
          <a:xfrm>
            <a:off x="9047536" y="4165265"/>
            <a:ext cx="2053852" cy="498245"/>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AU" altLang="zh-CN" dirty="0"/>
              <a:t>Hard to compromise</a:t>
            </a:r>
            <a:endParaRPr lang="zh-CN" altLang="en-US" dirty="0"/>
          </a:p>
        </p:txBody>
      </p:sp>
      <p:sp>
        <p:nvSpPr>
          <p:cNvPr id="19" name="矩形 13"/>
          <p:cNvSpPr/>
          <p:nvPr/>
        </p:nvSpPr>
        <p:spPr>
          <a:xfrm>
            <a:off x="993935" y="5408952"/>
            <a:ext cx="2426870" cy="498245"/>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AU" altLang="zh-CN" dirty="0"/>
              <a:t>Require secure communication channels but can access systems remotely</a:t>
            </a:r>
            <a:endParaRPr lang="zh-CN" altLang="en-US" dirty="0"/>
          </a:p>
        </p:txBody>
      </p:sp>
      <p:sp>
        <p:nvSpPr>
          <p:cNvPr id="20" name="矩形 13"/>
          <p:cNvSpPr/>
          <p:nvPr/>
        </p:nvSpPr>
        <p:spPr>
          <a:xfrm>
            <a:off x="5199149" y="5161190"/>
            <a:ext cx="1796677" cy="498245"/>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p>
        </p:txBody>
      </p:sp>
      <p:sp>
        <p:nvSpPr>
          <p:cNvPr id="21" name="矩形 13"/>
          <p:cNvSpPr/>
          <p:nvPr/>
        </p:nvSpPr>
        <p:spPr>
          <a:xfrm>
            <a:off x="5197657" y="5408951"/>
            <a:ext cx="1796677" cy="498245"/>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AU" altLang="zh-CN" dirty="0"/>
              <a:t>Accessing only local systems </a:t>
            </a:r>
            <a:endParaRPr lang="zh-CN" altLang="en-US" dirty="0"/>
          </a:p>
        </p:txBody>
      </p:sp>
      <p:sp>
        <p:nvSpPr>
          <p:cNvPr id="22" name="矩形 13"/>
          <p:cNvSpPr/>
          <p:nvPr/>
        </p:nvSpPr>
        <p:spPr>
          <a:xfrm>
            <a:off x="9176123" y="5408952"/>
            <a:ext cx="1796677" cy="498245"/>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AU" altLang="zh-CN" dirty="0"/>
              <a:t>Accessing only local systems </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3. Access control models</a:t>
            </a:r>
          </a:p>
        </p:txBody>
      </p:sp>
      <p:sp>
        <p:nvSpPr>
          <p:cNvPr id="5" name="Text Placeholder 4"/>
          <p:cNvSpPr>
            <a:spLocks noGrp="1"/>
          </p:cNvSpPr>
          <p:nvPr>
            <p:ph type="body" idx="1"/>
          </p:nvPr>
        </p:nvSpPr>
        <p:spPr/>
        <p:txBody>
          <a:bodyPr/>
          <a:lstStyle/>
          <a:p>
            <a:endParaRPr lang="en-US"/>
          </a:p>
        </p:txBody>
      </p:sp>
      <p:sp>
        <p:nvSpPr>
          <p:cNvPr id="2" name="Slide Number Placeholder 1"/>
          <p:cNvSpPr>
            <a:spLocks noGrp="1"/>
          </p:cNvSpPr>
          <p:nvPr>
            <p:ph type="sldNum" sz="quarter" idx="12"/>
          </p:nvPr>
        </p:nvSpPr>
        <p:spPr/>
        <p:txBody>
          <a:bodyPr/>
          <a:lstStyle/>
          <a:p>
            <a:fld id="{CA8D9AD5-F248-4919-864A-CFD76CC027D6}" type="slidenum">
              <a:rPr lang="en-AU" smtClean="0"/>
              <a:t>15</a:t>
            </a:fld>
            <a:endParaRPr lang="en-AU"/>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3.1 Mandatory access control</a:t>
            </a:r>
          </a:p>
        </p:txBody>
      </p:sp>
      <p:sp>
        <p:nvSpPr>
          <p:cNvPr id="3" name="Content Placeholder 2"/>
          <p:cNvSpPr>
            <a:spLocks noGrp="1"/>
          </p:cNvSpPr>
          <p:nvPr>
            <p:ph idx="1"/>
          </p:nvPr>
        </p:nvSpPr>
        <p:spPr/>
        <p:txBody>
          <a:bodyPr>
            <a:normAutofit/>
          </a:bodyPr>
          <a:lstStyle/>
          <a:p>
            <a:r>
              <a:rPr lang="en-AU" altLang="zh-CN" sz="2000" dirty="0"/>
              <a:t>Mandatory access control (MAC) is a hierarchical security model. </a:t>
            </a:r>
          </a:p>
          <a:p>
            <a:r>
              <a:rPr lang="en-AU" altLang="zh-CN" sz="2000" dirty="0"/>
              <a:t>In MAC, a central authority sets the rules on </a:t>
            </a:r>
            <a:r>
              <a:rPr lang="en-AU" altLang="zh-CN" sz="2000" b="1" dirty="0"/>
              <a:t>who</a:t>
            </a:r>
            <a:r>
              <a:rPr lang="en-AU" altLang="zh-CN" sz="2000" dirty="0"/>
              <a:t> has access to </a:t>
            </a:r>
            <a:r>
              <a:rPr lang="en-AU" altLang="zh-CN" sz="2000" b="1" dirty="0"/>
              <a:t>what</a:t>
            </a:r>
            <a:r>
              <a:rPr lang="en-AU" altLang="zh-CN" sz="2000" dirty="0"/>
              <a:t> resources based on the sensitivity of information contained in each resource.</a:t>
            </a:r>
          </a:p>
          <a:p>
            <a:r>
              <a:rPr lang="en-AU" altLang="zh-CN" sz="2000" dirty="0"/>
              <a:t>The advantages of MAC include strictness and high security level.</a:t>
            </a:r>
          </a:p>
          <a:p>
            <a:r>
              <a:rPr lang="en-US" altLang="zh-CN" sz="2000" dirty="0"/>
              <a:t>The disadvantage of MAC is high management cost.</a:t>
            </a:r>
            <a:endParaRPr lang="en-AU" altLang="zh-CN" sz="2000" dirty="0"/>
          </a:p>
          <a:p>
            <a:pPr marL="0" indent="0" algn="just">
              <a:buNone/>
            </a:pPr>
            <a:endParaRPr lang="en-AU" sz="2400" dirty="0"/>
          </a:p>
          <a:p>
            <a:pPr marL="0" indent="0" algn="just">
              <a:buNone/>
            </a:pPr>
            <a:endParaRPr lang="en-US" sz="2400" dirty="0"/>
          </a:p>
          <a:p>
            <a:pPr marL="0" indent="0" algn="just">
              <a:buNone/>
            </a:pPr>
            <a:endParaRPr lang="en-US" sz="2400" dirty="0"/>
          </a:p>
        </p:txBody>
      </p:sp>
      <p:sp>
        <p:nvSpPr>
          <p:cNvPr id="4" name="Slide Number Placeholder 3"/>
          <p:cNvSpPr>
            <a:spLocks noGrp="1"/>
          </p:cNvSpPr>
          <p:nvPr>
            <p:ph type="sldNum" sz="quarter" idx="12"/>
          </p:nvPr>
        </p:nvSpPr>
        <p:spPr/>
        <p:txBody>
          <a:bodyPr/>
          <a:lstStyle/>
          <a:p>
            <a:fld id="{CA8D9AD5-F248-4919-864A-CFD76CC027D6}" type="slidenum">
              <a:rPr lang="en-AU" smtClean="0"/>
              <a:t>16</a:t>
            </a:fld>
            <a:endParaRPr lang="en-AU"/>
          </a:p>
        </p:txBody>
      </p:sp>
      <p:pic>
        <p:nvPicPr>
          <p:cNvPr id="4102" name="Picture 6" descr="Image result for mandatory access contro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707864"/>
            <a:ext cx="4438650" cy="3013611"/>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Image result for mandatory access contro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86475" y="3733531"/>
            <a:ext cx="5048250" cy="29622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3.1 Mandatory access control</a:t>
            </a:r>
          </a:p>
        </p:txBody>
      </p:sp>
      <p:sp>
        <p:nvSpPr>
          <p:cNvPr id="3" name="Content Placeholder 2"/>
          <p:cNvSpPr>
            <a:spLocks noGrp="1"/>
          </p:cNvSpPr>
          <p:nvPr>
            <p:ph idx="1"/>
          </p:nvPr>
        </p:nvSpPr>
        <p:spPr/>
        <p:txBody>
          <a:bodyPr>
            <a:normAutofit/>
          </a:bodyPr>
          <a:lstStyle/>
          <a:p>
            <a:r>
              <a:rPr lang="en-AU" sz="2600" dirty="0"/>
              <a:t>Then the MAC model can be described as follows.</a:t>
            </a:r>
            <a:endParaRPr lang="en-AU" altLang="zh-CN" sz="2600" dirty="0">
              <a:solidFill>
                <a:prstClr val="black"/>
              </a:solidFill>
            </a:endParaRPr>
          </a:p>
          <a:p>
            <a:pPr marL="0" indent="0">
              <a:buNone/>
            </a:pPr>
            <a:endParaRPr lang="en-AU" altLang="zh-CN" sz="1800" dirty="0">
              <a:solidFill>
                <a:prstClr val="black"/>
              </a:solidFill>
            </a:endParaRPr>
          </a:p>
          <a:p>
            <a:pPr marL="457200" lvl="1" indent="0">
              <a:buNone/>
            </a:pPr>
            <a:endParaRPr lang="en-AU" sz="2400" dirty="0"/>
          </a:p>
          <a:p>
            <a:pPr marL="0" indent="0" algn="just">
              <a:buNone/>
            </a:pPr>
            <a:r>
              <a:rPr lang="en-US" sz="2400" dirty="0"/>
              <a:t>	</a:t>
            </a:r>
          </a:p>
          <a:p>
            <a:pPr marL="0" indent="0" algn="just">
              <a:buNone/>
            </a:pPr>
            <a:endParaRPr lang="en-US" sz="2400" dirty="0"/>
          </a:p>
        </p:txBody>
      </p:sp>
      <p:sp>
        <p:nvSpPr>
          <p:cNvPr id="4" name="Slide Number Placeholder 3"/>
          <p:cNvSpPr>
            <a:spLocks noGrp="1"/>
          </p:cNvSpPr>
          <p:nvPr>
            <p:ph type="sldNum" sz="quarter" idx="12"/>
          </p:nvPr>
        </p:nvSpPr>
        <p:spPr/>
        <p:txBody>
          <a:bodyPr/>
          <a:lstStyle/>
          <a:p>
            <a:fld id="{CA8D9AD5-F248-4919-864A-CFD76CC027D6}" type="slidenum">
              <a:rPr lang="en-AU" smtClean="0"/>
              <a:t>17</a:t>
            </a:fld>
            <a:endParaRPr lang="en-AU"/>
          </a:p>
        </p:txBody>
      </p:sp>
      <p:sp>
        <p:nvSpPr>
          <p:cNvPr id="5" name="椭圆 4"/>
          <p:cNvSpPr/>
          <p:nvPr/>
        </p:nvSpPr>
        <p:spPr>
          <a:xfrm>
            <a:off x="1150049" y="5711392"/>
            <a:ext cx="182880" cy="22138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6" name="椭圆 5"/>
          <p:cNvSpPr/>
          <p:nvPr/>
        </p:nvSpPr>
        <p:spPr>
          <a:xfrm>
            <a:off x="1150049" y="4923122"/>
            <a:ext cx="182880" cy="22138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7" name="椭圆 6"/>
          <p:cNvSpPr/>
          <p:nvPr/>
        </p:nvSpPr>
        <p:spPr>
          <a:xfrm>
            <a:off x="1150049" y="4136306"/>
            <a:ext cx="182880" cy="22138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8" name="椭圆 7"/>
          <p:cNvSpPr/>
          <p:nvPr/>
        </p:nvSpPr>
        <p:spPr>
          <a:xfrm>
            <a:off x="1150049" y="3349490"/>
            <a:ext cx="182880" cy="22138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9" name="矩形 8"/>
          <p:cNvSpPr/>
          <p:nvPr/>
        </p:nvSpPr>
        <p:spPr>
          <a:xfrm>
            <a:off x="1430205" y="3263991"/>
            <a:ext cx="1309036"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AU" altLang="zh-CN" i="1" dirty="0"/>
              <a:t>Top Security</a:t>
            </a:r>
            <a:endParaRPr lang="zh-CN" altLang="en-US" i="1" dirty="0"/>
          </a:p>
        </p:txBody>
      </p:sp>
      <p:sp>
        <p:nvSpPr>
          <p:cNvPr id="10" name="矩形 9"/>
          <p:cNvSpPr/>
          <p:nvPr/>
        </p:nvSpPr>
        <p:spPr>
          <a:xfrm>
            <a:off x="1449370" y="4050807"/>
            <a:ext cx="1309036"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AU" altLang="zh-CN" i="1" dirty="0"/>
              <a:t>Security</a:t>
            </a:r>
            <a:endParaRPr lang="zh-CN" altLang="en-US" i="1" dirty="0"/>
          </a:p>
        </p:txBody>
      </p:sp>
      <p:sp>
        <p:nvSpPr>
          <p:cNvPr id="11" name="矩形 10"/>
          <p:cNvSpPr/>
          <p:nvPr/>
        </p:nvSpPr>
        <p:spPr>
          <a:xfrm>
            <a:off x="1449370" y="4867515"/>
            <a:ext cx="1309036"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AU" altLang="zh-CN" i="1" dirty="0"/>
              <a:t>Confidential</a:t>
            </a:r>
            <a:endParaRPr lang="zh-CN" altLang="en-US" i="1" dirty="0"/>
          </a:p>
        </p:txBody>
      </p:sp>
      <p:sp>
        <p:nvSpPr>
          <p:cNvPr id="12" name="矩形 11"/>
          <p:cNvSpPr/>
          <p:nvPr/>
        </p:nvSpPr>
        <p:spPr>
          <a:xfrm>
            <a:off x="1424369" y="5678091"/>
            <a:ext cx="1309036"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AU" altLang="zh-CN" i="1" dirty="0"/>
              <a:t>Unclassified</a:t>
            </a:r>
            <a:endParaRPr lang="zh-CN" altLang="en-US" i="1" dirty="0"/>
          </a:p>
        </p:txBody>
      </p:sp>
      <p:cxnSp>
        <p:nvCxnSpPr>
          <p:cNvPr id="14" name="直接箭头连接符 13"/>
          <p:cNvCxnSpPr>
            <a:stCxn id="5" idx="0"/>
            <a:endCxn id="6" idx="4"/>
          </p:cNvCxnSpPr>
          <p:nvPr/>
        </p:nvCxnSpPr>
        <p:spPr>
          <a:xfrm flipV="1">
            <a:off x="1241489" y="5144503"/>
            <a:ext cx="0" cy="56688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直接箭头连接符 15"/>
          <p:cNvCxnSpPr/>
          <p:nvPr/>
        </p:nvCxnSpPr>
        <p:spPr>
          <a:xfrm flipV="1">
            <a:off x="1241489" y="4347419"/>
            <a:ext cx="0" cy="5654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直接箭头连接符 16"/>
          <p:cNvCxnSpPr/>
          <p:nvPr/>
        </p:nvCxnSpPr>
        <p:spPr>
          <a:xfrm flipV="1">
            <a:off x="1241489" y="3573216"/>
            <a:ext cx="0" cy="5654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026" name="Picture 2" descr="Image result for us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58906" y="2401126"/>
            <a:ext cx="1027873" cy="1027873"/>
          </a:xfrm>
          <a:prstGeom prst="rect">
            <a:avLst/>
          </a:prstGeom>
          <a:noFill/>
          <a:extLst>
            <a:ext uri="{909E8E84-426E-40DD-AFC4-6F175D3DCCD1}">
              <a14:hiddenFill xmlns:a14="http://schemas.microsoft.com/office/drawing/2010/main">
                <a:solidFill>
                  <a:srgbClr val="FFFFFF"/>
                </a:solidFill>
              </a14:hiddenFill>
            </a:ext>
          </a:extLst>
        </p:spPr>
      </p:pic>
      <p:sp>
        <p:nvSpPr>
          <p:cNvPr id="21" name="矩形 20"/>
          <p:cNvSpPr/>
          <p:nvPr/>
        </p:nvSpPr>
        <p:spPr>
          <a:xfrm>
            <a:off x="4186779" y="2718873"/>
            <a:ext cx="686778"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i="1" dirty="0"/>
              <a:t>users</a:t>
            </a:r>
            <a:endParaRPr lang="zh-CN" altLang="en-US" i="1" dirty="0"/>
          </a:p>
        </p:txBody>
      </p:sp>
      <mc:AlternateContent xmlns:mc="http://schemas.openxmlformats.org/markup-compatibility/2006" xmlns:a14="http://schemas.microsoft.com/office/drawing/2010/main">
        <mc:Choice Requires="a14">
          <p:sp>
            <p:nvSpPr>
              <p:cNvPr id="22" name="矩形 21"/>
              <p:cNvSpPr/>
              <p:nvPr/>
            </p:nvSpPr>
            <p:spPr>
              <a:xfrm>
                <a:off x="3382817" y="3350359"/>
                <a:ext cx="580049"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altLang="zh-CN" i="1">
                              <a:solidFill>
                                <a:prstClr val="black"/>
                              </a:solidFill>
                              <a:latin typeface="Cambria Math" panose="02040503050406030204" pitchFamily="18" charset="0"/>
                            </a:rPr>
                          </m:ctrlPr>
                        </m:sSubPr>
                        <m:e>
                          <m:r>
                            <a:rPr lang="en-AU" altLang="zh-CN" i="1">
                              <a:solidFill>
                                <a:prstClr val="black"/>
                              </a:solidFill>
                              <a:latin typeface="Cambria Math" panose="02040503050406030204" pitchFamily="18" charset="0"/>
                            </a:rPr>
                            <m:t>𝑢</m:t>
                          </m:r>
                        </m:e>
                        <m:sub>
                          <m:r>
                            <a:rPr lang="en-AU" altLang="zh-CN" i="1">
                              <a:solidFill>
                                <a:prstClr val="black"/>
                              </a:solidFill>
                              <a:latin typeface="Cambria Math" panose="02040503050406030204" pitchFamily="18" charset="0"/>
                            </a:rPr>
                            <m:t>1</m:t>
                          </m:r>
                        </m:sub>
                      </m:sSub>
                    </m:oMath>
                  </m:oMathPara>
                </a14:m>
                <a:endParaRPr lang="zh-CN" altLang="en-US" i="1" dirty="0"/>
              </a:p>
            </p:txBody>
          </p:sp>
        </mc:Choice>
        <mc:Fallback xmlns="">
          <p:sp>
            <p:nvSpPr>
              <p:cNvPr id="22" name="矩形 21"/>
              <p:cNvSpPr>
                <a:spLocks noRot="1" noChangeAspect="1" noMove="1" noResize="1" noEditPoints="1" noAdjustHandles="1" noChangeArrowheads="1" noChangeShapeType="1" noTextEdit="1"/>
              </p:cNvSpPr>
              <p:nvPr/>
            </p:nvSpPr>
            <p:spPr>
              <a:xfrm>
                <a:off x="3382817" y="3350359"/>
                <a:ext cx="580049" cy="392377"/>
              </a:xfrm>
              <a:prstGeom prst="rect">
                <a:avLst/>
              </a:prstGeom>
              <a:blipFill rotWithShape="1">
                <a:blip r:embed="rId6"/>
                <a:stretch>
                  <a:fillRect/>
                </a:stretch>
              </a:blipFill>
              <a:ln>
                <a:noFill/>
              </a:ln>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23" name="矩形 22"/>
              <p:cNvSpPr/>
              <p:nvPr/>
            </p:nvSpPr>
            <p:spPr>
              <a:xfrm>
                <a:off x="3382817" y="4142040"/>
                <a:ext cx="580049"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altLang="zh-CN" i="1" smtClean="0">
                              <a:solidFill>
                                <a:prstClr val="black"/>
                              </a:solidFill>
                              <a:latin typeface="Cambria Math" panose="02040503050406030204" pitchFamily="18" charset="0"/>
                            </a:rPr>
                          </m:ctrlPr>
                        </m:sSubPr>
                        <m:e>
                          <m:r>
                            <a:rPr lang="en-AU" altLang="zh-CN" i="1">
                              <a:solidFill>
                                <a:prstClr val="black"/>
                              </a:solidFill>
                              <a:latin typeface="Cambria Math" panose="02040503050406030204" pitchFamily="18" charset="0"/>
                            </a:rPr>
                            <m:t>𝑢</m:t>
                          </m:r>
                        </m:e>
                        <m:sub>
                          <m:r>
                            <a:rPr lang="en-US" altLang="zh-CN" b="0" i="1" smtClean="0">
                              <a:solidFill>
                                <a:prstClr val="black"/>
                              </a:solidFill>
                              <a:latin typeface="Cambria Math" panose="02040503050406030204" pitchFamily="18" charset="0"/>
                            </a:rPr>
                            <m:t>2</m:t>
                          </m:r>
                        </m:sub>
                      </m:sSub>
                    </m:oMath>
                  </m:oMathPara>
                </a14:m>
                <a:endParaRPr lang="zh-CN" altLang="en-US" i="1" dirty="0"/>
              </a:p>
            </p:txBody>
          </p:sp>
        </mc:Choice>
        <mc:Fallback xmlns="">
          <p:sp>
            <p:nvSpPr>
              <p:cNvPr id="23" name="矩形 22"/>
              <p:cNvSpPr>
                <a:spLocks noRot="1" noChangeAspect="1" noMove="1" noResize="1" noEditPoints="1" noAdjustHandles="1" noChangeArrowheads="1" noChangeShapeType="1" noTextEdit="1"/>
              </p:cNvSpPr>
              <p:nvPr/>
            </p:nvSpPr>
            <p:spPr>
              <a:xfrm>
                <a:off x="3382817" y="4142040"/>
                <a:ext cx="580049" cy="392377"/>
              </a:xfrm>
              <a:prstGeom prst="rect">
                <a:avLst/>
              </a:prstGeom>
              <a:blipFill rotWithShape="1">
                <a:blip r:embed="rId7"/>
                <a:stretch>
                  <a:fillRect/>
                </a:stretch>
              </a:blipFill>
              <a:ln>
                <a:noFill/>
              </a:ln>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24" name="矩形 23"/>
              <p:cNvSpPr/>
              <p:nvPr/>
            </p:nvSpPr>
            <p:spPr>
              <a:xfrm>
                <a:off x="3382816" y="4949767"/>
                <a:ext cx="580049"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altLang="zh-CN" i="1" smtClean="0">
                              <a:solidFill>
                                <a:prstClr val="black"/>
                              </a:solidFill>
                              <a:latin typeface="Cambria Math" panose="02040503050406030204" pitchFamily="18" charset="0"/>
                            </a:rPr>
                          </m:ctrlPr>
                        </m:sSubPr>
                        <m:e>
                          <m:r>
                            <a:rPr lang="en-AU" altLang="zh-CN" i="1">
                              <a:solidFill>
                                <a:prstClr val="black"/>
                              </a:solidFill>
                              <a:latin typeface="Cambria Math" panose="02040503050406030204" pitchFamily="18" charset="0"/>
                            </a:rPr>
                            <m:t>𝑢</m:t>
                          </m:r>
                        </m:e>
                        <m:sub>
                          <m:r>
                            <a:rPr lang="en-US" altLang="zh-CN" b="0" i="1" smtClean="0">
                              <a:solidFill>
                                <a:prstClr val="black"/>
                              </a:solidFill>
                              <a:latin typeface="Cambria Math" panose="02040503050406030204" pitchFamily="18" charset="0"/>
                            </a:rPr>
                            <m:t>3</m:t>
                          </m:r>
                        </m:sub>
                      </m:sSub>
                    </m:oMath>
                  </m:oMathPara>
                </a14:m>
                <a:endParaRPr lang="zh-CN" altLang="en-US" i="1" dirty="0"/>
              </a:p>
            </p:txBody>
          </p:sp>
        </mc:Choice>
        <mc:Fallback xmlns="">
          <p:sp>
            <p:nvSpPr>
              <p:cNvPr id="24" name="矩形 23"/>
              <p:cNvSpPr>
                <a:spLocks noRot="1" noChangeAspect="1" noMove="1" noResize="1" noEditPoints="1" noAdjustHandles="1" noChangeArrowheads="1" noChangeShapeType="1" noTextEdit="1"/>
              </p:cNvSpPr>
              <p:nvPr/>
            </p:nvSpPr>
            <p:spPr>
              <a:xfrm>
                <a:off x="3382816" y="4949767"/>
                <a:ext cx="580049" cy="392377"/>
              </a:xfrm>
              <a:prstGeom prst="rect">
                <a:avLst/>
              </a:prstGeom>
              <a:blipFill rotWithShape="1">
                <a:blip r:embed="rId8"/>
                <a:stretch>
                  <a:fillRect/>
                </a:stretch>
              </a:blipFill>
              <a:ln>
                <a:noFill/>
              </a:ln>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25" name="矩形 24"/>
              <p:cNvSpPr/>
              <p:nvPr/>
            </p:nvSpPr>
            <p:spPr>
              <a:xfrm>
                <a:off x="3382815" y="5662808"/>
                <a:ext cx="580049"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altLang="zh-CN" i="1" smtClean="0">
                              <a:solidFill>
                                <a:prstClr val="black"/>
                              </a:solidFill>
                              <a:latin typeface="Cambria Math" panose="02040503050406030204" pitchFamily="18" charset="0"/>
                            </a:rPr>
                          </m:ctrlPr>
                        </m:sSubPr>
                        <m:e>
                          <m:r>
                            <a:rPr lang="en-AU" altLang="zh-CN" i="1">
                              <a:solidFill>
                                <a:prstClr val="black"/>
                              </a:solidFill>
                              <a:latin typeface="Cambria Math" panose="02040503050406030204" pitchFamily="18" charset="0"/>
                            </a:rPr>
                            <m:t>𝑢</m:t>
                          </m:r>
                        </m:e>
                        <m:sub>
                          <m:r>
                            <a:rPr lang="en-US" altLang="zh-CN" b="0" i="1" smtClean="0">
                              <a:solidFill>
                                <a:prstClr val="black"/>
                              </a:solidFill>
                              <a:latin typeface="Cambria Math" panose="02040503050406030204" pitchFamily="18" charset="0"/>
                            </a:rPr>
                            <m:t>4</m:t>
                          </m:r>
                        </m:sub>
                      </m:sSub>
                    </m:oMath>
                  </m:oMathPara>
                </a14:m>
                <a:endParaRPr lang="zh-CN" altLang="en-US" i="1" dirty="0"/>
              </a:p>
            </p:txBody>
          </p:sp>
        </mc:Choice>
        <mc:Fallback xmlns="">
          <p:sp>
            <p:nvSpPr>
              <p:cNvPr id="25" name="矩形 24"/>
              <p:cNvSpPr>
                <a:spLocks noRot="1" noChangeAspect="1" noMove="1" noResize="1" noEditPoints="1" noAdjustHandles="1" noChangeArrowheads="1" noChangeShapeType="1" noTextEdit="1"/>
              </p:cNvSpPr>
              <p:nvPr/>
            </p:nvSpPr>
            <p:spPr>
              <a:xfrm>
                <a:off x="3382815" y="5662808"/>
                <a:ext cx="580049" cy="392377"/>
              </a:xfrm>
              <a:prstGeom prst="rect">
                <a:avLst/>
              </a:prstGeom>
              <a:blipFill rotWithShape="1">
                <a:blip r:embed="rId9"/>
                <a:stretch>
                  <a:fillRect/>
                </a:stretch>
              </a:blipFill>
              <a:ln>
                <a:noFill/>
              </a:ln>
            </p:spPr>
            <p:txBody>
              <a:bodyPr/>
              <a:lstStyle/>
              <a:p>
                <a:r>
                  <a:rPr lang="zh-CN" altLang="en-US">
                    <a:noFill/>
                  </a:rPr>
                  <a:t> </a:t>
                </a:r>
                <a:endParaRPr lang="zh-CN" altLang="en-US">
                  <a:noFill/>
                </a:endParaRPr>
              </a:p>
            </p:txBody>
          </p:sp>
        </mc:Fallback>
      </mc:AlternateContent>
      <p:pic>
        <p:nvPicPr>
          <p:cNvPr id="1030" name="Picture 6" descr="Image result for file"/>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5479612" y="2401124"/>
            <a:ext cx="1027873" cy="1027873"/>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Image result for file"/>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8604278" y="2367067"/>
            <a:ext cx="1027873" cy="1027873"/>
          </a:xfrm>
          <a:prstGeom prst="rect">
            <a:avLst/>
          </a:prstGeom>
          <a:noFill/>
          <a:extLst>
            <a:ext uri="{909E8E84-426E-40DD-AFC4-6F175D3DCCD1}">
              <a14:hiddenFill xmlns:a14="http://schemas.microsoft.com/office/drawing/2010/main">
                <a:solidFill>
                  <a:srgbClr val="FFFFFF"/>
                </a:solidFill>
              </a14:hiddenFill>
            </a:ext>
          </a:extLst>
        </p:spPr>
      </p:pic>
      <p:sp>
        <p:nvSpPr>
          <p:cNvPr id="32" name="矩形 31"/>
          <p:cNvSpPr/>
          <p:nvPr/>
        </p:nvSpPr>
        <p:spPr>
          <a:xfrm>
            <a:off x="6834982" y="2718871"/>
            <a:ext cx="1102788"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i="1" dirty="0"/>
              <a:t>resources</a:t>
            </a:r>
            <a:endParaRPr lang="zh-CN" altLang="en-US" i="1" dirty="0"/>
          </a:p>
        </p:txBody>
      </p:sp>
      <p:sp>
        <p:nvSpPr>
          <p:cNvPr id="33" name="矩形 32"/>
          <p:cNvSpPr/>
          <p:nvPr/>
        </p:nvSpPr>
        <p:spPr>
          <a:xfrm>
            <a:off x="9881557" y="2718870"/>
            <a:ext cx="1102788"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i="1" dirty="0"/>
              <a:t>processes</a:t>
            </a:r>
            <a:endParaRPr lang="zh-CN" altLang="en-US" i="1" dirty="0"/>
          </a:p>
        </p:txBody>
      </p:sp>
      <mc:AlternateContent xmlns:mc="http://schemas.openxmlformats.org/markup-compatibility/2006" xmlns:a14="http://schemas.microsoft.com/office/drawing/2010/main">
        <mc:Choice Requires="a14">
          <p:sp>
            <p:nvSpPr>
              <p:cNvPr id="34" name="矩形 33"/>
              <p:cNvSpPr/>
              <p:nvPr/>
            </p:nvSpPr>
            <p:spPr>
              <a:xfrm>
                <a:off x="5701608" y="3349490"/>
                <a:ext cx="580049"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altLang="zh-CN" i="1" smtClean="0">
                              <a:solidFill>
                                <a:prstClr val="black"/>
                              </a:solidFill>
                              <a:latin typeface="Cambria Math" panose="02040503050406030204" pitchFamily="18" charset="0"/>
                            </a:rPr>
                          </m:ctrlPr>
                        </m:sSubPr>
                        <m:e>
                          <m:r>
                            <a:rPr lang="en-US" altLang="zh-CN" b="0" i="1" smtClean="0">
                              <a:solidFill>
                                <a:prstClr val="black"/>
                              </a:solidFill>
                              <a:latin typeface="Cambria Math" panose="02040503050406030204" pitchFamily="18" charset="0"/>
                            </a:rPr>
                            <m:t>𝑟</m:t>
                          </m:r>
                        </m:e>
                        <m:sub>
                          <m:r>
                            <a:rPr lang="en-AU" altLang="zh-CN" i="1">
                              <a:solidFill>
                                <a:prstClr val="black"/>
                              </a:solidFill>
                              <a:latin typeface="Cambria Math" panose="02040503050406030204" pitchFamily="18" charset="0"/>
                            </a:rPr>
                            <m:t>1</m:t>
                          </m:r>
                        </m:sub>
                      </m:sSub>
                    </m:oMath>
                  </m:oMathPara>
                </a14:m>
                <a:endParaRPr lang="zh-CN" altLang="en-US" i="1" dirty="0"/>
              </a:p>
            </p:txBody>
          </p:sp>
        </mc:Choice>
        <mc:Fallback xmlns="">
          <p:sp>
            <p:nvSpPr>
              <p:cNvPr id="34" name="矩形 33"/>
              <p:cNvSpPr>
                <a:spLocks noRot="1" noChangeAspect="1" noMove="1" noResize="1" noEditPoints="1" noAdjustHandles="1" noChangeArrowheads="1" noChangeShapeType="1" noTextEdit="1"/>
              </p:cNvSpPr>
              <p:nvPr/>
            </p:nvSpPr>
            <p:spPr>
              <a:xfrm>
                <a:off x="5701608" y="3349490"/>
                <a:ext cx="580049" cy="392377"/>
              </a:xfrm>
              <a:prstGeom prst="rect">
                <a:avLst/>
              </a:prstGeom>
              <a:blipFill rotWithShape="1">
                <a:blip r:embed="rId12"/>
                <a:stretch>
                  <a:fillRect/>
                </a:stretch>
              </a:blipFill>
              <a:ln>
                <a:noFill/>
              </a:ln>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35" name="矩形 34"/>
              <p:cNvSpPr/>
              <p:nvPr/>
            </p:nvSpPr>
            <p:spPr>
              <a:xfrm>
                <a:off x="5701608" y="4141171"/>
                <a:ext cx="580049"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altLang="zh-CN" i="1" smtClean="0">
                              <a:solidFill>
                                <a:prstClr val="black"/>
                              </a:solidFill>
                              <a:latin typeface="Cambria Math" panose="02040503050406030204" pitchFamily="18" charset="0"/>
                            </a:rPr>
                          </m:ctrlPr>
                        </m:sSubPr>
                        <m:e>
                          <m:r>
                            <a:rPr lang="en-US" altLang="zh-CN" b="0" i="1" smtClean="0">
                              <a:solidFill>
                                <a:prstClr val="black"/>
                              </a:solidFill>
                              <a:latin typeface="Cambria Math" panose="02040503050406030204" pitchFamily="18" charset="0"/>
                            </a:rPr>
                            <m:t>𝑟</m:t>
                          </m:r>
                        </m:e>
                        <m:sub>
                          <m:r>
                            <a:rPr lang="en-US" altLang="zh-CN" b="0" i="1" smtClean="0">
                              <a:solidFill>
                                <a:prstClr val="black"/>
                              </a:solidFill>
                              <a:latin typeface="Cambria Math" panose="02040503050406030204" pitchFamily="18" charset="0"/>
                            </a:rPr>
                            <m:t>2</m:t>
                          </m:r>
                        </m:sub>
                      </m:sSub>
                    </m:oMath>
                  </m:oMathPara>
                </a14:m>
                <a:endParaRPr lang="zh-CN" altLang="en-US" i="1" dirty="0"/>
              </a:p>
            </p:txBody>
          </p:sp>
        </mc:Choice>
        <mc:Fallback xmlns="">
          <p:sp>
            <p:nvSpPr>
              <p:cNvPr id="35" name="矩形 34"/>
              <p:cNvSpPr>
                <a:spLocks noRot="1" noChangeAspect="1" noMove="1" noResize="1" noEditPoints="1" noAdjustHandles="1" noChangeArrowheads="1" noChangeShapeType="1" noTextEdit="1"/>
              </p:cNvSpPr>
              <p:nvPr/>
            </p:nvSpPr>
            <p:spPr>
              <a:xfrm>
                <a:off x="5701608" y="4141171"/>
                <a:ext cx="580049" cy="392377"/>
              </a:xfrm>
              <a:prstGeom prst="rect">
                <a:avLst/>
              </a:prstGeom>
              <a:blipFill rotWithShape="1">
                <a:blip r:embed="rId13"/>
                <a:stretch>
                  <a:fillRect/>
                </a:stretch>
              </a:blipFill>
              <a:ln>
                <a:noFill/>
              </a:ln>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36" name="矩形 35"/>
              <p:cNvSpPr/>
              <p:nvPr/>
            </p:nvSpPr>
            <p:spPr>
              <a:xfrm>
                <a:off x="5701607" y="4948898"/>
                <a:ext cx="580049"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altLang="zh-CN" i="1" smtClean="0">
                              <a:solidFill>
                                <a:prstClr val="black"/>
                              </a:solidFill>
                              <a:latin typeface="Cambria Math" panose="02040503050406030204" pitchFamily="18" charset="0"/>
                            </a:rPr>
                          </m:ctrlPr>
                        </m:sSubPr>
                        <m:e>
                          <m:r>
                            <a:rPr lang="en-US" altLang="zh-CN" b="0" i="1" smtClean="0">
                              <a:solidFill>
                                <a:prstClr val="black"/>
                              </a:solidFill>
                              <a:latin typeface="Cambria Math" panose="02040503050406030204" pitchFamily="18" charset="0"/>
                            </a:rPr>
                            <m:t>𝑟</m:t>
                          </m:r>
                        </m:e>
                        <m:sub>
                          <m:r>
                            <a:rPr lang="en-US" altLang="zh-CN" b="0" i="1" smtClean="0">
                              <a:solidFill>
                                <a:prstClr val="black"/>
                              </a:solidFill>
                              <a:latin typeface="Cambria Math" panose="02040503050406030204" pitchFamily="18" charset="0"/>
                            </a:rPr>
                            <m:t>3</m:t>
                          </m:r>
                        </m:sub>
                      </m:sSub>
                    </m:oMath>
                  </m:oMathPara>
                </a14:m>
                <a:endParaRPr lang="zh-CN" altLang="en-US" i="1" dirty="0"/>
              </a:p>
            </p:txBody>
          </p:sp>
        </mc:Choice>
        <mc:Fallback xmlns="">
          <p:sp>
            <p:nvSpPr>
              <p:cNvPr id="36" name="矩形 35"/>
              <p:cNvSpPr>
                <a:spLocks noRot="1" noChangeAspect="1" noMove="1" noResize="1" noEditPoints="1" noAdjustHandles="1" noChangeArrowheads="1" noChangeShapeType="1" noTextEdit="1"/>
              </p:cNvSpPr>
              <p:nvPr/>
            </p:nvSpPr>
            <p:spPr>
              <a:xfrm>
                <a:off x="5701607" y="4948898"/>
                <a:ext cx="580049" cy="392377"/>
              </a:xfrm>
              <a:prstGeom prst="rect">
                <a:avLst/>
              </a:prstGeom>
              <a:blipFill rotWithShape="1">
                <a:blip r:embed="rId14"/>
                <a:stretch>
                  <a:fillRect/>
                </a:stretch>
              </a:blipFill>
              <a:ln>
                <a:noFill/>
              </a:ln>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37" name="矩形 36"/>
              <p:cNvSpPr/>
              <p:nvPr/>
            </p:nvSpPr>
            <p:spPr>
              <a:xfrm>
                <a:off x="5701606" y="5661939"/>
                <a:ext cx="580049"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altLang="zh-CN" i="1" smtClean="0">
                              <a:solidFill>
                                <a:prstClr val="black"/>
                              </a:solidFill>
                              <a:latin typeface="Cambria Math" panose="02040503050406030204" pitchFamily="18" charset="0"/>
                            </a:rPr>
                          </m:ctrlPr>
                        </m:sSubPr>
                        <m:e>
                          <m:r>
                            <a:rPr lang="en-US" altLang="zh-CN" b="0" i="1" smtClean="0">
                              <a:solidFill>
                                <a:prstClr val="black"/>
                              </a:solidFill>
                              <a:latin typeface="Cambria Math" panose="02040503050406030204" pitchFamily="18" charset="0"/>
                            </a:rPr>
                            <m:t>𝑟</m:t>
                          </m:r>
                        </m:e>
                        <m:sub>
                          <m:r>
                            <a:rPr lang="en-US" altLang="zh-CN" b="0" i="1" smtClean="0">
                              <a:solidFill>
                                <a:prstClr val="black"/>
                              </a:solidFill>
                              <a:latin typeface="Cambria Math" panose="02040503050406030204" pitchFamily="18" charset="0"/>
                            </a:rPr>
                            <m:t>4</m:t>
                          </m:r>
                        </m:sub>
                      </m:sSub>
                    </m:oMath>
                  </m:oMathPara>
                </a14:m>
                <a:endParaRPr lang="zh-CN" altLang="en-US" i="1" dirty="0"/>
              </a:p>
            </p:txBody>
          </p:sp>
        </mc:Choice>
        <mc:Fallback xmlns="">
          <p:sp>
            <p:nvSpPr>
              <p:cNvPr id="37" name="矩形 36"/>
              <p:cNvSpPr>
                <a:spLocks noRot="1" noChangeAspect="1" noMove="1" noResize="1" noEditPoints="1" noAdjustHandles="1" noChangeArrowheads="1" noChangeShapeType="1" noTextEdit="1"/>
              </p:cNvSpPr>
              <p:nvPr/>
            </p:nvSpPr>
            <p:spPr>
              <a:xfrm>
                <a:off x="5701606" y="5661939"/>
                <a:ext cx="580049" cy="392377"/>
              </a:xfrm>
              <a:prstGeom prst="rect">
                <a:avLst/>
              </a:prstGeom>
              <a:blipFill rotWithShape="1">
                <a:blip r:embed="rId15"/>
                <a:stretch>
                  <a:fillRect/>
                </a:stretch>
              </a:blipFill>
              <a:ln>
                <a:noFill/>
              </a:ln>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38" name="矩形 37"/>
              <p:cNvSpPr/>
              <p:nvPr/>
            </p:nvSpPr>
            <p:spPr>
              <a:xfrm>
                <a:off x="8717543" y="3374682"/>
                <a:ext cx="580049"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altLang="zh-CN" i="1" smtClean="0">
                              <a:solidFill>
                                <a:prstClr val="black"/>
                              </a:solidFill>
                              <a:latin typeface="Cambria Math" panose="02040503050406030204" pitchFamily="18" charset="0"/>
                            </a:rPr>
                          </m:ctrlPr>
                        </m:sSubPr>
                        <m:e>
                          <m:r>
                            <a:rPr lang="en-US" altLang="zh-CN" b="0" i="1" smtClean="0">
                              <a:solidFill>
                                <a:prstClr val="black"/>
                              </a:solidFill>
                              <a:latin typeface="Cambria Math" panose="02040503050406030204" pitchFamily="18" charset="0"/>
                            </a:rPr>
                            <m:t>𝑝</m:t>
                          </m:r>
                        </m:e>
                        <m:sub>
                          <m:r>
                            <a:rPr lang="en-AU" altLang="zh-CN" i="1">
                              <a:solidFill>
                                <a:prstClr val="black"/>
                              </a:solidFill>
                              <a:latin typeface="Cambria Math" panose="02040503050406030204" pitchFamily="18" charset="0"/>
                            </a:rPr>
                            <m:t>1</m:t>
                          </m:r>
                        </m:sub>
                      </m:sSub>
                    </m:oMath>
                  </m:oMathPara>
                </a14:m>
                <a:endParaRPr lang="zh-CN" altLang="en-US" i="1" dirty="0"/>
              </a:p>
            </p:txBody>
          </p:sp>
        </mc:Choice>
        <mc:Fallback xmlns="">
          <p:sp>
            <p:nvSpPr>
              <p:cNvPr id="38" name="矩形 37"/>
              <p:cNvSpPr>
                <a:spLocks noRot="1" noChangeAspect="1" noMove="1" noResize="1" noEditPoints="1" noAdjustHandles="1" noChangeArrowheads="1" noChangeShapeType="1" noTextEdit="1"/>
              </p:cNvSpPr>
              <p:nvPr/>
            </p:nvSpPr>
            <p:spPr>
              <a:xfrm>
                <a:off x="8717543" y="3374682"/>
                <a:ext cx="580049" cy="392377"/>
              </a:xfrm>
              <a:prstGeom prst="rect">
                <a:avLst/>
              </a:prstGeom>
              <a:blipFill rotWithShape="1">
                <a:blip r:embed="rId16"/>
                <a:stretch>
                  <a:fillRect b="-3125"/>
                </a:stretch>
              </a:blipFill>
              <a:ln>
                <a:noFill/>
              </a:ln>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39" name="矩形 38"/>
              <p:cNvSpPr/>
              <p:nvPr/>
            </p:nvSpPr>
            <p:spPr>
              <a:xfrm>
                <a:off x="8717543" y="4166363"/>
                <a:ext cx="580049"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altLang="zh-CN" i="1" smtClean="0">
                              <a:solidFill>
                                <a:prstClr val="black"/>
                              </a:solidFill>
                              <a:latin typeface="Cambria Math" panose="02040503050406030204" pitchFamily="18" charset="0"/>
                            </a:rPr>
                          </m:ctrlPr>
                        </m:sSubPr>
                        <m:e>
                          <m:r>
                            <a:rPr lang="en-US" altLang="zh-CN" b="0" i="1" smtClean="0">
                              <a:solidFill>
                                <a:prstClr val="black"/>
                              </a:solidFill>
                              <a:latin typeface="Cambria Math" panose="02040503050406030204" pitchFamily="18" charset="0"/>
                            </a:rPr>
                            <m:t>𝑝</m:t>
                          </m:r>
                        </m:e>
                        <m:sub>
                          <m:r>
                            <a:rPr lang="en-US" altLang="zh-CN" b="0" i="1" smtClean="0">
                              <a:solidFill>
                                <a:prstClr val="black"/>
                              </a:solidFill>
                              <a:latin typeface="Cambria Math" panose="02040503050406030204" pitchFamily="18" charset="0"/>
                            </a:rPr>
                            <m:t>2</m:t>
                          </m:r>
                        </m:sub>
                      </m:sSub>
                    </m:oMath>
                  </m:oMathPara>
                </a14:m>
                <a:endParaRPr lang="zh-CN" altLang="en-US" i="1" dirty="0"/>
              </a:p>
            </p:txBody>
          </p:sp>
        </mc:Choice>
        <mc:Fallback xmlns="">
          <p:sp>
            <p:nvSpPr>
              <p:cNvPr id="39" name="矩形 38"/>
              <p:cNvSpPr>
                <a:spLocks noRot="1" noChangeAspect="1" noMove="1" noResize="1" noEditPoints="1" noAdjustHandles="1" noChangeArrowheads="1" noChangeShapeType="1" noTextEdit="1"/>
              </p:cNvSpPr>
              <p:nvPr/>
            </p:nvSpPr>
            <p:spPr>
              <a:xfrm>
                <a:off x="8717543" y="4166363"/>
                <a:ext cx="580049" cy="392377"/>
              </a:xfrm>
              <a:prstGeom prst="rect">
                <a:avLst/>
              </a:prstGeom>
              <a:blipFill rotWithShape="1">
                <a:blip r:embed="rId17"/>
                <a:stretch>
                  <a:fillRect b="-3077"/>
                </a:stretch>
              </a:blipFill>
              <a:ln>
                <a:noFill/>
              </a:ln>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40" name="矩形 39"/>
              <p:cNvSpPr/>
              <p:nvPr/>
            </p:nvSpPr>
            <p:spPr>
              <a:xfrm>
                <a:off x="8717542" y="4974090"/>
                <a:ext cx="580049"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altLang="zh-CN" i="1" smtClean="0">
                              <a:solidFill>
                                <a:prstClr val="black"/>
                              </a:solidFill>
                              <a:latin typeface="Cambria Math" panose="02040503050406030204" pitchFamily="18" charset="0"/>
                            </a:rPr>
                          </m:ctrlPr>
                        </m:sSubPr>
                        <m:e>
                          <m:r>
                            <a:rPr lang="en-US" altLang="zh-CN" b="0" i="1" smtClean="0">
                              <a:solidFill>
                                <a:prstClr val="black"/>
                              </a:solidFill>
                              <a:latin typeface="Cambria Math" panose="02040503050406030204" pitchFamily="18" charset="0"/>
                            </a:rPr>
                            <m:t>𝑝</m:t>
                          </m:r>
                        </m:e>
                        <m:sub>
                          <m:r>
                            <a:rPr lang="en-US" altLang="zh-CN" b="0" i="1" smtClean="0">
                              <a:solidFill>
                                <a:prstClr val="black"/>
                              </a:solidFill>
                              <a:latin typeface="Cambria Math" panose="02040503050406030204" pitchFamily="18" charset="0"/>
                            </a:rPr>
                            <m:t>3</m:t>
                          </m:r>
                        </m:sub>
                      </m:sSub>
                    </m:oMath>
                  </m:oMathPara>
                </a14:m>
                <a:endParaRPr lang="zh-CN" altLang="en-US" i="1" dirty="0"/>
              </a:p>
            </p:txBody>
          </p:sp>
        </mc:Choice>
        <mc:Fallback xmlns="">
          <p:sp>
            <p:nvSpPr>
              <p:cNvPr id="40" name="矩形 39"/>
              <p:cNvSpPr>
                <a:spLocks noRot="1" noChangeAspect="1" noMove="1" noResize="1" noEditPoints="1" noAdjustHandles="1" noChangeArrowheads="1" noChangeShapeType="1" noTextEdit="1"/>
              </p:cNvSpPr>
              <p:nvPr/>
            </p:nvSpPr>
            <p:spPr>
              <a:xfrm>
                <a:off x="8717542" y="4974090"/>
                <a:ext cx="580049" cy="392377"/>
              </a:xfrm>
              <a:prstGeom prst="rect">
                <a:avLst/>
              </a:prstGeom>
              <a:blipFill rotWithShape="1">
                <a:blip r:embed="rId18"/>
                <a:stretch>
                  <a:fillRect b="-4688"/>
                </a:stretch>
              </a:blipFill>
              <a:ln>
                <a:noFill/>
              </a:ln>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41" name="矩形 40"/>
              <p:cNvSpPr/>
              <p:nvPr/>
            </p:nvSpPr>
            <p:spPr>
              <a:xfrm>
                <a:off x="8717541" y="5687131"/>
                <a:ext cx="580049"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altLang="zh-CN" i="1" smtClean="0">
                              <a:solidFill>
                                <a:prstClr val="black"/>
                              </a:solidFill>
                              <a:latin typeface="Cambria Math" panose="02040503050406030204" pitchFamily="18" charset="0"/>
                            </a:rPr>
                          </m:ctrlPr>
                        </m:sSubPr>
                        <m:e>
                          <m:r>
                            <a:rPr lang="en-US" altLang="zh-CN" b="0" i="1" smtClean="0">
                              <a:solidFill>
                                <a:prstClr val="black"/>
                              </a:solidFill>
                              <a:latin typeface="Cambria Math" panose="02040503050406030204" pitchFamily="18" charset="0"/>
                            </a:rPr>
                            <m:t>𝑝</m:t>
                          </m:r>
                        </m:e>
                        <m:sub>
                          <m:r>
                            <a:rPr lang="en-US" altLang="zh-CN" b="0" i="1" smtClean="0">
                              <a:solidFill>
                                <a:prstClr val="black"/>
                              </a:solidFill>
                              <a:latin typeface="Cambria Math" panose="02040503050406030204" pitchFamily="18" charset="0"/>
                            </a:rPr>
                            <m:t>4</m:t>
                          </m:r>
                        </m:sub>
                      </m:sSub>
                    </m:oMath>
                  </m:oMathPara>
                </a14:m>
                <a:endParaRPr lang="zh-CN" altLang="en-US" i="1" dirty="0"/>
              </a:p>
            </p:txBody>
          </p:sp>
        </mc:Choice>
        <mc:Fallback xmlns="">
          <p:sp>
            <p:nvSpPr>
              <p:cNvPr id="41" name="矩形 40"/>
              <p:cNvSpPr>
                <a:spLocks noRot="1" noChangeAspect="1" noMove="1" noResize="1" noEditPoints="1" noAdjustHandles="1" noChangeArrowheads="1" noChangeShapeType="1" noTextEdit="1"/>
              </p:cNvSpPr>
              <p:nvPr/>
            </p:nvSpPr>
            <p:spPr>
              <a:xfrm>
                <a:off x="8717541" y="5687131"/>
                <a:ext cx="580049" cy="392377"/>
              </a:xfrm>
              <a:prstGeom prst="rect">
                <a:avLst/>
              </a:prstGeom>
              <a:blipFill rotWithShape="1">
                <a:blip r:embed="rId19"/>
                <a:stretch>
                  <a:fillRect b="-4688"/>
                </a:stretch>
              </a:blipFill>
              <a:ln>
                <a:noFill/>
              </a:ln>
            </p:spPr>
            <p:txBody>
              <a:bodyPr/>
              <a:lstStyle/>
              <a:p>
                <a:r>
                  <a:rPr lang="zh-CN" altLang="en-US">
                    <a:noFill/>
                  </a:rPr>
                  <a:t> </a:t>
                </a:r>
                <a:endParaRPr lang="zh-CN" altLang="en-US">
                  <a:noFill/>
                </a:endParaRPr>
              </a:p>
            </p:txBody>
          </p:sp>
        </mc:Fallback>
      </mc:AlternateContent>
    </p:spTree>
    <p:extLst>
      <p:ext uri="{BB962C8B-B14F-4D97-AF65-F5344CB8AC3E}">
        <p14:creationId xmlns:p14="http://schemas.microsoft.com/office/powerpoint/2010/main" val="38249483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3.1 Mandatory access control</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77500" lnSpcReduction="20000"/>
              </a:bodyPr>
              <a:lstStyle/>
              <a:p>
                <a:r>
                  <a:rPr lang="en-AU" dirty="0"/>
                  <a:t>A MAC model can be denoted as six-tuple: </a:t>
                </a:r>
                <a14:m>
                  <m:oMath xmlns:m="http://schemas.openxmlformats.org/officeDocument/2006/math">
                    <m:d>
                      <m:dPr>
                        <m:begChr m:val="⟨"/>
                        <m:endChr m:val="⟩"/>
                        <m:ctrlPr>
                          <a:rPr lang="en-AU" altLang="zh-CN" i="1" smtClean="0">
                            <a:latin typeface="Cambria Math" panose="02040503050406030204" pitchFamily="18" charset="0"/>
                          </a:rPr>
                        </m:ctrlPr>
                      </m:dPr>
                      <m:e>
                        <m:r>
                          <a:rPr lang="en-US" altLang="zh-CN" b="0" i="1" smtClean="0">
                            <a:latin typeface="Cambria Math" panose="02040503050406030204" pitchFamily="18" charset="0"/>
                          </a:rPr>
                          <m:t>𝑁</m:t>
                        </m:r>
                        <m:r>
                          <a:rPr lang="en-US" altLang="zh-CN" b="0" i="1" smtClean="0">
                            <a:latin typeface="Cambria Math" panose="02040503050406030204" pitchFamily="18" charset="0"/>
                          </a:rPr>
                          <m:t>,</m:t>
                        </m:r>
                        <m:r>
                          <a:rPr lang="en-US" altLang="zh-CN" b="0" i="1" smtClean="0">
                            <a:latin typeface="Cambria Math" panose="02040503050406030204" pitchFamily="18" charset="0"/>
                          </a:rPr>
                          <m:t>𝑃</m:t>
                        </m:r>
                        <m:r>
                          <a:rPr lang="en-US" altLang="zh-CN" b="0" i="1" smtClean="0">
                            <a:latin typeface="Cambria Math" panose="02040503050406030204" pitchFamily="18" charset="0"/>
                          </a:rPr>
                          <m:t>,</m:t>
                        </m:r>
                        <m:r>
                          <a:rPr lang="en-US" altLang="zh-CN" b="0" i="1" smtClean="0">
                            <a:latin typeface="Cambria Math" panose="02040503050406030204" pitchFamily="18" charset="0"/>
                          </a:rPr>
                          <m:t>𝑆𝐶</m:t>
                        </m:r>
                        <m:r>
                          <a:rPr lang="en-US" altLang="zh-CN" b="0" i="1" smtClean="0">
                            <a:latin typeface="Cambria Math" panose="02040503050406030204" pitchFamily="18" charset="0"/>
                          </a:rPr>
                          <m:t>,⊕,⊗,→ </m:t>
                        </m:r>
                      </m:e>
                    </m:d>
                  </m:oMath>
                </a14:m>
                <a:r>
                  <a:rPr lang="en-AU" dirty="0"/>
                  <a:t>.</a:t>
                </a:r>
              </a:p>
              <a:p>
                <a:pPr lvl="1"/>
                <a14:m>
                  <m:oMath xmlns:m="http://schemas.openxmlformats.org/officeDocument/2006/math">
                    <m:r>
                      <a:rPr lang="en-US" sz="2800" b="0" i="1" smtClean="0">
                        <a:latin typeface="Cambria Math" panose="02040503050406030204" pitchFamily="18" charset="0"/>
                      </a:rPr>
                      <m:t>𝑁</m:t>
                    </m:r>
                    <m:r>
                      <a:rPr lang="en-US" sz="2800" b="0" i="1" smtClean="0">
                        <a:latin typeface="Cambria Math" panose="02040503050406030204" pitchFamily="18" charset="0"/>
                      </a:rPr>
                      <m:t>={</m:t>
                    </m:r>
                    <m:r>
                      <a:rPr lang="en-US" sz="2800" b="0" i="1" smtClean="0">
                        <a:latin typeface="Cambria Math" panose="02040503050406030204" pitchFamily="18" charset="0"/>
                      </a:rPr>
                      <m:t>𝑎</m:t>
                    </m:r>
                    <m:r>
                      <a:rPr lang="en-US" sz="2800" b="0" i="1" smtClean="0">
                        <a:latin typeface="Cambria Math" panose="02040503050406030204" pitchFamily="18" charset="0"/>
                      </a:rPr>
                      <m:t>,</m:t>
                    </m:r>
                    <m:r>
                      <a:rPr lang="en-US" sz="2800" b="0" i="1" smtClean="0">
                        <a:latin typeface="Cambria Math" panose="02040503050406030204" pitchFamily="18" charset="0"/>
                      </a:rPr>
                      <m:t>𝑏</m:t>
                    </m:r>
                    <m:r>
                      <a:rPr lang="en-US" sz="2800" b="0" i="1" smtClean="0">
                        <a:latin typeface="Cambria Math" panose="02040503050406030204" pitchFamily="18" charset="0"/>
                      </a:rPr>
                      <m:t>,…}</m:t>
                    </m:r>
                  </m:oMath>
                </a14:m>
                <a:r>
                  <a:rPr lang="en-AU" sz="2800" dirty="0"/>
                  <a:t> is the set of system objects including users and resources.</a:t>
                </a:r>
              </a:p>
              <a:p>
                <a:pPr lvl="1"/>
                <a14:m>
                  <m:oMath xmlns:m="http://schemas.openxmlformats.org/officeDocument/2006/math">
                    <m:r>
                      <a:rPr lang="en-US" altLang="zh-CN" sz="2800" b="0" i="1" smtClean="0">
                        <a:solidFill>
                          <a:prstClr val="black"/>
                        </a:solidFill>
                        <a:latin typeface="Cambria Math" panose="02040503050406030204" pitchFamily="18" charset="0"/>
                      </a:rPr>
                      <m:t>𝑃</m:t>
                    </m:r>
                    <m:r>
                      <a:rPr lang="en-US" altLang="zh-CN" sz="2800" i="1">
                        <a:solidFill>
                          <a:prstClr val="black"/>
                        </a:solidFill>
                        <a:latin typeface="Cambria Math" panose="02040503050406030204" pitchFamily="18" charset="0"/>
                      </a:rPr>
                      <m:t>={</m:t>
                    </m:r>
                    <m:r>
                      <a:rPr lang="en-US" altLang="zh-CN" sz="2800" b="0" i="1" smtClean="0">
                        <a:solidFill>
                          <a:prstClr val="black"/>
                        </a:solidFill>
                        <a:latin typeface="Cambria Math" panose="02040503050406030204" pitchFamily="18" charset="0"/>
                      </a:rPr>
                      <m:t>𝑝</m:t>
                    </m:r>
                    <m:r>
                      <a:rPr lang="en-US" altLang="zh-CN" sz="2800" i="1">
                        <a:solidFill>
                          <a:prstClr val="black"/>
                        </a:solidFill>
                        <a:latin typeface="Cambria Math" panose="02040503050406030204" pitchFamily="18" charset="0"/>
                      </a:rPr>
                      <m:t>,</m:t>
                    </m:r>
                    <m:r>
                      <a:rPr lang="en-US" altLang="zh-CN" sz="2800" b="0" i="1" smtClean="0">
                        <a:solidFill>
                          <a:prstClr val="black"/>
                        </a:solidFill>
                        <a:latin typeface="Cambria Math" panose="02040503050406030204" pitchFamily="18" charset="0"/>
                      </a:rPr>
                      <m:t>𝑞</m:t>
                    </m:r>
                    <m:r>
                      <a:rPr lang="en-US" altLang="zh-CN" sz="2800" i="1">
                        <a:solidFill>
                          <a:prstClr val="black"/>
                        </a:solidFill>
                        <a:latin typeface="Cambria Math" panose="02040503050406030204" pitchFamily="18" charset="0"/>
                      </a:rPr>
                      <m:t>,…}</m:t>
                    </m:r>
                  </m:oMath>
                </a14:m>
                <a:r>
                  <a:rPr lang="en-AU" sz="2800" dirty="0"/>
                  <a:t> is the set of system processes running on behalf of users.</a:t>
                </a:r>
              </a:p>
              <a:p>
                <a:pPr lvl="1"/>
                <a14:m>
                  <m:oMath xmlns:m="http://schemas.openxmlformats.org/officeDocument/2006/math">
                    <m:r>
                      <a:rPr lang="en-US" altLang="zh-CN" sz="2800" b="0" i="1" smtClean="0">
                        <a:solidFill>
                          <a:prstClr val="black"/>
                        </a:solidFill>
                        <a:latin typeface="Cambria Math" panose="02040503050406030204" pitchFamily="18" charset="0"/>
                      </a:rPr>
                      <m:t>𝑆𝐶</m:t>
                    </m:r>
                    <m:r>
                      <a:rPr lang="en-US" altLang="zh-CN" sz="2800" i="1">
                        <a:solidFill>
                          <a:prstClr val="black"/>
                        </a:solidFill>
                        <a:latin typeface="Cambria Math" panose="02040503050406030204" pitchFamily="18" charset="0"/>
                      </a:rPr>
                      <m:t>={</m:t>
                    </m:r>
                    <m:r>
                      <a:rPr lang="en-US" altLang="zh-CN" sz="2800" b="0" i="1" smtClean="0">
                        <a:solidFill>
                          <a:prstClr val="black"/>
                        </a:solidFill>
                        <a:latin typeface="Cambria Math" panose="02040503050406030204" pitchFamily="18" charset="0"/>
                      </a:rPr>
                      <m:t>𝐴</m:t>
                    </m:r>
                    <m:r>
                      <a:rPr lang="en-US" altLang="zh-CN" sz="2800" i="1">
                        <a:solidFill>
                          <a:prstClr val="black"/>
                        </a:solidFill>
                        <a:latin typeface="Cambria Math" panose="02040503050406030204" pitchFamily="18" charset="0"/>
                      </a:rPr>
                      <m:t>,</m:t>
                    </m:r>
                    <m:r>
                      <a:rPr lang="en-US" altLang="zh-CN" sz="2800" b="0" i="1" smtClean="0">
                        <a:solidFill>
                          <a:prstClr val="black"/>
                        </a:solidFill>
                        <a:latin typeface="Cambria Math" panose="02040503050406030204" pitchFamily="18" charset="0"/>
                      </a:rPr>
                      <m:t>𝐵</m:t>
                    </m:r>
                    <m:r>
                      <a:rPr lang="en-US" altLang="zh-CN" sz="2800" i="1">
                        <a:solidFill>
                          <a:prstClr val="black"/>
                        </a:solidFill>
                        <a:latin typeface="Cambria Math" panose="02040503050406030204" pitchFamily="18" charset="0"/>
                      </a:rPr>
                      <m:t>,…}</m:t>
                    </m:r>
                  </m:oMath>
                </a14:m>
                <a:r>
                  <a:rPr lang="en-AU" sz="2800" dirty="0"/>
                  <a:t> is the set of security classes; an example could be </a:t>
                </a:r>
              </a:p>
              <a:p>
                <a:pPr marL="457200" lvl="1" indent="0">
                  <a:buNone/>
                </a:pPr>
                <a:r>
                  <a:rPr lang="en-AU" altLang="zh-CN" sz="2800" dirty="0">
                    <a:solidFill>
                      <a:prstClr val="black"/>
                    </a:solidFill>
                  </a:rPr>
                  <a:t>	</a:t>
                </a:r>
                <a14:m>
                  <m:oMath xmlns:m="http://schemas.openxmlformats.org/officeDocument/2006/math">
                    <m:r>
                      <a:rPr lang="en-US" altLang="zh-CN" sz="2800" i="1">
                        <a:solidFill>
                          <a:prstClr val="black"/>
                        </a:solidFill>
                        <a:latin typeface="Cambria Math" panose="02040503050406030204" pitchFamily="18" charset="0"/>
                      </a:rPr>
                      <m:t>𝑆𝐶</m:t>
                    </m:r>
                    <m:r>
                      <a:rPr lang="en-US" altLang="zh-CN" sz="2800" i="1">
                        <a:solidFill>
                          <a:prstClr val="black"/>
                        </a:solidFill>
                        <a:latin typeface="Cambria Math" panose="02040503050406030204" pitchFamily="18" charset="0"/>
                      </a:rPr>
                      <m:t>=</m:t>
                    </m:r>
                    <m:d>
                      <m:dPr>
                        <m:begChr m:val="{"/>
                        <m:endChr m:val="}"/>
                        <m:ctrlPr>
                          <a:rPr lang="en-US" altLang="zh-CN" sz="2800" b="0" i="1">
                            <a:solidFill>
                              <a:prstClr val="black"/>
                            </a:solidFill>
                            <a:latin typeface="Cambria Math" panose="02040503050406030204" pitchFamily="18" charset="0"/>
                          </a:rPr>
                        </m:ctrlPr>
                      </m:dPr>
                      <m:e>
                        <m:r>
                          <a:rPr lang="en-US" altLang="zh-CN" sz="2800" b="0" i="1" smtClean="0">
                            <a:solidFill>
                              <a:prstClr val="black"/>
                            </a:solidFill>
                            <a:latin typeface="Cambria Math" panose="02040503050406030204" pitchFamily="18" charset="0"/>
                          </a:rPr>
                          <m:t>𝑇𝑜𝑝𝑆𝑒𝑐𝑢𝑟𝑖𝑡𝑦</m:t>
                        </m:r>
                        <m:r>
                          <a:rPr lang="en-US" altLang="zh-CN" sz="2800" i="1">
                            <a:solidFill>
                              <a:prstClr val="black"/>
                            </a:solidFill>
                            <a:latin typeface="Cambria Math" panose="02040503050406030204" pitchFamily="18" charset="0"/>
                          </a:rPr>
                          <m:t>,</m:t>
                        </m:r>
                        <m:r>
                          <a:rPr lang="en-US" altLang="zh-CN" sz="2800" b="0" i="1" smtClean="0">
                            <a:solidFill>
                              <a:prstClr val="black"/>
                            </a:solidFill>
                            <a:latin typeface="Cambria Math" panose="02040503050406030204" pitchFamily="18" charset="0"/>
                          </a:rPr>
                          <m:t>𝑆𝑒𝑐𝑢𝑟𝑖𝑡𝑦</m:t>
                        </m:r>
                        <m:r>
                          <a:rPr lang="en-US" altLang="zh-CN" sz="2800" b="0" i="1" smtClean="0">
                            <a:solidFill>
                              <a:prstClr val="black"/>
                            </a:solidFill>
                            <a:latin typeface="Cambria Math" panose="02040503050406030204" pitchFamily="18" charset="0"/>
                          </a:rPr>
                          <m:t>,</m:t>
                        </m:r>
                        <m:r>
                          <a:rPr lang="en-US" altLang="zh-CN" sz="2800" b="0" i="1" smtClean="0">
                            <a:solidFill>
                              <a:prstClr val="black"/>
                            </a:solidFill>
                            <a:latin typeface="Cambria Math" panose="02040503050406030204" pitchFamily="18" charset="0"/>
                          </a:rPr>
                          <m:t>𝐶𝑜𝑛𝑓𝑖𝑑𝑒𝑛𝑡𝑖𝑎𝑙</m:t>
                        </m:r>
                        <m:r>
                          <a:rPr lang="en-US" altLang="zh-CN" sz="2800" b="0" i="1" smtClean="0">
                            <a:solidFill>
                              <a:prstClr val="black"/>
                            </a:solidFill>
                            <a:latin typeface="Cambria Math" panose="02040503050406030204" pitchFamily="18" charset="0"/>
                          </a:rPr>
                          <m:t>,</m:t>
                        </m:r>
                        <m:r>
                          <a:rPr lang="en-US" altLang="zh-CN" sz="2800" b="0" i="1" smtClean="0">
                            <a:solidFill>
                              <a:prstClr val="black"/>
                            </a:solidFill>
                            <a:latin typeface="Cambria Math" panose="02040503050406030204" pitchFamily="18" charset="0"/>
                          </a:rPr>
                          <m:t>𝑈𝑛𝑐𝑙𝑎𝑠𝑠𝑖𝑓𝑖𝑒𝑑</m:t>
                        </m:r>
                      </m:e>
                    </m:d>
                  </m:oMath>
                </a14:m>
                <a:r>
                  <a:rPr lang="en-AU" altLang="zh-CN" sz="2800" dirty="0">
                    <a:solidFill>
                      <a:prstClr val="black"/>
                    </a:solidFill>
                  </a:rPr>
                  <a:t>.</a:t>
                </a:r>
              </a:p>
              <a:p>
                <a:pPr marL="457200" lvl="1" indent="0">
                  <a:buNone/>
                </a:pPr>
                <a:r>
                  <a:rPr lang="en-AU" altLang="zh-CN" sz="2800" dirty="0">
                    <a:solidFill>
                      <a:prstClr val="black"/>
                    </a:solidFill>
                  </a:rPr>
                  <a:t>	Each security class designates an information container.</a:t>
                </a:r>
              </a:p>
              <a:p>
                <a:pPr marL="457200" lvl="1" indent="0">
                  <a:buNone/>
                </a:pPr>
                <a:r>
                  <a:rPr lang="en-AU" altLang="zh-CN" sz="2800" dirty="0">
                    <a:solidFill>
                      <a:prstClr val="black"/>
                    </a:solidFill>
                  </a:rPr>
                  <a:t>	Each object </a:t>
                </a:r>
                <a14:m>
                  <m:oMath xmlns:m="http://schemas.openxmlformats.org/officeDocument/2006/math">
                    <m:r>
                      <a:rPr lang="en-US" altLang="zh-CN" sz="2800" b="0" i="1" smtClean="0">
                        <a:solidFill>
                          <a:prstClr val="black"/>
                        </a:solidFill>
                        <a:latin typeface="Cambria Math" panose="02040503050406030204" pitchFamily="18" charset="0"/>
                      </a:rPr>
                      <m:t>𝑜</m:t>
                    </m:r>
                    <m:r>
                      <a:rPr lang="en-US" altLang="zh-CN" sz="2800" b="0" i="1" smtClean="0">
                        <a:solidFill>
                          <a:prstClr val="black"/>
                        </a:solidFill>
                        <a:latin typeface="Cambria Math" panose="02040503050406030204" pitchFamily="18" charset="0"/>
                        <a:ea typeface="Cambria Math" panose="02040503050406030204" pitchFamily="18" charset="0"/>
                      </a:rPr>
                      <m:t>∈</m:t>
                    </m:r>
                    <m:r>
                      <a:rPr lang="en-US" altLang="zh-CN" sz="2800" b="0" i="1" smtClean="0">
                        <a:solidFill>
                          <a:prstClr val="black"/>
                        </a:solidFill>
                        <a:latin typeface="Cambria Math" panose="02040503050406030204" pitchFamily="18" charset="0"/>
                        <a:ea typeface="Cambria Math" panose="02040503050406030204" pitchFamily="18" charset="0"/>
                      </a:rPr>
                      <m:t>𝑁</m:t>
                    </m:r>
                  </m:oMath>
                </a14:m>
                <a:r>
                  <a:rPr lang="en-AU" altLang="zh-CN" sz="2800" dirty="0">
                    <a:solidFill>
                      <a:prstClr val="black"/>
                    </a:solidFill>
                  </a:rPr>
                  <a:t> is bound to a security class </a:t>
                </a:r>
                <a14:m>
                  <m:oMath xmlns:m="http://schemas.openxmlformats.org/officeDocument/2006/math">
                    <m:r>
                      <a:rPr lang="en-US" altLang="zh-CN" sz="2800" b="0" i="1" smtClean="0">
                        <a:solidFill>
                          <a:prstClr val="black"/>
                        </a:solidFill>
                        <a:latin typeface="Cambria Math" panose="02040503050406030204" pitchFamily="18" charset="0"/>
                      </a:rPr>
                      <m:t>𝑂</m:t>
                    </m:r>
                    <m:r>
                      <a:rPr lang="en-US" altLang="zh-CN" sz="2800" i="1">
                        <a:solidFill>
                          <a:prstClr val="black"/>
                        </a:solidFill>
                        <a:latin typeface="Cambria Math" panose="02040503050406030204" pitchFamily="18" charset="0"/>
                        <a:ea typeface="Cambria Math" panose="02040503050406030204" pitchFamily="18" charset="0"/>
                      </a:rPr>
                      <m:t>∈</m:t>
                    </m:r>
                    <m:r>
                      <a:rPr lang="en-US" altLang="zh-CN" sz="2800" b="0" i="1" smtClean="0">
                        <a:solidFill>
                          <a:prstClr val="black"/>
                        </a:solidFill>
                        <a:latin typeface="Cambria Math" panose="02040503050406030204" pitchFamily="18" charset="0"/>
                        <a:ea typeface="Cambria Math" panose="02040503050406030204" pitchFamily="18" charset="0"/>
                      </a:rPr>
                      <m:t>𝑆𝐶</m:t>
                    </m:r>
                  </m:oMath>
                </a14:m>
                <a:r>
                  <a:rPr lang="en-AU" altLang="zh-CN" sz="2800" dirty="0">
                    <a:solidFill>
                      <a:prstClr val="black"/>
                    </a:solidFill>
                  </a:rPr>
                  <a:t>. </a:t>
                </a:r>
              </a:p>
              <a:p>
                <a:pPr lvl="1"/>
                <a14:m>
                  <m:oMath xmlns:m="http://schemas.openxmlformats.org/officeDocument/2006/math">
                    <m:r>
                      <a:rPr lang="en-US" altLang="zh-CN" sz="2800" i="1">
                        <a:latin typeface="Cambria Math" panose="02040503050406030204" pitchFamily="18" charset="0"/>
                      </a:rPr>
                      <m:t>⊕</m:t>
                    </m:r>
                    <m:r>
                      <a:rPr lang="en-US" altLang="zh-CN" sz="2800" b="0" i="1" smtClean="0">
                        <a:solidFill>
                          <a:prstClr val="black"/>
                        </a:solidFill>
                        <a:latin typeface="Cambria Math" panose="02040503050406030204" pitchFamily="18" charset="0"/>
                      </a:rPr>
                      <m:t> </m:t>
                    </m:r>
                  </m:oMath>
                </a14:m>
                <a:r>
                  <a:rPr lang="en-AU" altLang="zh-CN" sz="2800" dirty="0">
                    <a:solidFill>
                      <a:prstClr val="black"/>
                    </a:solidFill>
                  </a:rPr>
                  <a:t>is an operator applying to any pair of security classes; for example, </a:t>
                </a:r>
                <a14:m>
                  <m:oMath xmlns:m="http://schemas.openxmlformats.org/officeDocument/2006/math">
                    <m:r>
                      <a:rPr lang="en-US" altLang="zh-CN" sz="2800" i="1">
                        <a:solidFill>
                          <a:prstClr val="black"/>
                        </a:solidFill>
                        <a:latin typeface="Cambria Math" panose="02040503050406030204" pitchFamily="18" charset="0"/>
                      </a:rPr>
                      <m:t>𝐴</m:t>
                    </m:r>
                    <m:r>
                      <a:rPr lang="en-US" altLang="zh-CN" sz="2800" i="1" smtClean="0">
                        <a:solidFill>
                          <a:prstClr val="black"/>
                        </a:solidFill>
                        <a:latin typeface="Cambria Math" panose="02040503050406030204" pitchFamily="18" charset="0"/>
                      </a:rPr>
                      <m:t>⊕</m:t>
                    </m:r>
                    <m:r>
                      <a:rPr lang="en-US" altLang="zh-CN" sz="2800" i="1">
                        <a:solidFill>
                          <a:prstClr val="black"/>
                        </a:solidFill>
                        <a:latin typeface="Cambria Math" panose="02040503050406030204" pitchFamily="18" charset="0"/>
                      </a:rPr>
                      <m:t>𝐵</m:t>
                    </m:r>
                  </m:oMath>
                </a14:m>
                <a:r>
                  <a:rPr lang="en-AU" altLang="zh-CN" sz="2800" dirty="0">
                    <a:solidFill>
                      <a:prstClr val="black"/>
                    </a:solidFill>
                  </a:rPr>
                  <a:t> yields a security class to which information derived from security classes </a:t>
                </a:r>
                <a14:m>
                  <m:oMath xmlns:m="http://schemas.openxmlformats.org/officeDocument/2006/math">
                    <m:r>
                      <a:rPr lang="en-US" altLang="zh-CN" sz="2800" i="1">
                        <a:solidFill>
                          <a:prstClr val="black"/>
                        </a:solidFill>
                        <a:latin typeface="Cambria Math" panose="02040503050406030204" pitchFamily="18" charset="0"/>
                      </a:rPr>
                      <m:t>𝐴</m:t>
                    </m:r>
                  </m:oMath>
                </a14:m>
                <a:r>
                  <a:rPr lang="en-AU" altLang="zh-CN" sz="2800" dirty="0">
                    <a:solidFill>
                      <a:prstClr val="black"/>
                    </a:solidFill>
                  </a:rPr>
                  <a:t> </a:t>
                </a:r>
                <a:r>
                  <a:rPr lang="en-AU" altLang="zh-CN" sz="2800" b="1" i="1" dirty="0">
                    <a:solidFill>
                      <a:prstClr val="black"/>
                    </a:solidFill>
                  </a:rPr>
                  <a:t>or</a:t>
                </a:r>
                <a:r>
                  <a:rPr lang="en-AU" altLang="zh-CN" sz="2800" dirty="0">
                    <a:solidFill>
                      <a:prstClr val="black"/>
                    </a:solidFill>
                  </a:rPr>
                  <a:t> </a:t>
                </a:r>
                <a14:m>
                  <m:oMath xmlns:m="http://schemas.openxmlformats.org/officeDocument/2006/math">
                    <m:r>
                      <a:rPr lang="en-US" altLang="zh-CN" sz="2800" i="1">
                        <a:solidFill>
                          <a:prstClr val="black"/>
                        </a:solidFill>
                        <a:latin typeface="Cambria Math" panose="02040503050406030204" pitchFamily="18" charset="0"/>
                      </a:rPr>
                      <m:t>𝐵</m:t>
                    </m:r>
                  </m:oMath>
                </a14:m>
                <a:r>
                  <a:rPr lang="en-AU" altLang="zh-CN" sz="2800" dirty="0">
                    <a:solidFill>
                      <a:prstClr val="black"/>
                    </a:solidFill>
                  </a:rPr>
                  <a:t> belongs.</a:t>
                </a:r>
              </a:p>
              <a:p>
                <a:pPr lvl="1"/>
                <a14:m>
                  <m:oMath xmlns:m="http://schemas.openxmlformats.org/officeDocument/2006/math">
                    <m:r>
                      <a:rPr lang="en-US" altLang="zh-CN" sz="2800" i="1">
                        <a:latin typeface="Cambria Math" panose="02040503050406030204" pitchFamily="18" charset="0"/>
                      </a:rPr>
                      <m:t>⊗</m:t>
                    </m:r>
                  </m:oMath>
                </a14:m>
                <a:r>
                  <a:rPr lang="en-AU" altLang="zh-CN" sz="2800" dirty="0">
                    <a:solidFill>
                      <a:prstClr val="black"/>
                    </a:solidFill>
                  </a:rPr>
                  <a:t> is an operator applying to any pair of security classes; for example, </a:t>
                </a:r>
                <a14:m>
                  <m:oMath xmlns:m="http://schemas.openxmlformats.org/officeDocument/2006/math">
                    <m:r>
                      <a:rPr lang="en-US" altLang="zh-CN" sz="2800" i="1">
                        <a:solidFill>
                          <a:prstClr val="black"/>
                        </a:solidFill>
                        <a:latin typeface="Cambria Math" panose="02040503050406030204" pitchFamily="18" charset="0"/>
                      </a:rPr>
                      <m:t>𝐴</m:t>
                    </m:r>
                    <m:r>
                      <a:rPr lang="en-US" altLang="zh-CN" sz="2800" i="1">
                        <a:latin typeface="Cambria Math" panose="02040503050406030204" pitchFamily="18" charset="0"/>
                      </a:rPr>
                      <m:t>⊗</m:t>
                    </m:r>
                    <m:r>
                      <a:rPr lang="en-US" altLang="zh-CN" sz="2800" i="1">
                        <a:solidFill>
                          <a:prstClr val="black"/>
                        </a:solidFill>
                        <a:latin typeface="Cambria Math" panose="02040503050406030204" pitchFamily="18" charset="0"/>
                      </a:rPr>
                      <m:t>𝐵</m:t>
                    </m:r>
                  </m:oMath>
                </a14:m>
                <a:r>
                  <a:rPr lang="en-AU" altLang="zh-CN" sz="2800" dirty="0">
                    <a:solidFill>
                      <a:prstClr val="black"/>
                    </a:solidFill>
                  </a:rPr>
                  <a:t> yields a security class to which information derived from security classes </a:t>
                </a:r>
                <a14:m>
                  <m:oMath xmlns:m="http://schemas.openxmlformats.org/officeDocument/2006/math">
                    <m:r>
                      <a:rPr lang="en-US" altLang="zh-CN" sz="2800" i="1">
                        <a:solidFill>
                          <a:prstClr val="black"/>
                        </a:solidFill>
                        <a:latin typeface="Cambria Math" panose="02040503050406030204" pitchFamily="18" charset="0"/>
                      </a:rPr>
                      <m:t>𝐴</m:t>
                    </m:r>
                  </m:oMath>
                </a14:m>
                <a:r>
                  <a:rPr lang="en-AU" altLang="zh-CN" sz="2800" dirty="0">
                    <a:solidFill>
                      <a:prstClr val="black"/>
                    </a:solidFill>
                  </a:rPr>
                  <a:t> </a:t>
                </a:r>
                <a:r>
                  <a:rPr lang="en-AU" altLang="zh-CN" sz="2800" b="1" i="1" dirty="0">
                    <a:solidFill>
                      <a:prstClr val="black"/>
                    </a:solidFill>
                  </a:rPr>
                  <a:t>and</a:t>
                </a:r>
                <a:r>
                  <a:rPr lang="en-AU" altLang="zh-CN" sz="2800" dirty="0">
                    <a:solidFill>
                      <a:prstClr val="black"/>
                    </a:solidFill>
                  </a:rPr>
                  <a:t> </a:t>
                </a:r>
                <a14:m>
                  <m:oMath xmlns:m="http://schemas.openxmlformats.org/officeDocument/2006/math">
                    <m:r>
                      <a:rPr lang="en-US" altLang="zh-CN" sz="2800" i="1">
                        <a:solidFill>
                          <a:prstClr val="black"/>
                        </a:solidFill>
                        <a:latin typeface="Cambria Math" panose="02040503050406030204" pitchFamily="18" charset="0"/>
                      </a:rPr>
                      <m:t>𝐵</m:t>
                    </m:r>
                  </m:oMath>
                </a14:m>
                <a:r>
                  <a:rPr lang="en-AU" altLang="zh-CN" sz="2800" dirty="0">
                    <a:solidFill>
                      <a:prstClr val="black"/>
                    </a:solidFill>
                  </a:rPr>
                  <a:t> belongs.</a:t>
                </a:r>
              </a:p>
              <a:p>
                <a:pPr lvl="1"/>
                <a14:m>
                  <m:oMath xmlns:m="http://schemas.openxmlformats.org/officeDocument/2006/math">
                    <m:r>
                      <a:rPr lang="en-US" altLang="zh-CN" sz="2800" i="1">
                        <a:latin typeface="Cambria Math" panose="02040503050406030204" pitchFamily="18" charset="0"/>
                        <a:ea typeface="Cambria Math" panose="02040503050406030204" pitchFamily="18" charset="0"/>
                      </a:rPr>
                      <m:t>→</m:t>
                    </m:r>
                  </m:oMath>
                </a14:m>
                <a:r>
                  <a:rPr lang="en-AU" altLang="zh-CN" sz="2800" dirty="0">
                    <a:solidFill>
                      <a:prstClr val="black"/>
                    </a:solidFill>
                  </a:rPr>
                  <a:t> defines an information-flow policy; for example, </a:t>
                </a:r>
                <a14:m>
                  <m:oMath xmlns:m="http://schemas.openxmlformats.org/officeDocument/2006/math">
                    <m:r>
                      <a:rPr lang="en-US" altLang="zh-CN" sz="2800" i="1">
                        <a:solidFill>
                          <a:prstClr val="black"/>
                        </a:solidFill>
                        <a:latin typeface="Cambria Math" panose="02040503050406030204" pitchFamily="18" charset="0"/>
                      </a:rPr>
                      <m:t>𝐴</m:t>
                    </m:r>
                    <m:r>
                      <a:rPr lang="en-US" altLang="zh-CN" sz="2800" i="1" smtClean="0">
                        <a:solidFill>
                          <a:prstClr val="black"/>
                        </a:solidFill>
                        <a:latin typeface="Cambria Math" panose="02040503050406030204" pitchFamily="18" charset="0"/>
                        <a:ea typeface="Cambria Math" panose="02040503050406030204" pitchFamily="18" charset="0"/>
                      </a:rPr>
                      <m:t>→</m:t>
                    </m:r>
                    <m:r>
                      <a:rPr lang="en-US" altLang="zh-CN" sz="2800" i="1">
                        <a:solidFill>
                          <a:prstClr val="black"/>
                        </a:solidFill>
                        <a:latin typeface="Cambria Math" panose="02040503050406030204" pitchFamily="18" charset="0"/>
                      </a:rPr>
                      <m:t>𝐵</m:t>
                    </m:r>
                  </m:oMath>
                </a14:m>
                <a:r>
                  <a:rPr lang="en-AU" altLang="zh-CN" sz="2800" dirty="0">
                    <a:solidFill>
                      <a:prstClr val="black"/>
                    </a:solidFill>
                  </a:rPr>
                  <a:t> indicates that information from security class </a:t>
                </a:r>
                <a14:m>
                  <m:oMath xmlns:m="http://schemas.openxmlformats.org/officeDocument/2006/math">
                    <m:r>
                      <a:rPr lang="en-US" altLang="zh-CN" sz="2800" i="1">
                        <a:solidFill>
                          <a:prstClr val="black"/>
                        </a:solidFill>
                        <a:latin typeface="Cambria Math" panose="02040503050406030204" pitchFamily="18" charset="0"/>
                      </a:rPr>
                      <m:t>𝐴</m:t>
                    </m:r>
                  </m:oMath>
                </a14:m>
                <a:r>
                  <a:rPr lang="en-AU" altLang="zh-CN" sz="2800" dirty="0">
                    <a:solidFill>
                      <a:prstClr val="black"/>
                    </a:solidFill>
                  </a:rPr>
                  <a:t> is permitted to flow into class </a:t>
                </a:r>
                <a14:m>
                  <m:oMath xmlns:m="http://schemas.openxmlformats.org/officeDocument/2006/math">
                    <m:r>
                      <a:rPr lang="en-US" altLang="zh-CN" sz="2800" i="1">
                        <a:solidFill>
                          <a:prstClr val="black"/>
                        </a:solidFill>
                        <a:latin typeface="Cambria Math" panose="02040503050406030204" pitchFamily="18" charset="0"/>
                      </a:rPr>
                      <m:t>𝐵</m:t>
                    </m:r>
                  </m:oMath>
                </a14:m>
                <a:r>
                  <a:rPr lang="en-AU" altLang="zh-CN" sz="2800" dirty="0">
                    <a:solidFill>
                      <a:prstClr val="black"/>
                    </a:solidFill>
                  </a:rPr>
                  <a:t>.</a:t>
                </a:r>
              </a:p>
              <a:p>
                <a:pPr marL="457200" lvl="1" indent="0">
                  <a:buNone/>
                </a:pPr>
                <a:endParaRPr lang="en-AU" sz="2400" dirty="0"/>
              </a:p>
              <a:p>
                <a:pPr marL="0" indent="0" algn="just">
                  <a:buNone/>
                </a:pPr>
                <a:r>
                  <a:rPr lang="en-US" sz="2400" dirty="0"/>
                  <a:t>	</a:t>
                </a:r>
              </a:p>
              <a:p>
                <a:pPr marL="0" indent="0" algn="just">
                  <a:buNone/>
                </a:pPr>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696" t="-2801" r="-928"/>
                </a:stretch>
              </a:blipFill>
            </p:spPr>
            <p:txBody>
              <a:bodyPr/>
              <a:lstStyle/>
              <a:p>
                <a:r>
                  <a:rPr lang="en-AU">
                    <a:noFill/>
                  </a:rPr>
                  <a:t> </a:t>
                </a:r>
              </a:p>
            </p:txBody>
          </p:sp>
        </mc:Fallback>
      </mc:AlternateContent>
      <p:sp>
        <p:nvSpPr>
          <p:cNvPr id="4" name="Slide Number Placeholder 3"/>
          <p:cNvSpPr>
            <a:spLocks noGrp="1"/>
          </p:cNvSpPr>
          <p:nvPr>
            <p:ph type="sldNum" sz="quarter" idx="12"/>
          </p:nvPr>
        </p:nvSpPr>
        <p:spPr/>
        <p:txBody>
          <a:bodyPr/>
          <a:lstStyle/>
          <a:p>
            <a:fld id="{CA8D9AD5-F248-4919-864A-CFD76CC027D6}" type="slidenum">
              <a:rPr lang="en-AU" smtClean="0"/>
              <a:t>18</a:t>
            </a:fld>
            <a:endParaRPr lang="en-AU"/>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3.1 Mandatory access control</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25000" lnSpcReduction="20000"/>
              </a:bodyPr>
              <a:lstStyle/>
              <a:p>
                <a:r>
                  <a:rPr lang="en-US" sz="8600" dirty="0"/>
                  <a:t>We use an example to describe the MAC model.</a:t>
                </a:r>
              </a:p>
              <a:p>
                <a:r>
                  <a:rPr lang="en-US" altLang="zh-CN" sz="8600" dirty="0">
                    <a:solidFill>
                      <a:prstClr val="black"/>
                    </a:solidFill>
                  </a:rPr>
                  <a:t>Let </a:t>
                </a:r>
                <a14:m>
                  <m:oMath xmlns:m="http://schemas.openxmlformats.org/officeDocument/2006/math">
                    <m:r>
                      <a:rPr lang="en-US" altLang="zh-CN" sz="8600" i="1">
                        <a:solidFill>
                          <a:prstClr val="black"/>
                        </a:solidFill>
                        <a:latin typeface="Cambria Math" panose="02040503050406030204" pitchFamily="18" charset="0"/>
                      </a:rPr>
                      <m:t>𝑁</m:t>
                    </m:r>
                    <m:r>
                      <a:rPr lang="en-US" altLang="zh-CN" sz="8600" i="1">
                        <a:solidFill>
                          <a:prstClr val="black"/>
                        </a:solidFill>
                        <a:latin typeface="Cambria Math" panose="02040503050406030204" pitchFamily="18" charset="0"/>
                      </a:rPr>
                      <m:t>=</m:t>
                    </m:r>
                    <m:d>
                      <m:dPr>
                        <m:begChr m:val="{"/>
                        <m:endChr m:val="}"/>
                        <m:ctrlPr>
                          <a:rPr lang="en-US" altLang="zh-CN" sz="8600" b="0" i="1" smtClean="0">
                            <a:solidFill>
                              <a:prstClr val="black"/>
                            </a:solidFill>
                            <a:latin typeface="Cambria Math" panose="02040503050406030204" pitchFamily="18" charset="0"/>
                          </a:rPr>
                        </m:ctrlPr>
                      </m:dPr>
                      <m:e>
                        <m:sSub>
                          <m:sSubPr>
                            <m:ctrlPr>
                              <a:rPr lang="en-AU" altLang="zh-CN" sz="8600" b="0" i="1" smtClean="0">
                                <a:solidFill>
                                  <a:prstClr val="black"/>
                                </a:solidFill>
                                <a:latin typeface="Cambria Math" panose="02040503050406030204" pitchFamily="18" charset="0"/>
                              </a:rPr>
                            </m:ctrlPr>
                          </m:sSubPr>
                          <m:e>
                            <m:r>
                              <a:rPr lang="en-AU" altLang="zh-CN" sz="8600" b="0" i="1" smtClean="0">
                                <a:solidFill>
                                  <a:prstClr val="black"/>
                                </a:solidFill>
                                <a:latin typeface="Cambria Math" panose="02040503050406030204" pitchFamily="18" charset="0"/>
                              </a:rPr>
                              <m:t>𝑢</m:t>
                            </m:r>
                          </m:e>
                          <m:sub>
                            <m:r>
                              <a:rPr lang="en-AU" altLang="zh-CN" sz="8600" b="0" i="1" smtClean="0">
                                <a:solidFill>
                                  <a:prstClr val="black"/>
                                </a:solidFill>
                                <a:latin typeface="Cambria Math" panose="02040503050406030204" pitchFamily="18" charset="0"/>
                              </a:rPr>
                              <m:t>1</m:t>
                            </m:r>
                          </m:sub>
                        </m:sSub>
                        <m:r>
                          <a:rPr lang="en-US" altLang="zh-CN" sz="8600" i="1">
                            <a:solidFill>
                              <a:prstClr val="black"/>
                            </a:solidFill>
                            <a:latin typeface="Cambria Math" panose="02040503050406030204" pitchFamily="18" charset="0"/>
                          </a:rPr>
                          <m:t>,</m:t>
                        </m:r>
                        <m:sSub>
                          <m:sSubPr>
                            <m:ctrlPr>
                              <a:rPr lang="en-AU" altLang="zh-CN" sz="8600" b="0" i="1" smtClean="0">
                                <a:solidFill>
                                  <a:prstClr val="black"/>
                                </a:solidFill>
                                <a:latin typeface="Cambria Math" panose="02040503050406030204" pitchFamily="18" charset="0"/>
                              </a:rPr>
                            </m:ctrlPr>
                          </m:sSubPr>
                          <m:e>
                            <m:r>
                              <a:rPr lang="en-AU" altLang="zh-CN" sz="8600" b="0" i="1" smtClean="0">
                                <a:solidFill>
                                  <a:prstClr val="black"/>
                                </a:solidFill>
                                <a:latin typeface="Cambria Math" panose="02040503050406030204" pitchFamily="18" charset="0"/>
                              </a:rPr>
                              <m:t>𝑢</m:t>
                            </m:r>
                          </m:e>
                          <m:sub>
                            <m:r>
                              <a:rPr lang="en-AU" altLang="zh-CN" sz="8600" b="0" i="1" smtClean="0">
                                <a:solidFill>
                                  <a:prstClr val="black"/>
                                </a:solidFill>
                                <a:latin typeface="Cambria Math" panose="02040503050406030204" pitchFamily="18" charset="0"/>
                              </a:rPr>
                              <m:t>2</m:t>
                            </m:r>
                          </m:sub>
                        </m:sSub>
                        <m:r>
                          <a:rPr lang="en-US" altLang="zh-CN" sz="8600" i="1">
                            <a:solidFill>
                              <a:prstClr val="black"/>
                            </a:solidFill>
                            <a:latin typeface="Cambria Math" panose="02040503050406030204" pitchFamily="18" charset="0"/>
                          </a:rPr>
                          <m:t>,</m:t>
                        </m:r>
                        <m:sSub>
                          <m:sSubPr>
                            <m:ctrlPr>
                              <a:rPr lang="en-AU" altLang="zh-CN" sz="8600" b="0" i="1" smtClean="0">
                                <a:solidFill>
                                  <a:prstClr val="black"/>
                                </a:solidFill>
                                <a:latin typeface="Cambria Math" panose="02040503050406030204" pitchFamily="18" charset="0"/>
                              </a:rPr>
                            </m:ctrlPr>
                          </m:sSubPr>
                          <m:e>
                            <m:r>
                              <a:rPr lang="en-AU" altLang="zh-CN" sz="8600" b="0" i="1" smtClean="0">
                                <a:solidFill>
                                  <a:prstClr val="black"/>
                                </a:solidFill>
                                <a:latin typeface="Cambria Math" panose="02040503050406030204" pitchFamily="18" charset="0"/>
                              </a:rPr>
                              <m:t>𝑢</m:t>
                            </m:r>
                          </m:e>
                          <m:sub>
                            <m:r>
                              <a:rPr lang="en-AU" altLang="zh-CN" sz="8600" b="0" i="1" smtClean="0">
                                <a:solidFill>
                                  <a:prstClr val="black"/>
                                </a:solidFill>
                                <a:latin typeface="Cambria Math" panose="02040503050406030204" pitchFamily="18" charset="0"/>
                              </a:rPr>
                              <m:t>3</m:t>
                            </m:r>
                          </m:sub>
                        </m:sSub>
                        <m:r>
                          <a:rPr lang="en-AU" altLang="zh-CN" sz="8600" b="0" i="1" smtClean="0">
                            <a:solidFill>
                              <a:prstClr val="black"/>
                            </a:solidFill>
                            <a:latin typeface="Cambria Math" panose="02040503050406030204" pitchFamily="18" charset="0"/>
                          </a:rPr>
                          <m:t>,</m:t>
                        </m:r>
                        <m:sSub>
                          <m:sSubPr>
                            <m:ctrlPr>
                              <a:rPr lang="en-AU" altLang="zh-CN" sz="8600" b="0" i="1" smtClean="0">
                                <a:solidFill>
                                  <a:prstClr val="black"/>
                                </a:solidFill>
                                <a:latin typeface="Cambria Math" panose="02040503050406030204" pitchFamily="18" charset="0"/>
                              </a:rPr>
                            </m:ctrlPr>
                          </m:sSubPr>
                          <m:e>
                            <m:r>
                              <a:rPr lang="en-AU" altLang="zh-CN" sz="8600" b="0" i="1" smtClean="0">
                                <a:solidFill>
                                  <a:prstClr val="black"/>
                                </a:solidFill>
                                <a:latin typeface="Cambria Math" panose="02040503050406030204" pitchFamily="18" charset="0"/>
                              </a:rPr>
                              <m:t>𝑢</m:t>
                            </m:r>
                          </m:e>
                          <m:sub>
                            <m:r>
                              <a:rPr lang="en-AU" altLang="zh-CN" sz="8600" b="0" i="1" smtClean="0">
                                <a:solidFill>
                                  <a:prstClr val="black"/>
                                </a:solidFill>
                                <a:latin typeface="Cambria Math" panose="02040503050406030204" pitchFamily="18" charset="0"/>
                              </a:rPr>
                              <m:t>4</m:t>
                            </m:r>
                          </m:sub>
                        </m:sSub>
                        <m:r>
                          <a:rPr lang="en-AU" altLang="zh-CN" sz="8600" b="0" i="1" smtClean="0">
                            <a:solidFill>
                              <a:prstClr val="black"/>
                            </a:solidFill>
                            <a:latin typeface="Cambria Math" panose="02040503050406030204" pitchFamily="18" charset="0"/>
                          </a:rPr>
                          <m:t>,</m:t>
                        </m:r>
                        <m:sSub>
                          <m:sSubPr>
                            <m:ctrlPr>
                              <a:rPr lang="en-AU" altLang="zh-CN" sz="8600" b="0" i="1" smtClean="0">
                                <a:solidFill>
                                  <a:prstClr val="black"/>
                                </a:solidFill>
                                <a:latin typeface="Cambria Math" panose="02040503050406030204" pitchFamily="18" charset="0"/>
                              </a:rPr>
                            </m:ctrlPr>
                          </m:sSubPr>
                          <m:e>
                            <m:r>
                              <a:rPr lang="en-AU" altLang="zh-CN" sz="8600" b="0" i="1" smtClean="0">
                                <a:solidFill>
                                  <a:prstClr val="black"/>
                                </a:solidFill>
                                <a:latin typeface="Cambria Math" panose="02040503050406030204" pitchFamily="18" charset="0"/>
                              </a:rPr>
                              <m:t>𝑟</m:t>
                            </m:r>
                          </m:e>
                          <m:sub>
                            <m:r>
                              <a:rPr lang="en-AU" altLang="zh-CN" sz="8600" b="0" i="1" smtClean="0">
                                <a:solidFill>
                                  <a:prstClr val="black"/>
                                </a:solidFill>
                                <a:latin typeface="Cambria Math" panose="02040503050406030204" pitchFamily="18" charset="0"/>
                              </a:rPr>
                              <m:t>1</m:t>
                            </m:r>
                          </m:sub>
                        </m:sSub>
                        <m:r>
                          <a:rPr lang="en-AU" altLang="zh-CN" sz="8600" b="0" i="1" smtClean="0">
                            <a:solidFill>
                              <a:prstClr val="black"/>
                            </a:solidFill>
                            <a:latin typeface="Cambria Math" panose="02040503050406030204" pitchFamily="18" charset="0"/>
                          </a:rPr>
                          <m:t>,</m:t>
                        </m:r>
                        <m:sSub>
                          <m:sSubPr>
                            <m:ctrlPr>
                              <a:rPr lang="en-AU" altLang="zh-CN" sz="8600" b="0" i="1" smtClean="0">
                                <a:solidFill>
                                  <a:prstClr val="black"/>
                                </a:solidFill>
                                <a:latin typeface="Cambria Math" panose="02040503050406030204" pitchFamily="18" charset="0"/>
                              </a:rPr>
                            </m:ctrlPr>
                          </m:sSubPr>
                          <m:e>
                            <m:r>
                              <a:rPr lang="en-AU" altLang="zh-CN" sz="8600" b="0" i="1" smtClean="0">
                                <a:solidFill>
                                  <a:prstClr val="black"/>
                                </a:solidFill>
                                <a:latin typeface="Cambria Math" panose="02040503050406030204" pitchFamily="18" charset="0"/>
                              </a:rPr>
                              <m:t>𝑟</m:t>
                            </m:r>
                          </m:e>
                          <m:sub>
                            <m:r>
                              <a:rPr lang="en-AU" altLang="zh-CN" sz="8600" b="0" i="1" smtClean="0">
                                <a:solidFill>
                                  <a:prstClr val="black"/>
                                </a:solidFill>
                                <a:latin typeface="Cambria Math" panose="02040503050406030204" pitchFamily="18" charset="0"/>
                              </a:rPr>
                              <m:t>2</m:t>
                            </m:r>
                          </m:sub>
                        </m:sSub>
                        <m:r>
                          <a:rPr lang="en-AU" altLang="zh-CN" sz="8600" b="0" i="1" smtClean="0">
                            <a:solidFill>
                              <a:prstClr val="black"/>
                            </a:solidFill>
                            <a:latin typeface="Cambria Math" panose="02040503050406030204" pitchFamily="18" charset="0"/>
                          </a:rPr>
                          <m:t>,</m:t>
                        </m:r>
                        <m:sSub>
                          <m:sSubPr>
                            <m:ctrlPr>
                              <a:rPr lang="en-AU" altLang="zh-CN" sz="8600" b="0" i="1" smtClean="0">
                                <a:solidFill>
                                  <a:prstClr val="black"/>
                                </a:solidFill>
                                <a:latin typeface="Cambria Math" panose="02040503050406030204" pitchFamily="18" charset="0"/>
                              </a:rPr>
                            </m:ctrlPr>
                          </m:sSubPr>
                          <m:e>
                            <m:r>
                              <a:rPr lang="en-AU" altLang="zh-CN" sz="8600" b="0" i="1" smtClean="0">
                                <a:solidFill>
                                  <a:prstClr val="black"/>
                                </a:solidFill>
                                <a:latin typeface="Cambria Math" panose="02040503050406030204" pitchFamily="18" charset="0"/>
                              </a:rPr>
                              <m:t>𝑟</m:t>
                            </m:r>
                          </m:e>
                          <m:sub>
                            <m:r>
                              <a:rPr lang="en-AU" altLang="zh-CN" sz="8600" b="0" i="1" smtClean="0">
                                <a:solidFill>
                                  <a:prstClr val="black"/>
                                </a:solidFill>
                                <a:latin typeface="Cambria Math" panose="02040503050406030204" pitchFamily="18" charset="0"/>
                              </a:rPr>
                              <m:t>3</m:t>
                            </m:r>
                          </m:sub>
                        </m:sSub>
                        <m:r>
                          <a:rPr lang="en-AU" altLang="zh-CN" sz="8600" b="0" i="1" smtClean="0">
                            <a:solidFill>
                              <a:prstClr val="black"/>
                            </a:solidFill>
                            <a:latin typeface="Cambria Math" panose="02040503050406030204" pitchFamily="18" charset="0"/>
                          </a:rPr>
                          <m:t>,</m:t>
                        </m:r>
                        <m:sSub>
                          <m:sSubPr>
                            <m:ctrlPr>
                              <a:rPr lang="en-AU" altLang="zh-CN" sz="8600" i="1" smtClean="0">
                                <a:solidFill>
                                  <a:prstClr val="black"/>
                                </a:solidFill>
                                <a:latin typeface="Cambria Math" panose="02040503050406030204" pitchFamily="18" charset="0"/>
                              </a:rPr>
                            </m:ctrlPr>
                          </m:sSubPr>
                          <m:e>
                            <m:r>
                              <a:rPr lang="en-AU" altLang="zh-CN" sz="8600" i="1">
                                <a:solidFill>
                                  <a:prstClr val="black"/>
                                </a:solidFill>
                                <a:latin typeface="Cambria Math" panose="02040503050406030204" pitchFamily="18" charset="0"/>
                              </a:rPr>
                              <m:t>𝑟</m:t>
                            </m:r>
                          </m:e>
                          <m:sub>
                            <m:r>
                              <a:rPr lang="en-AU" altLang="zh-CN" sz="8600" b="0" i="1" smtClean="0">
                                <a:solidFill>
                                  <a:prstClr val="black"/>
                                </a:solidFill>
                                <a:latin typeface="Cambria Math" panose="02040503050406030204" pitchFamily="18" charset="0"/>
                              </a:rPr>
                              <m:t>4</m:t>
                            </m:r>
                          </m:sub>
                        </m:sSub>
                      </m:e>
                    </m:d>
                    <m:r>
                      <a:rPr lang="en-AU" altLang="zh-CN" sz="8600" b="0" i="1" smtClean="0">
                        <a:solidFill>
                          <a:prstClr val="black"/>
                        </a:solidFill>
                        <a:latin typeface="Cambria Math" panose="02040503050406030204" pitchFamily="18" charset="0"/>
                      </a:rPr>
                      <m:t>,</m:t>
                    </m:r>
                  </m:oMath>
                </a14:m>
                <a:r>
                  <a:rPr lang="en-AU" altLang="zh-CN" sz="8600" dirty="0">
                    <a:solidFill>
                      <a:prstClr val="black"/>
                    </a:solidFill>
                  </a:rPr>
                  <a:t> where </a:t>
                </a:r>
                <a14:m>
                  <m:oMath xmlns:m="http://schemas.openxmlformats.org/officeDocument/2006/math">
                    <m:sSub>
                      <m:sSubPr>
                        <m:ctrlPr>
                          <a:rPr lang="en-AU" altLang="zh-CN" sz="8600" i="1">
                            <a:solidFill>
                              <a:prstClr val="black"/>
                            </a:solidFill>
                            <a:latin typeface="Cambria Math" panose="02040503050406030204" pitchFamily="18" charset="0"/>
                          </a:rPr>
                        </m:ctrlPr>
                      </m:sSubPr>
                      <m:e>
                        <m:r>
                          <a:rPr lang="en-AU" altLang="zh-CN" sz="8600" i="1">
                            <a:solidFill>
                              <a:prstClr val="black"/>
                            </a:solidFill>
                            <a:latin typeface="Cambria Math" panose="02040503050406030204" pitchFamily="18" charset="0"/>
                          </a:rPr>
                          <m:t>𝑢</m:t>
                        </m:r>
                      </m:e>
                      <m:sub>
                        <m:r>
                          <a:rPr lang="en-AU" altLang="zh-CN" sz="8600" i="1">
                            <a:solidFill>
                              <a:prstClr val="black"/>
                            </a:solidFill>
                            <a:latin typeface="Cambria Math" panose="02040503050406030204" pitchFamily="18" charset="0"/>
                          </a:rPr>
                          <m:t>1</m:t>
                        </m:r>
                      </m:sub>
                    </m:sSub>
                    <m:r>
                      <a:rPr lang="en-US" altLang="zh-CN" sz="8600" i="1">
                        <a:solidFill>
                          <a:prstClr val="black"/>
                        </a:solidFill>
                        <a:latin typeface="Cambria Math" panose="02040503050406030204" pitchFamily="18" charset="0"/>
                      </a:rPr>
                      <m:t>,</m:t>
                    </m:r>
                    <m:sSub>
                      <m:sSubPr>
                        <m:ctrlPr>
                          <a:rPr lang="en-AU" altLang="zh-CN" sz="8600" i="1">
                            <a:solidFill>
                              <a:prstClr val="black"/>
                            </a:solidFill>
                            <a:latin typeface="Cambria Math" panose="02040503050406030204" pitchFamily="18" charset="0"/>
                          </a:rPr>
                        </m:ctrlPr>
                      </m:sSubPr>
                      <m:e>
                        <m:r>
                          <a:rPr lang="en-AU" altLang="zh-CN" sz="8600" i="1">
                            <a:solidFill>
                              <a:prstClr val="black"/>
                            </a:solidFill>
                            <a:latin typeface="Cambria Math" panose="02040503050406030204" pitchFamily="18" charset="0"/>
                          </a:rPr>
                          <m:t>𝑢</m:t>
                        </m:r>
                      </m:e>
                      <m:sub>
                        <m:r>
                          <a:rPr lang="en-AU" altLang="zh-CN" sz="8600" i="1">
                            <a:solidFill>
                              <a:prstClr val="black"/>
                            </a:solidFill>
                            <a:latin typeface="Cambria Math" panose="02040503050406030204" pitchFamily="18" charset="0"/>
                          </a:rPr>
                          <m:t>2</m:t>
                        </m:r>
                      </m:sub>
                    </m:sSub>
                    <m:r>
                      <a:rPr lang="en-US" altLang="zh-CN" sz="8600" i="1">
                        <a:solidFill>
                          <a:prstClr val="black"/>
                        </a:solidFill>
                        <a:latin typeface="Cambria Math" panose="02040503050406030204" pitchFamily="18" charset="0"/>
                      </a:rPr>
                      <m:t>,</m:t>
                    </m:r>
                    <m:sSub>
                      <m:sSubPr>
                        <m:ctrlPr>
                          <a:rPr lang="en-AU" altLang="zh-CN" sz="8600" i="1">
                            <a:solidFill>
                              <a:prstClr val="black"/>
                            </a:solidFill>
                            <a:latin typeface="Cambria Math" panose="02040503050406030204" pitchFamily="18" charset="0"/>
                          </a:rPr>
                        </m:ctrlPr>
                      </m:sSubPr>
                      <m:e>
                        <m:r>
                          <a:rPr lang="en-AU" altLang="zh-CN" sz="8600" i="1">
                            <a:solidFill>
                              <a:prstClr val="black"/>
                            </a:solidFill>
                            <a:latin typeface="Cambria Math" panose="02040503050406030204" pitchFamily="18" charset="0"/>
                          </a:rPr>
                          <m:t>𝑢</m:t>
                        </m:r>
                      </m:e>
                      <m:sub>
                        <m:r>
                          <a:rPr lang="en-AU" altLang="zh-CN" sz="8600" i="1">
                            <a:solidFill>
                              <a:prstClr val="black"/>
                            </a:solidFill>
                            <a:latin typeface="Cambria Math" panose="02040503050406030204" pitchFamily="18" charset="0"/>
                          </a:rPr>
                          <m:t>3</m:t>
                        </m:r>
                      </m:sub>
                    </m:sSub>
                    <m:r>
                      <a:rPr lang="en-AU" altLang="zh-CN" sz="8600" i="1">
                        <a:solidFill>
                          <a:prstClr val="black"/>
                        </a:solidFill>
                        <a:latin typeface="Cambria Math" panose="02040503050406030204" pitchFamily="18" charset="0"/>
                      </a:rPr>
                      <m:t>,</m:t>
                    </m:r>
                    <m:sSub>
                      <m:sSubPr>
                        <m:ctrlPr>
                          <a:rPr lang="en-AU" altLang="zh-CN" sz="8600" i="1">
                            <a:solidFill>
                              <a:prstClr val="black"/>
                            </a:solidFill>
                            <a:latin typeface="Cambria Math" panose="02040503050406030204" pitchFamily="18" charset="0"/>
                          </a:rPr>
                        </m:ctrlPr>
                      </m:sSubPr>
                      <m:e>
                        <m:r>
                          <a:rPr lang="en-AU" altLang="zh-CN" sz="8600" i="1">
                            <a:solidFill>
                              <a:prstClr val="black"/>
                            </a:solidFill>
                            <a:latin typeface="Cambria Math" panose="02040503050406030204" pitchFamily="18" charset="0"/>
                          </a:rPr>
                          <m:t>𝑢</m:t>
                        </m:r>
                      </m:e>
                      <m:sub>
                        <m:r>
                          <a:rPr lang="en-AU" altLang="zh-CN" sz="8600" i="1">
                            <a:solidFill>
                              <a:prstClr val="black"/>
                            </a:solidFill>
                            <a:latin typeface="Cambria Math" panose="02040503050406030204" pitchFamily="18" charset="0"/>
                          </a:rPr>
                          <m:t>4</m:t>
                        </m:r>
                      </m:sub>
                    </m:sSub>
                    <m:r>
                      <a:rPr lang="en-AU" altLang="zh-CN" sz="8600" i="1">
                        <a:solidFill>
                          <a:prstClr val="black"/>
                        </a:solidFill>
                        <a:latin typeface="Cambria Math" panose="02040503050406030204" pitchFamily="18" charset="0"/>
                      </a:rPr>
                      <m:t> </m:t>
                    </m:r>
                  </m:oMath>
                </a14:m>
                <a:r>
                  <a:rPr lang="en-AU" altLang="zh-CN" sz="8600" dirty="0">
                    <a:solidFill>
                      <a:prstClr val="black"/>
                    </a:solidFill>
                  </a:rPr>
                  <a:t>are users and </a:t>
                </a:r>
                <a14:m>
                  <m:oMath xmlns:m="http://schemas.openxmlformats.org/officeDocument/2006/math">
                    <m:sSub>
                      <m:sSubPr>
                        <m:ctrlPr>
                          <a:rPr lang="en-AU" altLang="zh-CN" sz="8600" i="1">
                            <a:solidFill>
                              <a:prstClr val="black"/>
                            </a:solidFill>
                            <a:latin typeface="Cambria Math" panose="02040503050406030204" pitchFamily="18" charset="0"/>
                          </a:rPr>
                        </m:ctrlPr>
                      </m:sSubPr>
                      <m:e>
                        <m:r>
                          <a:rPr lang="en-AU" altLang="zh-CN" sz="8600" i="1">
                            <a:solidFill>
                              <a:prstClr val="black"/>
                            </a:solidFill>
                            <a:latin typeface="Cambria Math" panose="02040503050406030204" pitchFamily="18" charset="0"/>
                          </a:rPr>
                          <m:t>𝑟</m:t>
                        </m:r>
                      </m:e>
                      <m:sub>
                        <m:r>
                          <a:rPr lang="en-AU" altLang="zh-CN" sz="8600" i="1">
                            <a:solidFill>
                              <a:prstClr val="black"/>
                            </a:solidFill>
                            <a:latin typeface="Cambria Math" panose="02040503050406030204" pitchFamily="18" charset="0"/>
                          </a:rPr>
                          <m:t>1</m:t>
                        </m:r>
                      </m:sub>
                    </m:sSub>
                    <m:r>
                      <a:rPr lang="en-AU" altLang="zh-CN" sz="8600" i="1">
                        <a:solidFill>
                          <a:prstClr val="black"/>
                        </a:solidFill>
                        <a:latin typeface="Cambria Math" panose="02040503050406030204" pitchFamily="18" charset="0"/>
                      </a:rPr>
                      <m:t>,</m:t>
                    </m:r>
                    <m:sSub>
                      <m:sSubPr>
                        <m:ctrlPr>
                          <a:rPr lang="en-AU" altLang="zh-CN" sz="8600" i="1">
                            <a:solidFill>
                              <a:prstClr val="black"/>
                            </a:solidFill>
                            <a:latin typeface="Cambria Math" panose="02040503050406030204" pitchFamily="18" charset="0"/>
                          </a:rPr>
                        </m:ctrlPr>
                      </m:sSubPr>
                      <m:e>
                        <m:r>
                          <a:rPr lang="en-AU" altLang="zh-CN" sz="8600" i="1">
                            <a:solidFill>
                              <a:prstClr val="black"/>
                            </a:solidFill>
                            <a:latin typeface="Cambria Math" panose="02040503050406030204" pitchFamily="18" charset="0"/>
                          </a:rPr>
                          <m:t>𝑟</m:t>
                        </m:r>
                      </m:e>
                      <m:sub>
                        <m:r>
                          <a:rPr lang="en-AU" altLang="zh-CN" sz="8600" i="1">
                            <a:solidFill>
                              <a:prstClr val="black"/>
                            </a:solidFill>
                            <a:latin typeface="Cambria Math" panose="02040503050406030204" pitchFamily="18" charset="0"/>
                          </a:rPr>
                          <m:t>2</m:t>
                        </m:r>
                      </m:sub>
                    </m:sSub>
                    <m:r>
                      <a:rPr lang="en-AU" altLang="zh-CN" sz="8600" i="1">
                        <a:solidFill>
                          <a:prstClr val="black"/>
                        </a:solidFill>
                        <a:latin typeface="Cambria Math" panose="02040503050406030204" pitchFamily="18" charset="0"/>
                      </a:rPr>
                      <m:t>,</m:t>
                    </m:r>
                    <m:sSub>
                      <m:sSubPr>
                        <m:ctrlPr>
                          <a:rPr lang="en-AU" altLang="zh-CN" sz="8600" i="1">
                            <a:solidFill>
                              <a:prstClr val="black"/>
                            </a:solidFill>
                            <a:latin typeface="Cambria Math" panose="02040503050406030204" pitchFamily="18" charset="0"/>
                          </a:rPr>
                        </m:ctrlPr>
                      </m:sSubPr>
                      <m:e>
                        <m:r>
                          <a:rPr lang="en-AU" altLang="zh-CN" sz="8600" i="1">
                            <a:solidFill>
                              <a:prstClr val="black"/>
                            </a:solidFill>
                            <a:latin typeface="Cambria Math" panose="02040503050406030204" pitchFamily="18" charset="0"/>
                          </a:rPr>
                          <m:t>𝑟</m:t>
                        </m:r>
                      </m:e>
                      <m:sub>
                        <m:r>
                          <a:rPr lang="en-AU" altLang="zh-CN" sz="8600" i="1">
                            <a:solidFill>
                              <a:prstClr val="black"/>
                            </a:solidFill>
                            <a:latin typeface="Cambria Math" panose="02040503050406030204" pitchFamily="18" charset="0"/>
                          </a:rPr>
                          <m:t>3</m:t>
                        </m:r>
                      </m:sub>
                    </m:sSub>
                    <m:r>
                      <a:rPr lang="en-AU" altLang="zh-CN" sz="8600" i="1">
                        <a:solidFill>
                          <a:prstClr val="black"/>
                        </a:solidFill>
                        <a:latin typeface="Cambria Math" panose="02040503050406030204" pitchFamily="18" charset="0"/>
                      </a:rPr>
                      <m:t>,</m:t>
                    </m:r>
                    <m:sSub>
                      <m:sSubPr>
                        <m:ctrlPr>
                          <a:rPr lang="en-AU" altLang="zh-CN" sz="8600" i="1">
                            <a:solidFill>
                              <a:prstClr val="black"/>
                            </a:solidFill>
                            <a:latin typeface="Cambria Math" panose="02040503050406030204" pitchFamily="18" charset="0"/>
                          </a:rPr>
                        </m:ctrlPr>
                      </m:sSubPr>
                      <m:e>
                        <m:r>
                          <a:rPr lang="en-AU" altLang="zh-CN" sz="8600" i="1">
                            <a:solidFill>
                              <a:prstClr val="black"/>
                            </a:solidFill>
                            <a:latin typeface="Cambria Math" panose="02040503050406030204" pitchFamily="18" charset="0"/>
                          </a:rPr>
                          <m:t>𝑟</m:t>
                        </m:r>
                      </m:e>
                      <m:sub>
                        <m:r>
                          <a:rPr lang="en-AU" altLang="zh-CN" sz="8600" i="1">
                            <a:solidFill>
                              <a:prstClr val="black"/>
                            </a:solidFill>
                            <a:latin typeface="Cambria Math" panose="02040503050406030204" pitchFamily="18" charset="0"/>
                          </a:rPr>
                          <m:t>4</m:t>
                        </m:r>
                      </m:sub>
                    </m:sSub>
                  </m:oMath>
                </a14:m>
                <a:r>
                  <a:rPr lang="en-AU" altLang="zh-CN" sz="8600" dirty="0">
                    <a:solidFill>
                      <a:prstClr val="black"/>
                    </a:solidFill>
                  </a:rPr>
                  <a:t> are resources.</a:t>
                </a:r>
              </a:p>
              <a:p>
                <a:r>
                  <a:rPr lang="en-AU" altLang="zh-CN" sz="8600" dirty="0">
                    <a:solidFill>
                      <a:prstClr val="black"/>
                    </a:solidFill>
                  </a:rPr>
                  <a:t>Let </a:t>
                </a:r>
                <a14:m>
                  <m:oMath xmlns:m="http://schemas.openxmlformats.org/officeDocument/2006/math">
                    <m:r>
                      <a:rPr lang="en-US" altLang="zh-CN" sz="8600" i="1">
                        <a:solidFill>
                          <a:prstClr val="black"/>
                        </a:solidFill>
                        <a:latin typeface="Cambria Math" panose="02040503050406030204" pitchFamily="18" charset="0"/>
                      </a:rPr>
                      <m:t>𝑃</m:t>
                    </m:r>
                    <m:r>
                      <a:rPr lang="en-US" altLang="zh-CN" sz="8600" i="1">
                        <a:solidFill>
                          <a:prstClr val="black"/>
                        </a:solidFill>
                        <a:latin typeface="Cambria Math" panose="02040503050406030204" pitchFamily="18" charset="0"/>
                      </a:rPr>
                      <m:t>=</m:t>
                    </m:r>
                    <m:d>
                      <m:dPr>
                        <m:begChr m:val="{"/>
                        <m:endChr m:val="}"/>
                        <m:ctrlPr>
                          <a:rPr lang="en-US" altLang="zh-CN" sz="8600" i="1">
                            <a:solidFill>
                              <a:prstClr val="black"/>
                            </a:solidFill>
                            <a:latin typeface="Cambria Math" panose="02040503050406030204" pitchFamily="18" charset="0"/>
                          </a:rPr>
                        </m:ctrlPr>
                      </m:dPr>
                      <m:e>
                        <m:sSub>
                          <m:sSubPr>
                            <m:ctrlPr>
                              <a:rPr lang="en-AU" altLang="zh-CN" sz="8600" i="1">
                                <a:solidFill>
                                  <a:prstClr val="black"/>
                                </a:solidFill>
                                <a:latin typeface="Cambria Math" panose="02040503050406030204" pitchFamily="18" charset="0"/>
                              </a:rPr>
                            </m:ctrlPr>
                          </m:sSubPr>
                          <m:e>
                            <m:r>
                              <a:rPr lang="en-US" altLang="zh-CN" sz="8600" i="1">
                                <a:solidFill>
                                  <a:prstClr val="black"/>
                                </a:solidFill>
                                <a:latin typeface="Cambria Math" panose="02040503050406030204" pitchFamily="18" charset="0"/>
                              </a:rPr>
                              <m:t>𝑝</m:t>
                            </m:r>
                          </m:e>
                          <m:sub>
                            <m:r>
                              <a:rPr lang="en-AU" altLang="zh-CN" sz="8600" i="1">
                                <a:solidFill>
                                  <a:prstClr val="black"/>
                                </a:solidFill>
                                <a:latin typeface="Cambria Math" panose="02040503050406030204" pitchFamily="18" charset="0"/>
                              </a:rPr>
                              <m:t>1</m:t>
                            </m:r>
                          </m:sub>
                        </m:sSub>
                        <m:r>
                          <a:rPr lang="en-US" altLang="zh-CN" sz="8600" i="1">
                            <a:solidFill>
                              <a:prstClr val="black"/>
                            </a:solidFill>
                            <a:latin typeface="Cambria Math" panose="02040503050406030204" pitchFamily="18" charset="0"/>
                          </a:rPr>
                          <m:t>,</m:t>
                        </m:r>
                        <m:sSub>
                          <m:sSubPr>
                            <m:ctrlPr>
                              <a:rPr lang="en-AU" altLang="zh-CN" sz="8600" i="1">
                                <a:solidFill>
                                  <a:prstClr val="black"/>
                                </a:solidFill>
                                <a:latin typeface="Cambria Math" panose="02040503050406030204" pitchFamily="18" charset="0"/>
                              </a:rPr>
                            </m:ctrlPr>
                          </m:sSubPr>
                          <m:e>
                            <m:r>
                              <a:rPr lang="en-AU" altLang="zh-CN" sz="8600" i="1">
                                <a:solidFill>
                                  <a:prstClr val="black"/>
                                </a:solidFill>
                                <a:latin typeface="Cambria Math" panose="02040503050406030204" pitchFamily="18" charset="0"/>
                              </a:rPr>
                              <m:t>𝑝</m:t>
                            </m:r>
                          </m:e>
                          <m:sub>
                            <m:r>
                              <a:rPr lang="en-AU" altLang="zh-CN" sz="8600" i="1">
                                <a:solidFill>
                                  <a:prstClr val="black"/>
                                </a:solidFill>
                                <a:latin typeface="Cambria Math" panose="02040503050406030204" pitchFamily="18" charset="0"/>
                              </a:rPr>
                              <m:t>2</m:t>
                            </m:r>
                          </m:sub>
                        </m:sSub>
                        <m:r>
                          <a:rPr lang="en-US" altLang="zh-CN" sz="8600" i="1">
                            <a:solidFill>
                              <a:prstClr val="black"/>
                            </a:solidFill>
                            <a:latin typeface="Cambria Math" panose="02040503050406030204" pitchFamily="18" charset="0"/>
                          </a:rPr>
                          <m:t>,</m:t>
                        </m:r>
                        <m:sSub>
                          <m:sSubPr>
                            <m:ctrlPr>
                              <a:rPr lang="en-AU" altLang="zh-CN" sz="8600" i="1">
                                <a:solidFill>
                                  <a:prstClr val="black"/>
                                </a:solidFill>
                                <a:latin typeface="Cambria Math" panose="02040503050406030204" pitchFamily="18" charset="0"/>
                              </a:rPr>
                            </m:ctrlPr>
                          </m:sSubPr>
                          <m:e>
                            <m:r>
                              <a:rPr lang="en-AU" altLang="zh-CN" sz="8600" i="1">
                                <a:solidFill>
                                  <a:prstClr val="black"/>
                                </a:solidFill>
                                <a:latin typeface="Cambria Math" panose="02040503050406030204" pitchFamily="18" charset="0"/>
                              </a:rPr>
                              <m:t>𝑝</m:t>
                            </m:r>
                          </m:e>
                          <m:sub>
                            <m:r>
                              <a:rPr lang="en-AU" altLang="zh-CN" sz="8600" i="1">
                                <a:solidFill>
                                  <a:prstClr val="black"/>
                                </a:solidFill>
                                <a:latin typeface="Cambria Math" panose="02040503050406030204" pitchFamily="18" charset="0"/>
                              </a:rPr>
                              <m:t>3</m:t>
                            </m:r>
                          </m:sub>
                        </m:sSub>
                        <m:r>
                          <a:rPr lang="en-AU" altLang="zh-CN" sz="8600" i="1">
                            <a:solidFill>
                              <a:prstClr val="black"/>
                            </a:solidFill>
                            <a:latin typeface="Cambria Math" panose="02040503050406030204" pitchFamily="18" charset="0"/>
                          </a:rPr>
                          <m:t>,</m:t>
                        </m:r>
                        <m:sSub>
                          <m:sSubPr>
                            <m:ctrlPr>
                              <a:rPr lang="en-AU" altLang="zh-CN" sz="8600" i="1">
                                <a:solidFill>
                                  <a:prstClr val="black"/>
                                </a:solidFill>
                                <a:latin typeface="Cambria Math" panose="02040503050406030204" pitchFamily="18" charset="0"/>
                              </a:rPr>
                            </m:ctrlPr>
                          </m:sSubPr>
                          <m:e>
                            <m:r>
                              <a:rPr lang="en-AU" altLang="zh-CN" sz="8600" i="1">
                                <a:solidFill>
                                  <a:prstClr val="black"/>
                                </a:solidFill>
                                <a:latin typeface="Cambria Math" panose="02040503050406030204" pitchFamily="18" charset="0"/>
                              </a:rPr>
                              <m:t>𝑝</m:t>
                            </m:r>
                          </m:e>
                          <m:sub>
                            <m:r>
                              <a:rPr lang="en-AU" altLang="zh-CN" sz="8600" i="1">
                                <a:solidFill>
                                  <a:prstClr val="black"/>
                                </a:solidFill>
                                <a:latin typeface="Cambria Math" panose="02040503050406030204" pitchFamily="18" charset="0"/>
                              </a:rPr>
                              <m:t>4</m:t>
                            </m:r>
                          </m:sub>
                        </m:sSub>
                      </m:e>
                    </m:d>
                    <m:r>
                      <a:rPr lang="en-AU" altLang="zh-CN" sz="8600" i="1">
                        <a:solidFill>
                          <a:prstClr val="black"/>
                        </a:solidFill>
                        <a:latin typeface="Cambria Math" panose="02040503050406030204" pitchFamily="18" charset="0"/>
                      </a:rPr>
                      <m:t>,</m:t>
                    </m:r>
                  </m:oMath>
                </a14:m>
                <a:r>
                  <a:rPr lang="en-AU" altLang="zh-CN" sz="8600" dirty="0">
                    <a:solidFill>
                      <a:prstClr val="black"/>
                    </a:solidFill>
                  </a:rPr>
                  <a:t> where each process </a:t>
                </a:r>
                <a14:m>
                  <m:oMath xmlns:m="http://schemas.openxmlformats.org/officeDocument/2006/math">
                    <m:sSub>
                      <m:sSubPr>
                        <m:ctrlPr>
                          <a:rPr lang="en-AU" altLang="zh-CN" sz="8600" i="1">
                            <a:solidFill>
                              <a:prstClr val="black"/>
                            </a:solidFill>
                            <a:latin typeface="Cambria Math" panose="02040503050406030204" pitchFamily="18" charset="0"/>
                          </a:rPr>
                        </m:ctrlPr>
                      </m:sSubPr>
                      <m:e>
                        <m:r>
                          <a:rPr lang="en-US" altLang="zh-CN" sz="8600" i="1">
                            <a:solidFill>
                              <a:prstClr val="black"/>
                            </a:solidFill>
                            <a:latin typeface="Cambria Math" panose="02040503050406030204" pitchFamily="18" charset="0"/>
                          </a:rPr>
                          <m:t>𝑝</m:t>
                        </m:r>
                      </m:e>
                      <m:sub>
                        <m:r>
                          <a:rPr lang="en-AU" altLang="zh-CN" sz="8600" i="1">
                            <a:solidFill>
                              <a:prstClr val="black"/>
                            </a:solidFill>
                            <a:latin typeface="Cambria Math" panose="02040503050406030204" pitchFamily="18" charset="0"/>
                          </a:rPr>
                          <m:t>𝑖</m:t>
                        </m:r>
                      </m:sub>
                    </m:sSub>
                  </m:oMath>
                </a14:m>
                <a:r>
                  <a:rPr lang="en-AU" altLang="zh-CN" sz="8600" dirty="0">
                    <a:solidFill>
                      <a:prstClr val="black"/>
                    </a:solidFill>
                  </a:rPr>
                  <a:t> is executed by user </a:t>
                </a:r>
                <a14:m>
                  <m:oMath xmlns:m="http://schemas.openxmlformats.org/officeDocument/2006/math">
                    <m:sSub>
                      <m:sSubPr>
                        <m:ctrlPr>
                          <a:rPr lang="en-AU" altLang="zh-CN" sz="8600" i="1">
                            <a:solidFill>
                              <a:prstClr val="black"/>
                            </a:solidFill>
                            <a:latin typeface="Cambria Math" panose="02040503050406030204" pitchFamily="18" charset="0"/>
                          </a:rPr>
                        </m:ctrlPr>
                      </m:sSubPr>
                      <m:e>
                        <m:r>
                          <a:rPr lang="en-AU" altLang="zh-CN" sz="8600" i="1">
                            <a:solidFill>
                              <a:prstClr val="black"/>
                            </a:solidFill>
                            <a:latin typeface="Cambria Math" panose="02040503050406030204" pitchFamily="18" charset="0"/>
                          </a:rPr>
                          <m:t>𝑢</m:t>
                        </m:r>
                      </m:e>
                      <m:sub>
                        <m:r>
                          <a:rPr lang="en-AU" altLang="zh-CN" sz="8600" i="1">
                            <a:solidFill>
                              <a:prstClr val="black"/>
                            </a:solidFill>
                            <a:latin typeface="Cambria Math" panose="02040503050406030204" pitchFamily="18" charset="0"/>
                          </a:rPr>
                          <m:t>𝑖</m:t>
                        </m:r>
                      </m:sub>
                    </m:sSub>
                  </m:oMath>
                </a14:m>
                <a:r>
                  <a:rPr lang="en-AU" altLang="zh-CN" sz="8600" dirty="0">
                    <a:solidFill>
                      <a:prstClr val="black"/>
                    </a:solidFill>
                  </a:rPr>
                  <a:t> accessing resource </a:t>
                </a:r>
                <a14:m>
                  <m:oMath xmlns:m="http://schemas.openxmlformats.org/officeDocument/2006/math">
                    <m:sSub>
                      <m:sSubPr>
                        <m:ctrlPr>
                          <a:rPr lang="en-AU" altLang="zh-CN" sz="8600" i="1">
                            <a:solidFill>
                              <a:prstClr val="black"/>
                            </a:solidFill>
                            <a:latin typeface="Cambria Math" panose="02040503050406030204" pitchFamily="18" charset="0"/>
                          </a:rPr>
                        </m:ctrlPr>
                      </m:sSubPr>
                      <m:e>
                        <m:r>
                          <a:rPr lang="en-AU" altLang="zh-CN" sz="8600" i="1">
                            <a:solidFill>
                              <a:prstClr val="black"/>
                            </a:solidFill>
                            <a:latin typeface="Cambria Math" panose="02040503050406030204" pitchFamily="18" charset="0"/>
                          </a:rPr>
                          <m:t>𝑟</m:t>
                        </m:r>
                      </m:e>
                      <m:sub>
                        <m:r>
                          <a:rPr lang="en-AU" altLang="zh-CN" sz="8600" i="1">
                            <a:solidFill>
                              <a:prstClr val="black"/>
                            </a:solidFill>
                            <a:latin typeface="Cambria Math" panose="02040503050406030204" pitchFamily="18" charset="0"/>
                          </a:rPr>
                          <m:t>𝑖</m:t>
                        </m:r>
                      </m:sub>
                    </m:sSub>
                  </m:oMath>
                </a14:m>
                <a:r>
                  <a:rPr lang="en-AU" altLang="zh-CN" sz="8600" dirty="0">
                    <a:solidFill>
                      <a:prstClr val="black"/>
                    </a:solidFill>
                  </a:rPr>
                  <a:t>, and </a:t>
                </a:r>
                <a14:m>
                  <m:oMath xmlns:m="http://schemas.openxmlformats.org/officeDocument/2006/math">
                    <m:r>
                      <a:rPr lang="en-AU" altLang="zh-CN" sz="8600" i="1">
                        <a:solidFill>
                          <a:prstClr val="black"/>
                        </a:solidFill>
                        <a:latin typeface="Cambria Math" panose="02040503050406030204" pitchFamily="18" charset="0"/>
                      </a:rPr>
                      <m:t>𝑖</m:t>
                    </m:r>
                    <m:r>
                      <a:rPr lang="en-US" altLang="zh-CN" sz="8600" i="1">
                        <a:solidFill>
                          <a:prstClr val="black"/>
                        </a:solidFill>
                        <a:latin typeface="Cambria Math" panose="02040503050406030204" pitchFamily="18" charset="0"/>
                        <a:ea typeface="Cambria Math" panose="02040503050406030204" pitchFamily="18" charset="0"/>
                      </a:rPr>
                      <m:t>∈</m:t>
                    </m:r>
                    <m:r>
                      <a:rPr lang="en-AU" altLang="zh-CN" sz="8600" i="1">
                        <a:solidFill>
                          <a:prstClr val="black"/>
                        </a:solidFill>
                        <a:latin typeface="Cambria Math" panose="02040503050406030204" pitchFamily="18" charset="0"/>
                        <a:ea typeface="Cambria Math" panose="02040503050406030204" pitchFamily="18" charset="0"/>
                      </a:rPr>
                      <m:t>{1,2,3,4}</m:t>
                    </m:r>
                  </m:oMath>
                </a14:m>
                <a:r>
                  <a:rPr lang="en-AU" altLang="zh-CN" sz="8600" dirty="0">
                    <a:solidFill>
                      <a:prstClr val="black"/>
                    </a:solidFill>
                  </a:rPr>
                  <a:t> .</a:t>
                </a:r>
              </a:p>
              <a:p>
                <a:r>
                  <a:rPr lang="en-US" altLang="zh-CN" sz="8600" dirty="0">
                    <a:solidFill>
                      <a:prstClr val="black"/>
                    </a:solidFill>
                  </a:rPr>
                  <a:t>Let </a:t>
                </a:r>
                <a14:m>
                  <m:oMath xmlns:m="http://schemas.openxmlformats.org/officeDocument/2006/math">
                    <m:r>
                      <a:rPr lang="en-US" altLang="zh-CN" sz="8600" i="1">
                        <a:solidFill>
                          <a:prstClr val="black"/>
                        </a:solidFill>
                        <a:latin typeface="Cambria Math" panose="02040503050406030204" pitchFamily="18" charset="0"/>
                      </a:rPr>
                      <m:t>𝑆𝐶</m:t>
                    </m:r>
                    <m:r>
                      <a:rPr lang="en-US" altLang="zh-CN" sz="8600" i="1">
                        <a:solidFill>
                          <a:prstClr val="black"/>
                        </a:solidFill>
                        <a:latin typeface="Cambria Math" panose="02040503050406030204" pitchFamily="18" charset="0"/>
                      </a:rPr>
                      <m:t>=</m:t>
                    </m:r>
                    <m:d>
                      <m:dPr>
                        <m:begChr m:val="{"/>
                        <m:endChr m:val="}"/>
                        <m:ctrlPr>
                          <a:rPr lang="en-US" altLang="zh-CN" sz="8600" i="1">
                            <a:solidFill>
                              <a:prstClr val="black"/>
                            </a:solidFill>
                            <a:latin typeface="Cambria Math" panose="02040503050406030204" pitchFamily="18" charset="0"/>
                          </a:rPr>
                        </m:ctrlPr>
                      </m:dPr>
                      <m:e>
                        <m:r>
                          <a:rPr lang="en-US" altLang="zh-CN" sz="8600" i="1">
                            <a:solidFill>
                              <a:prstClr val="black"/>
                            </a:solidFill>
                            <a:latin typeface="Cambria Math" panose="02040503050406030204" pitchFamily="18" charset="0"/>
                          </a:rPr>
                          <m:t>𝑇𝑜𝑝𝑆𝑒𝑐𝑢𝑟𝑖𝑡𝑦</m:t>
                        </m:r>
                        <m:r>
                          <a:rPr lang="en-US" altLang="zh-CN" sz="8600" i="1">
                            <a:solidFill>
                              <a:prstClr val="black"/>
                            </a:solidFill>
                            <a:latin typeface="Cambria Math" panose="02040503050406030204" pitchFamily="18" charset="0"/>
                          </a:rPr>
                          <m:t>,</m:t>
                        </m:r>
                        <m:r>
                          <a:rPr lang="en-US" altLang="zh-CN" sz="8600" i="1">
                            <a:solidFill>
                              <a:prstClr val="black"/>
                            </a:solidFill>
                            <a:latin typeface="Cambria Math" panose="02040503050406030204" pitchFamily="18" charset="0"/>
                          </a:rPr>
                          <m:t>𝑆𝑒𝑐𝑢𝑟𝑖𝑡𝑦</m:t>
                        </m:r>
                        <m:r>
                          <a:rPr lang="en-US" altLang="zh-CN" sz="8600" i="1">
                            <a:solidFill>
                              <a:prstClr val="black"/>
                            </a:solidFill>
                            <a:latin typeface="Cambria Math" panose="02040503050406030204" pitchFamily="18" charset="0"/>
                          </a:rPr>
                          <m:t>,</m:t>
                        </m:r>
                        <m:r>
                          <a:rPr lang="en-US" altLang="zh-CN" sz="8600" i="1">
                            <a:solidFill>
                              <a:prstClr val="black"/>
                            </a:solidFill>
                            <a:latin typeface="Cambria Math" panose="02040503050406030204" pitchFamily="18" charset="0"/>
                          </a:rPr>
                          <m:t>𝐶𝑜𝑛𝑓𝑖𝑑𝑒𝑛𝑡𝑖𝑎𝑙</m:t>
                        </m:r>
                        <m:r>
                          <a:rPr lang="en-US" altLang="zh-CN" sz="8600" i="1">
                            <a:solidFill>
                              <a:prstClr val="black"/>
                            </a:solidFill>
                            <a:latin typeface="Cambria Math" panose="02040503050406030204" pitchFamily="18" charset="0"/>
                          </a:rPr>
                          <m:t>,</m:t>
                        </m:r>
                        <m:r>
                          <a:rPr lang="en-US" altLang="zh-CN" sz="8600" i="1">
                            <a:solidFill>
                              <a:prstClr val="black"/>
                            </a:solidFill>
                            <a:latin typeface="Cambria Math" panose="02040503050406030204" pitchFamily="18" charset="0"/>
                          </a:rPr>
                          <m:t>𝑈𝑛𝑐𝑙𝑎𝑠𝑠𝑖𝑓𝑖𝑒𝑑</m:t>
                        </m:r>
                      </m:e>
                    </m:d>
                  </m:oMath>
                </a14:m>
                <a:r>
                  <a:rPr lang="en-AU" altLang="zh-CN" sz="8600" dirty="0">
                    <a:solidFill>
                      <a:prstClr val="black"/>
                    </a:solidFill>
                  </a:rPr>
                  <a:t>, and suppose that </a:t>
                </a:r>
              </a:p>
              <a:p>
                <a:pPr marL="0" indent="0">
                  <a:buNone/>
                </a:pPr>
                <a:r>
                  <a:rPr lang="en-AU" altLang="zh-CN" sz="8600" dirty="0">
                    <a:solidFill>
                      <a:prstClr val="black"/>
                    </a:solidFill>
                  </a:rPr>
                  <a:t>	</a:t>
                </a:r>
                <a14:m>
                  <m:oMath xmlns:m="http://schemas.openxmlformats.org/officeDocument/2006/math">
                    <m:sSub>
                      <m:sSubPr>
                        <m:ctrlPr>
                          <a:rPr lang="en-AU" altLang="zh-CN" sz="8600" i="1">
                            <a:solidFill>
                              <a:prstClr val="black"/>
                            </a:solidFill>
                            <a:latin typeface="Cambria Math" panose="02040503050406030204" pitchFamily="18" charset="0"/>
                          </a:rPr>
                        </m:ctrlPr>
                      </m:sSubPr>
                      <m:e>
                        <m:r>
                          <a:rPr lang="en-AU" altLang="zh-CN" sz="8600" i="1">
                            <a:solidFill>
                              <a:prstClr val="black"/>
                            </a:solidFill>
                            <a:latin typeface="Cambria Math" panose="02040503050406030204" pitchFamily="18" charset="0"/>
                          </a:rPr>
                          <m:t>𝑢</m:t>
                        </m:r>
                      </m:e>
                      <m:sub>
                        <m:r>
                          <a:rPr lang="en-AU" altLang="zh-CN" sz="8600" i="1">
                            <a:solidFill>
                              <a:prstClr val="black"/>
                            </a:solidFill>
                            <a:latin typeface="Cambria Math" panose="02040503050406030204" pitchFamily="18" charset="0"/>
                          </a:rPr>
                          <m:t>1</m:t>
                        </m:r>
                      </m:sub>
                    </m:sSub>
                  </m:oMath>
                </a14:m>
                <a:r>
                  <a:rPr lang="en-AU" altLang="zh-CN" sz="8600" dirty="0">
                    <a:solidFill>
                      <a:prstClr val="black"/>
                    </a:solidFill>
                  </a:rPr>
                  <a:t> is a </a:t>
                </a:r>
                <a:r>
                  <a:rPr lang="en-AU" altLang="zh-CN" sz="8600" i="1" dirty="0">
                    <a:solidFill>
                      <a:prstClr val="black"/>
                    </a:solidFill>
                  </a:rPr>
                  <a:t>Top Security </a:t>
                </a:r>
                <a:r>
                  <a:rPr lang="en-AU" altLang="zh-CN" sz="8600" dirty="0">
                    <a:solidFill>
                      <a:prstClr val="black"/>
                    </a:solidFill>
                  </a:rPr>
                  <a:t>user and </a:t>
                </a:r>
                <a14:m>
                  <m:oMath xmlns:m="http://schemas.openxmlformats.org/officeDocument/2006/math">
                    <m:sSub>
                      <m:sSubPr>
                        <m:ctrlPr>
                          <a:rPr lang="en-AU" altLang="zh-CN" sz="8600" i="1">
                            <a:solidFill>
                              <a:prstClr val="black"/>
                            </a:solidFill>
                            <a:latin typeface="Cambria Math" panose="02040503050406030204" pitchFamily="18" charset="0"/>
                          </a:rPr>
                        </m:ctrlPr>
                      </m:sSubPr>
                      <m:e>
                        <m:r>
                          <a:rPr lang="en-AU" altLang="zh-CN" sz="8600" i="1">
                            <a:solidFill>
                              <a:prstClr val="black"/>
                            </a:solidFill>
                            <a:latin typeface="Cambria Math" panose="02040503050406030204" pitchFamily="18" charset="0"/>
                          </a:rPr>
                          <m:t>𝑟</m:t>
                        </m:r>
                      </m:e>
                      <m:sub>
                        <m:r>
                          <a:rPr lang="en-AU" altLang="zh-CN" sz="8600" i="1">
                            <a:solidFill>
                              <a:prstClr val="black"/>
                            </a:solidFill>
                            <a:latin typeface="Cambria Math" panose="02040503050406030204" pitchFamily="18" charset="0"/>
                          </a:rPr>
                          <m:t>1</m:t>
                        </m:r>
                      </m:sub>
                    </m:sSub>
                  </m:oMath>
                </a14:m>
                <a:r>
                  <a:rPr lang="en-AU" altLang="zh-CN" sz="8600" dirty="0">
                    <a:solidFill>
                      <a:prstClr val="black"/>
                    </a:solidFill>
                  </a:rPr>
                  <a:t> is a </a:t>
                </a:r>
                <a:r>
                  <a:rPr lang="en-AU" altLang="zh-CN" sz="8600" i="1" dirty="0">
                    <a:solidFill>
                      <a:prstClr val="black"/>
                    </a:solidFill>
                  </a:rPr>
                  <a:t>Top Security </a:t>
                </a:r>
                <a:r>
                  <a:rPr lang="en-AU" altLang="zh-CN" sz="8600" dirty="0">
                    <a:solidFill>
                      <a:prstClr val="black"/>
                    </a:solidFill>
                  </a:rPr>
                  <a:t>resource,</a:t>
                </a:r>
              </a:p>
              <a:p>
                <a:pPr marL="0" indent="0">
                  <a:buNone/>
                </a:pPr>
                <a:r>
                  <a:rPr lang="en-AU" altLang="zh-CN" sz="8600" dirty="0">
                    <a:solidFill>
                      <a:prstClr val="black"/>
                    </a:solidFill>
                  </a:rPr>
                  <a:t>	</a:t>
                </a:r>
                <a14:m>
                  <m:oMath xmlns:m="http://schemas.openxmlformats.org/officeDocument/2006/math">
                    <m:sSub>
                      <m:sSubPr>
                        <m:ctrlPr>
                          <a:rPr lang="en-AU" altLang="zh-CN" sz="8600" i="1">
                            <a:solidFill>
                              <a:prstClr val="black"/>
                            </a:solidFill>
                            <a:latin typeface="Cambria Math" panose="02040503050406030204" pitchFamily="18" charset="0"/>
                          </a:rPr>
                        </m:ctrlPr>
                      </m:sSubPr>
                      <m:e>
                        <m:r>
                          <a:rPr lang="en-AU" altLang="zh-CN" sz="8600" i="1">
                            <a:solidFill>
                              <a:prstClr val="black"/>
                            </a:solidFill>
                            <a:latin typeface="Cambria Math" panose="02040503050406030204" pitchFamily="18" charset="0"/>
                          </a:rPr>
                          <m:t>𝑢</m:t>
                        </m:r>
                      </m:e>
                      <m:sub>
                        <m:r>
                          <a:rPr lang="en-AU" altLang="zh-CN" sz="8600" i="1">
                            <a:solidFill>
                              <a:prstClr val="black"/>
                            </a:solidFill>
                            <a:latin typeface="Cambria Math" panose="02040503050406030204" pitchFamily="18" charset="0"/>
                          </a:rPr>
                          <m:t>2</m:t>
                        </m:r>
                      </m:sub>
                    </m:sSub>
                  </m:oMath>
                </a14:m>
                <a:r>
                  <a:rPr lang="en-AU" altLang="zh-CN" sz="8600" dirty="0">
                    <a:solidFill>
                      <a:prstClr val="black"/>
                    </a:solidFill>
                  </a:rPr>
                  <a:t> is a </a:t>
                </a:r>
                <a:r>
                  <a:rPr lang="en-AU" altLang="zh-CN" sz="8600" i="1" dirty="0">
                    <a:solidFill>
                      <a:prstClr val="black"/>
                    </a:solidFill>
                  </a:rPr>
                  <a:t>Security</a:t>
                </a:r>
                <a:r>
                  <a:rPr lang="en-AU" altLang="zh-CN" sz="8600" dirty="0">
                    <a:solidFill>
                      <a:prstClr val="black"/>
                    </a:solidFill>
                  </a:rPr>
                  <a:t> user and </a:t>
                </a:r>
                <a14:m>
                  <m:oMath xmlns:m="http://schemas.openxmlformats.org/officeDocument/2006/math">
                    <m:sSub>
                      <m:sSubPr>
                        <m:ctrlPr>
                          <a:rPr lang="en-AU" altLang="zh-CN" sz="8600" i="1">
                            <a:solidFill>
                              <a:prstClr val="black"/>
                            </a:solidFill>
                            <a:latin typeface="Cambria Math" panose="02040503050406030204" pitchFamily="18" charset="0"/>
                          </a:rPr>
                        </m:ctrlPr>
                      </m:sSubPr>
                      <m:e>
                        <m:r>
                          <a:rPr lang="en-AU" altLang="zh-CN" sz="8600" i="1">
                            <a:solidFill>
                              <a:prstClr val="black"/>
                            </a:solidFill>
                            <a:latin typeface="Cambria Math" panose="02040503050406030204" pitchFamily="18" charset="0"/>
                          </a:rPr>
                          <m:t>𝑟</m:t>
                        </m:r>
                      </m:e>
                      <m:sub>
                        <m:r>
                          <a:rPr lang="en-AU" altLang="zh-CN" sz="8600" i="1">
                            <a:solidFill>
                              <a:prstClr val="black"/>
                            </a:solidFill>
                            <a:latin typeface="Cambria Math" panose="02040503050406030204" pitchFamily="18" charset="0"/>
                          </a:rPr>
                          <m:t>2</m:t>
                        </m:r>
                      </m:sub>
                    </m:sSub>
                  </m:oMath>
                </a14:m>
                <a:r>
                  <a:rPr lang="en-AU" altLang="zh-CN" sz="8600" dirty="0">
                    <a:solidFill>
                      <a:prstClr val="black"/>
                    </a:solidFill>
                  </a:rPr>
                  <a:t> is a </a:t>
                </a:r>
                <a:r>
                  <a:rPr lang="en-AU" altLang="zh-CN" sz="8600" i="1" dirty="0">
                    <a:solidFill>
                      <a:prstClr val="black"/>
                    </a:solidFill>
                  </a:rPr>
                  <a:t>Security</a:t>
                </a:r>
                <a:r>
                  <a:rPr lang="en-AU" altLang="zh-CN" sz="8600" dirty="0">
                    <a:solidFill>
                      <a:prstClr val="black"/>
                    </a:solidFill>
                  </a:rPr>
                  <a:t> resource,</a:t>
                </a:r>
              </a:p>
              <a:p>
                <a:pPr marL="0" lvl="0" indent="0">
                  <a:buNone/>
                </a:pPr>
                <a:r>
                  <a:rPr lang="en-AU" altLang="zh-CN" sz="8600" dirty="0">
                    <a:solidFill>
                      <a:prstClr val="black"/>
                    </a:solidFill>
                  </a:rPr>
                  <a:t>	</a:t>
                </a:r>
                <a14:m>
                  <m:oMath xmlns:m="http://schemas.openxmlformats.org/officeDocument/2006/math">
                    <m:sSub>
                      <m:sSubPr>
                        <m:ctrlPr>
                          <a:rPr lang="en-AU" altLang="zh-CN" sz="8600" i="1">
                            <a:solidFill>
                              <a:prstClr val="black"/>
                            </a:solidFill>
                            <a:latin typeface="Cambria Math" panose="02040503050406030204" pitchFamily="18" charset="0"/>
                          </a:rPr>
                        </m:ctrlPr>
                      </m:sSubPr>
                      <m:e>
                        <m:r>
                          <a:rPr lang="en-AU" altLang="zh-CN" sz="8600" i="1">
                            <a:solidFill>
                              <a:prstClr val="black"/>
                            </a:solidFill>
                            <a:latin typeface="Cambria Math" panose="02040503050406030204" pitchFamily="18" charset="0"/>
                          </a:rPr>
                          <m:t>𝑢</m:t>
                        </m:r>
                      </m:e>
                      <m:sub>
                        <m:r>
                          <a:rPr lang="en-AU" altLang="zh-CN" sz="8600" i="1">
                            <a:solidFill>
                              <a:prstClr val="black"/>
                            </a:solidFill>
                            <a:latin typeface="Cambria Math" panose="02040503050406030204" pitchFamily="18" charset="0"/>
                          </a:rPr>
                          <m:t>3</m:t>
                        </m:r>
                      </m:sub>
                    </m:sSub>
                  </m:oMath>
                </a14:m>
                <a:r>
                  <a:rPr lang="en-AU" altLang="zh-CN" sz="8600" dirty="0">
                    <a:solidFill>
                      <a:prstClr val="black"/>
                    </a:solidFill>
                  </a:rPr>
                  <a:t> is a </a:t>
                </a:r>
                <a:r>
                  <a:rPr lang="en-AU" altLang="zh-CN" sz="8600" i="1" dirty="0">
                    <a:solidFill>
                      <a:prstClr val="black"/>
                    </a:solidFill>
                  </a:rPr>
                  <a:t>Confidential</a:t>
                </a:r>
                <a:r>
                  <a:rPr lang="en-AU" altLang="zh-CN" sz="8600" dirty="0">
                    <a:solidFill>
                      <a:prstClr val="black"/>
                    </a:solidFill>
                  </a:rPr>
                  <a:t> user and </a:t>
                </a:r>
                <a14:m>
                  <m:oMath xmlns:m="http://schemas.openxmlformats.org/officeDocument/2006/math">
                    <m:sSub>
                      <m:sSubPr>
                        <m:ctrlPr>
                          <a:rPr lang="en-AU" altLang="zh-CN" sz="8600" i="1">
                            <a:solidFill>
                              <a:prstClr val="black"/>
                            </a:solidFill>
                            <a:latin typeface="Cambria Math" panose="02040503050406030204" pitchFamily="18" charset="0"/>
                          </a:rPr>
                        </m:ctrlPr>
                      </m:sSubPr>
                      <m:e>
                        <m:r>
                          <a:rPr lang="en-AU" altLang="zh-CN" sz="8600" i="1">
                            <a:solidFill>
                              <a:prstClr val="black"/>
                            </a:solidFill>
                            <a:latin typeface="Cambria Math" panose="02040503050406030204" pitchFamily="18" charset="0"/>
                          </a:rPr>
                          <m:t>𝑟</m:t>
                        </m:r>
                      </m:e>
                      <m:sub>
                        <m:r>
                          <a:rPr lang="en-AU" altLang="zh-CN" sz="8600" i="1">
                            <a:solidFill>
                              <a:prstClr val="black"/>
                            </a:solidFill>
                            <a:latin typeface="Cambria Math" panose="02040503050406030204" pitchFamily="18" charset="0"/>
                          </a:rPr>
                          <m:t>3</m:t>
                        </m:r>
                      </m:sub>
                    </m:sSub>
                  </m:oMath>
                </a14:m>
                <a:r>
                  <a:rPr lang="en-AU" altLang="zh-CN" sz="8600" dirty="0">
                    <a:solidFill>
                      <a:prstClr val="black"/>
                    </a:solidFill>
                  </a:rPr>
                  <a:t> is a </a:t>
                </a:r>
                <a:r>
                  <a:rPr lang="en-AU" altLang="zh-CN" sz="8600" i="1" dirty="0">
                    <a:solidFill>
                      <a:prstClr val="black"/>
                    </a:solidFill>
                  </a:rPr>
                  <a:t>Confidential</a:t>
                </a:r>
                <a:r>
                  <a:rPr lang="en-AU" altLang="zh-CN" sz="8600" dirty="0">
                    <a:solidFill>
                      <a:prstClr val="black"/>
                    </a:solidFill>
                  </a:rPr>
                  <a:t> resource, and </a:t>
                </a:r>
              </a:p>
              <a:p>
                <a:pPr marL="0" lvl="0" indent="0">
                  <a:buNone/>
                </a:pPr>
                <a:r>
                  <a:rPr lang="en-AU" altLang="zh-CN" sz="8600" dirty="0">
                    <a:solidFill>
                      <a:prstClr val="black"/>
                    </a:solidFill>
                  </a:rPr>
                  <a:t>	</a:t>
                </a:r>
                <a14:m>
                  <m:oMath xmlns:m="http://schemas.openxmlformats.org/officeDocument/2006/math">
                    <m:sSub>
                      <m:sSubPr>
                        <m:ctrlPr>
                          <a:rPr lang="en-AU" altLang="zh-CN" sz="8600" i="1">
                            <a:solidFill>
                              <a:prstClr val="black"/>
                            </a:solidFill>
                            <a:latin typeface="Cambria Math" panose="02040503050406030204" pitchFamily="18" charset="0"/>
                          </a:rPr>
                        </m:ctrlPr>
                      </m:sSubPr>
                      <m:e>
                        <m:r>
                          <a:rPr lang="en-AU" altLang="zh-CN" sz="8600" i="1">
                            <a:solidFill>
                              <a:prstClr val="black"/>
                            </a:solidFill>
                            <a:latin typeface="Cambria Math" panose="02040503050406030204" pitchFamily="18" charset="0"/>
                          </a:rPr>
                          <m:t>𝑢</m:t>
                        </m:r>
                      </m:e>
                      <m:sub>
                        <m:r>
                          <a:rPr lang="en-AU" altLang="zh-CN" sz="8600" i="1">
                            <a:solidFill>
                              <a:prstClr val="black"/>
                            </a:solidFill>
                            <a:latin typeface="Cambria Math" panose="02040503050406030204" pitchFamily="18" charset="0"/>
                          </a:rPr>
                          <m:t>4</m:t>
                        </m:r>
                      </m:sub>
                    </m:sSub>
                  </m:oMath>
                </a14:m>
                <a:r>
                  <a:rPr lang="en-AU" altLang="zh-CN" sz="8600" dirty="0">
                    <a:solidFill>
                      <a:prstClr val="black"/>
                    </a:solidFill>
                  </a:rPr>
                  <a:t> is an </a:t>
                </a:r>
                <a:r>
                  <a:rPr lang="en-AU" altLang="zh-CN" sz="8600" i="1" dirty="0">
                    <a:solidFill>
                      <a:prstClr val="black"/>
                    </a:solidFill>
                  </a:rPr>
                  <a:t>Unclassified</a:t>
                </a:r>
                <a:r>
                  <a:rPr lang="en-AU" altLang="zh-CN" sz="8600" dirty="0">
                    <a:solidFill>
                      <a:prstClr val="black"/>
                    </a:solidFill>
                  </a:rPr>
                  <a:t> user and </a:t>
                </a:r>
                <a14:m>
                  <m:oMath xmlns:m="http://schemas.openxmlformats.org/officeDocument/2006/math">
                    <m:sSub>
                      <m:sSubPr>
                        <m:ctrlPr>
                          <a:rPr lang="en-AU" altLang="zh-CN" sz="8600" i="1">
                            <a:solidFill>
                              <a:prstClr val="black"/>
                            </a:solidFill>
                            <a:latin typeface="Cambria Math" panose="02040503050406030204" pitchFamily="18" charset="0"/>
                          </a:rPr>
                        </m:ctrlPr>
                      </m:sSubPr>
                      <m:e>
                        <m:r>
                          <a:rPr lang="en-AU" altLang="zh-CN" sz="8600" i="1">
                            <a:solidFill>
                              <a:prstClr val="black"/>
                            </a:solidFill>
                            <a:latin typeface="Cambria Math" panose="02040503050406030204" pitchFamily="18" charset="0"/>
                          </a:rPr>
                          <m:t>𝑟</m:t>
                        </m:r>
                      </m:e>
                      <m:sub>
                        <m:r>
                          <a:rPr lang="en-AU" altLang="zh-CN" sz="8600" i="1">
                            <a:solidFill>
                              <a:prstClr val="black"/>
                            </a:solidFill>
                            <a:latin typeface="Cambria Math" panose="02040503050406030204" pitchFamily="18" charset="0"/>
                          </a:rPr>
                          <m:t>4</m:t>
                        </m:r>
                      </m:sub>
                    </m:sSub>
                  </m:oMath>
                </a14:m>
                <a:r>
                  <a:rPr lang="en-AU" altLang="zh-CN" sz="8600" dirty="0">
                    <a:solidFill>
                      <a:prstClr val="black"/>
                    </a:solidFill>
                  </a:rPr>
                  <a:t> is an </a:t>
                </a:r>
                <a:r>
                  <a:rPr lang="en-AU" altLang="zh-CN" sz="8600" i="1" dirty="0">
                    <a:solidFill>
                      <a:prstClr val="black"/>
                    </a:solidFill>
                  </a:rPr>
                  <a:t>Unclassified</a:t>
                </a:r>
                <a:r>
                  <a:rPr lang="en-AU" altLang="zh-CN" sz="8600" dirty="0">
                    <a:solidFill>
                      <a:prstClr val="black"/>
                    </a:solidFill>
                  </a:rPr>
                  <a:t> resource.</a:t>
                </a:r>
              </a:p>
              <a:p>
                <a:r>
                  <a:rPr lang="en-US" altLang="zh-CN" sz="8600" dirty="0">
                    <a:solidFill>
                      <a:prstClr val="black"/>
                    </a:solidFill>
                  </a:rPr>
                  <a:t>Let </a:t>
                </a:r>
                <a14:m>
                  <m:oMath xmlns:m="http://schemas.openxmlformats.org/officeDocument/2006/math">
                    <m:r>
                      <a:rPr lang="en-US" altLang="zh-CN" sz="8600" i="1" dirty="0" smtClean="0">
                        <a:solidFill>
                          <a:prstClr val="black"/>
                        </a:solidFill>
                        <a:latin typeface="Cambria Math" panose="02040503050406030204" pitchFamily="18" charset="0"/>
                      </a:rPr>
                      <m:t>𝐴</m:t>
                    </m:r>
                    <m:r>
                      <a:rPr lang="en-US" altLang="zh-CN" sz="8600" b="0" i="1" dirty="0" smtClean="0">
                        <a:solidFill>
                          <a:prstClr val="black"/>
                        </a:solidFill>
                        <a:latin typeface="Cambria Math" panose="02040503050406030204" pitchFamily="18" charset="0"/>
                      </a:rPr>
                      <m:t>=</m:t>
                    </m:r>
                    <m:r>
                      <a:rPr lang="en-US" altLang="zh-CN" sz="8600" b="0" i="1" dirty="0" smtClean="0">
                        <a:solidFill>
                          <a:prstClr val="black"/>
                        </a:solidFill>
                        <a:latin typeface="Cambria Math" panose="02040503050406030204" pitchFamily="18" charset="0"/>
                      </a:rPr>
                      <m:t>𝑇𝑜𝑝𝑆𝑒𝑐𝑢𝑟𝑖𝑡𝑦</m:t>
                    </m:r>
                  </m:oMath>
                </a14:m>
                <a:r>
                  <a:rPr lang="en-AU" altLang="zh-CN" sz="8600" dirty="0">
                    <a:solidFill>
                      <a:prstClr val="black"/>
                    </a:solidFill>
                  </a:rPr>
                  <a:t> and </a:t>
                </a:r>
                <a14:m>
                  <m:oMath xmlns:m="http://schemas.openxmlformats.org/officeDocument/2006/math">
                    <m:r>
                      <a:rPr lang="en-US" altLang="zh-CN" sz="8600" b="0" i="1" dirty="0" smtClean="0">
                        <a:solidFill>
                          <a:prstClr val="black"/>
                        </a:solidFill>
                        <a:latin typeface="Cambria Math" panose="02040503050406030204" pitchFamily="18" charset="0"/>
                      </a:rPr>
                      <m:t>𝐵</m:t>
                    </m:r>
                    <m:r>
                      <a:rPr lang="en-US" altLang="zh-CN" sz="8600" i="1" dirty="0">
                        <a:solidFill>
                          <a:prstClr val="black"/>
                        </a:solidFill>
                        <a:latin typeface="Cambria Math" panose="02040503050406030204" pitchFamily="18" charset="0"/>
                      </a:rPr>
                      <m:t>=</m:t>
                    </m:r>
                    <m:r>
                      <a:rPr lang="en-US" altLang="zh-CN" sz="8600" i="1" dirty="0">
                        <a:solidFill>
                          <a:prstClr val="black"/>
                        </a:solidFill>
                        <a:latin typeface="Cambria Math" panose="02040503050406030204" pitchFamily="18" charset="0"/>
                      </a:rPr>
                      <m:t>𝑆𝑒𝑐𝑢𝑟𝑖𝑡𝑦</m:t>
                    </m:r>
                  </m:oMath>
                </a14:m>
                <a:r>
                  <a:rPr lang="en-AU" altLang="zh-CN" sz="8600" dirty="0">
                    <a:solidFill>
                      <a:prstClr val="black"/>
                    </a:solidFill>
                  </a:rPr>
                  <a:t>, then </a:t>
                </a:r>
                <a14:m>
                  <m:oMath xmlns:m="http://schemas.openxmlformats.org/officeDocument/2006/math">
                    <m:r>
                      <m:rPr>
                        <m:sty m:val="p"/>
                      </m:rPr>
                      <a:rPr lang="en-US" altLang="zh-CN" sz="8600" b="0" i="0" smtClean="0">
                        <a:latin typeface="Cambria Math" panose="02040503050406030204" pitchFamily="18" charset="0"/>
                      </a:rPr>
                      <m:t>A</m:t>
                    </m:r>
                    <m:r>
                      <a:rPr lang="en-US" altLang="zh-CN" sz="8600" i="1">
                        <a:latin typeface="Cambria Math" panose="02040503050406030204" pitchFamily="18" charset="0"/>
                      </a:rPr>
                      <m:t>⊕</m:t>
                    </m:r>
                    <m:r>
                      <a:rPr lang="en-US" altLang="zh-CN" sz="8600" b="0" i="1" smtClean="0">
                        <a:latin typeface="Cambria Math" panose="02040503050406030204" pitchFamily="18" charset="0"/>
                      </a:rPr>
                      <m:t>𝐵</m:t>
                    </m:r>
                    <m:r>
                      <a:rPr lang="en-US" altLang="zh-CN" sz="8600" b="0" i="1" smtClean="0">
                        <a:latin typeface="Cambria Math" panose="02040503050406030204" pitchFamily="18" charset="0"/>
                      </a:rPr>
                      <m:t>={</m:t>
                    </m:r>
                    <m:sSub>
                      <m:sSubPr>
                        <m:ctrlPr>
                          <a:rPr lang="en-US" altLang="zh-CN" sz="8600" b="0" i="1" smtClean="0">
                            <a:latin typeface="Cambria Math" panose="02040503050406030204" pitchFamily="18" charset="0"/>
                          </a:rPr>
                        </m:ctrlPr>
                      </m:sSubPr>
                      <m:e>
                        <m:r>
                          <a:rPr lang="en-US" altLang="zh-CN" sz="8600" b="0" i="1" smtClean="0">
                            <a:latin typeface="Cambria Math" panose="02040503050406030204" pitchFamily="18" charset="0"/>
                          </a:rPr>
                          <m:t>𝑢</m:t>
                        </m:r>
                      </m:e>
                      <m:sub>
                        <m:r>
                          <a:rPr lang="en-US" altLang="zh-CN" sz="8600" b="0" i="1" smtClean="0">
                            <a:latin typeface="Cambria Math" panose="02040503050406030204" pitchFamily="18" charset="0"/>
                          </a:rPr>
                          <m:t>1</m:t>
                        </m:r>
                      </m:sub>
                    </m:sSub>
                    <m:r>
                      <a:rPr lang="en-US" altLang="zh-CN" sz="8600" b="0" i="1" smtClean="0">
                        <a:latin typeface="Cambria Math" panose="02040503050406030204" pitchFamily="18" charset="0"/>
                      </a:rPr>
                      <m:t>, </m:t>
                    </m:r>
                    <m:sSub>
                      <m:sSubPr>
                        <m:ctrlPr>
                          <a:rPr lang="en-US" altLang="zh-CN" sz="8600" b="0" i="1" smtClean="0">
                            <a:latin typeface="Cambria Math" panose="02040503050406030204" pitchFamily="18" charset="0"/>
                          </a:rPr>
                        </m:ctrlPr>
                      </m:sSubPr>
                      <m:e>
                        <m:r>
                          <a:rPr lang="en-US" altLang="zh-CN" sz="8600" b="0" i="1" smtClean="0">
                            <a:latin typeface="Cambria Math" panose="02040503050406030204" pitchFamily="18" charset="0"/>
                          </a:rPr>
                          <m:t>𝑢</m:t>
                        </m:r>
                      </m:e>
                      <m:sub>
                        <m:r>
                          <a:rPr lang="en-US" altLang="zh-CN" sz="8600" b="0" i="1" smtClean="0">
                            <a:latin typeface="Cambria Math" panose="02040503050406030204" pitchFamily="18" charset="0"/>
                          </a:rPr>
                          <m:t>2</m:t>
                        </m:r>
                      </m:sub>
                    </m:sSub>
                    <m:r>
                      <a:rPr lang="en-US" altLang="zh-CN" sz="8600" b="0" i="1" smtClean="0">
                        <a:latin typeface="Cambria Math" panose="02040503050406030204" pitchFamily="18" charset="0"/>
                      </a:rPr>
                      <m:t>}</m:t>
                    </m:r>
                  </m:oMath>
                </a14:m>
                <a:r>
                  <a:rPr lang="en-AU" altLang="zh-CN" sz="8600" dirty="0">
                    <a:solidFill>
                      <a:prstClr val="black"/>
                    </a:solidFill>
                  </a:rPr>
                  <a:t> and </a:t>
                </a:r>
                <a14:m>
                  <m:oMath xmlns:m="http://schemas.openxmlformats.org/officeDocument/2006/math">
                    <m:r>
                      <m:rPr>
                        <m:sty m:val="p"/>
                      </m:rPr>
                      <a:rPr lang="en-US" altLang="zh-CN" sz="8600" b="0" i="0" smtClean="0">
                        <a:latin typeface="Cambria Math" panose="02040503050406030204" pitchFamily="18" charset="0"/>
                      </a:rPr>
                      <m:t>A</m:t>
                    </m:r>
                    <m:r>
                      <a:rPr lang="en-US" altLang="zh-CN" sz="8600" i="1">
                        <a:latin typeface="Cambria Math" panose="02040503050406030204" pitchFamily="18" charset="0"/>
                      </a:rPr>
                      <m:t>⊗</m:t>
                    </m:r>
                    <m:r>
                      <a:rPr lang="en-US" altLang="zh-CN" sz="8600" b="0" i="1" smtClean="0">
                        <a:latin typeface="Cambria Math" panose="02040503050406030204" pitchFamily="18" charset="0"/>
                      </a:rPr>
                      <m:t>𝐵</m:t>
                    </m:r>
                    <m:r>
                      <a:rPr lang="en-US" altLang="zh-CN" sz="8600" b="0" i="1" smtClean="0">
                        <a:latin typeface="Cambria Math" panose="02040503050406030204" pitchFamily="18" charset="0"/>
                      </a:rPr>
                      <m:t>={</m:t>
                    </m:r>
                    <m:sSub>
                      <m:sSubPr>
                        <m:ctrlPr>
                          <a:rPr lang="en-US" altLang="zh-CN" sz="8600" b="0" i="1" smtClean="0">
                            <a:latin typeface="Cambria Math" panose="02040503050406030204" pitchFamily="18" charset="0"/>
                          </a:rPr>
                        </m:ctrlPr>
                      </m:sSubPr>
                      <m:e>
                        <m:r>
                          <a:rPr lang="en-US" altLang="zh-CN" sz="8600" b="0" i="1" smtClean="0">
                            <a:latin typeface="Cambria Math" panose="02040503050406030204" pitchFamily="18" charset="0"/>
                          </a:rPr>
                          <m:t>𝑢</m:t>
                        </m:r>
                      </m:e>
                      <m:sub>
                        <m:r>
                          <a:rPr lang="en-US" altLang="zh-CN" sz="8600" b="0" i="1" smtClean="0">
                            <a:latin typeface="Cambria Math" panose="02040503050406030204" pitchFamily="18" charset="0"/>
                          </a:rPr>
                          <m:t>1</m:t>
                        </m:r>
                      </m:sub>
                    </m:sSub>
                    <m:r>
                      <a:rPr lang="en-US" altLang="zh-CN" sz="8600" b="0" i="1" smtClean="0">
                        <a:latin typeface="Cambria Math" panose="02040503050406030204" pitchFamily="18" charset="0"/>
                      </a:rPr>
                      <m:t>}</m:t>
                    </m:r>
                  </m:oMath>
                </a14:m>
                <a:r>
                  <a:rPr lang="en-AU" altLang="zh-CN" sz="8600" dirty="0">
                    <a:solidFill>
                      <a:prstClr val="black"/>
                    </a:solidFill>
                  </a:rPr>
                  <a:t>.</a:t>
                </a:r>
              </a:p>
              <a:p>
                <a:pPr marL="0" indent="0">
                  <a:buNone/>
                </a:pPr>
                <a:endParaRPr lang="en-AU" altLang="zh-CN" sz="1800" dirty="0">
                  <a:solidFill>
                    <a:prstClr val="black"/>
                  </a:solidFill>
                </a:endParaRPr>
              </a:p>
              <a:p>
                <a:pPr marL="457200" lvl="1" indent="0">
                  <a:buNone/>
                </a:pPr>
                <a:endParaRPr lang="en-AU" sz="2400" dirty="0"/>
              </a:p>
              <a:p>
                <a:pPr marL="0" indent="0" algn="just">
                  <a:buNone/>
                </a:pPr>
                <a:r>
                  <a:rPr lang="en-US" sz="2400" dirty="0"/>
                  <a:t>	</a:t>
                </a:r>
              </a:p>
              <a:p>
                <a:pPr marL="0" indent="0" algn="just">
                  <a:buNone/>
                </a:pPr>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5"/>
                <a:stretch>
                  <a:fillRect l="-696" t="-280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CA8D9AD5-F248-4919-864A-CFD76CC027D6}" type="slidenum">
              <a:rPr lang="en-AU" smtClean="0"/>
              <a:t>19</a:t>
            </a:fld>
            <a:endParaRPr lang="en-AU"/>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3.2 Discretionary access control</a:t>
            </a:r>
          </a:p>
        </p:txBody>
      </p:sp>
      <p:sp>
        <p:nvSpPr>
          <p:cNvPr id="3" name="Content Placeholder 2"/>
          <p:cNvSpPr>
            <a:spLocks noGrp="1"/>
          </p:cNvSpPr>
          <p:nvPr>
            <p:ph idx="1"/>
          </p:nvPr>
        </p:nvSpPr>
        <p:spPr/>
        <p:txBody>
          <a:bodyPr>
            <a:normAutofit/>
          </a:bodyPr>
          <a:lstStyle/>
          <a:p>
            <a:r>
              <a:rPr lang="en-AU" sz="2000" dirty="0"/>
              <a:t>Discretionary access control (DAC) is an owner-centric security model. Each system resource is assigned ownership to one or more entities. </a:t>
            </a:r>
          </a:p>
          <a:p>
            <a:r>
              <a:rPr lang="en-AU" sz="2000" dirty="0"/>
              <a:t>The owner of a resource has complete discretion over who else can access the resource and in what mode access is accomplished.</a:t>
            </a:r>
          </a:p>
          <a:p>
            <a:r>
              <a:rPr lang="en-US" sz="2000" dirty="0"/>
              <a:t>The advantages of DAC include simplicity, flexibility and ease of implementation.</a:t>
            </a:r>
          </a:p>
          <a:p>
            <a:r>
              <a:rPr lang="en-US" sz="2000" dirty="0"/>
              <a:t>The disadvantage of DAC is that the propagation of access rights is unbounded and thus access rights may be given to malicious users.</a:t>
            </a:r>
          </a:p>
          <a:p>
            <a:endParaRPr lang="en-US" sz="2400" dirty="0"/>
          </a:p>
          <a:p>
            <a:endParaRPr lang="en-AU" sz="2400" dirty="0"/>
          </a:p>
          <a:p>
            <a:pPr lvl="0"/>
            <a:endParaRPr lang="en-AU" altLang="zh-CN" sz="2400" dirty="0">
              <a:solidFill>
                <a:prstClr val="black"/>
              </a:solidFill>
            </a:endParaRPr>
          </a:p>
          <a:p>
            <a:pPr marL="0" indent="0" algn="just">
              <a:buNone/>
            </a:pPr>
            <a:endParaRPr lang="en-AU" altLang="zh-CN" sz="2400" dirty="0"/>
          </a:p>
          <a:p>
            <a:pPr marL="0" indent="0" algn="just">
              <a:buNone/>
            </a:pPr>
            <a:endParaRPr lang="en-AU" sz="2400" dirty="0"/>
          </a:p>
          <a:p>
            <a:pPr marL="0" indent="0" algn="just">
              <a:buNone/>
            </a:pPr>
            <a:endParaRPr lang="en-AU" sz="2400" dirty="0"/>
          </a:p>
          <a:p>
            <a:pPr marL="0" indent="0" algn="just">
              <a:buNone/>
            </a:pPr>
            <a:endParaRPr lang="en-US" sz="2400" dirty="0"/>
          </a:p>
          <a:p>
            <a:pPr marL="0" indent="0" algn="just">
              <a:buNone/>
            </a:pPr>
            <a:endParaRPr lang="en-AU" sz="2400" dirty="0"/>
          </a:p>
          <a:p>
            <a:pPr marL="0" indent="0" algn="just">
              <a:buNone/>
            </a:pPr>
            <a:endParaRPr lang="en-AU" sz="2400" dirty="0"/>
          </a:p>
        </p:txBody>
      </p:sp>
      <p:sp>
        <p:nvSpPr>
          <p:cNvPr id="4" name="Slide Number Placeholder 3"/>
          <p:cNvSpPr>
            <a:spLocks noGrp="1"/>
          </p:cNvSpPr>
          <p:nvPr>
            <p:ph type="sldNum" sz="quarter" idx="12"/>
          </p:nvPr>
        </p:nvSpPr>
        <p:spPr/>
        <p:txBody>
          <a:bodyPr/>
          <a:lstStyle/>
          <a:p>
            <a:fld id="{CA8D9AD5-F248-4919-864A-CFD76CC027D6}" type="slidenum">
              <a:rPr lang="en-AU" smtClean="0"/>
              <a:t>20</a:t>
            </a:fld>
            <a:endParaRPr lang="en-AU"/>
          </a:p>
        </p:txBody>
      </p:sp>
      <p:pic>
        <p:nvPicPr>
          <p:cNvPr id="5" name="Picture 4"/>
          <p:cNvPicPr>
            <a:picLocks noChangeAspect="1"/>
          </p:cNvPicPr>
          <p:nvPr/>
        </p:nvPicPr>
        <p:blipFill>
          <a:blip r:embed="rId3"/>
          <a:stretch>
            <a:fillRect/>
          </a:stretch>
        </p:blipFill>
        <p:spPr>
          <a:xfrm>
            <a:off x="3805237" y="4223656"/>
            <a:ext cx="4581525" cy="249781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3.2 Discretionary access control</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sz="2400" dirty="0"/>
                  <a:t>DAC can be modeled as an access-matrix which includes three parts: subjects (users), objects (files), and access rights.</a:t>
                </a:r>
              </a:p>
              <a:p>
                <a:r>
                  <a:rPr lang="en-US" sz="2400" dirty="0"/>
                  <a:t>Formally, DAC can be defined as a four-tuple: </a:t>
                </a:r>
                <a14:m>
                  <m:oMath xmlns:m="http://schemas.openxmlformats.org/officeDocument/2006/math">
                    <m:d>
                      <m:dPr>
                        <m:begChr m:val="⟨"/>
                        <m:endChr m:val="⟩"/>
                        <m:ctrlPr>
                          <a:rPr lang="en-AU" altLang="zh-CN" sz="2400" i="1">
                            <a:solidFill>
                              <a:prstClr val="black"/>
                            </a:solidFill>
                            <a:latin typeface="Cambria Math" panose="02040503050406030204" pitchFamily="18" charset="0"/>
                          </a:rPr>
                        </m:ctrlPr>
                      </m:dPr>
                      <m:e>
                        <m:r>
                          <a:rPr lang="en-US" altLang="zh-CN" sz="2400" b="0" i="1" smtClean="0">
                            <a:solidFill>
                              <a:prstClr val="black"/>
                            </a:solidFill>
                            <a:latin typeface="Cambria Math" panose="02040503050406030204" pitchFamily="18" charset="0"/>
                          </a:rPr>
                          <m:t>𝐴</m:t>
                        </m:r>
                        <m:r>
                          <a:rPr lang="en-US" altLang="zh-CN" sz="2400" i="1">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𝑆</m:t>
                        </m:r>
                        <m:r>
                          <a:rPr lang="en-US" altLang="zh-CN" sz="2400" i="1">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𝑂</m:t>
                        </m:r>
                        <m:r>
                          <a:rPr lang="en-US" altLang="zh-CN" sz="2400" i="1">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𝑅</m:t>
                        </m:r>
                      </m:e>
                    </m:d>
                  </m:oMath>
                </a14:m>
                <a:r>
                  <a:rPr lang="en-US" sz="2400" dirty="0"/>
                  <a:t>.</a:t>
                </a:r>
              </a:p>
              <a:p>
                <a:pPr lvl="1"/>
                <a14:m>
                  <m:oMath xmlns:m="http://schemas.openxmlformats.org/officeDocument/2006/math">
                    <m:r>
                      <a:rPr lang="en-US" altLang="zh-CN" i="1">
                        <a:solidFill>
                          <a:prstClr val="black"/>
                        </a:solidFill>
                        <a:latin typeface="Cambria Math" panose="02040503050406030204" pitchFamily="18" charset="0"/>
                      </a:rPr>
                      <m:t>𝐴</m:t>
                    </m:r>
                  </m:oMath>
                </a14:m>
                <a:r>
                  <a:rPr lang="en-AU" dirty="0"/>
                  <a:t> is for the access-matrix.</a:t>
                </a:r>
              </a:p>
              <a:p>
                <a:pPr lvl="1"/>
                <a14:m>
                  <m:oMath xmlns:m="http://schemas.openxmlformats.org/officeDocument/2006/math">
                    <m:r>
                      <a:rPr lang="en-US" altLang="zh-CN" i="1">
                        <a:solidFill>
                          <a:prstClr val="black"/>
                        </a:solidFill>
                        <a:latin typeface="Cambria Math" panose="02040503050406030204" pitchFamily="18" charset="0"/>
                      </a:rPr>
                      <m:t>𝑆</m:t>
                    </m:r>
                  </m:oMath>
                </a14:m>
                <a:r>
                  <a:rPr lang="en-AU" dirty="0"/>
                  <a:t> is for the set of subjects.</a:t>
                </a:r>
              </a:p>
              <a:p>
                <a:pPr lvl="1"/>
                <a14:m>
                  <m:oMath xmlns:m="http://schemas.openxmlformats.org/officeDocument/2006/math">
                    <m:r>
                      <a:rPr lang="en-US" altLang="zh-CN" i="1">
                        <a:solidFill>
                          <a:prstClr val="black"/>
                        </a:solidFill>
                        <a:latin typeface="Cambria Math" panose="02040503050406030204" pitchFamily="18" charset="0"/>
                      </a:rPr>
                      <m:t>𝑂</m:t>
                    </m:r>
                  </m:oMath>
                </a14:m>
                <a:r>
                  <a:rPr lang="en-AU" dirty="0"/>
                  <a:t> is for the set of objects.</a:t>
                </a:r>
              </a:p>
              <a:p>
                <a:pPr lvl="1"/>
                <a14:m>
                  <m:oMath xmlns:m="http://schemas.openxmlformats.org/officeDocument/2006/math">
                    <m:r>
                      <a:rPr lang="en-US" altLang="zh-CN" i="1">
                        <a:solidFill>
                          <a:prstClr val="black"/>
                        </a:solidFill>
                        <a:latin typeface="Cambria Math" panose="02040503050406030204" pitchFamily="18" charset="0"/>
                      </a:rPr>
                      <m:t>𝑅</m:t>
                    </m:r>
                  </m:oMath>
                </a14:m>
                <a:r>
                  <a:rPr lang="en-AU" dirty="0"/>
                  <a:t> is for the set of permissions.</a:t>
                </a:r>
              </a:p>
              <a:p>
                <a:pPr lvl="1"/>
                <a:r>
                  <a:rPr lang="en-AU" dirty="0"/>
                  <a:t>The value of a cell in the access-matrix </a:t>
                </a:r>
                <a14:m>
                  <m:oMath xmlns:m="http://schemas.openxmlformats.org/officeDocument/2006/math">
                    <m:r>
                      <a:rPr lang="en-US" altLang="zh-CN" i="1">
                        <a:solidFill>
                          <a:prstClr val="black"/>
                        </a:solidFill>
                        <a:latin typeface="Cambria Math" panose="02040503050406030204" pitchFamily="18" charset="0"/>
                      </a:rPr>
                      <m:t>𝐴</m:t>
                    </m:r>
                    <m:r>
                      <a:rPr lang="en-US" altLang="zh-CN" b="0" i="1" smtClean="0">
                        <a:solidFill>
                          <a:prstClr val="black"/>
                        </a:solidFill>
                        <a:latin typeface="Cambria Math" panose="02040503050406030204" pitchFamily="18" charset="0"/>
                      </a:rPr>
                      <m:t>[</m:t>
                    </m:r>
                    <m:r>
                      <a:rPr lang="en-US" altLang="zh-CN" b="0" i="1" smtClean="0">
                        <a:solidFill>
                          <a:prstClr val="black"/>
                        </a:solidFill>
                        <a:latin typeface="Cambria Math" panose="02040503050406030204" pitchFamily="18" charset="0"/>
                      </a:rPr>
                      <m:t>𝑠</m:t>
                    </m:r>
                    <m:r>
                      <a:rPr lang="en-US" altLang="zh-CN" b="0" i="1" smtClean="0">
                        <a:solidFill>
                          <a:prstClr val="black"/>
                        </a:solidFill>
                        <a:latin typeface="Cambria Math" panose="02040503050406030204" pitchFamily="18" charset="0"/>
                      </a:rPr>
                      <m:t>,</m:t>
                    </m:r>
                    <m:r>
                      <a:rPr lang="en-US" altLang="zh-CN" b="0" i="1" smtClean="0">
                        <a:solidFill>
                          <a:prstClr val="black"/>
                        </a:solidFill>
                        <a:latin typeface="Cambria Math" panose="02040503050406030204" pitchFamily="18" charset="0"/>
                      </a:rPr>
                      <m:t>𝑜</m:t>
                    </m:r>
                    <m:r>
                      <a:rPr lang="en-US" altLang="zh-CN" b="0" i="1" smtClean="0">
                        <a:solidFill>
                          <a:prstClr val="black"/>
                        </a:solidFill>
                        <a:latin typeface="Cambria Math" panose="02040503050406030204" pitchFamily="18" charset="0"/>
                      </a:rPr>
                      <m:t>]</m:t>
                    </m:r>
                  </m:oMath>
                </a14:m>
                <a:r>
                  <a:rPr lang="en-AU" dirty="0"/>
                  <a:t> represents the set of permissions </a:t>
                </a:r>
                <a14:m>
                  <m:oMath xmlns:m="http://schemas.openxmlformats.org/officeDocument/2006/math">
                    <m:sSub>
                      <m:sSubPr>
                        <m:ctrlPr>
                          <a:rPr lang="en-US" altLang="zh-CN" b="0" i="1" smtClean="0">
                            <a:solidFill>
                              <a:prstClr val="black"/>
                            </a:solidFill>
                            <a:latin typeface="Cambria Math" panose="02040503050406030204" pitchFamily="18" charset="0"/>
                          </a:rPr>
                        </m:ctrlPr>
                      </m:sSubPr>
                      <m:e>
                        <m:r>
                          <a:rPr lang="en-US" altLang="zh-CN" i="1">
                            <a:solidFill>
                              <a:prstClr val="black"/>
                            </a:solidFill>
                            <a:latin typeface="Cambria Math" panose="02040503050406030204" pitchFamily="18" charset="0"/>
                          </a:rPr>
                          <m:t>𝑅</m:t>
                        </m:r>
                      </m:e>
                      <m:sub>
                        <m:r>
                          <a:rPr lang="en-US" altLang="zh-CN" b="0" i="1" smtClean="0">
                            <a:solidFill>
                              <a:prstClr val="black"/>
                            </a:solidFill>
                            <a:latin typeface="Cambria Math" panose="02040503050406030204" pitchFamily="18" charset="0"/>
                          </a:rPr>
                          <m:t>𝑠</m:t>
                        </m:r>
                        <m:r>
                          <a:rPr lang="en-US" altLang="zh-CN" b="0" i="1" smtClean="0">
                            <a:solidFill>
                              <a:prstClr val="black"/>
                            </a:solidFill>
                            <a:latin typeface="Cambria Math" panose="02040503050406030204" pitchFamily="18" charset="0"/>
                          </a:rPr>
                          <m:t>,</m:t>
                        </m:r>
                        <m:r>
                          <a:rPr lang="en-US" altLang="zh-CN" b="0" i="1" smtClean="0">
                            <a:solidFill>
                              <a:prstClr val="black"/>
                            </a:solidFill>
                            <a:latin typeface="Cambria Math" panose="02040503050406030204" pitchFamily="18" charset="0"/>
                          </a:rPr>
                          <m:t>𝑜</m:t>
                        </m:r>
                      </m:sub>
                    </m:sSub>
                    <m:r>
                      <a:rPr lang="en-US" altLang="zh-CN" b="0" i="1" smtClean="0">
                        <a:solidFill>
                          <a:prstClr val="black"/>
                        </a:solidFill>
                        <a:latin typeface="Cambria Math" panose="02040503050406030204" pitchFamily="18" charset="0"/>
                      </a:rPr>
                      <m:t>⊂</m:t>
                    </m:r>
                    <m:r>
                      <a:rPr lang="en-US" altLang="zh-CN" b="0" i="1" smtClean="0">
                        <a:solidFill>
                          <a:prstClr val="black"/>
                        </a:solidFill>
                        <a:latin typeface="Cambria Math" panose="02040503050406030204" pitchFamily="18" charset="0"/>
                      </a:rPr>
                      <m:t>𝑅</m:t>
                    </m:r>
                  </m:oMath>
                </a14:m>
                <a:r>
                  <a:rPr lang="en-AU" dirty="0"/>
                  <a:t> that object </a:t>
                </a:r>
                <a14:m>
                  <m:oMath xmlns:m="http://schemas.openxmlformats.org/officeDocument/2006/math">
                    <m:r>
                      <a:rPr lang="en-US" altLang="zh-CN" i="1">
                        <a:solidFill>
                          <a:prstClr val="black"/>
                        </a:solidFill>
                        <a:latin typeface="Cambria Math" panose="02040503050406030204" pitchFamily="18" charset="0"/>
                      </a:rPr>
                      <m:t>𝑜</m:t>
                    </m:r>
                  </m:oMath>
                </a14:m>
                <a:r>
                  <a:rPr lang="en-AU" dirty="0"/>
                  <a:t> has on subject </a:t>
                </a:r>
                <a14:m>
                  <m:oMath xmlns:m="http://schemas.openxmlformats.org/officeDocument/2006/math">
                    <m:r>
                      <a:rPr lang="en-US" altLang="zh-CN" i="1">
                        <a:solidFill>
                          <a:prstClr val="black"/>
                        </a:solidFill>
                        <a:latin typeface="Cambria Math" panose="02040503050406030204" pitchFamily="18" charset="0"/>
                      </a:rPr>
                      <m:t>𝑠</m:t>
                    </m:r>
                  </m:oMath>
                </a14:m>
                <a:r>
                  <a:rPr lang="en-AU"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5"/>
                <a:stretch>
                  <a:fillRect l="-812" t="-1961"/>
                </a:stretch>
              </a:blipFill>
            </p:spPr>
            <p:txBody>
              <a:bodyPr/>
              <a:lstStyle/>
              <a:p>
                <a:r>
                  <a:rPr lang="zh-CN" altLang="en-US">
                    <a:noFill/>
                  </a:rPr>
                  <a:t> </a:t>
                </a:r>
                <a:endParaRPr lang="zh-CN" altLang="en-US">
                  <a:noFill/>
                </a:endParaRPr>
              </a:p>
            </p:txBody>
          </p:sp>
        </mc:Fallback>
      </mc:AlternateContent>
      <p:sp>
        <p:nvSpPr>
          <p:cNvPr id="4" name="Slide Number Placeholder 3"/>
          <p:cNvSpPr>
            <a:spLocks noGrp="1"/>
          </p:cNvSpPr>
          <p:nvPr>
            <p:ph type="sldNum" sz="quarter" idx="12"/>
          </p:nvPr>
        </p:nvSpPr>
        <p:spPr/>
        <p:txBody>
          <a:bodyPr/>
          <a:lstStyle/>
          <a:p>
            <a:fld id="{CA8D9AD5-F248-4919-864A-CFD76CC027D6}" type="slidenum">
              <a:rPr lang="en-AU" smtClean="0"/>
              <a:t>21</a:t>
            </a:fld>
            <a:endParaRPr lang="en-AU"/>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3.2 Discretionary access control</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sz="2400" dirty="0"/>
                  <a:t>We use an example to describe the DAC model.</a:t>
                </a:r>
              </a:p>
              <a:p>
                <a:r>
                  <a:rPr lang="en-US" sz="2400" dirty="0"/>
                  <a:t>Let </a:t>
                </a:r>
                <a14:m>
                  <m:oMath xmlns:m="http://schemas.openxmlformats.org/officeDocument/2006/math">
                    <m:r>
                      <a:rPr lang="en-US" altLang="zh-CN" sz="2400" b="0" i="1" smtClean="0">
                        <a:solidFill>
                          <a:prstClr val="black"/>
                        </a:solidFill>
                        <a:latin typeface="Cambria Math" panose="02040503050406030204" pitchFamily="18" charset="0"/>
                      </a:rPr>
                      <m:t>𝑆</m:t>
                    </m:r>
                    <m:r>
                      <a:rPr lang="en-US" altLang="zh-CN" sz="2400" i="1">
                        <a:solidFill>
                          <a:prstClr val="black"/>
                        </a:solidFill>
                        <a:latin typeface="Cambria Math" panose="02040503050406030204" pitchFamily="18" charset="0"/>
                      </a:rPr>
                      <m:t>=</m:t>
                    </m:r>
                    <m:d>
                      <m:dPr>
                        <m:begChr m:val="{"/>
                        <m:endChr m:val="}"/>
                        <m:ctrlPr>
                          <a:rPr lang="en-US" altLang="zh-CN" sz="2400" i="1">
                            <a:solidFill>
                              <a:prstClr val="black"/>
                            </a:solidFill>
                            <a:latin typeface="Cambria Math" panose="02040503050406030204" pitchFamily="18" charset="0"/>
                          </a:rPr>
                        </m:ctrlPr>
                      </m:dPr>
                      <m:e>
                        <m:sSub>
                          <m:sSubPr>
                            <m:ctrlPr>
                              <a:rPr lang="en-AU" altLang="zh-CN" sz="2400" i="1">
                                <a:solidFill>
                                  <a:prstClr val="black"/>
                                </a:solidFill>
                                <a:latin typeface="Cambria Math" panose="02040503050406030204" pitchFamily="18" charset="0"/>
                              </a:rPr>
                            </m:ctrlPr>
                          </m:sSubPr>
                          <m:e>
                            <m:r>
                              <a:rPr lang="en-US" altLang="zh-CN" sz="2400" b="0" i="1" smtClean="0">
                                <a:solidFill>
                                  <a:prstClr val="black"/>
                                </a:solidFill>
                                <a:latin typeface="Cambria Math" panose="02040503050406030204" pitchFamily="18" charset="0"/>
                              </a:rPr>
                              <m:t>𝑠</m:t>
                            </m:r>
                          </m:e>
                          <m:sub>
                            <m:r>
                              <a:rPr lang="en-AU" altLang="zh-CN" sz="2400" i="1">
                                <a:solidFill>
                                  <a:prstClr val="black"/>
                                </a:solidFill>
                                <a:latin typeface="Cambria Math" panose="02040503050406030204" pitchFamily="18" charset="0"/>
                              </a:rPr>
                              <m:t>1</m:t>
                            </m:r>
                          </m:sub>
                        </m:sSub>
                        <m:r>
                          <a:rPr lang="en-US" altLang="zh-CN" sz="2400" i="1">
                            <a:solidFill>
                              <a:prstClr val="black"/>
                            </a:solidFill>
                            <a:latin typeface="Cambria Math" panose="02040503050406030204" pitchFamily="18" charset="0"/>
                          </a:rPr>
                          <m:t>,</m:t>
                        </m:r>
                        <m:sSub>
                          <m:sSubPr>
                            <m:ctrlPr>
                              <a:rPr lang="en-AU" altLang="zh-CN" sz="2400" i="1">
                                <a:solidFill>
                                  <a:prstClr val="black"/>
                                </a:solidFill>
                                <a:latin typeface="Cambria Math" panose="02040503050406030204" pitchFamily="18" charset="0"/>
                              </a:rPr>
                            </m:ctrlPr>
                          </m:sSubPr>
                          <m:e>
                            <m:r>
                              <a:rPr lang="en-US" altLang="zh-CN" sz="2400" b="0" i="1" smtClean="0">
                                <a:solidFill>
                                  <a:prstClr val="black"/>
                                </a:solidFill>
                                <a:latin typeface="Cambria Math" panose="02040503050406030204" pitchFamily="18" charset="0"/>
                              </a:rPr>
                              <m:t>𝑠</m:t>
                            </m:r>
                          </m:e>
                          <m:sub>
                            <m:r>
                              <a:rPr lang="en-AU" altLang="zh-CN" sz="2400" i="1">
                                <a:solidFill>
                                  <a:prstClr val="black"/>
                                </a:solidFill>
                                <a:latin typeface="Cambria Math" panose="02040503050406030204" pitchFamily="18" charset="0"/>
                              </a:rPr>
                              <m:t>2</m:t>
                            </m:r>
                          </m:sub>
                        </m:sSub>
                        <m:r>
                          <a:rPr lang="en-US" altLang="zh-CN" sz="2400" i="1">
                            <a:solidFill>
                              <a:prstClr val="black"/>
                            </a:solidFill>
                            <a:latin typeface="Cambria Math" panose="02040503050406030204" pitchFamily="18" charset="0"/>
                          </a:rPr>
                          <m:t>,</m:t>
                        </m:r>
                        <m:sSub>
                          <m:sSubPr>
                            <m:ctrlPr>
                              <a:rPr lang="en-AU" altLang="zh-CN" sz="2400" i="1">
                                <a:solidFill>
                                  <a:prstClr val="black"/>
                                </a:solidFill>
                                <a:latin typeface="Cambria Math" panose="02040503050406030204" pitchFamily="18" charset="0"/>
                              </a:rPr>
                            </m:ctrlPr>
                          </m:sSubPr>
                          <m:e>
                            <m:r>
                              <a:rPr lang="en-US" altLang="zh-CN" sz="2400" b="0" i="1" smtClean="0">
                                <a:solidFill>
                                  <a:prstClr val="black"/>
                                </a:solidFill>
                                <a:latin typeface="Cambria Math" panose="02040503050406030204" pitchFamily="18" charset="0"/>
                              </a:rPr>
                              <m:t>𝑠</m:t>
                            </m:r>
                          </m:e>
                          <m:sub>
                            <m:r>
                              <a:rPr lang="en-AU" altLang="zh-CN" sz="2400" i="1">
                                <a:solidFill>
                                  <a:prstClr val="black"/>
                                </a:solidFill>
                                <a:latin typeface="Cambria Math" panose="02040503050406030204" pitchFamily="18" charset="0"/>
                              </a:rPr>
                              <m:t>3</m:t>
                            </m:r>
                          </m:sub>
                        </m:sSub>
                      </m:e>
                    </m:d>
                  </m:oMath>
                </a14:m>
                <a:r>
                  <a:rPr lang="en-AU" dirty="0"/>
                  <a:t>, </a:t>
                </a:r>
                <a14:m>
                  <m:oMath xmlns:m="http://schemas.openxmlformats.org/officeDocument/2006/math">
                    <m:r>
                      <a:rPr lang="en-US" altLang="zh-CN" sz="2400" b="0" i="1" smtClean="0">
                        <a:solidFill>
                          <a:prstClr val="black"/>
                        </a:solidFill>
                        <a:latin typeface="Cambria Math" panose="02040503050406030204" pitchFamily="18" charset="0"/>
                      </a:rPr>
                      <m:t>𝑂</m:t>
                    </m:r>
                    <m:r>
                      <a:rPr lang="en-US" altLang="zh-CN" sz="2400" i="1">
                        <a:solidFill>
                          <a:prstClr val="black"/>
                        </a:solidFill>
                        <a:latin typeface="Cambria Math" panose="02040503050406030204" pitchFamily="18" charset="0"/>
                      </a:rPr>
                      <m:t>=</m:t>
                    </m:r>
                    <m:d>
                      <m:dPr>
                        <m:begChr m:val="{"/>
                        <m:endChr m:val="}"/>
                        <m:ctrlPr>
                          <a:rPr lang="en-US" altLang="zh-CN" sz="2400" i="1">
                            <a:solidFill>
                              <a:prstClr val="black"/>
                            </a:solidFill>
                            <a:latin typeface="Cambria Math" panose="02040503050406030204" pitchFamily="18" charset="0"/>
                          </a:rPr>
                        </m:ctrlPr>
                      </m:dPr>
                      <m:e>
                        <m:sSub>
                          <m:sSubPr>
                            <m:ctrlPr>
                              <a:rPr lang="en-AU" altLang="zh-CN" sz="2400" i="1">
                                <a:solidFill>
                                  <a:prstClr val="black"/>
                                </a:solidFill>
                                <a:latin typeface="Cambria Math" panose="02040503050406030204" pitchFamily="18" charset="0"/>
                              </a:rPr>
                            </m:ctrlPr>
                          </m:sSubPr>
                          <m:e>
                            <m:r>
                              <a:rPr lang="en-US" altLang="zh-CN" sz="2400" b="0" i="1" smtClean="0">
                                <a:solidFill>
                                  <a:prstClr val="black"/>
                                </a:solidFill>
                                <a:latin typeface="Cambria Math" panose="02040503050406030204" pitchFamily="18" charset="0"/>
                              </a:rPr>
                              <m:t>𝑜</m:t>
                            </m:r>
                          </m:e>
                          <m:sub>
                            <m:r>
                              <a:rPr lang="en-AU" altLang="zh-CN" sz="2400" i="1">
                                <a:solidFill>
                                  <a:prstClr val="black"/>
                                </a:solidFill>
                                <a:latin typeface="Cambria Math" panose="02040503050406030204" pitchFamily="18" charset="0"/>
                              </a:rPr>
                              <m:t>1</m:t>
                            </m:r>
                          </m:sub>
                        </m:sSub>
                        <m:r>
                          <a:rPr lang="en-US" altLang="zh-CN" sz="2400" i="1">
                            <a:solidFill>
                              <a:prstClr val="black"/>
                            </a:solidFill>
                            <a:latin typeface="Cambria Math" panose="02040503050406030204" pitchFamily="18" charset="0"/>
                          </a:rPr>
                          <m:t>,</m:t>
                        </m:r>
                        <m:sSub>
                          <m:sSubPr>
                            <m:ctrlPr>
                              <a:rPr lang="en-AU" altLang="zh-CN" sz="2400" i="1">
                                <a:solidFill>
                                  <a:prstClr val="black"/>
                                </a:solidFill>
                                <a:latin typeface="Cambria Math" panose="02040503050406030204" pitchFamily="18" charset="0"/>
                              </a:rPr>
                            </m:ctrlPr>
                          </m:sSubPr>
                          <m:e>
                            <m:r>
                              <a:rPr lang="en-US" altLang="zh-CN" sz="2400" b="0" i="1" smtClean="0">
                                <a:solidFill>
                                  <a:prstClr val="black"/>
                                </a:solidFill>
                                <a:latin typeface="Cambria Math" panose="02040503050406030204" pitchFamily="18" charset="0"/>
                              </a:rPr>
                              <m:t>𝑜</m:t>
                            </m:r>
                          </m:e>
                          <m:sub>
                            <m:r>
                              <a:rPr lang="en-AU" altLang="zh-CN" sz="2400" i="1">
                                <a:solidFill>
                                  <a:prstClr val="black"/>
                                </a:solidFill>
                                <a:latin typeface="Cambria Math" panose="02040503050406030204" pitchFamily="18" charset="0"/>
                              </a:rPr>
                              <m:t>2</m:t>
                            </m:r>
                          </m:sub>
                        </m:sSub>
                        <m:r>
                          <a:rPr lang="en-US" altLang="zh-CN" sz="2400" i="1">
                            <a:solidFill>
                              <a:prstClr val="black"/>
                            </a:solidFill>
                            <a:latin typeface="Cambria Math" panose="02040503050406030204" pitchFamily="18" charset="0"/>
                          </a:rPr>
                          <m:t>,</m:t>
                        </m:r>
                        <m:sSub>
                          <m:sSubPr>
                            <m:ctrlPr>
                              <a:rPr lang="en-AU" altLang="zh-CN" sz="2400" i="1">
                                <a:solidFill>
                                  <a:prstClr val="black"/>
                                </a:solidFill>
                                <a:latin typeface="Cambria Math" panose="02040503050406030204" pitchFamily="18" charset="0"/>
                              </a:rPr>
                            </m:ctrlPr>
                          </m:sSubPr>
                          <m:e>
                            <m:r>
                              <a:rPr lang="en-US" altLang="zh-CN" sz="2400" b="0" i="1" smtClean="0">
                                <a:solidFill>
                                  <a:prstClr val="black"/>
                                </a:solidFill>
                                <a:latin typeface="Cambria Math" panose="02040503050406030204" pitchFamily="18" charset="0"/>
                              </a:rPr>
                              <m:t>𝑜</m:t>
                            </m:r>
                          </m:e>
                          <m:sub>
                            <m:r>
                              <a:rPr lang="en-AU" altLang="zh-CN" sz="2400" i="1">
                                <a:solidFill>
                                  <a:prstClr val="black"/>
                                </a:solidFill>
                                <a:latin typeface="Cambria Math" panose="02040503050406030204" pitchFamily="18" charset="0"/>
                              </a:rPr>
                              <m:t>3</m:t>
                            </m:r>
                          </m:sub>
                        </m:sSub>
                        <m:r>
                          <a:rPr lang="en-US" altLang="zh-CN" sz="2400" b="0" i="1" smtClean="0">
                            <a:solidFill>
                              <a:prstClr val="black"/>
                            </a:solidFill>
                            <a:latin typeface="Cambria Math" panose="02040503050406030204" pitchFamily="18" charset="0"/>
                          </a:rPr>
                          <m:t>,</m:t>
                        </m:r>
                        <m:sSub>
                          <m:sSubPr>
                            <m:ctrlPr>
                              <a:rPr lang="en-AU" altLang="zh-CN" sz="2400" i="1">
                                <a:solidFill>
                                  <a:prstClr val="black"/>
                                </a:solidFill>
                                <a:latin typeface="Cambria Math" panose="02040503050406030204" pitchFamily="18" charset="0"/>
                              </a:rPr>
                            </m:ctrlPr>
                          </m:sSubPr>
                          <m:e>
                            <m:r>
                              <a:rPr lang="en-US" altLang="zh-CN" sz="2400" i="1">
                                <a:solidFill>
                                  <a:prstClr val="black"/>
                                </a:solidFill>
                                <a:latin typeface="Cambria Math" panose="02040503050406030204" pitchFamily="18" charset="0"/>
                              </a:rPr>
                              <m:t>𝑜</m:t>
                            </m:r>
                          </m:e>
                          <m:sub>
                            <m:r>
                              <a:rPr lang="en-US" altLang="zh-CN" sz="2400" b="0" i="1" smtClean="0">
                                <a:solidFill>
                                  <a:prstClr val="black"/>
                                </a:solidFill>
                                <a:latin typeface="Cambria Math" panose="02040503050406030204" pitchFamily="18" charset="0"/>
                              </a:rPr>
                              <m:t>4</m:t>
                            </m:r>
                          </m:sub>
                        </m:sSub>
                      </m:e>
                    </m:d>
                  </m:oMath>
                </a14:m>
                <a:r>
                  <a:rPr lang="en-AU" sz="2400" dirty="0"/>
                  <a:t>, </a:t>
                </a:r>
                <a14:m>
                  <m:oMath xmlns:m="http://schemas.openxmlformats.org/officeDocument/2006/math">
                    <m:r>
                      <a:rPr lang="en-US" altLang="zh-CN" sz="2400" b="0" i="1" smtClean="0">
                        <a:solidFill>
                          <a:prstClr val="black"/>
                        </a:solidFill>
                        <a:latin typeface="Cambria Math" panose="02040503050406030204" pitchFamily="18" charset="0"/>
                      </a:rPr>
                      <m:t>𝑅</m:t>
                    </m:r>
                    <m:r>
                      <a:rPr lang="en-US" altLang="zh-CN" sz="2400" i="1">
                        <a:solidFill>
                          <a:prstClr val="black"/>
                        </a:solidFill>
                        <a:latin typeface="Cambria Math" panose="02040503050406030204" pitchFamily="18" charset="0"/>
                      </a:rPr>
                      <m:t>=</m:t>
                    </m:r>
                    <m:d>
                      <m:dPr>
                        <m:begChr m:val="{"/>
                        <m:endChr m:val="}"/>
                        <m:ctrlPr>
                          <a:rPr lang="en-US" altLang="zh-CN" sz="2400" i="1">
                            <a:solidFill>
                              <a:prstClr val="black"/>
                            </a:solidFill>
                            <a:latin typeface="Cambria Math" panose="02040503050406030204" pitchFamily="18" charset="0"/>
                          </a:rPr>
                        </m:ctrlPr>
                      </m:dPr>
                      <m:e>
                        <m:r>
                          <a:rPr lang="en-US" altLang="zh-CN" sz="2400" b="0" i="1" smtClean="0">
                            <a:solidFill>
                              <a:prstClr val="black"/>
                            </a:solidFill>
                            <a:latin typeface="Cambria Math" panose="02040503050406030204" pitchFamily="18" charset="0"/>
                          </a:rPr>
                          <m:t>𝑅𝑒𝑎𝑑</m:t>
                        </m:r>
                        <m:r>
                          <a:rPr lang="en-US" altLang="zh-CN" sz="2400" b="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𝑊𝑟𝑖𝑡𝑒</m:t>
                        </m:r>
                        <m:r>
                          <a:rPr lang="en-US" altLang="zh-CN" sz="2400" b="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𝐸𝑥𝑒𝑐𝑢𝑡𝑒</m:t>
                        </m:r>
                        <m:r>
                          <a:rPr lang="en-US" altLang="zh-CN" sz="2400" b="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𝐴𝑝𝑝𝑒𝑛𝑑</m:t>
                        </m:r>
                      </m:e>
                    </m:d>
                  </m:oMath>
                </a14:m>
                <a:endParaRPr lang="en-AU" sz="2400" dirty="0"/>
              </a:p>
              <a:p>
                <a:r>
                  <a:rPr lang="en-AU" sz="2400" dirty="0"/>
                  <a:t>In the following access-matrix, for example, subject </a:t>
                </a:r>
                <a14:m>
                  <m:oMath xmlns:m="http://schemas.openxmlformats.org/officeDocument/2006/math">
                    <m:sSub>
                      <m:sSubPr>
                        <m:ctrlPr>
                          <a:rPr lang="en-AU" altLang="zh-CN" sz="2400" i="1">
                            <a:solidFill>
                              <a:prstClr val="black"/>
                            </a:solidFill>
                            <a:latin typeface="Cambria Math" panose="02040503050406030204" pitchFamily="18" charset="0"/>
                          </a:rPr>
                        </m:ctrlPr>
                      </m:sSubPr>
                      <m:e>
                        <m:r>
                          <a:rPr lang="en-US" altLang="zh-CN" sz="2400" i="1">
                            <a:solidFill>
                              <a:prstClr val="black"/>
                            </a:solidFill>
                            <a:latin typeface="Cambria Math" panose="02040503050406030204" pitchFamily="18" charset="0"/>
                          </a:rPr>
                          <m:t>𝑠</m:t>
                        </m:r>
                      </m:e>
                      <m:sub>
                        <m:r>
                          <a:rPr lang="en-AU" altLang="zh-CN" sz="2400" i="1">
                            <a:solidFill>
                              <a:prstClr val="black"/>
                            </a:solidFill>
                            <a:latin typeface="Cambria Math" panose="02040503050406030204" pitchFamily="18" charset="0"/>
                          </a:rPr>
                          <m:t>1</m:t>
                        </m:r>
                      </m:sub>
                    </m:sSub>
                  </m:oMath>
                </a14:m>
                <a:r>
                  <a:rPr lang="en-AU" sz="2400" dirty="0"/>
                  <a:t>can </a:t>
                </a:r>
                <a:r>
                  <a:rPr lang="en-AU" sz="2400" i="1" dirty="0"/>
                  <a:t>Read </a:t>
                </a:r>
                <a:r>
                  <a:rPr lang="en-AU" sz="2400" dirty="0"/>
                  <a:t>and </a:t>
                </a:r>
                <a:r>
                  <a:rPr lang="en-AU" sz="2400" i="1" dirty="0"/>
                  <a:t>Write </a:t>
                </a:r>
                <a:r>
                  <a:rPr lang="en-AU" sz="2400" dirty="0"/>
                  <a:t>object </a:t>
                </a:r>
                <a14:m>
                  <m:oMath xmlns:m="http://schemas.openxmlformats.org/officeDocument/2006/math">
                    <m:sSub>
                      <m:sSubPr>
                        <m:ctrlPr>
                          <a:rPr lang="en-AU" altLang="zh-CN" sz="1800" i="1">
                            <a:solidFill>
                              <a:prstClr val="black"/>
                            </a:solidFill>
                            <a:latin typeface="Cambria Math" panose="02040503050406030204" pitchFamily="18" charset="0"/>
                          </a:rPr>
                        </m:ctrlPr>
                      </m:sSubPr>
                      <m:e>
                        <m:r>
                          <a:rPr lang="en-US" altLang="zh-CN" sz="1800" i="1">
                            <a:solidFill>
                              <a:prstClr val="black"/>
                            </a:solidFill>
                            <a:latin typeface="Cambria Math" panose="02040503050406030204" pitchFamily="18" charset="0"/>
                          </a:rPr>
                          <m:t>𝑜</m:t>
                        </m:r>
                      </m:e>
                      <m:sub>
                        <m:r>
                          <a:rPr lang="en-AU" altLang="zh-CN" sz="1800" i="1">
                            <a:solidFill>
                              <a:prstClr val="black"/>
                            </a:solidFill>
                            <a:latin typeface="Cambria Math" panose="02040503050406030204" pitchFamily="18" charset="0"/>
                          </a:rPr>
                          <m:t>1</m:t>
                        </m:r>
                      </m:sub>
                    </m:sSub>
                  </m:oMath>
                </a14:m>
                <a:r>
                  <a:rPr lang="en-AU" sz="2400" dirty="0"/>
                  <a:t>, but for object </a:t>
                </a:r>
                <a14:m>
                  <m:oMath xmlns:m="http://schemas.openxmlformats.org/officeDocument/2006/math">
                    <m:sSub>
                      <m:sSubPr>
                        <m:ctrlPr>
                          <a:rPr lang="en-AU" altLang="zh-CN" sz="1800" i="1">
                            <a:solidFill>
                              <a:prstClr val="black"/>
                            </a:solidFill>
                            <a:latin typeface="Cambria Math" panose="02040503050406030204" pitchFamily="18" charset="0"/>
                          </a:rPr>
                        </m:ctrlPr>
                      </m:sSubPr>
                      <m:e>
                        <m:r>
                          <a:rPr lang="en-US" altLang="zh-CN" sz="1800" i="1">
                            <a:solidFill>
                              <a:prstClr val="black"/>
                            </a:solidFill>
                            <a:latin typeface="Cambria Math" panose="02040503050406030204" pitchFamily="18" charset="0"/>
                          </a:rPr>
                          <m:t>𝑜</m:t>
                        </m:r>
                      </m:e>
                      <m:sub>
                        <m:r>
                          <a:rPr lang="en-US" altLang="zh-CN" sz="1800" i="1">
                            <a:solidFill>
                              <a:prstClr val="black"/>
                            </a:solidFill>
                            <a:latin typeface="Cambria Math" panose="02040503050406030204" pitchFamily="18" charset="0"/>
                          </a:rPr>
                          <m:t>4</m:t>
                        </m:r>
                      </m:sub>
                    </m:sSub>
                  </m:oMath>
                </a14:m>
                <a:r>
                  <a:rPr lang="en-AU" sz="2400" dirty="0"/>
                  <a:t>, </a:t>
                </a:r>
                <a:r>
                  <a:rPr lang="en-AU" altLang="zh-CN" sz="2400" dirty="0"/>
                  <a:t>subject </a:t>
                </a:r>
                <a14:m>
                  <m:oMath xmlns:m="http://schemas.openxmlformats.org/officeDocument/2006/math">
                    <m:sSub>
                      <m:sSubPr>
                        <m:ctrlPr>
                          <a:rPr lang="en-AU" altLang="zh-CN" sz="2400" i="1">
                            <a:solidFill>
                              <a:prstClr val="black"/>
                            </a:solidFill>
                            <a:latin typeface="Cambria Math" panose="02040503050406030204" pitchFamily="18" charset="0"/>
                          </a:rPr>
                        </m:ctrlPr>
                      </m:sSubPr>
                      <m:e>
                        <m:r>
                          <a:rPr lang="en-US" altLang="zh-CN" sz="2400" i="1">
                            <a:solidFill>
                              <a:prstClr val="black"/>
                            </a:solidFill>
                            <a:latin typeface="Cambria Math" panose="02040503050406030204" pitchFamily="18" charset="0"/>
                          </a:rPr>
                          <m:t>𝑠</m:t>
                        </m:r>
                      </m:e>
                      <m:sub>
                        <m:r>
                          <a:rPr lang="en-AU" altLang="zh-CN" sz="2400" i="1">
                            <a:solidFill>
                              <a:prstClr val="black"/>
                            </a:solidFill>
                            <a:latin typeface="Cambria Math" panose="02040503050406030204" pitchFamily="18" charset="0"/>
                          </a:rPr>
                          <m:t>1</m:t>
                        </m:r>
                      </m:sub>
                    </m:sSub>
                    <m:r>
                      <a:rPr lang="en-AU" altLang="zh-CN" sz="2400" i="1">
                        <a:solidFill>
                          <a:prstClr val="black"/>
                        </a:solidFill>
                        <a:latin typeface="Cambria Math" panose="02040503050406030204" pitchFamily="18" charset="0"/>
                      </a:rPr>
                      <m:t> </m:t>
                    </m:r>
                  </m:oMath>
                </a14:m>
                <a:r>
                  <a:rPr lang="en-AU" sz="2400" dirty="0"/>
                  <a:t>can only </a:t>
                </a:r>
                <a:r>
                  <a:rPr lang="en-AU" sz="2400" i="1" dirty="0"/>
                  <a:t>Read</a:t>
                </a:r>
                <a:r>
                  <a:rPr lang="en-AU" sz="2400" dirty="0"/>
                  <a:t> it.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5"/>
                <a:stretch>
                  <a:fillRect l="-812" t="-1961"/>
                </a:stretch>
              </a:blipFill>
            </p:spPr>
            <p:txBody>
              <a:bodyPr/>
              <a:lstStyle/>
              <a:p>
                <a:r>
                  <a:rPr lang="zh-CN" altLang="en-US">
                    <a:noFill/>
                  </a:rPr>
                  <a:t> </a:t>
                </a:r>
                <a:endParaRPr lang="zh-CN" altLang="en-US">
                  <a:noFill/>
                </a:endParaRPr>
              </a:p>
            </p:txBody>
          </p:sp>
        </mc:Fallback>
      </mc:AlternateContent>
      <p:sp>
        <p:nvSpPr>
          <p:cNvPr id="4" name="Slide Number Placeholder 3"/>
          <p:cNvSpPr>
            <a:spLocks noGrp="1"/>
          </p:cNvSpPr>
          <p:nvPr>
            <p:ph type="sldNum" sz="quarter" idx="12"/>
          </p:nvPr>
        </p:nvSpPr>
        <p:spPr/>
        <p:txBody>
          <a:bodyPr/>
          <a:lstStyle/>
          <a:p>
            <a:fld id="{CA8D9AD5-F248-4919-864A-CFD76CC027D6}" type="slidenum">
              <a:rPr lang="en-AU" smtClean="0"/>
              <a:t>22</a:t>
            </a:fld>
            <a:endParaRPr lang="en-AU"/>
          </a:p>
        </p:txBody>
      </p:sp>
      <p:graphicFrame>
        <p:nvGraphicFramePr>
          <p:cNvPr id="5" name="表格 5"/>
          <p:cNvGraphicFramePr>
            <a:graphicFrameLocks noGrp="1"/>
          </p:cNvGraphicFramePr>
          <p:nvPr/>
        </p:nvGraphicFramePr>
        <p:xfrm>
          <a:off x="2032000" y="4785828"/>
          <a:ext cx="8128000" cy="1112520"/>
        </p:xfrm>
        <a:graphic>
          <a:graphicData uri="http://schemas.openxmlformats.org/drawingml/2006/table">
            <a:tbl>
              <a:tblPr firstRow="1" bandRow="1">
                <a:tableStyleId>{22838BEF-8BB2-4498-84A7-C5851F593DF1}</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gridCol w="2032000">
                  <a:extLst>
                    <a:ext uri="{9D8B030D-6E8A-4147-A177-3AD203B41FA5}">
                      <a16:colId xmlns:a16="http://schemas.microsoft.com/office/drawing/2014/main" val="20003"/>
                    </a:ext>
                  </a:extLst>
                </a:gridCol>
              </a:tblGrid>
              <a:tr h="370840">
                <a:tc>
                  <a:txBody>
                    <a:bodyPr/>
                    <a:lstStyle/>
                    <a:p>
                      <a:pPr algn="ctr"/>
                      <a:r>
                        <a:rPr lang="en-US" altLang="zh-CN" b="0" i="1" dirty="0"/>
                        <a:t>Read</a:t>
                      </a:r>
                      <a:r>
                        <a:rPr lang="en-US" altLang="zh-CN" b="0" dirty="0"/>
                        <a:t>, </a:t>
                      </a:r>
                      <a:r>
                        <a:rPr lang="en-US" altLang="zh-CN" b="0" i="1" dirty="0"/>
                        <a:t>Write</a:t>
                      </a:r>
                      <a:endParaRPr lang="zh-CN" altLang="en-US" b="0" i="1" dirty="0"/>
                    </a:p>
                  </a:txBody>
                  <a:tcPr/>
                </a:tc>
                <a:tc>
                  <a:txBody>
                    <a:bodyPr/>
                    <a:lstStyle/>
                    <a:p>
                      <a:pPr algn="ctr"/>
                      <a:r>
                        <a:rPr lang="en-US" altLang="zh-CN" b="0" i="1" dirty="0"/>
                        <a:t>Execute</a:t>
                      </a:r>
                      <a:endParaRPr lang="zh-CN" altLang="en-US" b="0" i="1" dirty="0"/>
                    </a:p>
                  </a:txBody>
                  <a:tcPr/>
                </a:tc>
                <a:tc>
                  <a:txBody>
                    <a:bodyPr/>
                    <a:lstStyle/>
                    <a:p>
                      <a:pPr algn="ctr"/>
                      <a:endParaRPr lang="zh-CN" altLang="en-US"/>
                    </a:p>
                  </a:txBody>
                  <a:tcPr/>
                </a:tc>
                <a:tc>
                  <a:txBody>
                    <a:bodyPr/>
                    <a:lstStyle/>
                    <a:p>
                      <a:pPr algn="ctr"/>
                      <a:r>
                        <a:rPr lang="en-US" altLang="zh-CN" b="0" i="1" dirty="0"/>
                        <a:t>Read</a:t>
                      </a:r>
                      <a:endParaRPr lang="zh-CN" altLang="en-US" b="0" i="1" dirty="0"/>
                    </a:p>
                  </a:txBody>
                  <a:tcPr/>
                </a:tc>
                <a:extLst>
                  <a:ext uri="{0D108BD9-81ED-4DB2-BD59-A6C34878D82A}">
                    <a16:rowId xmlns:a16="http://schemas.microsoft.com/office/drawing/2014/main" val="10000"/>
                  </a:ext>
                </a:extLst>
              </a:tr>
              <a:tr h="370840">
                <a:tc>
                  <a:txBody>
                    <a:bodyPr/>
                    <a:lstStyle/>
                    <a:p>
                      <a:pPr algn="ctr"/>
                      <a:endParaRPr lang="zh-CN" altLang="en-US"/>
                    </a:p>
                  </a:txBody>
                  <a:tcPr/>
                </a:tc>
                <a:tc>
                  <a:txBody>
                    <a:bodyPr/>
                    <a:lstStyle/>
                    <a:p>
                      <a:pPr algn="ctr"/>
                      <a:endParaRPr lang="zh-CN" altLang="en-US" dirty="0"/>
                    </a:p>
                  </a:txBody>
                  <a:tcPr/>
                </a:tc>
                <a:tc>
                  <a:txBody>
                    <a:bodyPr/>
                    <a:lstStyle/>
                    <a:p>
                      <a:pPr algn="ctr"/>
                      <a:r>
                        <a:rPr lang="en-US" altLang="zh-CN" i="1" dirty="0"/>
                        <a:t>Read, Execute</a:t>
                      </a:r>
                      <a:endParaRPr lang="zh-CN" altLang="en-US" i="1" dirty="0"/>
                    </a:p>
                  </a:txBody>
                  <a:tcPr/>
                </a:tc>
                <a:tc>
                  <a:txBody>
                    <a:bodyPr/>
                    <a:lstStyle/>
                    <a:p>
                      <a:pPr algn="ctr"/>
                      <a:endParaRPr lang="zh-CN" altLang="en-US" dirty="0"/>
                    </a:p>
                  </a:txBody>
                  <a:tcPr/>
                </a:tc>
                <a:extLst>
                  <a:ext uri="{0D108BD9-81ED-4DB2-BD59-A6C34878D82A}">
                    <a16:rowId xmlns:a16="http://schemas.microsoft.com/office/drawing/2014/main" val="10001"/>
                  </a:ext>
                </a:extLst>
              </a:tr>
              <a:tr h="370840">
                <a:tc>
                  <a:txBody>
                    <a:bodyPr/>
                    <a:lstStyle/>
                    <a:p>
                      <a:pPr algn="ctr"/>
                      <a:r>
                        <a:rPr lang="en-US" altLang="zh-CN" i="1" dirty="0"/>
                        <a:t>Append</a:t>
                      </a:r>
                      <a:endParaRPr lang="zh-CN" altLang="en-US" i="1" dirty="0"/>
                    </a:p>
                  </a:txBody>
                  <a:tcPr/>
                </a:tc>
                <a:tc>
                  <a:txBody>
                    <a:bodyPr/>
                    <a:lstStyle/>
                    <a:p>
                      <a:pPr algn="ctr"/>
                      <a:endParaRPr lang="zh-CN" altLang="en-US"/>
                    </a:p>
                  </a:txBody>
                  <a:tcPr/>
                </a:tc>
                <a:tc>
                  <a:txBody>
                    <a:bodyPr/>
                    <a:lstStyle/>
                    <a:p>
                      <a:pPr algn="ctr"/>
                      <a:r>
                        <a:rPr lang="en-US" altLang="zh-CN" i="1" dirty="0"/>
                        <a:t>Append</a:t>
                      </a:r>
                      <a:endParaRPr lang="zh-CN" altLang="en-US" i="1" dirty="0"/>
                    </a:p>
                  </a:txBody>
                  <a:tcPr/>
                </a:tc>
                <a:tc>
                  <a:txBody>
                    <a:bodyPr/>
                    <a:lstStyle/>
                    <a:p>
                      <a:pPr algn="ctr"/>
                      <a:r>
                        <a:rPr lang="en-US" altLang="zh-CN" i="1" dirty="0"/>
                        <a:t>Read, Write</a:t>
                      </a:r>
                      <a:endParaRPr lang="zh-CN" altLang="en-US" i="1" dirty="0"/>
                    </a:p>
                  </a:txBody>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sp>
            <p:nvSpPr>
              <p:cNvPr id="7" name="矩形 6"/>
              <p:cNvSpPr/>
              <p:nvPr/>
            </p:nvSpPr>
            <p:spPr>
              <a:xfrm>
                <a:off x="1369191" y="4785828"/>
                <a:ext cx="580049"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altLang="zh-CN" i="1" smtClean="0">
                              <a:solidFill>
                                <a:prstClr val="black"/>
                              </a:solidFill>
                              <a:latin typeface="Cambria Math" panose="02040503050406030204" pitchFamily="18" charset="0"/>
                            </a:rPr>
                          </m:ctrlPr>
                        </m:sSubPr>
                        <m:e>
                          <m:r>
                            <a:rPr lang="en-US" altLang="zh-CN" b="0" i="1" smtClean="0">
                              <a:solidFill>
                                <a:prstClr val="black"/>
                              </a:solidFill>
                              <a:latin typeface="Cambria Math" panose="02040503050406030204" pitchFamily="18" charset="0"/>
                            </a:rPr>
                            <m:t>𝑠</m:t>
                          </m:r>
                        </m:e>
                        <m:sub>
                          <m:r>
                            <a:rPr lang="en-AU" altLang="zh-CN" i="1">
                              <a:solidFill>
                                <a:prstClr val="black"/>
                              </a:solidFill>
                              <a:latin typeface="Cambria Math" panose="02040503050406030204" pitchFamily="18" charset="0"/>
                            </a:rPr>
                            <m:t>1</m:t>
                          </m:r>
                        </m:sub>
                      </m:sSub>
                    </m:oMath>
                  </m:oMathPara>
                </a14:m>
                <a:endParaRPr lang="zh-CN" altLang="en-US" i="1" dirty="0"/>
              </a:p>
            </p:txBody>
          </p:sp>
        </mc:Choice>
        <mc:Fallback xmlns="">
          <p:sp>
            <p:nvSpPr>
              <p:cNvPr id="7" name="矩形 6"/>
              <p:cNvSpPr>
                <a:spLocks noRot="1" noChangeAspect="1" noMove="1" noResize="1" noEditPoints="1" noAdjustHandles="1" noChangeArrowheads="1" noChangeShapeType="1" noTextEdit="1"/>
              </p:cNvSpPr>
              <p:nvPr/>
            </p:nvSpPr>
            <p:spPr>
              <a:xfrm>
                <a:off x="1369191" y="4785828"/>
                <a:ext cx="580049" cy="392377"/>
              </a:xfrm>
              <a:prstGeom prst="rect">
                <a:avLst/>
              </a:prstGeom>
              <a:blipFill rotWithShape="1">
                <a:blip r:embed="rId6"/>
                <a:stretch>
                  <a:fillRect/>
                </a:stretch>
              </a:blipFill>
              <a:ln>
                <a:noFill/>
              </a:ln>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8" name="矩形 7"/>
              <p:cNvSpPr/>
              <p:nvPr/>
            </p:nvSpPr>
            <p:spPr>
              <a:xfrm>
                <a:off x="1369190" y="5129383"/>
                <a:ext cx="580049"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altLang="zh-CN" i="1" smtClean="0">
                              <a:solidFill>
                                <a:prstClr val="black"/>
                              </a:solidFill>
                              <a:latin typeface="Cambria Math" panose="02040503050406030204" pitchFamily="18" charset="0"/>
                            </a:rPr>
                          </m:ctrlPr>
                        </m:sSubPr>
                        <m:e>
                          <m:r>
                            <a:rPr lang="en-US" altLang="zh-CN" b="0" i="1" smtClean="0">
                              <a:solidFill>
                                <a:prstClr val="black"/>
                              </a:solidFill>
                              <a:latin typeface="Cambria Math" panose="02040503050406030204" pitchFamily="18" charset="0"/>
                            </a:rPr>
                            <m:t>𝑠</m:t>
                          </m:r>
                        </m:e>
                        <m:sub>
                          <m:r>
                            <a:rPr lang="en-US" altLang="zh-CN" b="0" i="1" smtClean="0">
                              <a:solidFill>
                                <a:prstClr val="black"/>
                              </a:solidFill>
                              <a:latin typeface="Cambria Math" panose="02040503050406030204" pitchFamily="18" charset="0"/>
                            </a:rPr>
                            <m:t>2</m:t>
                          </m:r>
                        </m:sub>
                      </m:sSub>
                    </m:oMath>
                  </m:oMathPara>
                </a14:m>
                <a:endParaRPr lang="zh-CN" altLang="en-US" i="1" dirty="0"/>
              </a:p>
            </p:txBody>
          </p:sp>
        </mc:Choice>
        <mc:Fallback xmlns="">
          <p:sp>
            <p:nvSpPr>
              <p:cNvPr id="8" name="矩形 7"/>
              <p:cNvSpPr>
                <a:spLocks noRot="1" noChangeAspect="1" noMove="1" noResize="1" noEditPoints="1" noAdjustHandles="1" noChangeArrowheads="1" noChangeShapeType="1" noTextEdit="1"/>
              </p:cNvSpPr>
              <p:nvPr/>
            </p:nvSpPr>
            <p:spPr>
              <a:xfrm>
                <a:off x="1369190" y="5129383"/>
                <a:ext cx="580049" cy="392377"/>
              </a:xfrm>
              <a:prstGeom prst="rect">
                <a:avLst/>
              </a:prstGeom>
              <a:blipFill rotWithShape="1">
                <a:blip r:embed="rId7"/>
                <a:stretch>
                  <a:fillRect/>
                </a:stretch>
              </a:blipFill>
              <a:ln>
                <a:noFill/>
              </a:ln>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9" name="矩形 8"/>
              <p:cNvSpPr/>
              <p:nvPr/>
            </p:nvSpPr>
            <p:spPr>
              <a:xfrm>
                <a:off x="1353441" y="5472938"/>
                <a:ext cx="580049"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altLang="zh-CN" i="1" smtClean="0">
                              <a:solidFill>
                                <a:prstClr val="black"/>
                              </a:solidFill>
                              <a:latin typeface="Cambria Math" panose="02040503050406030204" pitchFamily="18" charset="0"/>
                            </a:rPr>
                          </m:ctrlPr>
                        </m:sSubPr>
                        <m:e>
                          <m:r>
                            <a:rPr lang="en-US" altLang="zh-CN" b="0" i="1" smtClean="0">
                              <a:solidFill>
                                <a:prstClr val="black"/>
                              </a:solidFill>
                              <a:latin typeface="Cambria Math" panose="02040503050406030204" pitchFamily="18" charset="0"/>
                            </a:rPr>
                            <m:t>𝑠</m:t>
                          </m:r>
                        </m:e>
                        <m:sub>
                          <m:r>
                            <a:rPr lang="en-US" altLang="zh-CN" b="0" i="1" smtClean="0">
                              <a:solidFill>
                                <a:prstClr val="black"/>
                              </a:solidFill>
                              <a:latin typeface="Cambria Math" panose="02040503050406030204" pitchFamily="18" charset="0"/>
                            </a:rPr>
                            <m:t>3</m:t>
                          </m:r>
                        </m:sub>
                      </m:sSub>
                    </m:oMath>
                  </m:oMathPara>
                </a14:m>
                <a:endParaRPr lang="zh-CN" altLang="en-US" i="1" dirty="0"/>
              </a:p>
            </p:txBody>
          </p:sp>
        </mc:Choice>
        <mc:Fallback xmlns="">
          <p:sp>
            <p:nvSpPr>
              <p:cNvPr id="9" name="矩形 8"/>
              <p:cNvSpPr>
                <a:spLocks noRot="1" noChangeAspect="1" noMove="1" noResize="1" noEditPoints="1" noAdjustHandles="1" noChangeArrowheads="1" noChangeShapeType="1" noTextEdit="1"/>
              </p:cNvSpPr>
              <p:nvPr/>
            </p:nvSpPr>
            <p:spPr>
              <a:xfrm>
                <a:off x="1353441" y="5472938"/>
                <a:ext cx="580049" cy="392377"/>
              </a:xfrm>
              <a:prstGeom prst="rect">
                <a:avLst/>
              </a:prstGeom>
              <a:blipFill rotWithShape="1">
                <a:blip r:embed="rId8"/>
                <a:stretch>
                  <a:fillRect/>
                </a:stretch>
              </a:blipFill>
              <a:ln>
                <a:noFill/>
              </a:ln>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10" name="矩形 9"/>
              <p:cNvSpPr/>
              <p:nvPr/>
            </p:nvSpPr>
            <p:spPr>
              <a:xfrm>
                <a:off x="2727820" y="4258514"/>
                <a:ext cx="580049"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altLang="zh-CN" i="1" smtClean="0">
                              <a:solidFill>
                                <a:prstClr val="black"/>
                              </a:solidFill>
                              <a:latin typeface="Cambria Math" panose="02040503050406030204" pitchFamily="18" charset="0"/>
                            </a:rPr>
                          </m:ctrlPr>
                        </m:sSubPr>
                        <m:e>
                          <m:r>
                            <a:rPr lang="en-US" altLang="zh-CN" b="0" i="1" smtClean="0">
                              <a:solidFill>
                                <a:prstClr val="black"/>
                              </a:solidFill>
                              <a:latin typeface="Cambria Math" panose="02040503050406030204" pitchFamily="18" charset="0"/>
                            </a:rPr>
                            <m:t>𝑜</m:t>
                          </m:r>
                        </m:e>
                        <m:sub>
                          <m:r>
                            <a:rPr lang="en-AU" altLang="zh-CN" i="1">
                              <a:solidFill>
                                <a:prstClr val="black"/>
                              </a:solidFill>
                              <a:latin typeface="Cambria Math" panose="02040503050406030204" pitchFamily="18" charset="0"/>
                            </a:rPr>
                            <m:t>1</m:t>
                          </m:r>
                        </m:sub>
                      </m:sSub>
                    </m:oMath>
                  </m:oMathPara>
                </a14:m>
                <a:endParaRPr lang="zh-CN" altLang="en-US" i="1" dirty="0"/>
              </a:p>
            </p:txBody>
          </p:sp>
        </mc:Choice>
        <mc:Fallback xmlns="">
          <p:sp>
            <p:nvSpPr>
              <p:cNvPr id="10" name="矩形 9"/>
              <p:cNvSpPr>
                <a:spLocks noRot="1" noChangeAspect="1" noMove="1" noResize="1" noEditPoints="1" noAdjustHandles="1" noChangeArrowheads="1" noChangeShapeType="1" noTextEdit="1"/>
              </p:cNvSpPr>
              <p:nvPr/>
            </p:nvSpPr>
            <p:spPr>
              <a:xfrm>
                <a:off x="2727820" y="4258514"/>
                <a:ext cx="580049" cy="392377"/>
              </a:xfrm>
              <a:prstGeom prst="rect">
                <a:avLst/>
              </a:prstGeom>
              <a:blipFill rotWithShape="1">
                <a:blip r:embed="rId9"/>
                <a:stretch>
                  <a:fillRect/>
                </a:stretch>
              </a:blipFill>
              <a:ln>
                <a:noFill/>
              </a:ln>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11" name="矩形 10"/>
              <p:cNvSpPr/>
              <p:nvPr/>
            </p:nvSpPr>
            <p:spPr>
              <a:xfrm>
                <a:off x="4907464" y="4258514"/>
                <a:ext cx="580049"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altLang="zh-CN" i="1" smtClean="0">
                              <a:solidFill>
                                <a:prstClr val="black"/>
                              </a:solidFill>
                              <a:latin typeface="Cambria Math" panose="02040503050406030204" pitchFamily="18" charset="0"/>
                            </a:rPr>
                          </m:ctrlPr>
                        </m:sSubPr>
                        <m:e>
                          <m:r>
                            <a:rPr lang="en-US" altLang="zh-CN" b="0" i="1" smtClean="0">
                              <a:solidFill>
                                <a:prstClr val="black"/>
                              </a:solidFill>
                              <a:latin typeface="Cambria Math" panose="02040503050406030204" pitchFamily="18" charset="0"/>
                            </a:rPr>
                            <m:t>𝑜</m:t>
                          </m:r>
                        </m:e>
                        <m:sub>
                          <m:r>
                            <a:rPr lang="en-US" altLang="zh-CN" b="0" i="1" smtClean="0">
                              <a:solidFill>
                                <a:prstClr val="black"/>
                              </a:solidFill>
                              <a:latin typeface="Cambria Math" panose="02040503050406030204" pitchFamily="18" charset="0"/>
                            </a:rPr>
                            <m:t>2</m:t>
                          </m:r>
                        </m:sub>
                      </m:sSub>
                    </m:oMath>
                  </m:oMathPara>
                </a14:m>
                <a:endParaRPr lang="zh-CN" altLang="en-US" i="1" dirty="0"/>
              </a:p>
            </p:txBody>
          </p:sp>
        </mc:Choice>
        <mc:Fallback xmlns="">
          <p:sp>
            <p:nvSpPr>
              <p:cNvPr id="11" name="矩形 10"/>
              <p:cNvSpPr>
                <a:spLocks noRot="1" noChangeAspect="1" noMove="1" noResize="1" noEditPoints="1" noAdjustHandles="1" noChangeArrowheads="1" noChangeShapeType="1" noTextEdit="1"/>
              </p:cNvSpPr>
              <p:nvPr/>
            </p:nvSpPr>
            <p:spPr>
              <a:xfrm>
                <a:off x="4907464" y="4258514"/>
                <a:ext cx="580049" cy="392377"/>
              </a:xfrm>
              <a:prstGeom prst="rect">
                <a:avLst/>
              </a:prstGeom>
              <a:blipFill rotWithShape="1">
                <a:blip r:embed="rId10"/>
                <a:stretch>
                  <a:fillRect/>
                </a:stretch>
              </a:blipFill>
              <a:ln>
                <a:noFill/>
              </a:ln>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12" name="矩形 11"/>
              <p:cNvSpPr/>
              <p:nvPr/>
            </p:nvSpPr>
            <p:spPr>
              <a:xfrm>
                <a:off x="6888016" y="4258513"/>
                <a:ext cx="580049"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altLang="zh-CN" i="1" smtClean="0">
                              <a:solidFill>
                                <a:prstClr val="black"/>
                              </a:solidFill>
                              <a:latin typeface="Cambria Math" panose="02040503050406030204" pitchFamily="18" charset="0"/>
                            </a:rPr>
                          </m:ctrlPr>
                        </m:sSubPr>
                        <m:e>
                          <m:r>
                            <a:rPr lang="en-US" altLang="zh-CN" b="0" i="1" smtClean="0">
                              <a:solidFill>
                                <a:prstClr val="black"/>
                              </a:solidFill>
                              <a:latin typeface="Cambria Math" panose="02040503050406030204" pitchFamily="18" charset="0"/>
                            </a:rPr>
                            <m:t>𝑜</m:t>
                          </m:r>
                        </m:e>
                        <m:sub>
                          <m:r>
                            <a:rPr lang="en-US" altLang="zh-CN" b="0" i="1" smtClean="0">
                              <a:solidFill>
                                <a:prstClr val="black"/>
                              </a:solidFill>
                              <a:latin typeface="Cambria Math" panose="02040503050406030204" pitchFamily="18" charset="0"/>
                            </a:rPr>
                            <m:t>3</m:t>
                          </m:r>
                        </m:sub>
                      </m:sSub>
                    </m:oMath>
                  </m:oMathPara>
                </a14:m>
                <a:endParaRPr lang="zh-CN" altLang="en-US" i="1" dirty="0"/>
              </a:p>
            </p:txBody>
          </p:sp>
        </mc:Choice>
        <mc:Fallback xmlns="">
          <p:sp>
            <p:nvSpPr>
              <p:cNvPr id="12" name="矩形 11"/>
              <p:cNvSpPr>
                <a:spLocks noRot="1" noChangeAspect="1" noMove="1" noResize="1" noEditPoints="1" noAdjustHandles="1" noChangeArrowheads="1" noChangeShapeType="1" noTextEdit="1"/>
              </p:cNvSpPr>
              <p:nvPr/>
            </p:nvSpPr>
            <p:spPr>
              <a:xfrm>
                <a:off x="6888016" y="4258513"/>
                <a:ext cx="580049" cy="392377"/>
              </a:xfrm>
              <a:prstGeom prst="rect">
                <a:avLst/>
              </a:prstGeom>
              <a:blipFill rotWithShape="1">
                <a:blip r:embed="rId11"/>
                <a:stretch>
                  <a:fillRect/>
                </a:stretch>
              </a:blipFill>
              <a:ln>
                <a:noFill/>
              </a:ln>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13" name="矩形 12"/>
              <p:cNvSpPr/>
              <p:nvPr/>
            </p:nvSpPr>
            <p:spPr>
              <a:xfrm>
                <a:off x="8884133" y="4258513"/>
                <a:ext cx="580049"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altLang="zh-CN" i="1" smtClean="0">
                              <a:solidFill>
                                <a:prstClr val="black"/>
                              </a:solidFill>
                              <a:latin typeface="Cambria Math" panose="02040503050406030204" pitchFamily="18" charset="0"/>
                            </a:rPr>
                          </m:ctrlPr>
                        </m:sSubPr>
                        <m:e>
                          <m:r>
                            <a:rPr lang="en-US" altLang="zh-CN" b="0" i="1" smtClean="0">
                              <a:solidFill>
                                <a:prstClr val="black"/>
                              </a:solidFill>
                              <a:latin typeface="Cambria Math" panose="02040503050406030204" pitchFamily="18" charset="0"/>
                            </a:rPr>
                            <m:t>𝑜</m:t>
                          </m:r>
                        </m:e>
                        <m:sub>
                          <m:r>
                            <a:rPr lang="en-US" altLang="zh-CN" b="0" i="1" smtClean="0">
                              <a:solidFill>
                                <a:prstClr val="black"/>
                              </a:solidFill>
                              <a:latin typeface="Cambria Math" panose="02040503050406030204" pitchFamily="18" charset="0"/>
                            </a:rPr>
                            <m:t>4</m:t>
                          </m:r>
                        </m:sub>
                      </m:sSub>
                    </m:oMath>
                  </m:oMathPara>
                </a14:m>
                <a:endParaRPr lang="zh-CN" altLang="en-US" i="1" dirty="0"/>
              </a:p>
            </p:txBody>
          </p:sp>
        </mc:Choice>
        <mc:Fallback xmlns="">
          <p:sp>
            <p:nvSpPr>
              <p:cNvPr id="13" name="矩形 12"/>
              <p:cNvSpPr>
                <a:spLocks noRot="1" noChangeAspect="1" noMove="1" noResize="1" noEditPoints="1" noAdjustHandles="1" noChangeArrowheads="1" noChangeShapeType="1" noTextEdit="1"/>
              </p:cNvSpPr>
              <p:nvPr/>
            </p:nvSpPr>
            <p:spPr>
              <a:xfrm>
                <a:off x="8884133" y="4258513"/>
                <a:ext cx="580049" cy="392377"/>
              </a:xfrm>
              <a:prstGeom prst="rect">
                <a:avLst/>
              </a:prstGeom>
              <a:blipFill rotWithShape="1">
                <a:blip r:embed="rId12"/>
                <a:stretch>
                  <a:fillRect/>
                </a:stretch>
              </a:blipFill>
              <a:ln>
                <a:noFill/>
              </a:ln>
            </p:spPr>
            <p:txBody>
              <a:bodyPr/>
              <a:lstStyle/>
              <a:p>
                <a:r>
                  <a:rPr lang="zh-CN" altLang="en-US">
                    <a:noFill/>
                  </a:rPr>
                  <a:t> </a:t>
                </a:r>
                <a:endParaRPr lang="zh-CN" altLang="en-US">
                  <a:noFill/>
                </a:endParaRPr>
              </a:p>
            </p:txBody>
          </p:sp>
        </mc:Fallback>
      </mc:AlternateContent>
      <p:cxnSp>
        <p:nvCxnSpPr>
          <p:cNvPr id="15" name="直接连接符 14"/>
          <p:cNvCxnSpPr/>
          <p:nvPr/>
        </p:nvCxnSpPr>
        <p:spPr>
          <a:xfrm>
            <a:off x="6720840" y="4982016"/>
            <a:ext cx="853256" cy="0"/>
          </a:xfrm>
          <a:prstGeom prst="line">
            <a:avLst/>
          </a:prstGeom>
        </p:spPr>
        <p:style>
          <a:lnRef idx="1">
            <a:schemeClr val="dk1"/>
          </a:lnRef>
          <a:fillRef idx="0">
            <a:schemeClr val="dk1"/>
          </a:fillRef>
          <a:effectRef idx="0">
            <a:schemeClr val="dk1"/>
          </a:effectRef>
          <a:fontRef idx="minor">
            <a:schemeClr val="tx1"/>
          </a:fontRef>
        </p:style>
      </p:cxnSp>
      <p:cxnSp>
        <p:nvCxnSpPr>
          <p:cNvPr id="16" name="直接连接符 15"/>
          <p:cNvCxnSpPr/>
          <p:nvPr/>
        </p:nvCxnSpPr>
        <p:spPr>
          <a:xfrm>
            <a:off x="4634257" y="5342088"/>
            <a:ext cx="853256" cy="0"/>
          </a:xfrm>
          <a:prstGeom prst="line">
            <a:avLst/>
          </a:prstGeom>
        </p:spPr>
        <p:style>
          <a:lnRef idx="1">
            <a:schemeClr val="dk1"/>
          </a:lnRef>
          <a:fillRef idx="0">
            <a:schemeClr val="dk1"/>
          </a:fillRef>
          <a:effectRef idx="0">
            <a:schemeClr val="dk1"/>
          </a:effectRef>
          <a:fontRef idx="minor">
            <a:schemeClr val="tx1"/>
          </a:fontRef>
        </p:style>
      </p:cxnSp>
      <p:cxnSp>
        <p:nvCxnSpPr>
          <p:cNvPr id="17" name="直接连接符 16"/>
          <p:cNvCxnSpPr/>
          <p:nvPr/>
        </p:nvCxnSpPr>
        <p:spPr>
          <a:xfrm>
            <a:off x="2566156" y="5342088"/>
            <a:ext cx="853256" cy="0"/>
          </a:xfrm>
          <a:prstGeom prst="line">
            <a:avLst/>
          </a:prstGeom>
        </p:spPr>
        <p:style>
          <a:lnRef idx="1">
            <a:schemeClr val="dk1"/>
          </a:lnRef>
          <a:fillRef idx="0">
            <a:schemeClr val="dk1"/>
          </a:fillRef>
          <a:effectRef idx="0">
            <a:schemeClr val="dk1"/>
          </a:effectRef>
          <a:fontRef idx="minor">
            <a:schemeClr val="tx1"/>
          </a:fontRef>
        </p:style>
      </p:cxnSp>
      <p:cxnSp>
        <p:nvCxnSpPr>
          <p:cNvPr id="18" name="直接连接符 17"/>
          <p:cNvCxnSpPr/>
          <p:nvPr/>
        </p:nvCxnSpPr>
        <p:spPr>
          <a:xfrm>
            <a:off x="8747529" y="5359755"/>
            <a:ext cx="853256" cy="0"/>
          </a:xfrm>
          <a:prstGeom prst="line">
            <a:avLst/>
          </a:prstGeom>
        </p:spPr>
        <p:style>
          <a:lnRef idx="1">
            <a:schemeClr val="dk1"/>
          </a:lnRef>
          <a:fillRef idx="0">
            <a:schemeClr val="dk1"/>
          </a:fillRef>
          <a:effectRef idx="0">
            <a:schemeClr val="dk1"/>
          </a:effectRef>
          <a:fontRef idx="minor">
            <a:schemeClr val="tx1"/>
          </a:fontRef>
        </p:style>
      </p:cxnSp>
      <p:cxnSp>
        <p:nvCxnSpPr>
          <p:cNvPr id="19" name="直接连接符 18"/>
          <p:cNvCxnSpPr/>
          <p:nvPr/>
        </p:nvCxnSpPr>
        <p:spPr>
          <a:xfrm>
            <a:off x="4634257" y="5737531"/>
            <a:ext cx="853256"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3.2 Discretionary access control</a:t>
            </a:r>
          </a:p>
        </p:txBody>
      </p:sp>
      <p:sp>
        <p:nvSpPr>
          <p:cNvPr id="3" name="Content Placeholder 2"/>
          <p:cNvSpPr>
            <a:spLocks noGrp="1"/>
          </p:cNvSpPr>
          <p:nvPr>
            <p:ph idx="1"/>
          </p:nvPr>
        </p:nvSpPr>
        <p:spPr/>
        <p:txBody>
          <a:bodyPr>
            <a:normAutofit/>
          </a:bodyPr>
          <a:lstStyle/>
          <a:p>
            <a:r>
              <a:rPr lang="en-AU" sz="2400" dirty="0"/>
              <a:t>In an access-matrix, an entire </a:t>
            </a:r>
            <a:r>
              <a:rPr lang="en-AU" sz="2400" b="1" dirty="0"/>
              <a:t>row </a:t>
            </a:r>
            <a:r>
              <a:rPr lang="en-AU" sz="2400" dirty="0"/>
              <a:t>is referred to as the </a:t>
            </a:r>
            <a:r>
              <a:rPr lang="en-AU" sz="2400" b="1" dirty="0"/>
              <a:t>capability </a:t>
            </a:r>
            <a:r>
              <a:rPr lang="en-AU" sz="2400" dirty="0"/>
              <a:t>of a subject.</a:t>
            </a:r>
          </a:p>
          <a:p>
            <a:r>
              <a:rPr lang="en-AU" sz="2400" dirty="0"/>
              <a:t>A </a:t>
            </a:r>
            <a:r>
              <a:rPr lang="en-AU" sz="2400" b="1" dirty="0"/>
              <a:t>column </a:t>
            </a:r>
            <a:r>
              <a:rPr lang="en-AU" sz="2400" dirty="0"/>
              <a:t>is referred to an </a:t>
            </a:r>
            <a:r>
              <a:rPr lang="en-AU" sz="2400" b="1" dirty="0"/>
              <a:t>access-control list</a:t>
            </a:r>
            <a:r>
              <a:rPr lang="en-AU" sz="2400" dirty="0"/>
              <a:t> (ACL) of an object.</a:t>
            </a:r>
          </a:p>
          <a:p>
            <a:endParaRPr lang="en-AU" sz="2400" b="1" dirty="0"/>
          </a:p>
        </p:txBody>
      </p:sp>
      <p:sp>
        <p:nvSpPr>
          <p:cNvPr id="4" name="Slide Number Placeholder 3"/>
          <p:cNvSpPr>
            <a:spLocks noGrp="1"/>
          </p:cNvSpPr>
          <p:nvPr>
            <p:ph type="sldNum" sz="quarter" idx="12"/>
          </p:nvPr>
        </p:nvSpPr>
        <p:spPr/>
        <p:txBody>
          <a:bodyPr/>
          <a:lstStyle/>
          <a:p>
            <a:fld id="{CA8D9AD5-F248-4919-864A-CFD76CC027D6}" type="slidenum">
              <a:rPr lang="en-AU" smtClean="0"/>
              <a:t>23</a:t>
            </a:fld>
            <a:endParaRPr lang="en-AU"/>
          </a:p>
        </p:txBody>
      </p:sp>
      <p:graphicFrame>
        <p:nvGraphicFramePr>
          <p:cNvPr id="5" name="表格 5"/>
          <p:cNvGraphicFramePr>
            <a:graphicFrameLocks noGrp="1"/>
          </p:cNvGraphicFramePr>
          <p:nvPr/>
        </p:nvGraphicFramePr>
        <p:xfrm>
          <a:off x="1870336" y="3956315"/>
          <a:ext cx="8128000" cy="1112520"/>
        </p:xfrm>
        <a:graphic>
          <a:graphicData uri="http://schemas.openxmlformats.org/drawingml/2006/table">
            <a:tbl>
              <a:tblPr firstRow="1" bandRow="1">
                <a:tableStyleId>{22838BEF-8BB2-4498-84A7-C5851F593DF1}</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gridCol w="2032000">
                  <a:extLst>
                    <a:ext uri="{9D8B030D-6E8A-4147-A177-3AD203B41FA5}">
                      <a16:colId xmlns:a16="http://schemas.microsoft.com/office/drawing/2014/main" val="20003"/>
                    </a:ext>
                  </a:extLst>
                </a:gridCol>
              </a:tblGrid>
              <a:tr h="370840">
                <a:tc>
                  <a:txBody>
                    <a:bodyPr/>
                    <a:lstStyle/>
                    <a:p>
                      <a:pPr algn="ctr"/>
                      <a:r>
                        <a:rPr lang="en-US" altLang="zh-CN" b="0" i="1" dirty="0"/>
                        <a:t>Read</a:t>
                      </a:r>
                      <a:r>
                        <a:rPr lang="en-US" altLang="zh-CN" b="0" dirty="0"/>
                        <a:t>, </a:t>
                      </a:r>
                      <a:r>
                        <a:rPr lang="en-US" altLang="zh-CN" b="0" i="1" dirty="0"/>
                        <a:t>Write</a:t>
                      </a:r>
                      <a:endParaRPr lang="zh-CN" altLang="en-US" b="0" i="1" dirty="0"/>
                    </a:p>
                  </a:txBody>
                  <a:tcPr/>
                </a:tc>
                <a:tc>
                  <a:txBody>
                    <a:bodyPr/>
                    <a:lstStyle/>
                    <a:p>
                      <a:pPr algn="ctr"/>
                      <a:r>
                        <a:rPr lang="en-US" altLang="zh-CN" b="0" i="1" dirty="0"/>
                        <a:t>Execute</a:t>
                      </a:r>
                      <a:endParaRPr lang="zh-CN" altLang="en-US" b="0" i="1" dirty="0"/>
                    </a:p>
                  </a:txBody>
                  <a:tcPr/>
                </a:tc>
                <a:tc>
                  <a:txBody>
                    <a:bodyPr/>
                    <a:lstStyle/>
                    <a:p>
                      <a:pPr algn="ctr"/>
                      <a:endParaRPr lang="zh-CN" altLang="en-US"/>
                    </a:p>
                  </a:txBody>
                  <a:tcPr/>
                </a:tc>
                <a:tc>
                  <a:txBody>
                    <a:bodyPr/>
                    <a:lstStyle/>
                    <a:p>
                      <a:pPr algn="ctr"/>
                      <a:r>
                        <a:rPr lang="en-US" altLang="zh-CN" b="0" i="1" dirty="0"/>
                        <a:t>Read</a:t>
                      </a:r>
                      <a:endParaRPr lang="zh-CN" altLang="en-US" b="0" i="1" dirty="0"/>
                    </a:p>
                  </a:txBody>
                  <a:tcPr/>
                </a:tc>
                <a:extLst>
                  <a:ext uri="{0D108BD9-81ED-4DB2-BD59-A6C34878D82A}">
                    <a16:rowId xmlns:a16="http://schemas.microsoft.com/office/drawing/2014/main" val="10000"/>
                  </a:ext>
                </a:extLst>
              </a:tr>
              <a:tr h="370840">
                <a:tc>
                  <a:txBody>
                    <a:bodyPr/>
                    <a:lstStyle/>
                    <a:p>
                      <a:pPr algn="ctr"/>
                      <a:endParaRPr lang="zh-CN" altLang="en-US"/>
                    </a:p>
                  </a:txBody>
                  <a:tcPr/>
                </a:tc>
                <a:tc>
                  <a:txBody>
                    <a:bodyPr/>
                    <a:lstStyle/>
                    <a:p>
                      <a:pPr algn="ctr"/>
                      <a:endParaRPr lang="zh-CN" altLang="en-US" dirty="0"/>
                    </a:p>
                  </a:txBody>
                  <a:tcPr/>
                </a:tc>
                <a:tc>
                  <a:txBody>
                    <a:bodyPr/>
                    <a:lstStyle/>
                    <a:p>
                      <a:pPr algn="ctr"/>
                      <a:r>
                        <a:rPr lang="en-US" altLang="zh-CN" i="1" dirty="0"/>
                        <a:t>Read, Execute</a:t>
                      </a:r>
                      <a:endParaRPr lang="zh-CN" altLang="en-US" i="1" dirty="0"/>
                    </a:p>
                  </a:txBody>
                  <a:tcPr/>
                </a:tc>
                <a:tc>
                  <a:txBody>
                    <a:bodyPr/>
                    <a:lstStyle/>
                    <a:p>
                      <a:pPr algn="ctr"/>
                      <a:endParaRPr lang="zh-CN" altLang="en-US" dirty="0"/>
                    </a:p>
                  </a:txBody>
                  <a:tcPr/>
                </a:tc>
                <a:extLst>
                  <a:ext uri="{0D108BD9-81ED-4DB2-BD59-A6C34878D82A}">
                    <a16:rowId xmlns:a16="http://schemas.microsoft.com/office/drawing/2014/main" val="10001"/>
                  </a:ext>
                </a:extLst>
              </a:tr>
              <a:tr h="370840">
                <a:tc>
                  <a:txBody>
                    <a:bodyPr/>
                    <a:lstStyle/>
                    <a:p>
                      <a:pPr algn="ctr"/>
                      <a:r>
                        <a:rPr lang="en-US" altLang="zh-CN" i="1" dirty="0"/>
                        <a:t>Append</a:t>
                      </a:r>
                      <a:endParaRPr lang="zh-CN" altLang="en-US" i="1" dirty="0"/>
                    </a:p>
                  </a:txBody>
                  <a:tcPr/>
                </a:tc>
                <a:tc>
                  <a:txBody>
                    <a:bodyPr/>
                    <a:lstStyle/>
                    <a:p>
                      <a:pPr algn="ctr"/>
                      <a:endParaRPr lang="zh-CN" altLang="en-US"/>
                    </a:p>
                  </a:txBody>
                  <a:tcPr/>
                </a:tc>
                <a:tc>
                  <a:txBody>
                    <a:bodyPr/>
                    <a:lstStyle/>
                    <a:p>
                      <a:pPr algn="ctr"/>
                      <a:r>
                        <a:rPr lang="en-US" altLang="zh-CN" i="1" dirty="0"/>
                        <a:t>Append</a:t>
                      </a:r>
                      <a:endParaRPr lang="zh-CN" altLang="en-US" i="1" dirty="0"/>
                    </a:p>
                  </a:txBody>
                  <a:tcPr/>
                </a:tc>
                <a:tc>
                  <a:txBody>
                    <a:bodyPr/>
                    <a:lstStyle/>
                    <a:p>
                      <a:pPr algn="ctr"/>
                      <a:r>
                        <a:rPr lang="en-US" altLang="zh-CN" i="1" dirty="0"/>
                        <a:t>Read, Write</a:t>
                      </a:r>
                      <a:endParaRPr lang="zh-CN" altLang="en-US" i="1" dirty="0"/>
                    </a:p>
                  </a:txBody>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sp>
            <p:nvSpPr>
              <p:cNvPr id="7" name="矩形 6"/>
              <p:cNvSpPr/>
              <p:nvPr/>
            </p:nvSpPr>
            <p:spPr>
              <a:xfrm>
                <a:off x="1207527" y="3956315"/>
                <a:ext cx="580049"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altLang="zh-CN" i="1" smtClean="0">
                              <a:solidFill>
                                <a:prstClr val="black"/>
                              </a:solidFill>
                              <a:latin typeface="Cambria Math" panose="02040503050406030204" pitchFamily="18" charset="0"/>
                            </a:rPr>
                          </m:ctrlPr>
                        </m:sSubPr>
                        <m:e>
                          <m:r>
                            <a:rPr lang="en-US" altLang="zh-CN" b="0" i="1" smtClean="0">
                              <a:solidFill>
                                <a:prstClr val="black"/>
                              </a:solidFill>
                              <a:latin typeface="Cambria Math" panose="02040503050406030204" pitchFamily="18" charset="0"/>
                            </a:rPr>
                            <m:t>𝑠</m:t>
                          </m:r>
                        </m:e>
                        <m:sub>
                          <m:r>
                            <a:rPr lang="en-AU" altLang="zh-CN" i="1">
                              <a:solidFill>
                                <a:prstClr val="black"/>
                              </a:solidFill>
                              <a:latin typeface="Cambria Math" panose="02040503050406030204" pitchFamily="18" charset="0"/>
                            </a:rPr>
                            <m:t>1</m:t>
                          </m:r>
                        </m:sub>
                      </m:sSub>
                    </m:oMath>
                  </m:oMathPara>
                </a14:m>
                <a:endParaRPr lang="zh-CN" altLang="en-US" i="1" dirty="0"/>
              </a:p>
            </p:txBody>
          </p:sp>
        </mc:Choice>
        <mc:Fallback xmlns="">
          <p:sp>
            <p:nvSpPr>
              <p:cNvPr id="7" name="矩形 6"/>
              <p:cNvSpPr>
                <a:spLocks noRot="1" noChangeAspect="1" noMove="1" noResize="1" noEditPoints="1" noAdjustHandles="1" noChangeArrowheads="1" noChangeShapeType="1" noTextEdit="1"/>
              </p:cNvSpPr>
              <p:nvPr/>
            </p:nvSpPr>
            <p:spPr>
              <a:xfrm>
                <a:off x="1207527" y="3956315"/>
                <a:ext cx="580049" cy="392377"/>
              </a:xfrm>
              <a:prstGeom prst="rect">
                <a:avLst/>
              </a:prstGeom>
              <a:blipFill rotWithShape="1">
                <a:blip r:embed="rId5"/>
                <a:stretch>
                  <a:fillRect/>
                </a:stretch>
              </a:blipFill>
              <a:ln>
                <a:noFill/>
              </a:ln>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8" name="矩形 7"/>
              <p:cNvSpPr/>
              <p:nvPr/>
            </p:nvSpPr>
            <p:spPr>
              <a:xfrm>
                <a:off x="1207526" y="4299870"/>
                <a:ext cx="580049"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altLang="zh-CN" i="1" smtClean="0">
                              <a:solidFill>
                                <a:prstClr val="black"/>
                              </a:solidFill>
                              <a:latin typeface="Cambria Math" panose="02040503050406030204" pitchFamily="18" charset="0"/>
                            </a:rPr>
                          </m:ctrlPr>
                        </m:sSubPr>
                        <m:e>
                          <m:r>
                            <a:rPr lang="en-US" altLang="zh-CN" b="0" i="1" smtClean="0">
                              <a:solidFill>
                                <a:prstClr val="black"/>
                              </a:solidFill>
                              <a:latin typeface="Cambria Math" panose="02040503050406030204" pitchFamily="18" charset="0"/>
                            </a:rPr>
                            <m:t>𝑠</m:t>
                          </m:r>
                        </m:e>
                        <m:sub>
                          <m:r>
                            <a:rPr lang="en-US" altLang="zh-CN" b="0" i="1" smtClean="0">
                              <a:solidFill>
                                <a:prstClr val="black"/>
                              </a:solidFill>
                              <a:latin typeface="Cambria Math" panose="02040503050406030204" pitchFamily="18" charset="0"/>
                            </a:rPr>
                            <m:t>2</m:t>
                          </m:r>
                        </m:sub>
                      </m:sSub>
                    </m:oMath>
                  </m:oMathPara>
                </a14:m>
                <a:endParaRPr lang="zh-CN" altLang="en-US" i="1" dirty="0"/>
              </a:p>
            </p:txBody>
          </p:sp>
        </mc:Choice>
        <mc:Fallback xmlns="">
          <p:sp>
            <p:nvSpPr>
              <p:cNvPr id="8" name="矩形 7"/>
              <p:cNvSpPr>
                <a:spLocks noRot="1" noChangeAspect="1" noMove="1" noResize="1" noEditPoints="1" noAdjustHandles="1" noChangeArrowheads="1" noChangeShapeType="1" noTextEdit="1"/>
              </p:cNvSpPr>
              <p:nvPr/>
            </p:nvSpPr>
            <p:spPr>
              <a:xfrm>
                <a:off x="1207526" y="4299870"/>
                <a:ext cx="580049" cy="392377"/>
              </a:xfrm>
              <a:prstGeom prst="rect">
                <a:avLst/>
              </a:prstGeom>
              <a:blipFill rotWithShape="1">
                <a:blip r:embed="rId6"/>
                <a:stretch>
                  <a:fillRect/>
                </a:stretch>
              </a:blipFill>
              <a:ln>
                <a:noFill/>
              </a:ln>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9" name="矩形 8"/>
              <p:cNvSpPr/>
              <p:nvPr/>
            </p:nvSpPr>
            <p:spPr>
              <a:xfrm>
                <a:off x="1191777" y="4643425"/>
                <a:ext cx="580049"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altLang="zh-CN" i="1" smtClean="0">
                              <a:solidFill>
                                <a:prstClr val="black"/>
                              </a:solidFill>
                              <a:latin typeface="Cambria Math" panose="02040503050406030204" pitchFamily="18" charset="0"/>
                            </a:rPr>
                          </m:ctrlPr>
                        </m:sSubPr>
                        <m:e>
                          <m:r>
                            <a:rPr lang="en-US" altLang="zh-CN" b="0" i="1" smtClean="0">
                              <a:solidFill>
                                <a:prstClr val="black"/>
                              </a:solidFill>
                              <a:latin typeface="Cambria Math" panose="02040503050406030204" pitchFamily="18" charset="0"/>
                            </a:rPr>
                            <m:t>𝑠</m:t>
                          </m:r>
                        </m:e>
                        <m:sub>
                          <m:r>
                            <a:rPr lang="en-US" altLang="zh-CN" b="0" i="1" smtClean="0">
                              <a:solidFill>
                                <a:prstClr val="black"/>
                              </a:solidFill>
                              <a:latin typeface="Cambria Math" panose="02040503050406030204" pitchFamily="18" charset="0"/>
                            </a:rPr>
                            <m:t>3</m:t>
                          </m:r>
                        </m:sub>
                      </m:sSub>
                    </m:oMath>
                  </m:oMathPara>
                </a14:m>
                <a:endParaRPr lang="zh-CN" altLang="en-US" i="1" dirty="0"/>
              </a:p>
            </p:txBody>
          </p:sp>
        </mc:Choice>
        <mc:Fallback xmlns="">
          <p:sp>
            <p:nvSpPr>
              <p:cNvPr id="9" name="矩形 8"/>
              <p:cNvSpPr>
                <a:spLocks noRot="1" noChangeAspect="1" noMove="1" noResize="1" noEditPoints="1" noAdjustHandles="1" noChangeArrowheads="1" noChangeShapeType="1" noTextEdit="1"/>
              </p:cNvSpPr>
              <p:nvPr/>
            </p:nvSpPr>
            <p:spPr>
              <a:xfrm>
                <a:off x="1191777" y="4643425"/>
                <a:ext cx="580049" cy="392377"/>
              </a:xfrm>
              <a:prstGeom prst="rect">
                <a:avLst/>
              </a:prstGeom>
              <a:blipFill rotWithShape="1">
                <a:blip r:embed="rId7"/>
                <a:stretch>
                  <a:fillRect/>
                </a:stretch>
              </a:blipFill>
              <a:ln>
                <a:noFill/>
              </a:ln>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10" name="矩形 9"/>
              <p:cNvSpPr/>
              <p:nvPr/>
            </p:nvSpPr>
            <p:spPr>
              <a:xfrm>
                <a:off x="2566156" y="3429001"/>
                <a:ext cx="580049"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altLang="zh-CN" i="1" smtClean="0">
                              <a:solidFill>
                                <a:prstClr val="black"/>
                              </a:solidFill>
                              <a:latin typeface="Cambria Math" panose="02040503050406030204" pitchFamily="18" charset="0"/>
                            </a:rPr>
                          </m:ctrlPr>
                        </m:sSubPr>
                        <m:e>
                          <m:r>
                            <a:rPr lang="en-US" altLang="zh-CN" b="0" i="1" smtClean="0">
                              <a:solidFill>
                                <a:prstClr val="black"/>
                              </a:solidFill>
                              <a:latin typeface="Cambria Math" panose="02040503050406030204" pitchFamily="18" charset="0"/>
                            </a:rPr>
                            <m:t>𝑜</m:t>
                          </m:r>
                        </m:e>
                        <m:sub>
                          <m:r>
                            <a:rPr lang="en-AU" altLang="zh-CN" i="1">
                              <a:solidFill>
                                <a:prstClr val="black"/>
                              </a:solidFill>
                              <a:latin typeface="Cambria Math" panose="02040503050406030204" pitchFamily="18" charset="0"/>
                            </a:rPr>
                            <m:t>1</m:t>
                          </m:r>
                        </m:sub>
                      </m:sSub>
                    </m:oMath>
                  </m:oMathPara>
                </a14:m>
                <a:endParaRPr lang="zh-CN" altLang="en-US" i="1" dirty="0"/>
              </a:p>
            </p:txBody>
          </p:sp>
        </mc:Choice>
        <mc:Fallback xmlns="">
          <p:sp>
            <p:nvSpPr>
              <p:cNvPr id="10" name="矩形 9"/>
              <p:cNvSpPr>
                <a:spLocks noRot="1" noChangeAspect="1" noMove="1" noResize="1" noEditPoints="1" noAdjustHandles="1" noChangeArrowheads="1" noChangeShapeType="1" noTextEdit="1"/>
              </p:cNvSpPr>
              <p:nvPr/>
            </p:nvSpPr>
            <p:spPr>
              <a:xfrm>
                <a:off x="2566156" y="3429001"/>
                <a:ext cx="580049" cy="392377"/>
              </a:xfrm>
              <a:prstGeom prst="rect">
                <a:avLst/>
              </a:prstGeom>
              <a:blipFill rotWithShape="1">
                <a:blip r:embed="rId8"/>
                <a:stretch>
                  <a:fillRect/>
                </a:stretch>
              </a:blipFill>
              <a:ln>
                <a:noFill/>
              </a:ln>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11" name="矩形 10"/>
              <p:cNvSpPr/>
              <p:nvPr/>
            </p:nvSpPr>
            <p:spPr>
              <a:xfrm>
                <a:off x="4745800" y="3429001"/>
                <a:ext cx="580049"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altLang="zh-CN" i="1" smtClean="0">
                              <a:solidFill>
                                <a:prstClr val="black"/>
                              </a:solidFill>
                              <a:latin typeface="Cambria Math" panose="02040503050406030204" pitchFamily="18" charset="0"/>
                            </a:rPr>
                          </m:ctrlPr>
                        </m:sSubPr>
                        <m:e>
                          <m:r>
                            <a:rPr lang="en-US" altLang="zh-CN" b="0" i="1" smtClean="0">
                              <a:solidFill>
                                <a:prstClr val="black"/>
                              </a:solidFill>
                              <a:latin typeface="Cambria Math" panose="02040503050406030204" pitchFamily="18" charset="0"/>
                            </a:rPr>
                            <m:t>𝑜</m:t>
                          </m:r>
                        </m:e>
                        <m:sub>
                          <m:r>
                            <a:rPr lang="en-US" altLang="zh-CN" b="0" i="1" smtClean="0">
                              <a:solidFill>
                                <a:prstClr val="black"/>
                              </a:solidFill>
                              <a:latin typeface="Cambria Math" panose="02040503050406030204" pitchFamily="18" charset="0"/>
                            </a:rPr>
                            <m:t>2</m:t>
                          </m:r>
                        </m:sub>
                      </m:sSub>
                    </m:oMath>
                  </m:oMathPara>
                </a14:m>
                <a:endParaRPr lang="zh-CN" altLang="en-US" i="1" dirty="0"/>
              </a:p>
            </p:txBody>
          </p:sp>
        </mc:Choice>
        <mc:Fallback xmlns="">
          <p:sp>
            <p:nvSpPr>
              <p:cNvPr id="11" name="矩形 10"/>
              <p:cNvSpPr>
                <a:spLocks noRot="1" noChangeAspect="1" noMove="1" noResize="1" noEditPoints="1" noAdjustHandles="1" noChangeArrowheads="1" noChangeShapeType="1" noTextEdit="1"/>
              </p:cNvSpPr>
              <p:nvPr/>
            </p:nvSpPr>
            <p:spPr>
              <a:xfrm>
                <a:off x="4745800" y="3429001"/>
                <a:ext cx="580049" cy="392377"/>
              </a:xfrm>
              <a:prstGeom prst="rect">
                <a:avLst/>
              </a:prstGeom>
              <a:blipFill rotWithShape="1">
                <a:blip r:embed="rId9"/>
                <a:stretch>
                  <a:fillRect/>
                </a:stretch>
              </a:blipFill>
              <a:ln>
                <a:noFill/>
              </a:ln>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12" name="矩形 11"/>
              <p:cNvSpPr/>
              <p:nvPr/>
            </p:nvSpPr>
            <p:spPr>
              <a:xfrm>
                <a:off x="6726352" y="3429000"/>
                <a:ext cx="580049"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altLang="zh-CN" i="1" smtClean="0">
                              <a:solidFill>
                                <a:prstClr val="black"/>
                              </a:solidFill>
                              <a:latin typeface="Cambria Math" panose="02040503050406030204" pitchFamily="18" charset="0"/>
                            </a:rPr>
                          </m:ctrlPr>
                        </m:sSubPr>
                        <m:e>
                          <m:r>
                            <a:rPr lang="en-US" altLang="zh-CN" b="0" i="1" smtClean="0">
                              <a:solidFill>
                                <a:prstClr val="black"/>
                              </a:solidFill>
                              <a:latin typeface="Cambria Math" panose="02040503050406030204" pitchFamily="18" charset="0"/>
                            </a:rPr>
                            <m:t>𝑜</m:t>
                          </m:r>
                        </m:e>
                        <m:sub>
                          <m:r>
                            <a:rPr lang="en-US" altLang="zh-CN" b="0" i="1" smtClean="0">
                              <a:solidFill>
                                <a:prstClr val="black"/>
                              </a:solidFill>
                              <a:latin typeface="Cambria Math" panose="02040503050406030204" pitchFamily="18" charset="0"/>
                            </a:rPr>
                            <m:t>3</m:t>
                          </m:r>
                        </m:sub>
                      </m:sSub>
                    </m:oMath>
                  </m:oMathPara>
                </a14:m>
                <a:endParaRPr lang="zh-CN" altLang="en-US" i="1" dirty="0"/>
              </a:p>
            </p:txBody>
          </p:sp>
        </mc:Choice>
        <mc:Fallback xmlns="">
          <p:sp>
            <p:nvSpPr>
              <p:cNvPr id="12" name="矩形 11"/>
              <p:cNvSpPr>
                <a:spLocks noRot="1" noChangeAspect="1" noMove="1" noResize="1" noEditPoints="1" noAdjustHandles="1" noChangeArrowheads="1" noChangeShapeType="1" noTextEdit="1"/>
              </p:cNvSpPr>
              <p:nvPr/>
            </p:nvSpPr>
            <p:spPr>
              <a:xfrm>
                <a:off x="6726352" y="3429000"/>
                <a:ext cx="580049" cy="392377"/>
              </a:xfrm>
              <a:prstGeom prst="rect">
                <a:avLst/>
              </a:prstGeom>
              <a:blipFill rotWithShape="1">
                <a:blip r:embed="rId10"/>
                <a:stretch>
                  <a:fillRect/>
                </a:stretch>
              </a:blipFill>
              <a:ln>
                <a:noFill/>
              </a:ln>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13" name="矩形 12"/>
              <p:cNvSpPr/>
              <p:nvPr/>
            </p:nvSpPr>
            <p:spPr>
              <a:xfrm>
                <a:off x="8722469" y="3429000"/>
                <a:ext cx="580049"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altLang="zh-CN" i="1" smtClean="0">
                              <a:solidFill>
                                <a:prstClr val="black"/>
                              </a:solidFill>
                              <a:latin typeface="Cambria Math" panose="02040503050406030204" pitchFamily="18" charset="0"/>
                            </a:rPr>
                          </m:ctrlPr>
                        </m:sSubPr>
                        <m:e>
                          <m:r>
                            <a:rPr lang="en-US" altLang="zh-CN" b="0" i="1" smtClean="0">
                              <a:solidFill>
                                <a:prstClr val="black"/>
                              </a:solidFill>
                              <a:latin typeface="Cambria Math" panose="02040503050406030204" pitchFamily="18" charset="0"/>
                            </a:rPr>
                            <m:t>𝑜</m:t>
                          </m:r>
                        </m:e>
                        <m:sub>
                          <m:r>
                            <a:rPr lang="en-US" altLang="zh-CN" b="0" i="1" smtClean="0">
                              <a:solidFill>
                                <a:prstClr val="black"/>
                              </a:solidFill>
                              <a:latin typeface="Cambria Math" panose="02040503050406030204" pitchFamily="18" charset="0"/>
                            </a:rPr>
                            <m:t>4</m:t>
                          </m:r>
                        </m:sub>
                      </m:sSub>
                    </m:oMath>
                  </m:oMathPara>
                </a14:m>
                <a:endParaRPr lang="zh-CN" altLang="en-US" i="1" dirty="0"/>
              </a:p>
            </p:txBody>
          </p:sp>
        </mc:Choice>
        <mc:Fallback xmlns="">
          <p:sp>
            <p:nvSpPr>
              <p:cNvPr id="13" name="矩形 12"/>
              <p:cNvSpPr>
                <a:spLocks noRot="1" noChangeAspect="1" noMove="1" noResize="1" noEditPoints="1" noAdjustHandles="1" noChangeArrowheads="1" noChangeShapeType="1" noTextEdit="1"/>
              </p:cNvSpPr>
              <p:nvPr/>
            </p:nvSpPr>
            <p:spPr>
              <a:xfrm>
                <a:off x="8722469" y="3429000"/>
                <a:ext cx="580049" cy="392377"/>
              </a:xfrm>
              <a:prstGeom prst="rect">
                <a:avLst/>
              </a:prstGeom>
              <a:blipFill rotWithShape="1">
                <a:blip r:embed="rId11"/>
                <a:stretch>
                  <a:fillRect/>
                </a:stretch>
              </a:blipFill>
              <a:ln>
                <a:noFill/>
              </a:ln>
            </p:spPr>
            <p:txBody>
              <a:bodyPr/>
              <a:lstStyle/>
              <a:p>
                <a:r>
                  <a:rPr lang="zh-CN" altLang="en-US">
                    <a:noFill/>
                  </a:rPr>
                  <a:t> </a:t>
                </a:r>
                <a:endParaRPr lang="zh-CN" altLang="en-US">
                  <a:noFill/>
                </a:endParaRPr>
              </a:p>
            </p:txBody>
          </p:sp>
        </mc:Fallback>
      </mc:AlternateContent>
      <p:cxnSp>
        <p:nvCxnSpPr>
          <p:cNvPr id="15" name="直接连接符 14"/>
          <p:cNvCxnSpPr/>
          <p:nvPr/>
        </p:nvCxnSpPr>
        <p:spPr>
          <a:xfrm>
            <a:off x="6527215" y="4152502"/>
            <a:ext cx="853256" cy="0"/>
          </a:xfrm>
          <a:prstGeom prst="line">
            <a:avLst/>
          </a:prstGeom>
        </p:spPr>
        <p:style>
          <a:lnRef idx="1">
            <a:schemeClr val="dk1"/>
          </a:lnRef>
          <a:fillRef idx="0">
            <a:schemeClr val="dk1"/>
          </a:fillRef>
          <a:effectRef idx="0">
            <a:schemeClr val="dk1"/>
          </a:effectRef>
          <a:fontRef idx="minor">
            <a:schemeClr val="tx1"/>
          </a:fontRef>
        </p:style>
      </p:cxnSp>
      <p:cxnSp>
        <p:nvCxnSpPr>
          <p:cNvPr id="16" name="直接连接符 15"/>
          <p:cNvCxnSpPr/>
          <p:nvPr/>
        </p:nvCxnSpPr>
        <p:spPr>
          <a:xfrm>
            <a:off x="4472593" y="4524182"/>
            <a:ext cx="853256" cy="0"/>
          </a:xfrm>
          <a:prstGeom prst="line">
            <a:avLst/>
          </a:prstGeom>
        </p:spPr>
        <p:style>
          <a:lnRef idx="1">
            <a:schemeClr val="dk1"/>
          </a:lnRef>
          <a:fillRef idx="0">
            <a:schemeClr val="dk1"/>
          </a:fillRef>
          <a:effectRef idx="0">
            <a:schemeClr val="dk1"/>
          </a:effectRef>
          <a:fontRef idx="minor">
            <a:schemeClr val="tx1"/>
          </a:fontRef>
        </p:style>
      </p:cxnSp>
      <p:cxnSp>
        <p:nvCxnSpPr>
          <p:cNvPr id="17" name="直接连接符 16"/>
          <p:cNvCxnSpPr/>
          <p:nvPr/>
        </p:nvCxnSpPr>
        <p:spPr>
          <a:xfrm>
            <a:off x="2429552" y="4514178"/>
            <a:ext cx="853256" cy="0"/>
          </a:xfrm>
          <a:prstGeom prst="line">
            <a:avLst/>
          </a:prstGeom>
        </p:spPr>
        <p:style>
          <a:lnRef idx="1">
            <a:schemeClr val="dk1"/>
          </a:lnRef>
          <a:fillRef idx="0">
            <a:schemeClr val="dk1"/>
          </a:fillRef>
          <a:effectRef idx="0">
            <a:schemeClr val="dk1"/>
          </a:effectRef>
          <a:fontRef idx="minor">
            <a:schemeClr val="tx1"/>
          </a:fontRef>
        </p:style>
      </p:cxnSp>
      <p:cxnSp>
        <p:nvCxnSpPr>
          <p:cNvPr id="18" name="直接连接符 17"/>
          <p:cNvCxnSpPr/>
          <p:nvPr/>
        </p:nvCxnSpPr>
        <p:spPr>
          <a:xfrm>
            <a:off x="8585865" y="4524182"/>
            <a:ext cx="853256" cy="0"/>
          </a:xfrm>
          <a:prstGeom prst="line">
            <a:avLst/>
          </a:prstGeom>
        </p:spPr>
        <p:style>
          <a:lnRef idx="1">
            <a:schemeClr val="dk1"/>
          </a:lnRef>
          <a:fillRef idx="0">
            <a:schemeClr val="dk1"/>
          </a:fillRef>
          <a:effectRef idx="0">
            <a:schemeClr val="dk1"/>
          </a:effectRef>
          <a:fontRef idx="minor">
            <a:schemeClr val="tx1"/>
          </a:fontRef>
        </p:style>
      </p:cxnSp>
      <p:cxnSp>
        <p:nvCxnSpPr>
          <p:cNvPr id="19" name="直接连接符 18"/>
          <p:cNvCxnSpPr/>
          <p:nvPr/>
        </p:nvCxnSpPr>
        <p:spPr>
          <a:xfrm>
            <a:off x="4472593" y="4839613"/>
            <a:ext cx="853256" cy="0"/>
          </a:xfrm>
          <a:prstGeom prst="line">
            <a:avLst/>
          </a:prstGeom>
        </p:spPr>
        <p:style>
          <a:lnRef idx="1">
            <a:schemeClr val="dk1"/>
          </a:lnRef>
          <a:fillRef idx="0">
            <a:schemeClr val="dk1"/>
          </a:fillRef>
          <a:effectRef idx="0">
            <a:schemeClr val="dk1"/>
          </a:effectRef>
          <a:fontRef idx="minor">
            <a:schemeClr val="tx1"/>
          </a:fontRef>
        </p:style>
      </p:cxnSp>
      <p:sp>
        <p:nvSpPr>
          <p:cNvPr id="6" name="矩形 5"/>
          <p:cNvSpPr/>
          <p:nvPr/>
        </p:nvSpPr>
        <p:spPr>
          <a:xfrm>
            <a:off x="1771826" y="3821377"/>
            <a:ext cx="8319463" cy="57392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708980" y="3744917"/>
            <a:ext cx="2294399" cy="159521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0" name="矩形 19"/>
              <p:cNvSpPr/>
              <p:nvPr/>
            </p:nvSpPr>
            <p:spPr>
              <a:xfrm>
                <a:off x="10282752" y="3956314"/>
                <a:ext cx="580049"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1" i="1" smtClean="0">
                          <a:solidFill>
                            <a:prstClr val="black"/>
                          </a:solidFill>
                          <a:latin typeface="Cambria Math" panose="02040503050406030204" pitchFamily="18" charset="0"/>
                        </a:rPr>
                        <m:t>𝒓𝒐𝒘</m:t>
                      </m:r>
                    </m:oMath>
                  </m:oMathPara>
                </a14:m>
                <a:endParaRPr lang="zh-CN" altLang="en-US" b="1" i="1" dirty="0"/>
              </a:p>
            </p:txBody>
          </p:sp>
        </mc:Choice>
        <mc:Fallback xmlns="">
          <p:sp>
            <p:nvSpPr>
              <p:cNvPr id="20" name="矩形 19"/>
              <p:cNvSpPr>
                <a:spLocks noRot="1" noChangeAspect="1" noMove="1" noResize="1" noEditPoints="1" noAdjustHandles="1" noChangeArrowheads="1" noChangeShapeType="1" noTextEdit="1"/>
              </p:cNvSpPr>
              <p:nvPr/>
            </p:nvSpPr>
            <p:spPr>
              <a:xfrm>
                <a:off x="10282752" y="3956314"/>
                <a:ext cx="580049" cy="392377"/>
              </a:xfrm>
              <a:prstGeom prst="rect">
                <a:avLst/>
              </a:prstGeom>
              <a:blipFill rotWithShape="1">
                <a:blip r:embed="rId12"/>
                <a:stretch>
                  <a:fillRect l="-2105"/>
                </a:stretch>
              </a:blipFill>
              <a:ln>
                <a:noFill/>
              </a:ln>
            </p:spPr>
            <p:txBody>
              <a:bodyPr/>
              <a:lstStyle/>
              <a:p>
                <a:r>
                  <a:rPr lang="zh-CN" altLang="en-US">
                    <a:noFill/>
                  </a:rPr>
                  <a:t> </a:t>
                </a:r>
                <a:endParaRPr lang="zh-CN" altLang="en-US">
                  <a:noFill/>
                </a:endParaRPr>
              </a:p>
            </p:txBody>
          </p:sp>
        </mc:Fallback>
      </mc:AlternateContent>
      <p:sp>
        <p:nvSpPr>
          <p:cNvPr id="21" name="矩形 20"/>
          <p:cNvSpPr/>
          <p:nvPr/>
        </p:nvSpPr>
        <p:spPr>
          <a:xfrm>
            <a:off x="2331536" y="5407599"/>
            <a:ext cx="989072"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b="1" dirty="0"/>
              <a:t>Column</a:t>
            </a:r>
            <a:endParaRPr lang="zh-CN" altLang="en-US" b="1"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3.3 Role-based access control</a:t>
            </a:r>
          </a:p>
        </p:txBody>
      </p:sp>
      <p:sp>
        <p:nvSpPr>
          <p:cNvPr id="3" name="Content Placeholder 2"/>
          <p:cNvSpPr>
            <a:spLocks noGrp="1"/>
          </p:cNvSpPr>
          <p:nvPr>
            <p:ph idx="1"/>
          </p:nvPr>
        </p:nvSpPr>
        <p:spPr/>
        <p:txBody>
          <a:bodyPr>
            <a:normAutofit/>
          </a:bodyPr>
          <a:lstStyle/>
          <a:p>
            <a:pPr algn="just"/>
            <a:r>
              <a:rPr lang="en-AU" sz="2000" dirty="0"/>
              <a:t>Role-based access control (RBAC) regulates access to resources based on the role of acting subjects, such as users and programme agents.</a:t>
            </a:r>
          </a:p>
          <a:p>
            <a:pPr algn="just"/>
            <a:r>
              <a:rPr lang="en-AU" sz="2000" dirty="0"/>
              <a:t>A role is an abstraction that encapsulates a set of responsibilities along with corresponding allowable operations.</a:t>
            </a:r>
          </a:p>
          <a:p>
            <a:pPr algn="just"/>
            <a:r>
              <a:rPr lang="en-US" sz="2000" dirty="0"/>
              <a:t>RBAC is an alternative of MAC and DAC. It is easer to manage than MAC and securer than DAC.</a:t>
            </a:r>
          </a:p>
          <a:p>
            <a:pPr algn="just"/>
            <a:endParaRPr lang="en-US" sz="2400" dirty="0"/>
          </a:p>
        </p:txBody>
      </p:sp>
      <p:sp>
        <p:nvSpPr>
          <p:cNvPr id="4" name="Slide Number Placeholder 3"/>
          <p:cNvSpPr>
            <a:spLocks noGrp="1"/>
          </p:cNvSpPr>
          <p:nvPr>
            <p:ph type="sldNum" sz="quarter" idx="12"/>
          </p:nvPr>
        </p:nvSpPr>
        <p:spPr/>
        <p:txBody>
          <a:bodyPr/>
          <a:lstStyle/>
          <a:p>
            <a:fld id="{CA8D9AD5-F248-4919-864A-CFD76CC027D6}" type="slidenum">
              <a:rPr lang="en-AU" smtClean="0"/>
              <a:t>24</a:t>
            </a:fld>
            <a:endParaRPr lang="en-AU"/>
          </a:p>
        </p:txBody>
      </p:sp>
      <p:pic>
        <p:nvPicPr>
          <p:cNvPr id="6146" name="Picture 2" descr="https://thorteaches.com/wp-content/uploads/2017/09/RBAC.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3193" y="3519683"/>
            <a:ext cx="4265613" cy="28366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3.3 Role-based access control</a:t>
            </a:r>
          </a:p>
        </p:txBody>
      </p:sp>
      <p:sp>
        <p:nvSpPr>
          <p:cNvPr id="3" name="Content Placeholder 2"/>
          <p:cNvSpPr>
            <a:spLocks noGrp="1"/>
          </p:cNvSpPr>
          <p:nvPr>
            <p:ph idx="1"/>
          </p:nvPr>
        </p:nvSpPr>
        <p:spPr>
          <a:xfrm>
            <a:off x="838200" y="1690688"/>
            <a:ext cx="10515600" cy="4486275"/>
          </a:xfrm>
        </p:spPr>
        <p:txBody>
          <a:bodyPr>
            <a:normAutofit/>
          </a:bodyPr>
          <a:lstStyle/>
          <a:p>
            <a:pPr algn="just"/>
            <a:r>
              <a:rPr lang="en-US" sz="2400" dirty="0"/>
              <a:t>This is a RBAC model example.</a:t>
            </a:r>
          </a:p>
          <a:p>
            <a:pPr algn="just"/>
            <a:r>
              <a:rPr lang="en-US" sz="2400" dirty="0"/>
              <a:t>The assignments are represented as links. </a:t>
            </a:r>
          </a:p>
          <a:p>
            <a:pPr algn="just"/>
            <a:endParaRPr lang="en-AU" sz="2400" dirty="0"/>
          </a:p>
          <a:p>
            <a:pPr lvl="1" algn="just"/>
            <a:endParaRPr lang="en-AU" sz="1600" b="1" dirty="0"/>
          </a:p>
          <a:p>
            <a:pPr algn="just"/>
            <a:endParaRPr lang="en-US" sz="2400" dirty="0"/>
          </a:p>
        </p:txBody>
      </p:sp>
      <p:sp>
        <p:nvSpPr>
          <p:cNvPr id="4" name="Slide Number Placeholder 3"/>
          <p:cNvSpPr>
            <a:spLocks noGrp="1"/>
          </p:cNvSpPr>
          <p:nvPr>
            <p:ph type="sldNum" sz="quarter" idx="12"/>
          </p:nvPr>
        </p:nvSpPr>
        <p:spPr/>
        <p:txBody>
          <a:bodyPr/>
          <a:lstStyle/>
          <a:p>
            <a:fld id="{CA8D9AD5-F248-4919-864A-CFD76CC027D6}" type="slidenum">
              <a:rPr lang="en-AU" smtClean="0"/>
              <a:t>25</a:t>
            </a:fld>
            <a:endParaRPr lang="en-AU" dirty="0"/>
          </a:p>
        </p:txBody>
      </p:sp>
      <p:pic>
        <p:nvPicPr>
          <p:cNvPr id="21" name="Picture 2" descr="https://thorteaches.com/wp-content/uploads/2017/09/RBAC.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5855" y="2901639"/>
            <a:ext cx="5400289" cy="3591236"/>
          </a:xfrm>
          <a:prstGeom prst="rect">
            <a:avLst/>
          </a:prstGeom>
          <a:noFill/>
          <a:extLst>
            <a:ext uri="{909E8E84-426E-40DD-AFC4-6F175D3DCCD1}">
              <a14:hiddenFill xmlns:a14="http://schemas.microsoft.com/office/drawing/2010/main">
                <a:solidFill>
                  <a:srgbClr val="FFFFFF"/>
                </a:solidFill>
              </a14:hiddenFill>
            </a:ext>
          </a:extLst>
        </p:spPr>
      </p:pic>
      <p:sp>
        <p:nvSpPr>
          <p:cNvPr id="22" name="矩形 21"/>
          <p:cNvSpPr/>
          <p:nvPr/>
        </p:nvSpPr>
        <p:spPr>
          <a:xfrm>
            <a:off x="3790362" y="2509261"/>
            <a:ext cx="778212"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i="1" dirty="0"/>
              <a:t>Users</a:t>
            </a:r>
            <a:endParaRPr lang="zh-CN" altLang="en-US" i="1" dirty="0"/>
          </a:p>
        </p:txBody>
      </p:sp>
      <p:sp>
        <p:nvSpPr>
          <p:cNvPr id="23" name="矩形 22"/>
          <p:cNvSpPr/>
          <p:nvPr/>
        </p:nvSpPr>
        <p:spPr>
          <a:xfrm>
            <a:off x="5674975" y="2509262"/>
            <a:ext cx="686778"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i="1" dirty="0"/>
              <a:t>Roles</a:t>
            </a:r>
            <a:endParaRPr lang="zh-CN" altLang="en-US" i="1" dirty="0"/>
          </a:p>
        </p:txBody>
      </p:sp>
      <p:sp>
        <p:nvSpPr>
          <p:cNvPr id="24" name="矩形 23"/>
          <p:cNvSpPr/>
          <p:nvPr/>
        </p:nvSpPr>
        <p:spPr>
          <a:xfrm>
            <a:off x="7311774" y="2509261"/>
            <a:ext cx="1298826" cy="39237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i="1" dirty="0"/>
              <a:t>Permissions</a:t>
            </a:r>
            <a:endParaRPr lang="zh-CN" altLang="en-US" i="1"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4. Threats to access control</a:t>
            </a:r>
          </a:p>
        </p:txBody>
      </p:sp>
      <p:sp>
        <p:nvSpPr>
          <p:cNvPr id="5" name="Text Placeholder 4"/>
          <p:cNvSpPr>
            <a:spLocks noGrp="1"/>
          </p:cNvSpPr>
          <p:nvPr>
            <p:ph type="body" idx="1"/>
          </p:nvPr>
        </p:nvSpPr>
        <p:spPr/>
        <p:txBody>
          <a:bodyPr/>
          <a:lstStyle/>
          <a:p>
            <a:endParaRPr lang="en-US"/>
          </a:p>
        </p:txBody>
      </p:sp>
      <p:sp>
        <p:nvSpPr>
          <p:cNvPr id="2" name="Slide Number Placeholder 1"/>
          <p:cNvSpPr>
            <a:spLocks noGrp="1"/>
          </p:cNvSpPr>
          <p:nvPr>
            <p:ph type="sldNum" sz="quarter" idx="12"/>
          </p:nvPr>
        </p:nvSpPr>
        <p:spPr/>
        <p:txBody>
          <a:bodyPr/>
          <a:lstStyle/>
          <a:p>
            <a:fld id="{CA8D9AD5-F248-4919-864A-CFD76CC027D6}" type="slidenum">
              <a:rPr lang="en-AU" smtClean="0"/>
              <a:t>26</a:t>
            </a:fld>
            <a:endParaRPr lang="en-AU"/>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4.1 Insider attacks</a:t>
            </a:r>
          </a:p>
        </p:txBody>
      </p:sp>
      <p:sp>
        <p:nvSpPr>
          <p:cNvPr id="3" name="Content Placeholder 2"/>
          <p:cNvSpPr>
            <a:spLocks noGrp="1"/>
          </p:cNvSpPr>
          <p:nvPr>
            <p:ph idx="1"/>
          </p:nvPr>
        </p:nvSpPr>
        <p:spPr>
          <a:xfrm>
            <a:off x="838200" y="1825625"/>
            <a:ext cx="5980889" cy="4351338"/>
          </a:xfrm>
        </p:spPr>
        <p:txBody>
          <a:bodyPr>
            <a:normAutofit/>
          </a:bodyPr>
          <a:lstStyle/>
          <a:p>
            <a:pPr algn="just"/>
            <a:r>
              <a:rPr lang="en-US" sz="2400" dirty="0"/>
              <a:t>An insider attack is a malicious attack against a network or computer system by a person with </a:t>
            </a:r>
            <a:r>
              <a:rPr lang="en-US" sz="2400" dirty="0" err="1"/>
              <a:t>authorised</a:t>
            </a:r>
            <a:r>
              <a:rPr lang="en-US" sz="2400" dirty="0"/>
              <a:t> system access.</a:t>
            </a:r>
          </a:p>
          <a:p>
            <a:pPr algn="just"/>
            <a:r>
              <a:rPr lang="en-US" sz="2400" dirty="0"/>
              <a:t>Insiders that perform attacks have a distinct advantage over external attackers because they have authorized system access and also may be familiar with network architecture and system policies/procedures. </a:t>
            </a:r>
          </a:p>
          <a:p>
            <a:pPr algn="just"/>
            <a:r>
              <a:rPr lang="en-US" sz="2400" dirty="0"/>
              <a:t>Inside attackers are typically more dangerous than external attackers because many </a:t>
            </a:r>
            <a:r>
              <a:rPr lang="en-US" sz="2400" dirty="0" err="1"/>
              <a:t>organisations</a:t>
            </a:r>
            <a:r>
              <a:rPr lang="en-US" sz="2400" dirty="0"/>
              <a:t> focus on protection from external attacks.</a:t>
            </a:r>
          </a:p>
        </p:txBody>
      </p:sp>
      <p:sp>
        <p:nvSpPr>
          <p:cNvPr id="4" name="Slide Number Placeholder 3"/>
          <p:cNvSpPr>
            <a:spLocks noGrp="1"/>
          </p:cNvSpPr>
          <p:nvPr>
            <p:ph type="sldNum" sz="quarter" idx="12"/>
          </p:nvPr>
        </p:nvSpPr>
        <p:spPr/>
        <p:txBody>
          <a:bodyPr/>
          <a:lstStyle/>
          <a:p>
            <a:fld id="{CA8D9AD5-F248-4919-864A-CFD76CC027D6}" type="slidenum">
              <a:rPr lang="en-AU" smtClean="0"/>
              <a:t>27</a:t>
            </a:fld>
            <a:endParaRPr lang="en-AU"/>
          </a:p>
        </p:txBody>
      </p:sp>
      <p:pic>
        <p:nvPicPr>
          <p:cNvPr id="2050" name="Picture 2" descr="Image result for insider attac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71198" y="2573760"/>
            <a:ext cx="4282602" cy="28550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4.1 Insider attacks</a:t>
            </a:r>
          </a:p>
        </p:txBody>
      </p:sp>
      <p:sp>
        <p:nvSpPr>
          <p:cNvPr id="3" name="Content Placeholder 2"/>
          <p:cNvSpPr>
            <a:spLocks noGrp="1"/>
          </p:cNvSpPr>
          <p:nvPr>
            <p:ph idx="1"/>
          </p:nvPr>
        </p:nvSpPr>
        <p:spPr>
          <a:xfrm>
            <a:off x="838200" y="1825625"/>
            <a:ext cx="10515600" cy="4351338"/>
          </a:xfrm>
        </p:spPr>
        <p:txBody>
          <a:bodyPr>
            <a:normAutofit/>
          </a:bodyPr>
          <a:lstStyle/>
          <a:p>
            <a:pPr algn="just"/>
            <a:r>
              <a:rPr lang="en-US" sz="2400" dirty="0"/>
              <a:t>Ninety percent of </a:t>
            </a:r>
            <a:r>
              <a:rPr lang="en-US" sz="2400" dirty="0" err="1"/>
              <a:t>organisations</a:t>
            </a:r>
            <a:r>
              <a:rPr lang="en-US" sz="2400" dirty="0"/>
              <a:t> feel vulnerable to insider attacks. </a:t>
            </a:r>
          </a:p>
          <a:p>
            <a:pPr lvl="1" algn="just"/>
            <a:r>
              <a:rPr lang="en-US" sz="2000" dirty="0"/>
              <a:t>The main enabling risk factors include: too many users with excessive access privileges (37%), an increasing number of devices with access to sensitive data (36%), and the increasing complexity of information technology (35%).</a:t>
            </a:r>
          </a:p>
          <a:p>
            <a:pPr algn="just"/>
            <a:r>
              <a:rPr lang="en-US" sz="2400" dirty="0"/>
              <a:t>Fifty-three percent of </a:t>
            </a:r>
            <a:r>
              <a:rPr lang="en-US" sz="2400" dirty="0" err="1"/>
              <a:t>organisations</a:t>
            </a:r>
            <a:r>
              <a:rPr lang="en-US" sz="2400" dirty="0"/>
              <a:t> have confirmed insider attacks against their organization in the previous 12 months. </a:t>
            </a:r>
          </a:p>
          <a:p>
            <a:pPr algn="just"/>
            <a:r>
              <a:rPr lang="en-US" sz="2400" dirty="0" err="1"/>
              <a:t>Organisations</a:t>
            </a:r>
            <a:r>
              <a:rPr lang="en-US" sz="2400" dirty="0"/>
              <a:t> are shifting their focus to detection of insider threats (64%), and the use of user behavior monitoring is accelerating.</a:t>
            </a:r>
          </a:p>
          <a:p>
            <a:pPr algn="just"/>
            <a:r>
              <a:rPr lang="en-US" sz="2400" dirty="0"/>
              <a:t>The vast majority of </a:t>
            </a:r>
            <a:r>
              <a:rPr lang="en-US" sz="2400" dirty="0" err="1"/>
              <a:t>organisations</a:t>
            </a:r>
            <a:r>
              <a:rPr lang="en-US" sz="2400" dirty="0"/>
              <a:t> (86%) already have or are building an insider threat program. </a:t>
            </a:r>
          </a:p>
        </p:txBody>
      </p:sp>
      <p:sp>
        <p:nvSpPr>
          <p:cNvPr id="4" name="Slide Number Placeholder 3"/>
          <p:cNvSpPr>
            <a:spLocks noGrp="1"/>
          </p:cNvSpPr>
          <p:nvPr>
            <p:ph type="sldNum" sz="quarter" idx="12"/>
          </p:nvPr>
        </p:nvSpPr>
        <p:spPr/>
        <p:txBody>
          <a:bodyPr/>
          <a:lstStyle/>
          <a:p>
            <a:fld id="{CA8D9AD5-F248-4919-864A-CFD76CC027D6}" type="slidenum">
              <a:rPr lang="en-AU" smtClean="0"/>
              <a:t>28</a:t>
            </a:fld>
            <a:endParaRPr lang="en-AU"/>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4.1 Insider attacks</a:t>
            </a:r>
          </a:p>
        </p:txBody>
      </p:sp>
      <p:sp>
        <p:nvSpPr>
          <p:cNvPr id="3" name="Content Placeholder 2"/>
          <p:cNvSpPr>
            <a:spLocks noGrp="1"/>
          </p:cNvSpPr>
          <p:nvPr>
            <p:ph idx="1"/>
          </p:nvPr>
        </p:nvSpPr>
        <p:spPr>
          <a:xfrm>
            <a:off x="838200" y="1825625"/>
            <a:ext cx="5854430" cy="4351338"/>
          </a:xfrm>
        </p:spPr>
        <p:txBody>
          <a:bodyPr>
            <a:normAutofit/>
          </a:bodyPr>
          <a:lstStyle/>
          <a:p>
            <a:pPr algn="just"/>
            <a:r>
              <a:rPr lang="en-US" sz="2400" dirty="0"/>
              <a:t>Counter-measures on insider attacks:</a:t>
            </a:r>
          </a:p>
          <a:p>
            <a:pPr lvl="1" algn="just"/>
            <a:r>
              <a:rPr lang="en-US" sz="2000" dirty="0"/>
              <a:t>separation of duties, e.g., limit the privileges of each user, </a:t>
            </a:r>
          </a:p>
          <a:p>
            <a:pPr lvl="1" algn="just"/>
            <a:r>
              <a:rPr lang="en-US" sz="2000" dirty="0"/>
              <a:t>enhancing access management, e.g., at least two users with the same privileges can access sensitive information,</a:t>
            </a:r>
          </a:p>
          <a:p>
            <a:pPr lvl="1" algn="just"/>
            <a:r>
              <a:rPr lang="en-US" sz="2000" dirty="0"/>
              <a:t>job rotation,</a:t>
            </a:r>
          </a:p>
          <a:p>
            <a:pPr lvl="1" algn="just"/>
            <a:r>
              <a:rPr lang="en-US" sz="2000" dirty="0"/>
              <a:t>deployment of insider threat detection techniques, e.g., intrusion detection systems,</a:t>
            </a:r>
          </a:p>
          <a:p>
            <a:pPr lvl="1" algn="just"/>
            <a:r>
              <a:rPr lang="en-US" sz="2000" dirty="0"/>
              <a:t>…</a:t>
            </a:r>
          </a:p>
          <a:p>
            <a:pPr lvl="1" algn="just"/>
            <a:endParaRPr lang="en-US" sz="2000" dirty="0"/>
          </a:p>
          <a:p>
            <a:pPr lvl="1" algn="just"/>
            <a:endParaRPr lang="en-US" sz="2000" dirty="0"/>
          </a:p>
        </p:txBody>
      </p:sp>
      <p:sp>
        <p:nvSpPr>
          <p:cNvPr id="4" name="Slide Number Placeholder 3"/>
          <p:cNvSpPr>
            <a:spLocks noGrp="1"/>
          </p:cNvSpPr>
          <p:nvPr>
            <p:ph type="sldNum" sz="quarter" idx="12"/>
          </p:nvPr>
        </p:nvSpPr>
        <p:spPr/>
        <p:txBody>
          <a:bodyPr/>
          <a:lstStyle/>
          <a:p>
            <a:fld id="{CA8D9AD5-F248-4919-864A-CFD76CC027D6}" type="slidenum">
              <a:rPr lang="en-AU" smtClean="0"/>
              <a:t>29</a:t>
            </a:fld>
            <a:endParaRPr lang="en-AU"/>
          </a:p>
        </p:txBody>
      </p:sp>
      <p:pic>
        <p:nvPicPr>
          <p:cNvPr id="9218" name="Picture 2" descr="Image Source: Adobe Stock (Andrea Danti)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1800" y="2286794"/>
            <a:ext cx="4572000" cy="3429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4.2 Brute force attacks</a:t>
            </a:r>
          </a:p>
        </p:txBody>
      </p:sp>
      <p:sp>
        <p:nvSpPr>
          <p:cNvPr id="3" name="Content Placeholder 2"/>
          <p:cNvSpPr>
            <a:spLocks noGrp="1"/>
          </p:cNvSpPr>
          <p:nvPr>
            <p:ph idx="1"/>
          </p:nvPr>
        </p:nvSpPr>
        <p:spPr>
          <a:xfrm>
            <a:off x="308811" y="1841667"/>
            <a:ext cx="7519737" cy="4351338"/>
          </a:xfrm>
        </p:spPr>
        <p:txBody>
          <a:bodyPr>
            <a:normAutofit/>
          </a:bodyPr>
          <a:lstStyle/>
          <a:p>
            <a:pPr algn="just"/>
            <a:r>
              <a:rPr lang="en-US" sz="2400" dirty="0"/>
              <a:t>A brute force attack is an attempt to crack a password and/or username to access </a:t>
            </a:r>
            <a:r>
              <a:rPr lang="en-US" sz="2400" dirty="0" err="1"/>
              <a:t>authorised</a:t>
            </a:r>
            <a:r>
              <a:rPr lang="en-US" sz="2400" dirty="0"/>
              <a:t> information. </a:t>
            </a:r>
          </a:p>
          <a:p>
            <a:pPr algn="just"/>
            <a:endParaRPr lang="en-US" sz="2400" dirty="0"/>
          </a:p>
          <a:p>
            <a:pPr algn="just"/>
            <a:r>
              <a:rPr lang="en-US" altLang="zh-CN" sz="2400" dirty="0"/>
              <a:t>A brute force attack is typically based on a trial and error approach which is expected to guess correctly eventually.</a:t>
            </a:r>
          </a:p>
          <a:p>
            <a:pPr algn="just"/>
            <a:endParaRPr lang="en-US" sz="2400" dirty="0"/>
          </a:p>
          <a:p>
            <a:pPr algn="just"/>
            <a:r>
              <a:rPr lang="en-US" sz="2400" dirty="0"/>
              <a:t>Brute force attack is an old attack method, but it's still effective and popular with hackers. One of the popular brute force attacks is dictionary attack.</a:t>
            </a:r>
          </a:p>
        </p:txBody>
      </p:sp>
      <p:sp>
        <p:nvSpPr>
          <p:cNvPr id="4" name="Slide Number Placeholder 3"/>
          <p:cNvSpPr>
            <a:spLocks noGrp="1"/>
          </p:cNvSpPr>
          <p:nvPr>
            <p:ph type="sldNum" sz="quarter" idx="12"/>
          </p:nvPr>
        </p:nvSpPr>
        <p:spPr/>
        <p:txBody>
          <a:bodyPr/>
          <a:lstStyle/>
          <a:p>
            <a:fld id="{CA8D9AD5-F248-4919-864A-CFD76CC027D6}" type="slidenum">
              <a:rPr lang="en-AU" smtClean="0"/>
              <a:t>30</a:t>
            </a:fld>
            <a:endParaRPr lang="en-AU"/>
          </a:p>
        </p:txBody>
      </p:sp>
      <p:pic>
        <p:nvPicPr>
          <p:cNvPr id="5" name="Picture 4"/>
          <p:cNvPicPr>
            <a:picLocks noChangeAspect="1"/>
          </p:cNvPicPr>
          <p:nvPr/>
        </p:nvPicPr>
        <p:blipFill>
          <a:blip r:embed="rId3"/>
          <a:stretch>
            <a:fillRect/>
          </a:stretch>
        </p:blipFill>
        <p:spPr>
          <a:xfrm>
            <a:off x="8192861" y="1690688"/>
            <a:ext cx="3514975" cy="351497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4.3 Login spoofing</a:t>
            </a:r>
          </a:p>
        </p:txBody>
      </p:sp>
      <p:sp>
        <p:nvSpPr>
          <p:cNvPr id="3" name="Content Placeholder 2"/>
          <p:cNvSpPr>
            <a:spLocks noGrp="1"/>
          </p:cNvSpPr>
          <p:nvPr>
            <p:ph idx="1"/>
          </p:nvPr>
        </p:nvSpPr>
        <p:spPr>
          <a:xfrm>
            <a:off x="838201" y="1847850"/>
            <a:ext cx="5257800" cy="4351338"/>
          </a:xfrm>
        </p:spPr>
        <p:txBody>
          <a:bodyPr>
            <a:normAutofit/>
          </a:bodyPr>
          <a:lstStyle/>
          <a:p>
            <a:pPr algn="just"/>
            <a:r>
              <a:rPr lang="en-US" sz="2400" dirty="0"/>
              <a:t>Login spoofing is a technique used to steal users’ password. </a:t>
            </a:r>
          </a:p>
          <a:p>
            <a:pPr algn="just"/>
            <a:r>
              <a:rPr lang="en-US" altLang="zh-CN" sz="2400" dirty="0"/>
              <a:t>The user is presented with an ordinary looking login prompt for username and password, which is actually a malicious program under the control of the attacker. </a:t>
            </a:r>
          </a:p>
          <a:p>
            <a:pPr algn="just"/>
            <a:r>
              <a:rPr lang="en-US" altLang="zh-CN" sz="2400" dirty="0"/>
              <a:t>When the username and password are entered, this information is passed along to the attacker.</a:t>
            </a:r>
            <a:endParaRPr lang="en-US" sz="2400" dirty="0"/>
          </a:p>
        </p:txBody>
      </p:sp>
      <p:sp>
        <p:nvSpPr>
          <p:cNvPr id="4" name="Slide Number Placeholder 3"/>
          <p:cNvSpPr>
            <a:spLocks noGrp="1"/>
          </p:cNvSpPr>
          <p:nvPr>
            <p:ph type="sldNum" sz="quarter" idx="12"/>
          </p:nvPr>
        </p:nvSpPr>
        <p:spPr/>
        <p:txBody>
          <a:bodyPr/>
          <a:lstStyle/>
          <a:p>
            <a:fld id="{CA8D9AD5-F248-4919-864A-CFD76CC027D6}" type="slidenum">
              <a:rPr lang="en-AU" smtClean="0"/>
              <a:t>31</a:t>
            </a:fld>
            <a:endParaRPr lang="en-AU"/>
          </a:p>
        </p:txBody>
      </p:sp>
      <p:pic>
        <p:nvPicPr>
          <p:cNvPr id="13320" name="Picture 8" descr="Image result for spoofing at log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9983" y="1847850"/>
            <a:ext cx="5161337" cy="432447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4.3 </a:t>
            </a:r>
            <a:r>
              <a:rPr lang="en-US" altLang="zh-CN" dirty="0"/>
              <a:t>Other</a:t>
            </a:r>
            <a:r>
              <a:rPr lang="en-AU" dirty="0"/>
              <a:t> spoofing examples</a:t>
            </a:r>
          </a:p>
        </p:txBody>
      </p:sp>
      <p:sp>
        <p:nvSpPr>
          <p:cNvPr id="3" name="Content Placeholder 2"/>
          <p:cNvSpPr>
            <a:spLocks noGrp="1"/>
          </p:cNvSpPr>
          <p:nvPr>
            <p:ph idx="1"/>
          </p:nvPr>
        </p:nvSpPr>
        <p:spPr>
          <a:xfrm>
            <a:off x="838200" y="1847850"/>
            <a:ext cx="10515599" cy="4351338"/>
          </a:xfrm>
        </p:spPr>
        <p:txBody>
          <a:bodyPr>
            <a:normAutofit/>
          </a:bodyPr>
          <a:lstStyle/>
          <a:p>
            <a:pPr algn="just"/>
            <a:r>
              <a:rPr lang="en-US" sz="2400" dirty="0"/>
              <a:t>IP spoofing: IP spoofing is to create packets which have a modified source IP address in order to either hide the identity of the sender, to pretend another computer system, or both. </a:t>
            </a:r>
          </a:p>
        </p:txBody>
      </p:sp>
      <p:sp>
        <p:nvSpPr>
          <p:cNvPr id="4" name="Slide Number Placeholder 3"/>
          <p:cNvSpPr>
            <a:spLocks noGrp="1"/>
          </p:cNvSpPr>
          <p:nvPr>
            <p:ph type="sldNum" sz="quarter" idx="12"/>
          </p:nvPr>
        </p:nvSpPr>
        <p:spPr/>
        <p:txBody>
          <a:bodyPr/>
          <a:lstStyle/>
          <a:p>
            <a:fld id="{CA8D9AD5-F248-4919-864A-CFD76CC027D6}" type="slidenum">
              <a:rPr lang="en-AU" smtClean="0"/>
              <a:t>32</a:t>
            </a:fld>
            <a:endParaRPr lang="en-AU"/>
          </a:p>
        </p:txBody>
      </p:sp>
      <p:pic>
        <p:nvPicPr>
          <p:cNvPr id="4098" name="Picture 2" descr="Computers | Free Full-Text | IP Spoofing In and Out of the Public ...">
            <a:extLst>
              <a:ext uri="{FF2B5EF4-FFF2-40B4-BE49-F238E27FC236}">
                <a16:creationId xmlns:a16="http://schemas.microsoft.com/office/drawing/2014/main" id="{CAAF4923-8BA3-4F6E-BCAB-3AC395F49E4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17372" y="2824523"/>
            <a:ext cx="4157254" cy="35318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80506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59661" y="1027948"/>
            <a:ext cx="10515600" cy="2852737"/>
          </a:xfrm>
        </p:spPr>
        <p:txBody>
          <a:bodyPr/>
          <a:lstStyle/>
          <a:p>
            <a:r>
              <a:rPr lang="en-US" dirty="0"/>
              <a:t>5. Encryption for privacy protection</a:t>
            </a:r>
          </a:p>
        </p:txBody>
      </p:sp>
      <p:sp>
        <p:nvSpPr>
          <p:cNvPr id="2" name="Slide Number Placeholder 1"/>
          <p:cNvSpPr>
            <a:spLocks noGrp="1"/>
          </p:cNvSpPr>
          <p:nvPr>
            <p:ph type="sldNum" sz="quarter" idx="12"/>
          </p:nvPr>
        </p:nvSpPr>
        <p:spPr/>
        <p:txBody>
          <a:bodyPr/>
          <a:lstStyle/>
          <a:p>
            <a:fld id="{CA8D9AD5-F248-4919-864A-CFD76CC027D6}" type="slidenum">
              <a:rPr lang="en-AU" smtClean="0"/>
              <a:t>33</a:t>
            </a:fld>
            <a:endParaRPr lang="en-AU"/>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5.1 Encryption</a:t>
            </a:r>
          </a:p>
        </p:txBody>
      </p:sp>
      <p:sp>
        <p:nvSpPr>
          <p:cNvPr id="3" name="Content Placeholder 2"/>
          <p:cNvSpPr>
            <a:spLocks noGrp="1"/>
          </p:cNvSpPr>
          <p:nvPr>
            <p:ph idx="1"/>
          </p:nvPr>
        </p:nvSpPr>
        <p:spPr>
          <a:xfrm>
            <a:off x="838200" y="1847850"/>
            <a:ext cx="10515599" cy="2988845"/>
          </a:xfrm>
        </p:spPr>
        <p:txBody>
          <a:bodyPr>
            <a:normAutofit/>
          </a:bodyPr>
          <a:lstStyle/>
          <a:p>
            <a:pPr algn="just"/>
            <a:r>
              <a:rPr lang="en-US" sz="2400" dirty="0"/>
              <a:t>Encryption is the main stream methods for privacy protection.</a:t>
            </a:r>
          </a:p>
          <a:p>
            <a:pPr algn="just"/>
            <a:endParaRPr lang="en-US" sz="2400" dirty="0"/>
          </a:p>
          <a:p>
            <a:pPr algn="just"/>
            <a:r>
              <a:rPr lang="en-US" sz="2400" dirty="0"/>
              <a:t>Build on rigorous foundations. E.g., number theory, group theory. </a:t>
            </a:r>
          </a:p>
          <a:p>
            <a:pPr algn="just"/>
            <a:endParaRPr lang="en-US" sz="2400" dirty="0"/>
          </a:p>
          <a:p>
            <a:pPr algn="just"/>
            <a:r>
              <a:rPr lang="en-US" sz="2400" dirty="0"/>
              <a:t>Tested by time.</a:t>
            </a:r>
          </a:p>
          <a:p>
            <a:pPr marL="0" indent="0" algn="just">
              <a:buNone/>
            </a:pPr>
            <a:endParaRPr lang="en-US" sz="2400" dirty="0"/>
          </a:p>
        </p:txBody>
      </p:sp>
      <p:sp>
        <p:nvSpPr>
          <p:cNvPr id="4" name="Slide Number Placeholder 3"/>
          <p:cNvSpPr>
            <a:spLocks noGrp="1"/>
          </p:cNvSpPr>
          <p:nvPr>
            <p:ph type="sldNum" sz="quarter" idx="12"/>
          </p:nvPr>
        </p:nvSpPr>
        <p:spPr/>
        <p:txBody>
          <a:bodyPr/>
          <a:lstStyle/>
          <a:p>
            <a:fld id="{CA8D9AD5-F248-4919-864A-CFD76CC027D6}" type="slidenum">
              <a:rPr lang="en-AU" smtClean="0"/>
              <a:t>34</a:t>
            </a:fld>
            <a:endParaRPr lang="en-AU"/>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5.1 Encryption mechanism</a:t>
            </a:r>
          </a:p>
        </p:txBody>
      </p:sp>
      <p:sp>
        <p:nvSpPr>
          <p:cNvPr id="3" name="Content Placeholder 2"/>
          <p:cNvSpPr>
            <a:spLocks noGrp="1"/>
          </p:cNvSpPr>
          <p:nvPr>
            <p:ph idx="1"/>
          </p:nvPr>
        </p:nvSpPr>
        <p:spPr>
          <a:xfrm>
            <a:off x="838200" y="1847850"/>
            <a:ext cx="10515599" cy="2988845"/>
          </a:xfrm>
        </p:spPr>
        <p:txBody>
          <a:bodyPr>
            <a:normAutofit/>
          </a:bodyPr>
          <a:lstStyle/>
          <a:p>
            <a:pPr algn="just"/>
            <a:r>
              <a:rPr lang="en-US" sz="2400" dirty="0"/>
              <a:t>Every information is an integer (mapping information into number domain)</a:t>
            </a:r>
          </a:p>
          <a:p>
            <a:pPr algn="just"/>
            <a:endParaRPr lang="en-US" sz="2400" dirty="0"/>
          </a:p>
          <a:p>
            <a:pPr algn="just"/>
            <a:r>
              <a:rPr lang="en-US" sz="2400" dirty="0"/>
              <a:t>Operations on the original number to obtain the ciphertext </a:t>
            </a:r>
          </a:p>
          <a:p>
            <a:pPr algn="just"/>
            <a:endParaRPr lang="en-US" sz="2400" dirty="0"/>
          </a:p>
          <a:p>
            <a:pPr algn="just"/>
            <a:r>
              <a:rPr lang="en-US" sz="2400" dirty="0"/>
              <a:t>It is easy to decrypt the ciphertext with the key, but very hard to do so without the key</a:t>
            </a:r>
          </a:p>
          <a:p>
            <a:pPr marL="0" indent="0" algn="just">
              <a:buNone/>
            </a:pPr>
            <a:endParaRPr lang="en-US" sz="2400" dirty="0"/>
          </a:p>
        </p:txBody>
      </p:sp>
      <p:sp>
        <p:nvSpPr>
          <p:cNvPr id="4" name="Slide Number Placeholder 3"/>
          <p:cNvSpPr>
            <a:spLocks noGrp="1"/>
          </p:cNvSpPr>
          <p:nvPr>
            <p:ph type="sldNum" sz="quarter" idx="12"/>
          </p:nvPr>
        </p:nvSpPr>
        <p:spPr/>
        <p:txBody>
          <a:bodyPr/>
          <a:lstStyle/>
          <a:p>
            <a:fld id="{CA8D9AD5-F248-4919-864A-CFD76CC027D6}" type="slidenum">
              <a:rPr lang="en-AU" smtClean="0"/>
              <a:t>35</a:t>
            </a:fld>
            <a:endParaRPr lang="en-AU"/>
          </a:p>
        </p:txBody>
      </p:sp>
    </p:spTree>
    <p:extLst>
      <p:ext uri="{BB962C8B-B14F-4D97-AF65-F5344CB8AC3E}">
        <p14:creationId xmlns:p14="http://schemas.microsoft.com/office/powerpoint/2010/main" val="17505967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5.2 Cryptography brief history</a:t>
            </a:r>
          </a:p>
        </p:txBody>
      </p:sp>
      <p:sp>
        <p:nvSpPr>
          <p:cNvPr id="3" name="Content Placeholder 2"/>
          <p:cNvSpPr>
            <a:spLocks noGrp="1"/>
          </p:cNvSpPr>
          <p:nvPr>
            <p:ph idx="1"/>
          </p:nvPr>
        </p:nvSpPr>
        <p:spPr>
          <a:xfrm>
            <a:off x="838200" y="1847850"/>
            <a:ext cx="10515599" cy="2988845"/>
          </a:xfrm>
        </p:spPr>
        <p:txBody>
          <a:bodyPr>
            <a:normAutofit lnSpcReduction="10000"/>
          </a:bodyPr>
          <a:lstStyle/>
          <a:p>
            <a:pPr algn="just"/>
            <a:r>
              <a:rPr lang="en-US" sz="2400" dirty="0"/>
              <a:t>Ancient cryptography (substitution)</a:t>
            </a:r>
          </a:p>
          <a:p>
            <a:pPr algn="just"/>
            <a:r>
              <a:rPr lang="en-US" sz="2400" dirty="0"/>
              <a:t>Modern cryptography (number theory, group theory, …)</a:t>
            </a:r>
          </a:p>
          <a:p>
            <a:pPr algn="just"/>
            <a:r>
              <a:rPr lang="en-US" sz="2400" dirty="0"/>
              <a:t>Multiple party secure computing (e.g., data aggregation in federated learning, millionaire problem, …)</a:t>
            </a:r>
          </a:p>
          <a:p>
            <a:pPr algn="just"/>
            <a:r>
              <a:rPr lang="en-US" sz="2400" dirty="0"/>
              <a:t>Zero knowledge proof</a:t>
            </a:r>
          </a:p>
          <a:p>
            <a:pPr algn="just"/>
            <a:r>
              <a:rPr lang="en-US" sz="2400" dirty="0"/>
              <a:t>Attribute Based Encryption (multiple receivers)</a:t>
            </a:r>
          </a:p>
          <a:p>
            <a:pPr algn="just"/>
            <a:r>
              <a:rPr lang="en-US" sz="2400" dirty="0"/>
              <a:t>Cryptography serves privacy</a:t>
            </a:r>
          </a:p>
          <a:p>
            <a:pPr algn="just"/>
            <a:endParaRPr lang="en-US" sz="2400" dirty="0"/>
          </a:p>
          <a:p>
            <a:pPr marL="0" indent="0" algn="just">
              <a:buNone/>
            </a:pPr>
            <a:endParaRPr lang="en-US" sz="2400" dirty="0"/>
          </a:p>
        </p:txBody>
      </p:sp>
      <p:sp>
        <p:nvSpPr>
          <p:cNvPr id="4" name="Slide Number Placeholder 3"/>
          <p:cNvSpPr>
            <a:spLocks noGrp="1"/>
          </p:cNvSpPr>
          <p:nvPr>
            <p:ph type="sldNum" sz="quarter" idx="12"/>
          </p:nvPr>
        </p:nvSpPr>
        <p:spPr/>
        <p:txBody>
          <a:bodyPr/>
          <a:lstStyle/>
          <a:p>
            <a:fld id="{CA8D9AD5-F248-4919-864A-CFD76CC027D6}" type="slidenum">
              <a:rPr lang="en-AU" smtClean="0"/>
              <a:t>36</a:t>
            </a:fld>
            <a:endParaRPr lang="en-AU"/>
          </a:p>
        </p:txBody>
      </p:sp>
    </p:spTree>
    <p:extLst>
      <p:ext uri="{BB962C8B-B14F-4D97-AF65-F5344CB8AC3E}">
        <p14:creationId xmlns:p14="http://schemas.microsoft.com/office/powerpoint/2010/main" val="6397607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A8D9AD5-F248-4919-864A-CFD76CC027D6}" type="slidenum">
              <a:rPr lang="en-AU" smtClean="0"/>
              <a:t>37</a:t>
            </a:fld>
            <a:endParaRPr lang="en-AU"/>
          </a:p>
        </p:txBody>
      </p:sp>
      <p:pic>
        <p:nvPicPr>
          <p:cNvPr id="1026" name="Picture 2" descr="Image of book page. Click to open preview.">
            <a:extLst>
              <a:ext uri="{FF2B5EF4-FFF2-40B4-BE49-F238E27FC236}">
                <a16:creationId xmlns:a16="http://schemas.microsoft.com/office/drawing/2014/main" id="{2AD02386-B056-4BF2-C627-87BD160BDB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414" y="1602043"/>
            <a:ext cx="2145389" cy="2687382"/>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a:extLst>
              <a:ext uri="{FF2B5EF4-FFF2-40B4-BE49-F238E27FC236}">
                <a16:creationId xmlns:a16="http://schemas.microsoft.com/office/drawing/2014/main" id="{09AA06CC-6D0D-CB6E-FF61-814B99DB7609}"/>
              </a:ext>
            </a:extLst>
          </p:cNvPr>
          <p:cNvSpPr>
            <a:spLocks noGrp="1"/>
          </p:cNvSpPr>
          <p:nvPr>
            <p:ph type="title"/>
          </p:nvPr>
        </p:nvSpPr>
        <p:spPr>
          <a:xfrm>
            <a:off x="838200" y="365125"/>
            <a:ext cx="10515600" cy="1325563"/>
          </a:xfrm>
        </p:spPr>
        <p:txBody>
          <a:bodyPr/>
          <a:lstStyle/>
          <a:p>
            <a:r>
              <a:rPr lang="en-AU" dirty="0"/>
              <a:t>5.3 Many resources for cryptography</a:t>
            </a:r>
          </a:p>
        </p:txBody>
      </p:sp>
      <p:pic>
        <p:nvPicPr>
          <p:cNvPr id="11" name="Picture 10">
            <a:extLst>
              <a:ext uri="{FF2B5EF4-FFF2-40B4-BE49-F238E27FC236}">
                <a16:creationId xmlns:a16="http://schemas.microsoft.com/office/drawing/2014/main" id="{F184ABDC-8977-42EF-C6FF-BA7B8DEC223E}"/>
              </a:ext>
            </a:extLst>
          </p:cNvPr>
          <p:cNvPicPr>
            <a:picLocks noChangeAspect="1"/>
          </p:cNvPicPr>
          <p:nvPr/>
        </p:nvPicPr>
        <p:blipFill>
          <a:blip r:embed="rId4"/>
          <a:stretch>
            <a:fillRect/>
          </a:stretch>
        </p:blipFill>
        <p:spPr>
          <a:xfrm>
            <a:off x="3270028" y="1619250"/>
            <a:ext cx="2077919" cy="2670175"/>
          </a:xfrm>
          <a:prstGeom prst="rect">
            <a:avLst/>
          </a:prstGeom>
        </p:spPr>
      </p:pic>
      <p:pic>
        <p:nvPicPr>
          <p:cNvPr id="15" name="Picture 14">
            <a:extLst>
              <a:ext uri="{FF2B5EF4-FFF2-40B4-BE49-F238E27FC236}">
                <a16:creationId xmlns:a16="http://schemas.microsoft.com/office/drawing/2014/main" id="{BEFF65E1-A659-548E-85A4-4B7693C64769}"/>
              </a:ext>
            </a:extLst>
          </p:cNvPr>
          <p:cNvPicPr>
            <a:picLocks noChangeAspect="1"/>
          </p:cNvPicPr>
          <p:nvPr/>
        </p:nvPicPr>
        <p:blipFill>
          <a:blip r:embed="rId5"/>
          <a:stretch>
            <a:fillRect/>
          </a:stretch>
        </p:blipFill>
        <p:spPr>
          <a:xfrm>
            <a:off x="8232684" y="1619250"/>
            <a:ext cx="2405063" cy="3705225"/>
          </a:xfrm>
          <a:prstGeom prst="rect">
            <a:avLst/>
          </a:prstGeom>
        </p:spPr>
      </p:pic>
      <p:sp>
        <p:nvSpPr>
          <p:cNvPr id="17" name="TextBox 16">
            <a:extLst>
              <a:ext uri="{FF2B5EF4-FFF2-40B4-BE49-F238E27FC236}">
                <a16:creationId xmlns:a16="http://schemas.microsoft.com/office/drawing/2014/main" id="{E0DD8B72-1CAD-B674-5734-A248A246A7CD}"/>
              </a:ext>
            </a:extLst>
          </p:cNvPr>
          <p:cNvSpPr txBox="1"/>
          <p:nvPr/>
        </p:nvSpPr>
        <p:spPr>
          <a:xfrm>
            <a:off x="8610600" y="5471080"/>
            <a:ext cx="2137610" cy="369332"/>
          </a:xfrm>
          <a:prstGeom prst="rect">
            <a:avLst/>
          </a:prstGeom>
          <a:noFill/>
        </p:spPr>
        <p:txBody>
          <a:bodyPr wrap="square">
            <a:spAutoFit/>
          </a:bodyPr>
          <a:lstStyle/>
          <a:p>
            <a:pPr algn="just"/>
            <a:r>
              <a:rPr lang="en-US" dirty="0"/>
              <a:t>Classic Textbook</a:t>
            </a:r>
            <a:endParaRPr lang="en-US" sz="1800" dirty="0"/>
          </a:p>
        </p:txBody>
      </p:sp>
    </p:spTree>
    <p:extLst>
      <p:ext uri="{BB962C8B-B14F-4D97-AF65-F5344CB8AC3E}">
        <p14:creationId xmlns:p14="http://schemas.microsoft.com/office/powerpoint/2010/main" val="40713284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2ACE0-EBFD-58CD-95A5-889A4A507B3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0FD14D2-BF04-2297-7819-7B77B67B3964}"/>
              </a:ext>
            </a:extLst>
          </p:cNvPr>
          <p:cNvSpPr>
            <a:spLocks noGrp="1"/>
          </p:cNvSpPr>
          <p:nvPr>
            <p:ph type="title"/>
          </p:nvPr>
        </p:nvSpPr>
        <p:spPr>
          <a:xfrm>
            <a:off x="759661" y="1027948"/>
            <a:ext cx="10515600" cy="2852737"/>
          </a:xfrm>
        </p:spPr>
        <p:txBody>
          <a:bodyPr/>
          <a:lstStyle/>
          <a:p>
            <a:r>
              <a:rPr lang="en-US" dirty="0"/>
              <a:t>6. Large Language Models (LLM)</a:t>
            </a:r>
          </a:p>
        </p:txBody>
      </p:sp>
      <p:sp>
        <p:nvSpPr>
          <p:cNvPr id="2" name="Slide Number Placeholder 1">
            <a:extLst>
              <a:ext uri="{FF2B5EF4-FFF2-40B4-BE49-F238E27FC236}">
                <a16:creationId xmlns:a16="http://schemas.microsoft.com/office/drawing/2014/main" id="{410687B0-2170-8FA0-FB67-95660CD1D60D}"/>
              </a:ext>
            </a:extLst>
          </p:cNvPr>
          <p:cNvSpPr>
            <a:spLocks noGrp="1"/>
          </p:cNvSpPr>
          <p:nvPr>
            <p:ph type="sldNum" sz="quarter" idx="12"/>
          </p:nvPr>
        </p:nvSpPr>
        <p:spPr/>
        <p:txBody>
          <a:bodyPr/>
          <a:lstStyle/>
          <a:p>
            <a:fld id="{CA8D9AD5-F248-4919-864A-CFD76CC027D6}" type="slidenum">
              <a:rPr lang="en-AU" smtClean="0"/>
              <a:t>38</a:t>
            </a:fld>
            <a:endParaRPr lang="en-AU"/>
          </a:p>
        </p:txBody>
      </p:sp>
    </p:spTree>
    <p:extLst>
      <p:ext uri="{BB962C8B-B14F-4D97-AF65-F5344CB8AC3E}">
        <p14:creationId xmlns:p14="http://schemas.microsoft.com/office/powerpoint/2010/main" val="41002747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77D27-AC86-806A-8F42-02E1432631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92E535-3F3D-3CDE-6E33-2C28934B53DC}"/>
              </a:ext>
            </a:extLst>
          </p:cNvPr>
          <p:cNvSpPr>
            <a:spLocks noGrp="1"/>
          </p:cNvSpPr>
          <p:nvPr>
            <p:ph type="title"/>
          </p:nvPr>
        </p:nvSpPr>
        <p:spPr/>
        <p:txBody>
          <a:bodyPr/>
          <a:lstStyle/>
          <a:p>
            <a:r>
              <a:rPr lang="en-US" dirty="0"/>
              <a:t>Security &amp; privacy of LLM</a:t>
            </a:r>
          </a:p>
        </p:txBody>
      </p:sp>
      <p:sp>
        <p:nvSpPr>
          <p:cNvPr id="3" name="Content Placeholder 2">
            <a:extLst>
              <a:ext uri="{FF2B5EF4-FFF2-40B4-BE49-F238E27FC236}">
                <a16:creationId xmlns:a16="http://schemas.microsoft.com/office/drawing/2014/main" id="{B79ED414-BDFD-83BD-FDAC-BA74DA84DC6B}"/>
              </a:ext>
            </a:extLst>
          </p:cNvPr>
          <p:cNvSpPr>
            <a:spLocks noGrp="1"/>
          </p:cNvSpPr>
          <p:nvPr>
            <p:ph idx="1"/>
          </p:nvPr>
        </p:nvSpPr>
        <p:spPr/>
        <p:txBody>
          <a:bodyPr>
            <a:normAutofit/>
          </a:bodyPr>
          <a:lstStyle/>
          <a:p>
            <a:r>
              <a:rPr lang="en-AU" dirty="0"/>
              <a:t>Large Language Model</a:t>
            </a:r>
          </a:p>
          <a:p>
            <a:r>
              <a:rPr lang="en-US" dirty="0"/>
              <a:t>Language, language + image, …</a:t>
            </a:r>
            <a:endParaRPr lang="en-AU" dirty="0"/>
          </a:p>
          <a:p>
            <a:pPr marL="0" indent="0">
              <a:buNone/>
            </a:pPr>
            <a:endParaRPr lang="en-US" dirty="0"/>
          </a:p>
          <a:p>
            <a:r>
              <a:rPr lang="en-US" dirty="0"/>
              <a:t>Problems of LLM</a:t>
            </a:r>
          </a:p>
          <a:p>
            <a:pPr marL="0" indent="0">
              <a:buNone/>
            </a:pPr>
            <a:r>
              <a:rPr lang="en-US" dirty="0"/>
              <a:t>-   black-box (lack of explanation) </a:t>
            </a:r>
          </a:p>
          <a:p>
            <a:pPr marL="380990" indent="-380990">
              <a:buFontTx/>
              <a:buChar char="-"/>
            </a:pPr>
            <a:r>
              <a:rPr lang="en-US" dirty="0"/>
              <a:t>Hallucination (technical problem?)</a:t>
            </a:r>
          </a:p>
          <a:p>
            <a:pPr marL="380990" indent="-380990">
              <a:buFontTx/>
              <a:buChar char="-"/>
            </a:pPr>
            <a:r>
              <a:rPr lang="en-US" dirty="0"/>
              <a:t>Generate illegal content</a:t>
            </a:r>
          </a:p>
          <a:p>
            <a:pPr marL="380990" indent="-380990">
              <a:buFontTx/>
              <a:buChar char="-"/>
            </a:pPr>
            <a:r>
              <a:rPr lang="en-US" dirty="0"/>
              <a:t>…</a:t>
            </a:r>
            <a:endParaRPr lang="en-AU" dirty="0"/>
          </a:p>
          <a:p>
            <a:pPr lvl="1"/>
            <a:endParaRPr lang="en-US" dirty="0"/>
          </a:p>
        </p:txBody>
      </p:sp>
      <p:sp>
        <p:nvSpPr>
          <p:cNvPr id="4" name="Slide Number Placeholder 3">
            <a:extLst>
              <a:ext uri="{FF2B5EF4-FFF2-40B4-BE49-F238E27FC236}">
                <a16:creationId xmlns:a16="http://schemas.microsoft.com/office/drawing/2014/main" id="{8D48883F-FFD7-FD37-90FB-D9AC0FFD404A}"/>
              </a:ext>
            </a:extLst>
          </p:cNvPr>
          <p:cNvSpPr>
            <a:spLocks noGrp="1"/>
          </p:cNvSpPr>
          <p:nvPr>
            <p:ph type="sldNum" sz="quarter" idx="12"/>
          </p:nvPr>
        </p:nvSpPr>
        <p:spPr>
          <a:xfrm>
            <a:off x="11480800" y="8475133"/>
            <a:ext cx="3657600" cy="486833"/>
          </a:xfrm>
          <a:prstGeom prst="rect">
            <a:avLst/>
          </a:prstGeom>
        </p:spPr>
        <p:txBody>
          <a:bodyPr vert="horz" lIns="121920" tIns="60960" rIns="121920" bIns="60960" rtlCol="0" anchor="ctr"/>
          <a:lstStyle>
            <a:defPPr>
              <a:defRPr lang="en-US"/>
            </a:defPPr>
            <a:lvl1pPr marL="0" algn="r" defTabSz="1219170" rtl="0" eaLnBrk="1" latinLnBrk="0" hangingPunct="1">
              <a:defRPr sz="1600" kern="1200">
                <a:solidFill>
                  <a:schemeClr val="tx1">
                    <a:tint val="75000"/>
                  </a:schemeClr>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fld id="{CA8D9AD5-F248-4919-864A-CFD76CC027D6}" type="slidenum">
              <a:rPr lang="en-AU" smtClean="0"/>
              <a:pPr/>
              <a:t>39</a:t>
            </a:fld>
            <a:endParaRPr lang="en-AU"/>
          </a:p>
        </p:txBody>
      </p:sp>
    </p:spTree>
    <p:extLst>
      <p:ext uri="{BB962C8B-B14F-4D97-AF65-F5344CB8AC3E}">
        <p14:creationId xmlns:p14="http://schemas.microsoft.com/office/powerpoint/2010/main" val="2281210403"/>
      </p:ext>
    </p:extLst>
  </p:cSld>
  <p:clrMapOvr>
    <a:masterClrMapping/>
  </p:clrMapOvr>
  <mc:AlternateContent xmlns:mc="http://schemas.openxmlformats.org/markup-compatibility/2006" xmlns:p14="http://schemas.microsoft.com/office/powerpoint/2010/main">
    <mc:Choice Requires="p14">
      <p:transition p14:dur="0" advTm="54419"/>
    </mc:Choice>
    <mc:Fallback xmlns="">
      <p:transition advTm="54419"/>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DAB3B-DFBB-2936-DF2D-4E2AC2CC13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EB2115-5257-E48A-E9F6-646233112397}"/>
              </a:ext>
            </a:extLst>
          </p:cNvPr>
          <p:cNvSpPr>
            <a:spLocks noGrp="1"/>
          </p:cNvSpPr>
          <p:nvPr>
            <p:ph type="title"/>
          </p:nvPr>
        </p:nvSpPr>
        <p:spPr/>
        <p:txBody>
          <a:bodyPr/>
          <a:lstStyle/>
          <a:p>
            <a:r>
              <a:rPr lang="en-US" dirty="0"/>
              <a:t>Security &amp; privacy of LLM</a:t>
            </a:r>
          </a:p>
        </p:txBody>
      </p:sp>
      <p:sp>
        <p:nvSpPr>
          <p:cNvPr id="3" name="Content Placeholder 2">
            <a:extLst>
              <a:ext uri="{FF2B5EF4-FFF2-40B4-BE49-F238E27FC236}">
                <a16:creationId xmlns:a16="http://schemas.microsoft.com/office/drawing/2014/main" id="{A95006B1-A07B-FE29-A777-3599EC139409}"/>
              </a:ext>
            </a:extLst>
          </p:cNvPr>
          <p:cNvSpPr>
            <a:spLocks noGrp="1"/>
          </p:cNvSpPr>
          <p:nvPr>
            <p:ph idx="1"/>
          </p:nvPr>
        </p:nvSpPr>
        <p:spPr>
          <a:xfrm>
            <a:off x="889001" y="1725085"/>
            <a:ext cx="5826431" cy="3307359"/>
          </a:xfrm>
        </p:spPr>
        <p:txBody>
          <a:bodyPr>
            <a:normAutofit fontScale="92500" lnSpcReduction="10000"/>
          </a:bodyPr>
          <a:lstStyle/>
          <a:p>
            <a:r>
              <a:rPr lang="en-AU" dirty="0"/>
              <a:t>Causes of the problems of LLM</a:t>
            </a:r>
          </a:p>
          <a:p>
            <a:pPr marL="380990" indent="-380990">
              <a:buFontTx/>
              <a:buChar char="-"/>
            </a:pPr>
            <a:r>
              <a:rPr lang="en-US" dirty="0"/>
              <a:t>AI generated datasets as input (the percentage increases, ~3%)</a:t>
            </a:r>
          </a:p>
          <a:p>
            <a:pPr marL="380990" indent="-380990">
              <a:buFontTx/>
              <a:buChar char="-"/>
            </a:pPr>
            <a:r>
              <a:rPr lang="en-US" dirty="0"/>
              <a:t>LLMs are statistical models</a:t>
            </a:r>
          </a:p>
          <a:p>
            <a:pPr marL="380990" indent="-380990">
              <a:buFontTx/>
              <a:buChar char="-"/>
            </a:pPr>
            <a:r>
              <a:rPr lang="en-US" dirty="0"/>
              <a:t>Attention calculation is linear based (the problem is the real LLM </a:t>
            </a:r>
            <a:r>
              <a:rPr lang="en-US"/>
              <a:t>is linear??)</a:t>
            </a:r>
            <a:endParaRPr lang="en-AU" dirty="0"/>
          </a:p>
          <a:p>
            <a:pPr marL="0" indent="0">
              <a:buNone/>
            </a:pPr>
            <a:r>
              <a:rPr lang="en-US" dirty="0"/>
              <a:t> </a:t>
            </a:r>
          </a:p>
          <a:p>
            <a:pPr lvl="1"/>
            <a:endParaRPr lang="en-US" dirty="0"/>
          </a:p>
        </p:txBody>
      </p:sp>
      <p:sp>
        <p:nvSpPr>
          <p:cNvPr id="4" name="Slide Number Placeholder 3">
            <a:extLst>
              <a:ext uri="{FF2B5EF4-FFF2-40B4-BE49-F238E27FC236}">
                <a16:creationId xmlns:a16="http://schemas.microsoft.com/office/drawing/2014/main" id="{8BF50045-369F-67A0-18C7-FFDF656A8DBC}"/>
              </a:ext>
            </a:extLst>
          </p:cNvPr>
          <p:cNvSpPr>
            <a:spLocks noGrp="1"/>
          </p:cNvSpPr>
          <p:nvPr>
            <p:ph type="sldNum" sz="quarter" idx="12"/>
          </p:nvPr>
        </p:nvSpPr>
        <p:spPr>
          <a:xfrm>
            <a:off x="11480800" y="8475133"/>
            <a:ext cx="3657600" cy="486833"/>
          </a:xfrm>
          <a:prstGeom prst="rect">
            <a:avLst/>
          </a:prstGeom>
        </p:spPr>
        <p:txBody>
          <a:bodyPr vert="horz" lIns="121920" tIns="60960" rIns="121920" bIns="60960" rtlCol="0" anchor="ctr"/>
          <a:lstStyle>
            <a:defPPr>
              <a:defRPr lang="en-US"/>
            </a:defPPr>
            <a:lvl1pPr marL="0" algn="r" defTabSz="1219170" rtl="0" eaLnBrk="1" latinLnBrk="0" hangingPunct="1">
              <a:defRPr sz="1600" kern="1200">
                <a:solidFill>
                  <a:schemeClr val="tx1">
                    <a:tint val="75000"/>
                  </a:schemeClr>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fld id="{CA8D9AD5-F248-4919-864A-CFD76CC027D6}" type="slidenum">
              <a:rPr lang="en-AU" smtClean="0"/>
              <a:pPr/>
              <a:t>40</a:t>
            </a:fld>
            <a:endParaRPr lang="en-AU"/>
          </a:p>
        </p:txBody>
      </p:sp>
      <p:pic>
        <p:nvPicPr>
          <p:cNvPr id="6" name="Picture 5">
            <a:extLst>
              <a:ext uri="{FF2B5EF4-FFF2-40B4-BE49-F238E27FC236}">
                <a16:creationId xmlns:a16="http://schemas.microsoft.com/office/drawing/2014/main" id="{4D0DF418-E7A5-6C71-E9B0-A311E3410C71}"/>
              </a:ext>
            </a:extLst>
          </p:cNvPr>
          <p:cNvPicPr>
            <a:picLocks noChangeAspect="1"/>
          </p:cNvPicPr>
          <p:nvPr/>
        </p:nvPicPr>
        <p:blipFill>
          <a:blip r:embed="rId2"/>
          <a:stretch>
            <a:fillRect/>
          </a:stretch>
        </p:blipFill>
        <p:spPr>
          <a:xfrm>
            <a:off x="7138277" y="2104103"/>
            <a:ext cx="4610597" cy="3292627"/>
          </a:xfrm>
          <a:prstGeom prst="rect">
            <a:avLst/>
          </a:prstGeom>
        </p:spPr>
      </p:pic>
    </p:spTree>
    <p:extLst>
      <p:ext uri="{BB962C8B-B14F-4D97-AF65-F5344CB8AC3E}">
        <p14:creationId xmlns:p14="http://schemas.microsoft.com/office/powerpoint/2010/main" val="3726004292"/>
      </p:ext>
    </p:extLst>
  </p:cSld>
  <p:clrMapOvr>
    <a:masterClrMapping/>
  </p:clrMapOvr>
  <mc:AlternateContent xmlns:mc="http://schemas.openxmlformats.org/markup-compatibility/2006" xmlns:p14="http://schemas.microsoft.com/office/powerpoint/2010/main">
    <mc:Choice Requires="p14">
      <p:transition p14:dur="0" advTm="54419"/>
    </mc:Choice>
    <mc:Fallback xmlns="">
      <p:transition advTm="54419"/>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8E04D60-A456-7B74-ACE3-BBCD2BE92A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2153F9-7E6B-49C4-B7EA-75CC2B8CAD67}"/>
              </a:ext>
            </a:extLst>
          </p:cNvPr>
          <p:cNvSpPr txBox="1">
            <a:spLocks/>
          </p:cNvSpPr>
          <p:nvPr/>
        </p:nvSpPr>
        <p:spPr>
          <a:xfrm>
            <a:off x="2003162" y="639193"/>
            <a:ext cx="3309067" cy="3573516"/>
          </a:xfrm>
          <a:prstGeom prst="rect">
            <a:avLst/>
          </a:prstGeom>
        </p:spPr>
        <p:txBody>
          <a:bodyPr vert="horz" lIns="45720" tIns="22860" rIns="45720" bIns="22860" rtlCol="0" anchor="b" anchorCtr="0">
            <a:normAutofit/>
          </a:bodyPr>
          <a:lstStyle>
            <a:lvl1pPr marL="0" indent="0" algn="l" defTabSz="1828709" rtl="0" eaLnBrk="1" latinLnBrk="0" hangingPunct="1">
              <a:lnSpc>
                <a:spcPts val="6600"/>
              </a:lnSpc>
              <a:spcBef>
                <a:spcPct val="0"/>
              </a:spcBef>
              <a:buNone/>
              <a:tabLst>
                <a:tab pos="2524125" algn="l"/>
                <a:tab pos="3730625" algn="l"/>
              </a:tabLst>
              <a:defRPr sz="6000" kern="1200">
                <a:solidFill>
                  <a:schemeClr val="accent1"/>
                </a:solidFill>
                <a:latin typeface="+mj-lt"/>
                <a:ea typeface="+mj-ea"/>
                <a:cs typeface="+mj-cs"/>
              </a:defRPr>
            </a:lvl1pPr>
          </a:lstStyle>
          <a:p>
            <a:pPr defTabSz="457200">
              <a:lnSpc>
                <a:spcPct val="90000"/>
              </a:lnSpc>
              <a:spcAft>
                <a:spcPts val="300"/>
              </a:spcAft>
            </a:pPr>
            <a:r>
              <a:rPr lang="en-US" altLang="en-US" sz="2300" dirty="0">
                <a:solidFill>
                  <a:schemeClr val="tx1"/>
                </a:solidFill>
              </a:rPr>
              <a:t>                 Thank you </a:t>
            </a:r>
            <a:br>
              <a:rPr lang="en-US" altLang="en-US" sz="2300" dirty="0">
                <a:solidFill>
                  <a:schemeClr val="tx1"/>
                </a:solidFill>
              </a:rPr>
            </a:br>
            <a:r>
              <a:rPr lang="en-US" altLang="en-US" sz="2300" dirty="0">
                <a:solidFill>
                  <a:schemeClr val="tx1"/>
                </a:solidFill>
              </a:rPr>
              <a:t>                        &amp;</a:t>
            </a:r>
            <a:br>
              <a:rPr lang="en-US" altLang="en-US" sz="2300" dirty="0">
                <a:solidFill>
                  <a:schemeClr val="tx1"/>
                </a:solidFill>
              </a:rPr>
            </a:br>
            <a:r>
              <a:rPr lang="en-US" altLang="en-US" sz="2300" dirty="0">
                <a:solidFill>
                  <a:schemeClr val="tx1"/>
                </a:solidFill>
              </a:rPr>
              <a:t>                Questions</a:t>
            </a:r>
            <a:br>
              <a:rPr lang="en-US" altLang="en-US" sz="2300" dirty="0">
                <a:solidFill>
                  <a:schemeClr val="tx1"/>
                </a:solidFill>
              </a:rPr>
            </a:br>
            <a:br>
              <a:rPr lang="en-US" altLang="en-US" sz="2300" dirty="0">
                <a:solidFill>
                  <a:schemeClr val="tx1"/>
                </a:solidFill>
              </a:rPr>
            </a:br>
            <a:br>
              <a:rPr lang="en-US" altLang="en-US" sz="2300" dirty="0">
                <a:solidFill>
                  <a:schemeClr val="tx1"/>
                </a:solidFill>
              </a:rPr>
            </a:br>
            <a:r>
              <a:rPr lang="en-US" altLang="en-US" sz="2300" dirty="0">
                <a:solidFill>
                  <a:schemeClr val="tx1"/>
                </a:solidFill>
              </a:rPr>
              <a:t>http://www.uts.edu.au/syu</a:t>
            </a:r>
            <a:br>
              <a:rPr lang="en-US" altLang="en-US" sz="2300" dirty="0">
                <a:solidFill>
                  <a:schemeClr val="tx1"/>
                </a:solidFill>
              </a:rPr>
            </a:br>
            <a:r>
              <a:rPr lang="en-US" altLang="en-US" sz="2300" dirty="0">
                <a:solidFill>
                  <a:schemeClr val="tx1"/>
                </a:solidFill>
              </a:rPr>
              <a:t>email: shui.yu@uts.edu.au</a:t>
            </a:r>
          </a:p>
        </p:txBody>
      </p:sp>
      <p:pic>
        <p:nvPicPr>
          <p:cNvPr id="3" name="Picture 5" descr="monet paintings">
            <a:hlinkClick r:id="rId3"/>
            <a:extLst>
              <a:ext uri="{FF2B5EF4-FFF2-40B4-BE49-F238E27FC236}">
                <a16:creationId xmlns:a16="http://schemas.microsoft.com/office/drawing/2014/main" id="{04CEFA23-B0D5-0CB8-CC59-D3222A73794A}"/>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5327973" y="1631364"/>
            <a:ext cx="5097711" cy="380143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09299567"/>
      </p:ext>
    </p:extLst>
  </p:cSld>
  <p:clrMapOvr>
    <a:masterClrMapping/>
  </p:clrMapOvr>
  <p:transition spd="slow">
    <p:wipe/>
  </p:transition>
</p:sld>
</file>

<file path=ppt/theme/theme1.xml><?xml version="1.0" encoding="utf-8"?>
<a:theme xmlns:a="http://schemas.openxmlformats.org/drawingml/2006/main" name="CSP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Banded_Design_Teal">
      <a:dk1>
        <a:srgbClr val="363D3D"/>
      </a:dk1>
      <a:lt1>
        <a:sysClr val="window" lastClr="FFFFFF"/>
      </a:lt1>
      <a:dk2>
        <a:srgbClr val="000000"/>
      </a:dk2>
      <a:lt2>
        <a:srgbClr val="E5E8E8"/>
      </a:lt2>
      <a:accent1>
        <a:srgbClr val="3AAFB2"/>
      </a:accent1>
      <a:accent2>
        <a:srgbClr val="6ABD45"/>
      </a:accent2>
      <a:accent3>
        <a:srgbClr val="EBCA21"/>
      </a:accent3>
      <a:accent4>
        <a:srgbClr val="EB8D21"/>
      </a:accent4>
      <a:accent5>
        <a:srgbClr val="EB5638"/>
      </a:accent5>
      <a:accent6>
        <a:srgbClr val="5172B1"/>
      </a:accent6>
      <a:hlink>
        <a:srgbClr val="3A9CDB"/>
      </a:hlink>
      <a:folHlink>
        <a:srgbClr val="5172B1"/>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anded_Design_Teal">
      <a:dk1>
        <a:srgbClr val="363D3D"/>
      </a:dk1>
      <a:lt1>
        <a:sysClr val="window" lastClr="FFFFFF"/>
      </a:lt1>
      <a:dk2>
        <a:srgbClr val="000000"/>
      </a:dk2>
      <a:lt2>
        <a:srgbClr val="E5E8E8"/>
      </a:lt2>
      <a:accent1>
        <a:srgbClr val="3AAFB2"/>
      </a:accent1>
      <a:accent2>
        <a:srgbClr val="6ABD45"/>
      </a:accent2>
      <a:accent3>
        <a:srgbClr val="EBCA21"/>
      </a:accent3>
      <a:accent4>
        <a:srgbClr val="EB8D21"/>
      </a:accent4>
      <a:accent5>
        <a:srgbClr val="EB5638"/>
      </a:accent5>
      <a:accent6>
        <a:srgbClr val="5172B1"/>
      </a:accent6>
      <a:hlink>
        <a:srgbClr val="3A9CDB"/>
      </a:hlink>
      <a:folHlink>
        <a:srgbClr val="5172B1"/>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CSPtemplate</Template>
  <TotalTime>2819</TotalTime>
  <Words>2872</Words>
  <Application>Microsoft Office PowerPoint</Application>
  <PresentationFormat>Widescreen</PresentationFormat>
  <Paragraphs>369</Paragraphs>
  <Slides>41</Slides>
  <Notes>31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.AppleSystemUIFont</vt:lpstr>
      <vt:lpstr>Arial</vt:lpstr>
      <vt:lpstr>Calibri</vt:lpstr>
      <vt:lpstr>Calibri Light</vt:lpstr>
      <vt:lpstr>Cambria Math</vt:lpstr>
      <vt:lpstr>CSPtemplate</vt:lpstr>
      <vt:lpstr>41183 PRIVACY PRESERVING</vt:lpstr>
      <vt:lpstr>outline</vt:lpstr>
      <vt:lpstr>1. Background of access control</vt:lpstr>
      <vt:lpstr>1.1 What is access control</vt:lpstr>
      <vt:lpstr>Traditional Privacy vs. Today’s Public Sharing</vt:lpstr>
      <vt:lpstr>1.1 What is access control</vt:lpstr>
      <vt:lpstr>1.1 What is access control</vt:lpstr>
      <vt:lpstr>1.2 Why do we need access control</vt:lpstr>
      <vt:lpstr>1.2 Why do we need access control</vt:lpstr>
      <vt:lpstr>2. Authentication</vt:lpstr>
      <vt:lpstr>2.1 Password authentication</vt:lpstr>
      <vt:lpstr>2.2 Token authentication</vt:lpstr>
      <vt:lpstr>2.2 Biometric authentication</vt:lpstr>
      <vt:lpstr>2.2 Comparison of the three authentication methods</vt:lpstr>
      <vt:lpstr>3. Access control models</vt:lpstr>
      <vt:lpstr>3.1 Mandatory access control</vt:lpstr>
      <vt:lpstr>3.1 Mandatory access control</vt:lpstr>
      <vt:lpstr>3.1 Mandatory access control</vt:lpstr>
      <vt:lpstr>3.1 Mandatory access control</vt:lpstr>
      <vt:lpstr>3.2 Discretionary access control</vt:lpstr>
      <vt:lpstr>3.2 Discretionary access control</vt:lpstr>
      <vt:lpstr>3.2 Discretionary access control</vt:lpstr>
      <vt:lpstr>3.2 Discretionary access control</vt:lpstr>
      <vt:lpstr>3.3 Role-based access control</vt:lpstr>
      <vt:lpstr>3.3 Role-based access control</vt:lpstr>
      <vt:lpstr>4. Threats to access control</vt:lpstr>
      <vt:lpstr>4.1 Insider attacks</vt:lpstr>
      <vt:lpstr>4.1 Insider attacks</vt:lpstr>
      <vt:lpstr>4.1 Insider attacks</vt:lpstr>
      <vt:lpstr>4.2 Brute force attacks</vt:lpstr>
      <vt:lpstr>4.3 Login spoofing</vt:lpstr>
      <vt:lpstr>4.3 Other spoofing examples</vt:lpstr>
      <vt:lpstr>5. Encryption for privacy protection</vt:lpstr>
      <vt:lpstr>5.1 Encryption</vt:lpstr>
      <vt:lpstr>5.1 Encryption mechanism</vt:lpstr>
      <vt:lpstr>5.2 Cryptography brief history</vt:lpstr>
      <vt:lpstr>5.3 Many resources for cryptography</vt:lpstr>
      <vt:lpstr>6. Large Language Models (LLM)</vt:lpstr>
      <vt:lpstr>Security &amp; privacy of LLM</vt:lpstr>
      <vt:lpstr>Security &amp; privacy of LLM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Differential privacy and its Applications</dc:title>
  <dc:creator>tianqing zhu</dc:creator>
  <cp:lastModifiedBy>Shui Yu</cp:lastModifiedBy>
  <cp:revision>369</cp:revision>
  <dcterms:created xsi:type="dcterms:W3CDTF">2017-06-08T01:46:00Z</dcterms:created>
  <dcterms:modified xsi:type="dcterms:W3CDTF">2026-07-31T00:54:10Z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0x010100AA3F7D94069FF64A86F7DFF56D60E3BE</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y fmtid="{D5CDD505-2E9C-101B-9397-08002B2CF9AE}" pid="8" name="KSOProductBuildVer">
    <vt:lpwstr>2052-11.1.0.9584</vt:lpwstr>
  </property>
  <property fmtid="{D5CDD505-2E9C-101B-9397-08002B2CF9AE}" pid="9" name="MSIP_Label_51a6c3db-1667-4f49-995a-8b9973972958_Enabled">
    <vt:lpwstr>true</vt:lpwstr>
  </property>
  <property fmtid="{D5CDD505-2E9C-101B-9397-08002B2CF9AE}" pid="10" name="MSIP_Label_51a6c3db-1667-4f49-995a-8b9973972958_SetDate">
    <vt:lpwstr>2022-08-10T06:20:33Z</vt:lpwstr>
  </property>
  <property fmtid="{D5CDD505-2E9C-101B-9397-08002B2CF9AE}" pid="11" name="MSIP_Label_51a6c3db-1667-4f49-995a-8b9973972958_Method">
    <vt:lpwstr>Standard</vt:lpwstr>
  </property>
  <property fmtid="{D5CDD505-2E9C-101B-9397-08002B2CF9AE}" pid="12" name="MSIP_Label_51a6c3db-1667-4f49-995a-8b9973972958_Name">
    <vt:lpwstr>UTS-Internal</vt:lpwstr>
  </property>
  <property fmtid="{D5CDD505-2E9C-101B-9397-08002B2CF9AE}" pid="13" name="MSIP_Label_51a6c3db-1667-4f49-995a-8b9973972958_SiteId">
    <vt:lpwstr>e8911c26-cf9f-4a9c-878e-527807be8791</vt:lpwstr>
  </property>
  <property fmtid="{D5CDD505-2E9C-101B-9397-08002B2CF9AE}" pid="14" name="MSIP_Label_51a6c3db-1667-4f49-995a-8b9973972958_ActionId">
    <vt:lpwstr>be9152f3-cb84-46de-9fb8-c8a02af3e26a</vt:lpwstr>
  </property>
  <property fmtid="{D5CDD505-2E9C-101B-9397-08002B2CF9AE}" pid="15" name="MSIP_Label_51a6c3db-1667-4f49-995a-8b9973972958_ContentBits">
    <vt:lpwstr>0</vt:lpwstr>
  </property>
</Properties>
</file>