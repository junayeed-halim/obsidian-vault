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99" r:id="rId2"/>
    <p:sldId id="425" r:id="rId3"/>
    <p:sldId id="384" r:id="rId4"/>
    <p:sldId id="383" r:id="rId5"/>
    <p:sldId id="491" r:id="rId6"/>
    <p:sldId id="492" r:id="rId7"/>
    <p:sldId id="493" r:id="rId8"/>
    <p:sldId id="335" r:id="rId9"/>
    <p:sldId id="283" r:id="rId10"/>
    <p:sldId id="499" r:id="rId11"/>
    <p:sldId id="284" r:id="rId12"/>
    <p:sldId id="285" r:id="rId13"/>
    <p:sldId id="400" r:id="rId14"/>
    <p:sldId id="299" r:id="rId15"/>
    <p:sldId id="494" r:id="rId16"/>
    <p:sldId id="497" r:id="rId17"/>
    <p:sldId id="344" r:id="rId18"/>
    <p:sldId id="385" r:id="rId19"/>
    <p:sldId id="293" r:id="rId20"/>
    <p:sldId id="496" r:id="rId21"/>
    <p:sldId id="294" r:id="rId22"/>
    <p:sldId id="296" r:id="rId23"/>
    <p:sldId id="369" r:id="rId24"/>
    <p:sldId id="489" r:id="rId25"/>
    <p:sldId id="490" r:id="rId26"/>
    <p:sldId id="397" r:id="rId27"/>
    <p:sldId id="324" r:id="rId28"/>
    <p:sldId id="339" r:id="rId29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26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470D3-00C1-4264-AE0F-D9A1C1F28101}" v="148" dt="2026-08-03T23:50:02.855"/>
  </p1510:revLst>
</p1510:revInfo>
</file>

<file path=ppt/tableStyles.xml><?xml version="1.0" encoding="utf-8"?>
<a:tblStyleLst xmlns:a="http://schemas.openxmlformats.org/drawingml/2006/main" def="{B301B821-A1FF-4177-AEE7-76D212191A09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5294" autoAdjust="0"/>
  </p:normalViewPr>
  <p:slideViewPr>
    <p:cSldViewPr snapToGrid="0">
      <p:cViewPr varScale="1">
        <p:scale>
          <a:sx n="116" d="100"/>
          <a:sy n="116" d="100"/>
        </p:scale>
        <p:origin x="102" y="15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i Yu" userId="c938b994-a30e-4cc7-a189-187a9b224868" providerId="ADAL" clId="{D378DF58-4452-4BC8-839A-4D178FE0AA68}"/>
    <pc:docChg chg="custSel addSld delSld modSld">
      <pc:chgData name="Shui Yu" userId="c938b994-a30e-4cc7-a189-187a9b224868" providerId="ADAL" clId="{D378DF58-4452-4BC8-839A-4D178FE0AA68}" dt="2026-08-03T23:50:27.949" v="2555" actId="5793"/>
      <pc:docMkLst>
        <pc:docMk/>
      </pc:docMkLst>
      <pc:sldChg chg="del">
        <pc:chgData name="Shui Yu" userId="c938b994-a30e-4cc7-a189-187a9b224868" providerId="ADAL" clId="{D378DF58-4452-4BC8-839A-4D178FE0AA68}" dt="2026-08-03T05:57:15.564" v="1571" actId="47"/>
        <pc:sldMkLst>
          <pc:docMk/>
          <pc:sldMk cId="0" sldId="286"/>
        </pc:sldMkLst>
      </pc:sldChg>
      <pc:sldChg chg="modSp mod">
        <pc:chgData name="Shui Yu" userId="c938b994-a30e-4cc7-a189-187a9b224868" providerId="ADAL" clId="{D378DF58-4452-4BC8-839A-4D178FE0AA68}" dt="2026-08-03T10:55:44.456" v="2360"/>
        <pc:sldMkLst>
          <pc:docMk/>
          <pc:sldMk cId="0" sldId="293"/>
        </pc:sldMkLst>
        <pc:spChg chg="mod">
          <ac:chgData name="Shui Yu" userId="c938b994-a30e-4cc7-a189-187a9b224868" providerId="ADAL" clId="{D378DF58-4452-4BC8-839A-4D178FE0AA68}" dt="2026-08-03T10:55:44.456" v="2360"/>
          <ac:spMkLst>
            <pc:docMk/>
            <pc:sldMk cId="0" sldId="293"/>
            <ac:spMk id="3" creationId="{00000000-0000-0000-0000-000000000000}"/>
          </ac:spMkLst>
        </pc:spChg>
      </pc:sldChg>
      <pc:sldChg chg="modSp mod">
        <pc:chgData name="Shui Yu" userId="c938b994-a30e-4cc7-a189-187a9b224868" providerId="ADAL" clId="{D378DF58-4452-4BC8-839A-4D178FE0AA68}" dt="2026-08-03T10:47:59.690" v="2353" actId="14100"/>
        <pc:sldMkLst>
          <pc:docMk/>
          <pc:sldMk cId="0" sldId="294"/>
        </pc:sldMkLst>
        <pc:spChg chg="mod">
          <ac:chgData name="Shui Yu" userId="c938b994-a30e-4cc7-a189-187a9b224868" providerId="ADAL" clId="{D378DF58-4452-4BC8-839A-4D178FE0AA68}" dt="2026-08-03T10:47:59.690" v="2353" actId="14100"/>
          <ac:spMkLst>
            <pc:docMk/>
            <pc:sldMk cId="0" sldId="294"/>
            <ac:spMk id="3" creationId="{00000000-0000-0000-0000-000000000000}"/>
          </ac:spMkLst>
        </pc:spChg>
      </pc:sldChg>
      <pc:sldChg chg="del">
        <pc:chgData name="Shui Yu" userId="c938b994-a30e-4cc7-a189-187a9b224868" providerId="ADAL" clId="{D378DF58-4452-4BC8-839A-4D178FE0AA68}" dt="2026-08-03T10:30:17.087" v="1573" actId="47"/>
        <pc:sldMkLst>
          <pc:docMk/>
          <pc:sldMk cId="0" sldId="295"/>
        </pc:sldMkLst>
      </pc:sldChg>
      <pc:sldChg chg="del">
        <pc:chgData name="Shui Yu" userId="c938b994-a30e-4cc7-a189-187a9b224868" providerId="ADAL" clId="{D378DF58-4452-4BC8-839A-4D178FE0AA68}" dt="2026-08-03T05:57:17.275" v="1572" actId="47"/>
        <pc:sldMkLst>
          <pc:docMk/>
          <pc:sldMk cId="0" sldId="320"/>
        </pc:sldMkLst>
      </pc:sldChg>
      <pc:sldChg chg="delSp modSp add mod">
        <pc:chgData name="Shui Yu" userId="c938b994-a30e-4cc7-a189-187a9b224868" providerId="ADAL" clId="{D378DF58-4452-4BC8-839A-4D178FE0AA68}" dt="2026-08-03T05:52:14.798" v="1569" actId="1076"/>
        <pc:sldMkLst>
          <pc:docMk/>
          <pc:sldMk cId="1380033687" sldId="335"/>
        </pc:sldMkLst>
        <pc:spChg chg="del">
          <ac:chgData name="Shui Yu" userId="c938b994-a30e-4cc7-a189-187a9b224868" providerId="ADAL" clId="{D378DF58-4452-4BC8-839A-4D178FE0AA68}" dt="2026-08-03T05:30:17.289" v="834" actId="478"/>
          <ac:spMkLst>
            <pc:docMk/>
            <pc:sldMk cId="1380033687" sldId="335"/>
            <ac:spMk id="2" creationId="{00000000-0000-0000-0000-000000000000}"/>
          </ac:spMkLst>
        </pc:spChg>
        <pc:spChg chg="mod">
          <ac:chgData name="Shui Yu" userId="c938b994-a30e-4cc7-a189-187a9b224868" providerId="ADAL" clId="{D378DF58-4452-4BC8-839A-4D178FE0AA68}" dt="2026-08-03T05:52:05.994" v="1567" actId="14100"/>
          <ac:spMkLst>
            <pc:docMk/>
            <pc:sldMk cId="1380033687" sldId="335"/>
            <ac:spMk id="3" creationId="{00000000-0000-0000-0000-000000000000}"/>
          </ac:spMkLst>
        </pc:spChg>
        <pc:spChg chg="del mod">
          <ac:chgData name="Shui Yu" userId="c938b994-a30e-4cc7-a189-187a9b224868" providerId="ADAL" clId="{D378DF58-4452-4BC8-839A-4D178FE0AA68}" dt="2026-08-03T05:30:54.495" v="852" actId="478"/>
          <ac:spMkLst>
            <pc:docMk/>
            <pc:sldMk cId="1380033687" sldId="335"/>
            <ac:spMk id="4" creationId="{00000000-0000-0000-0000-000000000000}"/>
          </ac:spMkLst>
        </pc:spChg>
        <pc:picChg chg="mod">
          <ac:chgData name="Shui Yu" userId="c938b994-a30e-4cc7-a189-187a9b224868" providerId="ADAL" clId="{D378DF58-4452-4BC8-839A-4D178FE0AA68}" dt="2026-08-03T05:52:14.798" v="1569" actId="1076"/>
          <ac:picMkLst>
            <pc:docMk/>
            <pc:sldMk cId="1380033687" sldId="335"/>
            <ac:picMk id="11266" creationId="{E37994F7-1632-CB81-BBA8-FE8B41E12F62}"/>
          </ac:picMkLst>
        </pc:picChg>
      </pc:sldChg>
      <pc:sldChg chg="add">
        <pc:chgData name="Shui Yu" userId="c938b994-a30e-4cc7-a189-187a9b224868" providerId="ADAL" clId="{D378DF58-4452-4BC8-839A-4D178FE0AA68}" dt="2026-08-03T04:22:01.773" v="380"/>
        <pc:sldMkLst>
          <pc:docMk/>
          <pc:sldMk cId="3609299567" sldId="339"/>
        </pc:sldMkLst>
      </pc:sldChg>
      <pc:sldChg chg="del">
        <pc:chgData name="Shui Yu" userId="c938b994-a30e-4cc7-a189-187a9b224868" providerId="ADAL" clId="{D378DF58-4452-4BC8-839A-4D178FE0AA68}" dt="2026-08-03T10:48:23.411" v="2354" actId="47"/>
        <pc:sldMkLst>
          <pc:docMk/>
          <pc:sldMk cId="0" sldId="360"/>
        </pc:sldMkLst>
      </pc:sldChg>
      <pc:sldChg chg="del">
        <pc:chgData name="Shui Yu" userId="c938b994-a30e-4cc7-a189-187a9b224868" providerId="ADAL" clId="{D378DF58-4452-4BC8-839A-4D178FE0AA68}" dt="2026-08-03T10:48:38.222" v="2355" actId="47"/>
        <pc:sldMkLst>
          <pc:docMk/>
          <pc:sldMk cId="0" sldId="361"/>
        </pc:sldMkLst>
      </pc:sldChg>
      <pc:sldChg chg="del">
        <pc:chgData name="Shui Yu" userId="c938b994-a30e-4cc7-a189-187a9b224868" providerId="ADAL" clId="{D378DF58-4452-4BC8-839A-4D178FE0AA68}" dt="2026-08-03T10:48:44.385" v="2356" actId="47"/>
        <pc:sldMkLst>
          <pc:docMk/>
          <pc:sldMk cId="0" sldId="362"/>
        </pc:sldMkLst>
      </pc:sldChg>
      <pc:sldChg chg="del">
        <pc:chgData name="Shui Yu" userId="c938b994-a30e-4cc7-a189-187a9b224868" providerId="ADAL" clId="{D378DF58-4452-4BC8-839A-4D178FE0AA68}" dt="2026-08-03T10:48:47.256" v="2357" actId="47"/>
        <pc:sldMkLst>
          <pc:docMk/>
          <pc:sldMk cId="0" sldId="363"/>
        </pc:sldMkLst>
      </pc:sldChg>
      <pc:sldChg chg="delSp modSp mod">
        <pc:chgData name="Shui Yu" userId="c938b994-a30e-4cc7-a189-187a9b224868" providerId="ADAL" clId="{D378DF58-4452-4BC8-839A-4D178FE0AA68}" dt="2026-08-03T05:32:06.509" v="910" actId="20577"/>
        <pc:sldMkLst>
          <pc:docMk/>
          <pc:sldMk cId="0" sldId="383"/>
        </pc:sldMkLst>
        <pc:spChg chg="mod">
          <ac:chgData name="Shui Yu" userId="c938b994-a30e-4cc7-a189-187a9b224868" providerId="ADAL" clId="{D378DF58-4452-4BC8-839A-4D178FE0AA68}" dt="2026-08-03T05:32:06.509" v="910" actId="20577"/>
          <ac:spMkLst>
            <pc:docMk/>
            <pc:sldMk cId="0" sldId="383"/>
            <ac:spMk id="4" creationId="{00000000-0000-0000-0000-000000000000}"/>
          </ac:spMkLst>
        </pc:spChg>
        <pc:spChg chg="del">
          <ac:chgData name="Shui Yu" userId="c938b994-a30e-4cc7-a189-187a9b224868" providerId="ADAL" clId="{D378DF58-4452-4BC8-839A-4D178FE0AA68}" dt="2026-08-03T04:26:18.048" v="389" actId="478"/>
          <ac:spMkLst>
            <pc:docMk/>
            <pc:sldMk cId="0" sldId="383"/>
            <ac:spMk id="5" creationId="{00000000-0000-0000-0000-000000000000}"/>
          </ac:spMkLst>
        </pc:spChg>
      </pc:sldChg>
      <pc:sldChg chg="modSp mod">
        <pc:chgData name="Shui Yu" userId="c938b994-a30e-4cc7-a189-187a9b224868" providerId="ADAL" clId="{D378DF58-4452-4BC8-839A-4D178FE0AA68}" dt="2026-08-03T10:59:42.763" v="2404" actId="6549"/>
        <pc:sldMkLst>
          <pc:docMk/>
          <pc:sldMk cId="0" sldId="384"/>
        </pc:sldMkLst>
        <pc:spChg chg="mod">
          <ac:chgData name="Shui Yu" userId="c938b994-a30e-4cc7-a189-187a9b224868" providerId="ADAL" clId="{D378DF58-4452-4BC8-839A-4D178FE0AA68}" dt="2026-08-03T10:59:42.763" v="2404" actId="6549"/>
          <ac:spMkLst>
            <pc:docMk/>
            <pc:sldMk cId="0" sldId="384"/>
            <ac:spMk id="3" creationId="{00000000-0000-0000-0000-000000000000}"/>
          </ac:spMkLst>
        </pc:spChg>
      </pc:sldChg>
      <pc:sldChg chg="modSp add mod">
        <pc:chgData name="Shui Yu" userId="c938b994-a30e-4cc7-a189-187a9b224868" providerId="ADAL" clId="{D378DF58-4452-4BC8-839A-4D178FE0AA68}" dt="2026-08-03T10:59:01.908" v="2388" actId="20577"/>
        <pc:sldMkLst>
          <pc:docMk/>
          <pc:sldMk cId="3969770561" sldId="425"/>
        </pc:sldMkLst>
        <pc:spChg chg="mod">
          <ac:chgData name="Shui Yu" userId="c938b994-a30e-4cc7-a189-187a9b224868" providerId="ADAL" clId="{D378DF58-4452-4BC8-839A-4D178FE0AA68}" dt="2026-08-03T04:19:48.389" v="322" actId="20577"/>
          <ac:spMkLst>
            <pc:docMk/>
            <pc:sldMk cId="3969770561" sldId="425"/>
            <ac:spMk id="2" creationId="{00000000-0000-0000-0000-000000000000}"/>
          </ac:spMkLst>
        </pc:spChg>
        <pc:spChg chg="mod">
          <ac:chgData name="Shui Yu" userId="c938b994-a30e-4cc7-a189-187a9b224868" providerId="ADAL" clId="{D378DF58-4452-4BC8-839A-4D178FE0AA68}" dt="2026-08-03T10:59:01.908" v="2388" actId="20577"/>
          <ac:spMkLst>
            <pc:docMk/>
            <pc:sldMk cId="3969770561" sldId="425"/>
            <ac:spMk id="3" creationId="{00000000-0000-0000-0000-000000000000}"/>
          </ac:spMkLst>
        </pc:spChg>
      </pc:sldChg>
      <pc:sldChg chg="modSp add mod">
        <pc:chgData name="Shui Yu" userId="c938b994-a30e-4cc7-a189-187a9b224868" providerId="ADAL" clId="{D378DF58-4452-4BC8-839A-4D178FE0AA68}" dt="2026-08-03T05:49:35.347" v="1541" actId="5793"/>
        <pc:sldMkLst>
          <pc:docMk/>
          <pc:sldMk cId="1944687275" sldId="491"/>
        </pc:sldMkLst>
        <pc:spChg chg="mod">
          <ac:chgData name="Shui Yu" userId="c938b994-a30e-4cc7-a189-187a9b224868" providerId="ADAL" clId="{D378DF58-4452-4BC8-839A-4D178FE0AA68}" dt="2026-08-03T05:23:18.511" v="433" actId="20577"/>
          <ac:spMkLst>
            <pc:docMk/>
            <pc:sldMk cId="1944687275" sldId="491"/>
            <ac:spMk id="2" creationId="{C91897BD-DF43-559C-FCD5-AE1FDDBEAEFA}"/>
          </ac:spMkLst>
        </pc:spChg>
        <pc:spChg chg="mod">
          <ac:chgData name="Shui Yu" userId="c938b994-a30e-4cc7-a189-187a9b224868" providerId="ADAL" clId="{D378DF58-4452-4BC8-839A-4D178FE0AA68}" dt="2026-08-03T05:49:35.347" v="1541" actId="5793"/>
          <ac:spMkLst>
            <pc:docMk/>
            <pc:sldMk cId="1944687275" sldId="491"/>
            <ac:spMk id="3" creationId="{045DCC94-7DD1-6610-DF3E-9185CB67797D}"/>
          </ac:spMkLst>
        </pc:spChg>
      </pc:sldChg>
      <pc:sldChg chg="modSp add mod">
        <pc:chgData name="Shui Yu" userId="c938b994-a30e-4cc7-a189-187a9b224868" providerId="ADAL" clId="{D378DF58-4452-4BC8-839A-4D178FE0AA68}" dt="2026-08-03T05:37:33.007" v="1228" actId="20577"/>
        <pc:sldMkLst>
          <pc:docMk/>
          <pc:sldMk cId="3367598639" sldId="492"/>
        </pc:sldMkLst>
        <pc:spChg chg="mod">
          <ac:chgData name="Shui Yu" userId="c938b994-a30e-4cc7-a189-187a9b224868" providerId="ADAL" clId="{D378DF58-4452-4BC8-839A-4D178FE0AA68}" dt="2026-08-03T05:37:33.007" v="1228" actId="20577"/>
          <ac:spMkLst>
            <pc:docMk/>
            <pc:sldMk cId="3367598639" sldId="492"/>
            <ac:spMk id="3" creationId="{24BDEF7D-A15F-1EB4-F5D7-FFDE8AC9958A}"/>
          </ac:spMkLst>
        </pc:spChg>
      </pc:sldChg>
      <pc:sldChg chg="addSp modSp add mod">
        <pc:chgData name="Shui Yu" userId="c938b994-a30e-4cc7-a189-187a9b224868" providerId="ADAL" clId="{D378DF58-4452-4BC8-839A-4D178FE0AA68}" dt="2026-08-03T05:51:38.536" v="1565" actId="20577"/>
        <pc:sldMkLst>
          <pc:docMk/>
          <pc:sldMk cId="1867638442" sldId="493"/>
        </pc:sldMkLst>
        <pc:spChg chg="mod">
          <ac:chgData name="Shui Yu" userId="c938b994-a30e-4cc7-a189-187a9b224868" providerId="ADAL" clId="{D378DF58-4452-4BC8-839A-4D178FE0AA68}" dt="2026-08-03T05:39:39.459" v="1249" actId="20577"/>
          <ac:spMkLst>
            <pc:docMk/>
            <pc:sldMk cId="1867638442" sldId="493"/>
            <ac:spMk id="2" creationId="{C70FBBFF-7783-DAB9-EB89-06D831917B72}"/>
          </ac:spMkLst>
        </pc:spChg>
        <pc:spChg chg="mod">
          <ac:chgData name="Shui Yu" userId="c938b994-a30e-4cc7-a189-187a9b224868" providerId="ADAL" clId="{D378DF58-4452-4BC8-839A-4D178FE0AA68}" dt="2026-08-03T05:51:38.536" v="1565" actId="20577"/>
          <ac:spMkLst>
            <pc:docMk/>
            <pc:sldMk cId="1867638442" sldId="493"/>
            <ac:spMk id="3" creationId="{90C96387-435F-7F62-F043-3302F64B9A33}"/>
          </ac:spMkLst>
        </pc:spChg>
        <pc:spChg chg="add mod">
          <ac:chgData name="Shui Yu" userId="c938b994-a30e-4cc7-a189-187a9b224868" providerId="ADAL" clId="{D378DF58-4452-4BC8-839A-4D178FE0AA68}" dt="2026-08-03T05:50:50.932" v="1549" actId="1076"/>
          <ac:spMkLst>
            <pc:docMk/>
            <pc:sldMk cId="1867638442" sldId="493"/>
            <ac:spMk id="7" creationId="{E526DC98-4B97-3752-0242-3703D34C45C6}"/>
          </ac:spMkLst>
        </pc:spChg>
        <pc:picChg chg="add mod">
          <ac:chgData name="Shui Yu" userId="c938b994-a30e-4cc7-a189-187a9b224868" providerId="ADAL" clId="{D378DF58-4452-4BC8-839A-4D178FE0AA68}" dt="2026-08-03T05:50:30.465" v="1547" actId="1076"/>
          <ac:picMkLst>
            <pc:docMk/>
            <pc:sldMk cId="1867638442" sldId="493"/>
            <ac:picMk id="5" creationId="{1AA56188-348D-02DE-1D47-225B1AA1B5C2}"/>
          </ac:picMkLst>
        </pc:picChg>
      </pc:sldChg>
      <pc:sldChg chg="add">
        <pc:chgData name="Shui Yu" userId="c938b994-a30e-4cc7-a189-187a9b224868" providerId="ADAL" clId="{D378DF58-4452-4BC8-839A-4D178FE0AA68}" dt="2026-08-03T05:57:09.543" v="1570"/>
        <pc:sldMkLst>
          <pc:docMk/>
          <pc:sldMk cId="1047818506" sldId="494"/>
        </pc:sldMkLst>
      </pc:sldChg>
      <pc:sldChg chg="modSp add del mod">
        <pc:chgData name="Shui Yu" userId="c938b994-a30e-4cc7-a189-187a9b224868" providerId="ADAL" clId="{D378DF58-4452-4BC8-839A-4D178FE0AA68}" dt="2026-08-03T23:46:11.100" v="2408" actId="47"/>
        <pc:sldMkLst>
          <pc:docMk/>
          <pc:sldMk cId="2935019925" sldId="495"/>
        </pc:sldMkLst>
        <pc:spChg chg="mod">
          <ac:chgData name="Shui Yu" userId="c938b994-a30e-4cc7-a189-187a9b224868" providerId="ADAL" clId="{D378DF58-4452-4BC8-839A-4D178FE0AA68}" dt="2026-08-03T10:30:38.650" v="1584" actId="20577"/>
          <ac:spMkLst>
            <pc:docMk/>
            <pc:sldMk cId="2935019925" sldId="495"/>
            <ac:spMk id="2" creationId="{07DC3C9C-B256-664F-4DD1-3D0FD63AD37F}"/>
          </ac:spMkLst>
        </pc:spChg>
        <pc:spChg chg="mod">
          <ac:chgData name="Shui Yu" userId="c938b994-a30e-4cc7-a189-187a9b224868" providerId="ADAL" clId="{D378DF58-4452-4BC8-839A-4D178FE0AA68}" dt="2026-08-03T10:37:50.790" v="1937" actId="20577"/>
          <ac:spMkLst>
            <pc:docMk/>
            <pc:sldMk cId="2935019925" sldId="495"/>
            <ac:spMk id="3" creationId="{95EBAEA0-223D-D0C8-01D9-C35938D6D7AA}"/>
          </ac:spMkLst>
        </pc:spChg>
      </pc:sldChg>
      <pc:sldChg chg="modSp add mod">
        <pc:chgData name="Shui Yu" userId="c938b994-a30e-4cc7-a189-187a9b224868" providerId="ADAL" clId="{D378DF58-4452-4BC8-839A-4D178FE0AA68}" dt="2026-08-03T23:50:27.949" v="2555" actId="5793"/>
        <pc:sldMkLst>
          <pc:docMk/>
          <pc:sldMk cId="2945217467" sldId="496"/>
        </pc:sldMkLst>
        <pc:spChg chg="mod">
          <ac:chgData name="Shui Yu" userId="c938b994-a30e-4cc7-a189-187a9b224868" providerId="ADAL" clId="{D378DF58-4452-4BC8-839A-4D178FE0AA68}" dt="2026-08-03T23:46:47.221" v="2427" actId="20577"/>
          <ac:spMkLst>
            <pc:docMk/>
            <pc:sldMk cId="2945217467" sldId="496"/>
            <ac:spMk id="2" creationId="{32FF97CF-8B8A-53DC-7C4A-BC170732E506}"/>
          </ac:spMkLst>
        </pc:spChg>
        <pc:spChg chg="mod">
          <ac:chgData name="Shui Yu" userId="c938b994-a30e-4cc7-a189-187a9b224868" providerId="ADAL" clId="{D378DF58-4452-4BC8-839A-4D178FE0AA68}" dt="2026-08-03T23:50:27.949" v="2555" actId="5793"/>
          <ac:spMkLst>
            <pc:docMk/>
            <pc:sldMk cId="2945217467" sldId="496"/>
            <ac:spMk id="3" creationId="{0BBA7A71-11FB-0770-4169-EB40176C643B}"/>
          </ac:spMkLst>
        </pc:spChg>
      </pc:sldChg>
      <pc:sldChg chg="add">
        <pc:chgData name="Shui Yu" userId="c938b994-a30e-4cc7-a189-187a9b224868" providerId="ADAL" clId="{D378DF58-4452-4BC8-839A-4D178FE0AA68}" dt="2026-08-03T10:50:12.398" v="2358"/>
        <pc:sldMkLst>
          <pc:docMk/>
          <pc:sldMk cId="1017026916" sldId="497"/>
        </pc:sldMkLst>
      </pc:sldChg>
      <pc:sldChg chg="add del">
        <pc:chgData name="Shui Yu" userId="c938b994-a30e-4cc7-a189-187a9b224868" providerId="ADAL" clId="{D378DF58-4452-4BC8-839A-4D178FE0AA68}" dt="2026-08-03T23:44:41.106" v="2407" actId="47"/>
        <pc:sldMkLst>
          <pc:docMk/>
          <pc:sldMk cId="0" sldId="498"/>
        </pc:sldMkLst>
      </pc:sldChg>
      <pc:sldChg chg="add">
        <pc:chgData name="Shui Yu" userId="c938b994-a30e-4cc7-a189-187a9b224868" providerId="ADAL" clId="{D378DF58-4452-4BC8-839A-4D178FE0AA68}" dt="2026-08-03T23:44:32.615" v="2406"/>
        <pc:sldMkLst>
          <pc:docMk/>
          <pc:sldMk cId="0" sldId="49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28C508-9378-416B-A78D-286D5528740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868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C19A9-32A9-484D-B09C-D36619F0147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8238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CA3D6A-2D2A-4013-9C66-3B37E953BCD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7040A-846E-4A05-BC43-01C7B59EFA90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AU" smtClean="0"/>
              <a:t>12</a:t>
            </a:fld>
            <a:endParaRPr lang="en-A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7040A-846E-4A05-BC43-01C7B59EFA9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37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3E25-3E13-D10C-9D57-234C3243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7FE51D-095B-BA89-ED16-85A15173A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2DC6FF-5D9F-342B-F4B7-974B605C8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82590D-25B6-281A-7452-DD666ED08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7040A-846E-4A05-BC43-01C7B59EFA9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097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7040A-846E-4A05-BC43-01C7B59EFA90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Emphasis</a:t>
            </a:r>
            <a:r>
              <a:rPr lang="en-A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lap </a:t>
            </a:r>
            <a:r>
              <a:rPr lang="en-AU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7040A-846E-4A05-BC43-01C7B59EFA90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7040A-846E-4A05-BC43-01C7B59EFA90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3AFCE-5E5E-D84F-2A73-AF3A5A78D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79EC6-5455-7140-109D-19894CE8C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46BAE-80B2-8A50-3B35-D113B7438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B8C86-5E99-96EE-A544-606CA647A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C19A9-32A9-484D-B09C-D36619F0147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3406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A4663-1CE8-46CA-8819-117DC9D2A481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7488-9259-4D32-8D43-C85FF87DB2DF}" type="slidenum">
              <a:rPr lang="en-AU" smtClean="0"/>
              <a:t>‹#›</a:t>
            </a:fld>
            <a:endParaRPr lang="en-AU"/>
          </a:p>
        </p:txBody>
      </p:sp>
      <p:sp>
        <p:nvSpPr>
          <p:cNvPr id="8" name="AutoShape 4" descr="Image result for uts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1715106" cy="171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17C4A-3502-4E24-8C6F-E642403B27FB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ABAEC-7446-49C8-B0D5-31A58A4BB276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1462B-FDFA-48A2-9E92-099F175D8C42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6EF73-9DB8-4763-865F-2F88181A4732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21470-B14F-47C0-87A3-4D1A7132748F}" type="datetime1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803D0-9D57-40DF-874D-3488A0B526B0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D5D7B-1E2C-43F2-BD41-097E059973F7}" type="datetime1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7417 UTS Corp PPT 16x9_new 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81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490513" y="3039415"/>
            <a:ext cx="7344912" cy="1231107"/>
          </a:xfrm>
        </p:spPr>
        <p:txBody>
          <a:bodyPr/>
          <a:lstStyle>
            <a:lvl1pPr>
              <a:lnSpc>
                <a:spcPts val="4800"/>
              </a:lnSpc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7934313" y="6370147"/>
            <a:ext cx="3860800" cy="3077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uts.edu.au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3434369" y="6429884"/>
            <a:ext cx="3777801" cy="2228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lang="en-AU" sz="1467" cap="all" baseline="0" noProof="0" dirty="0">
                <a:solidFill>
                  <a:schemeClr val="bg1"/>
                </a:solidFill>
              </a:rPr>
              <a:t>uts cricos provider code: 00099f</a:t>
            </a:r>
          </a:p>
        </p:txBody>
      </p:sp>
    </p:spTree>
    <p:extLst>
      <p:ext uri="{BB962C8B-B14F-4D97-AF65-F5344CB8AC3E}">
        <p14:creationId xmlns:p14="http://schemas.microsoft.com/office/powerpoint/2010/main" val="4169009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 userDrawn="1"/>
        </p:nvGrpSpPr>
        <p:grpSpPr>
          <a:xfrm>
            <a:off x="266718" y="1"/>
            <a:ext cx="11914963" cy="2274888"/>
            <a:chOff x="533400" y="0"/>
            <a:chExt cx="23828375" cy="4549775"/>
          </a:xfrm>
        </p:grpSpPr>
        <p:sp>
          <p:nvSpPr>
            <p:cNvPr id="164" name="AutoShape 1"/>
            <p:cNvSpPr>
              <a:spLocks/>
            </p:cNvSpPr>
            <p:nvPr userDrawn="1"/>
          </p:nvSpPr>
          <p:spPr bwMode="auto">
            <a:xfrm>
              <a:off x="5118100" y="0"/>
              <a:ext cx="511175" cy="45085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66" y="21600"/>
                  </a:lnTo>
                  <a:lnTo>
                    <a:pt x="21600" y="21515"/>
                  </a:lnTo>
                  <a:lnTo>
                    <a:pt x="21534" y="0"/>
                  </a:lnTo>
                  <a:cubicBezTo>
                    <a:pt x="21534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65" name="AutoShape 2"/>
            <p:cNvSpPr>
              <a:spLocks/>
            </p:cNvSpPr>
            <p:nvPr userDrawn="1"/>
          </p:nvSpPr>
          <p:spPr bwMode="auto">
            <a:xfrm>
              <a:off x="3581400" y="0"/>
              <a:ext cx="511175" cy="457200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68" y="21600"/>
                  </a:lnTo>
                  <a:lnTo>
                    <a:pt x="21600" y="21516"/>
                  </a:lnTo>
                  <a:lnTo>
                    <a:pt x="21533" y="0"/>
                  </a:lnTo>
                  <a:cubicBezTo>
                    <a:pt x="21533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66" name="AutoShape 3"/>
            <p:cNvSpPr>
              <a:spLocks/>
            </p:cNvSpPr>
            <p:nvPr userDrawn="1"/>
          </p:nvSpPr>
          <p:spPr bwMode="auto">
            <a:xfrm>
              <a:off x="4610100" y="9652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5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67" name="AutoShape 4"/>
            <p:cNvSpPr>
              <a:spLocks/>
            </p:cNvSpPr>
            <p:nvPr userDrawn="1"/>
          </p:nvSpPr>
          <p:spPr bwMode="auto">
            <a:xfrm>
              <a:off x="533400" y="40386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69" name="AutoShape 6"/>
            <p:cNvSpPr>
              <a:spLocks/>
            </p:cNvSpPr>
            <p:nvPr userDrawn="1"/>
          </p:nvSpPr>
          <p:spPr bwMode="auto">
            <a:xfrm>
              <a:off x="16700500" y="25400"/>
              <a:ext cx="511175" cy="477838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71" y="21600"/>
                  </a:lnTo>
                  <a:lnTo>
                    <a:pt x="21600" y="21520"/>
                  </a:lnTo>
                  <a:lnTo>
                    <a:pt x="21530" y="0"/>
                  </a:lnTo>
                  <a:cubicBezTo>
                    <a:pt x="21530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0" name="AutoShape 7"/>
            <p:cNvSpPr>
              <a:spLocks/>
            </p:cNvSpPr>
            <p:nvPr userDrawn="1"/>
          </p:nvSpPr>
          <p:spPr bwMode="auto">
            <a:xfrm>
              <a:off x="16192500" y="25400"/>
              <a:ext cx="511175" cy="47942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0"/>
                  </a:moveTo>
                  <a:lnTo>
                    <a:pt x="71" y="21600"/>
                  </a:lnTo>
                  <a:lnTo>
                    <a:pt x="21600" y="21519"/>
                  </a:lnTo>
                  <a:lnTo>
                    <a:pt x="21529" y="0"/>
                  </a:lnTo>
                  <a:cubicBezTo>
                    <a:pt x="21529" y="0"/>
                    <a:pt x="0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1" name="AutoShape 8"/>
            <p:cNvSpPr>
              <a:spLocks/>
            </p:cNvSpPr>
            <p:nvPr userDrawn="1"/>
          </p:nvSpPr>
          <p:spPr bwMode="auto">
            <a:xfrm>
              <a:off x="20789900" y="4826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2" name="AutoShape 9"/>
            <p:cNvSpPr>
              <a:spLocks/>
            </p:cNvSpPr>
            <p:nvPr userDrawn="1"/>
          </p:nvSpPr>
          <p:spPr bwMode="auto">
            <a:xfrm>
              <a:off x="15684500" y="495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3" name="AutoShape 10"/>
            <p:cNvSpPr>
              <a:spLocks/>
            </p:cNvSpPr>
            <p:nvPr userDrawn="1"/>
          </p:nvSpPr>
          <p:spPr bwMode="auto">
            <a:xfrm>
              <a:off x="14655800" y="5080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4" name="AutoShape 11"/>
            <p:cNvSpPr>
              <a:spLocks/>
            </p:cNvSpPr>
            <p:nvPr userDrawn="1"/>
          </p:nvSpPr>
          <p:spPr bwMode="auto">
            <a:xfrm>
              <a:off x="19253200" y="1003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5" name="AutoShape 12"/>
            <p:cNvSpPr>
              <a:spLocks/>
            </p:cNvSpPr>
            <p:nvPr userDrawn="1"/>
          </p:nvSpPr>
          <p:spPr bwMode="auto">
            <a:xfrm>
              <a:off x="21297900" y="1497013"/>
              <a:ext cx="511175" cy="512762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6" name="AutoShape 13"/>
            <p:cNvSpPr>
              <a:spLocks/>
            </p:cNvSpPr>
            <p:nvPr userDrawn="1"/>
          </p:nvSpPr>
          <p:spPr bwMode="auto">
            <a:xfrm>
              <a:off x="20281900" y="1511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7" name="AutoShape 14"/>
            <p:cNvSpPr>
              <a:spLocks/>
            </p:cNvSpPr>
            <p:nvPr userDrawn="1"/>
          </p:nvSpPr>
          <p:spPr bwMode="auto">
            <a:xfrm>
              <a:off x="19253200" y="1509713"/>
              <a:ext cx="511175" cy="512762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8" name="AutoShape 15"/>
            <p:cNvSpPr>
              <a:spLocks/>
            </p:cNvSpPr>
            <p:nvPr userDrawn="1"/>
          </p:nvSpPr>
          <p:spPr bwMode="auto">
            <a:xfrm>
              <a:off x="17729200" y="1509713"/>
              <a:ext cx="511175" cy="512762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79" name="AutoShape 16"/>
            <p:cNvSpPr>
              <a:spLocks/>
            </p:cNvSpPr>
            <p:nvPr userDrawn="1"/>
          </p:nvSpPr>
          <p:spPr bwMode="auto">
            <a:xfrm>
              <a:off x="15176500" y="15240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0" name="AutoShape 17"/>
            <p:cNvSpPr>
              <a:spLocks/>
            </p:cNvSpPr>
            <p:nvPr userDrawn="1"/>
          </p:nvSpPr>
          <p:spPr bwMode="auto">
            <a:xfrm>
              <a:off x="20789900" y="2019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1" name="AutoShape 18"/>
            <p:cNvSpPr>
              <a:spLocks/>
            </p:cNvSpPr>
            <p:nvPr userDrawn="1"/>
          </p:nvSpPr>
          <p:spPr bwMode="auto">
            <a:xfrm>
              <a:off x="18745200" y="2019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2" name="AutoShape 19"/>
            <p:cNvSpPr>
              <a:spLocks/>
            </p:cNvSpPr>
            <p:nvPr userDrawn="1"/>
          </p:nvSpPr>
          <p:spPr bwMode="auto">
            <a:xfrm>
              <a:off x="21297900" y="2527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3" name="AutoShape 20"/>
            <p:cNvSpPr>
              <a:spLocks/>
            </p:cNvSpPr>
            <p:nvPr userDrawn="1"/>
          </p:nvSpPr>
          <p:spPr bwMode="auto">
            <a:xfrm>
              <a:off x="20789900" y="2527300"/>
              <a:ext cx="511175" cy="51117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21525" y="0"/>
                  </a:moveTo>
                  <a:lnTo>
                    <a:pt x="21600" y="21525"/>
                  </a:lnTo>
                  <a:lnTo>
                    <a:pt x="76" y="21600"/>
                  </a:lnTo>
                  <a:lnTo>
                    <a:pt x="0" y="75"/>
                  </a:lnTo>
                  <a:cubicBezTo>
                    <a:pt x="0" y="75"/>
                    <a:pt x="21525" y="0"/>
                    <a:pt x="21525" y="0"/>
                  </a:cubicBezTo>
                  <a:close/>
                  <a:moveTo>
                    <a:pt x="21525" y="0"/>
                  </a:move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4" name="AutoShape 21"/>
            <p:cNvSpPr>
              <a:spLocks/>
            </p:cNvSpPr>
            <p:nvPr userDrawn="1"/>
          </p:nvSpPr>
          <p:spPr bwMode="auto">
            <a:xfrm>
              <a:off x="23850600" y="3022600"/>
              <a:ext cx="511175" cy="47942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80"/>
                  </a:moveTo>
                  <a:lnTo>
                    <a:pt x="71" y="21600"/>
                  </a:lnTo>
                  <a:lnTo>
                    <a:pt x="21600" y="21600"/>
                  </a:lnTo>
                  <a:lnTo>
                    <a:pt x="21529" y="0"/>
                  </a:lnTo>
                  <a:cubicBezTo>
                    <a:pt x="21529" y="0"/>
                    <a:pt x="0" y="80"/>
                    <a:pt x="0" y="80"/>
                  </a:cubicBezTo>
                  <a:close/>
                  <a:moveTo>
                    <a:pt x="0" y="80"/>
                  </a:move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  <p:sp>
          <p:nvSpPr>
            <p:cNvPr id="185" name="AutoShape 22"/>
            <p:cNvSpPr>
              <a:spLocks/>
            </p:cNvSpPr>
            <p:nvPr userDrawn="1"/>
          </p:nvSpPr>
          <p:spPr bwMode="auto">
            <a:xfrm>
              <a:off x="23342600" y="3021013"/>
              <a:ext cx="511175" cy="479425"/>
            </a:xfrm>
            <a:custGeom>
              <a:avLst/>
              <a:gdLst/>
              <a:ahLst/>
              <a:cxnLst/>
              <a:rect l="0" t="0" r="r" b="b"/>
              <a:pathLst>
                <a:path w="21600" h="21600">
                  <a:moveTo>
                    <a:pt x="0" y="80"/>
                  </a:moveTo>
                  <a:lnTo>
                    <a:pt x="70" y="21600"/>
                  </a:lnTo>
                  <a:lnTo>
                    <a:pt x="21600" y="21600"/>
                  </a:lnTo>
                  <a:lnTo>
                    <a:pt x="21529" y="0"/>
                  </a:lnTo>
                  <a:cubicBezTo>
                    <a:pt x="21529" y="0"/>
                    <a:pt x="0" y="80"/>
                    <a:pt x="0" y="80"/>
                  </a:cubicBezTo>
                  <a:close/>
                  <a:moveTo>
                    <a:pt x="0" y="80"/>
                  </a:move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72696" y="1205942"/>
            <a:ext cx="5224225" cy="104644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ts val="3300"/>
              </a:lnSpc>
              <a:tabLst>
                <a:tab pos="1262063" algn="l"/>
                <a:tab pos="1865313" algn="l"/>
              </a:tabLst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2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42923" y="2370326"/>
            <a:ext cx="10926502" cy="2915117"/>
          </a:xfrm>
        </p:spPr>
        <p:txBody>
          <a:bodyPr lIns="0" tIns="0" rIns="0" bIns="0" numCol="1" spcCol="720000">
            <a:noAutofit/>
          </a:bodyPr>
          <a:lstStyle>
            <a:lvl1pPr marL="341313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tabLst/>
              <a:defRPr sz="2000">
                <a:solidFill>
                  <a:schemeClr val="tx1"/>
                </a:solidFill>
              </a:defRPr>
            </a:lvl1pPr>
            <a:lvl2pPr marL="317500" indent="-3175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accent1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 marL="539750" indent="-182563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tabLst/>
              <a:defRPr sz="2000">
                <a:solidFill>
                  <a:schemeClr val="tx1"/>
                </a:solidFill>
              </a:defRPr>
            </a:lvl3pPr>
            <a:lvl4pPr marL="825500" indent="-261938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.AppleSystemUIFont" charset="-120"/>
              <a:buChar char="–"/>
              <a:tabLst/>
              <a:defRPr sz="2000">
                <a:solidFill>
                  <a:schemeClr val="tx1"/>
                </a:solidFill>
              </a:defRPr>
            </a:lvl4pPr>
            <a:lvl5pPr marL="825500" indent="-2857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  <a:tabLst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6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326881" y="294774"/>
            <a:ext cx="5401821" cy="26908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7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7" name="TextBox 186"/>
          <p:cNvSpPr txBox="1"/>
          <p:nvPr userDrawn="1"/>
        </p:nvSpPr>
        <p:spPr>
          <a:xfrm>
            <a:off x="10677661" y="372036"/>
            <a:ext cx="11714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B00FCE-1FC4-5243-BFE3-0A2F0D5084C4}" type="slidenum">
              <a:rPr lang="en-US" sz="700" smtClean="0">
                <a:solidFill>
                  <a:schemeClr val="accent1"/>
                </a:solidFill>
              </a:rPr>
              <a:pPr marL="0" marR="0" lvl="0" indent="0" algn="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80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1FD2E-BAAA-472C-961C-5C714F86B7CB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D9AD5-F248-4919-864A-CFD76CC027D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70.png"/><Relationship Id="rId4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80.png"/><Relationship Id="rId5" Type="http://schemas.openxmlformats.org/officeDocument/2006/relationships/image" Target="../media/image700.png"/><Relationship Id="rId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upload.wikimedia.org/wikipedia/commons/8/89/Laplace_distribution_pdf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affiliates.art.com/get.art?T=15029119&amp;A=934828&amp;L=8&amp;P=10078681&amp;S=2&amp;Y=0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950741" y="2000132"/>
            <a:ext cx="8176665" cy="1231107"/>
          </a:xfrm>
        </p:spPr>
        <p:txBody>
          <a:bodyPr/>
          <a:lstStyle/>
          <a:p>
            <a:r>
              <a:rPr lang="en-US" dirty="0"/>
              <a:t>41183 PRIVACY PRESERVING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uts.edu.au</a:t>
            </a:r>
          </a:p>
        </p:txBody>
      </p:sp>
      <p:sp>
        <p:nvSpPr>
          <p:cNvPr id="6" name="Title 4"/>
          <p:cNvSpPr txBox="1">
            <a:spLocks/>
          </p:cNvSpPr>
          <p:nvPr/>
        </p:nvSpPr>
        <p:spPr>
          <a:xfrm>
            <a:off x="4699215" y="3404008"/>
            <a:ext cx="5673788" cy="44550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2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33" cap="none" dirty="0"/>
              <a:t>Lecture 4. Differential Privacy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Notice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079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   Studying is similar to sports training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Assignment 1 is a GROUP work, due on week 7.</a:t>
            </a:r>
          </a:p>
          <a:p>
            <a:pPr marL="0" indent="0">
              <a:buNone/>
            </a:pPr>
            <a:endParaRPr lang="en-US" altLang="zh-CN" dirty="0"/>
          </a:p>
          <a:p>
            <a:pPr lvl="1"/>
            <a:r>
              <a:rPr lang="en-AU" dirty="0"/>
              <a:t>Do</a:t>
            </a:r>
            <a:r>
              <a:rPr lang="zh-CN" altLang="en-US" dirty="0"/>
              <a:t> </a:t>
            </a:r>
            <a:r>
              <a:rPr lang="en-AU" altLang="zh-CN" dirty="0"/>
              <a:t>you</a:t>
            </a:r>
            <a:r>
              <a:rPr lang="zh-CN" altLang="en-US" dirty="0"/>
              <a:t> </a:t>
            </a:r>
            <a:r>
              <a:rPr lang="en-AU" altLang="zh-CN" dirty="0"/>
              <a:t>have</a:t>
            </a:r>
            <a:r>
              <a:rPr lang="zh-CN" altLang="en-US" dirty="0"/>
              <a:t> </a:t>
            </a:r>
            <a:r>
              <a:rPr lang="en-AU" altLang="zh-CN" dirty="0"/>
              <a:t>a</a:t>
            </a:r>
            <a:r>
              <a:rPr lang="zh-CN" altLang="en-US" dirty="0"/>
              <a:t> </a:t>
            </a:r>
            <a:r>
              <a:rPr lang="en-AU" altLang="zh-CN" dirty="0"/>
              <a:t>group</a:t>
            </a:r>
            <a:r>
              <a:rPr lang="zh-CN" altLang="en-US" dirty="0"/>
              <a:t> </a:t>
            </a:r>
            <a:r>
              <a:rPr lang="en-AU" altLang="zh-CN" dirty="0"/>
              <a:t>already?</a:t>
            </a:r>
          </a:p>
          <a:p>
            <a:pPr lvl="1"/>
            <a:r>
              <a:rPr lang="en-AU" dirty="0"/>
              <a:t>What is your plan (following software engineering) ?</a:t>
            </a:r>
          </a:p>
          <a:p>
            <a:pPr lvl="1"/>
            <a:r>
              <a:rPr lang="en-AU" dirty="0"/>
              <a:t>Do we have a plan to measure our delivery of Assignment 1 ?</a:t>
            </a:r>
          </a:p>
          <a:p>
            <a:pPr lvl="1"/>
            <a:r>
              <a:rPr lang="en-AU" dirty="0"/>
              <a:t>Shall we reflect our performance of assignment 1 ?</a:t>
            </a:r>
          </a:p>
          <a:p>
            <a:pPr marL="457200" lvl="1" indent="0">
              <a:buNone/>
            </a:pP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D1476-795E-E0BD-7E55-F71D3C1B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77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birth of differential privacy</a:t>
            </a:r>
          </a:p>
          <a:p>
            <a:r>
              <a:rPr lang="en-US" dirty="0"/>
              <a:t>Differentially privacy definitions</a:t>
            </a:r>
          </a:p>
          <a:p>
            <a:r>
              <a:rPr lang="en-AU" dirty="0"/>
              <a:t>Differential privacy implementation</a:t>
            </a:r>
          </a:p>
          <a:p>
            <a:r>
              <a:rPr lang="en-AU" dirty="0"/>
              <a:t>Differential privacy pros and  cons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3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644"/>
    </mc:Choice>
    <mc:Fallback xmlns="">
      <p:transition advTm="336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0044" y="1124852"/>
            <a:ext cx="10515600" cy="2852737"/>
          </a:xfrm>
        </p:spPr>
        <p:txBody>
          <a:bodyPr/>
          <a:lstStyle/>
          <a:p>
            <a:r>
              <a:rPr lang="en-US" dirty="0"/>
              <a:t>The Birth of Differential Privacy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4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691"/>
    </mc:Choice>
    <mc:Fallback xmlns="">
      <p:transition advTm="369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2CAA5-FD28-3110-33A0-48090577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97BD-DF43-559C-FCD5-AE1FDDBE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Information Retrieval (IR)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DCC94-7DD1-6610-DF3E-9185CB677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IR is the critical part for us to find answers</a:t>
            </a:r>
          </a:p>
          <a:p>
            <a:r>
              <a:rPr lang="en-US" dirty="0"/>
              <a:t>Psychologically, we seek the storage of information, not the information itself (Science research).</a:t>
            </a:r>
          </a:p>
          <a:p>
            <a:r>
              <a:rPr lang="en-AU" dirty="0"/>
              <a:t>AI training is essentially searching (the optimal path)</a:t>
            </a:r>
          </a:p>
          <a:p>
            <a:r>
              <a:rPr lang="en-AU" dirty="0"/>
              <a:t>…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Application scenario: </a:t>
            </a:r>
            <a:r>
              <a:rPr lang="en-AU" b="1" dirty="0"/>
              <a:t>statistical information retrieval for someone’s salary 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2ECB7-BDF4-1DC0-D28D-E0A7E9D4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468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644"/>
    </mc:Choice>
    <mc:Fallback xmlns="">
      <p:transition advTm="3364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83328-3FF5-FDA0-6841-ED6D8C20C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D4A5D-367C-6D62-0BED-05364D3B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Information Retrieval (IR)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DEF7D-A15F-1EB4-F5D7-FFDE8AC99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We need to protect privacy in IR at various perspectives</a:t>
            </a:r>
          </a:p>
          <a:p>
            <a:pPr marL="0" indent="0">
              <a:buNone/>
            </a:pPr>
            <a:r>
              <a:rPr lang="en-AU" dirty="0"/>
              <a:t>   privacy of data owners, information seekers, …</a:t>
            </a:r>
          </a:p>
          <a:p>
            <a:r>
              <a:rPr lang="en-AU" dirty="0"/>
              <a:t> However, the traditional tools, e.g., cryptographic solutions, are not suitable for the new application.</a:t>
            </a:r>
          </a:p>
          <a:p>
            <a:r>
              <a:rPr lang="en-AU" dirty="0"/>
              <a:t>We need (invent) new tools!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i="1" dirty="0"/>
              <a:t>Differential privacy (DP) is the privacy preserving tool in the scenario of information retrieval. 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588F9-801A-6AC5-2B61-578E0B0D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759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644"/>
    </mc:Choice>
    <mc:Fallback xmlns="">
      <p:transition advTm="3364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97CD-9C51-C11A-F813-C9951379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BBFF-7783-DAB9-EB89-06D83191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Dwork and Differential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96387-435F-7F62-F043-3302F64B9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93873" cy="3534315"/>
          </a:xfrm>
        </p:spPr>
        <p:txBody>
          <a:bodyPr>
            <a:normAutofit/>
          </a:bodyPr>
          <a:lstStyle/>
          <a:p>
            <a:r>
              <a:rPr lang="en-AU" dirty="0"/>
              <a:t>Dwork was an expert of cryptography at Microsoft</a:t>
            </a:r>
          </a:p>
          <a:p>
            <a:r>
              <a:rPr lang="en-AU" dirty="0"/>
              <a:t>Developed ε-differential privacy in 2006</a:t>
            </a:r>
          </a:p>
          <a:p>
            <a:r>
              <a:rPr lang="en-AU" dirty="0"/>
              <a:t>Now a professor of Harvard, and fellow of National Academy of Sciences.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A92EB-D218-7E56-BFB5-6020F20B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7</a:t>
            </a:fld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56188-348D-02DE-1D47-225B1AA1B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672" y="1472334"/>
            <a:ext cx="3175000" cy="3403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26DC98-4B97-3752-0242-3703D34C45C6}"/>
              </a:ext>
            </a:extLst>
          </p:cNvPr>
          <p:cNvSpPr txBox="1"/>
          <p:nvPr/>
        </p:nvSpPr>
        <p:spPr>
          <a:xfrm>
            <a:off x="7232073" y="517527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https://en.wikipedia.org/wiki/Cynthia_Dwork</a:t>
            </a:r>
          </a:p>
        </p:txBody>
      </p:sp>
    </p:spTree>
    <p:extLst>
      <p:ext uri="{BB962C8B-B14F-4D97-AF65-F5344CB8AC3E}">
        <p14:creationId xmlns:p14="http://schemas.microsoft.com/office/powerpoint/2010/main" val="186763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644"/>
    </mc:Choice>
    <mc:Fallback xmlns="">
      <p:transition advTm="3364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8"/>
          <p:cNvSpPr txBox="1">
            <a:spLocks/>
          </p:cNvSpPr>
          <p:nvPr/>
        </p:nvSpPr>
        <p:spPr>
          <a:xfrm>
            <a:off x="1614447" y="1922736"/>
            <a:ext cx="4805807" cy="4205690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en-US" sz="24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Differential privacy almost is the only new mathematical tool for big data privacy </a:t>
            </a:r>
          </a:p>
          <a:p>
            <a:pPr marL="0" indent="0">
              <a:buNone/>
              <a:defRPr/>
            </a:pPr>
            <a:endParaRPr lang="en-US" altLang="en-US" sz="2400" dirty="0">
              <a:latin typeface="Myriad Pro" pitchFamily="34" charset="0"/>
              <a:ea typeface="ＭＳ Ｐゴシック" panose="020B0600070205080204" pitchFamily="34" charset="-128"/>
              <a:cs typeface="Myriad Pro" pitchFamily="34" charset="0"/>
            </a:endParaRPr>
          </a:p>
          <a:p>
            <a:pPr>
              <a:buFontTx/>
              <a:buChar char="-"/>
              <a:defRPr/>
            </a:pPr>
            <a:r>
              <a:rPr lang="en-US" altLang="en-US" sz="24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Collaboration with mathematicians</a:t>
            </a:r>
          </a:p>
          <a:p>
            <a:pPr>
              <a:buFontTx/>
              <a:buChar char="-"/>
              <a:defRPr/>
            </a:pPr>
            <a:r>
              <a:rPr lang="en-US" altLang="en-US" sz="24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Transform ourselves to “mathematicians”</a:t>
            </a:r>
          </a:p>
          <a:p>
            <a:pPr>
              <a:buFontTx/>
              <a:buChar char="-"/>
              <a:defRPr/>
            </a:pPr>
            <a:r>
              <a:rPr lang="en-US" altLang="en-US" sz="2400" dirty="0">
                <a:latin typeface="Myriad Pro" pitchFamily="34" charset="0"/>
                <a:ea typeface="ＭＳ Ｐゴシック" panose="020B0600070205080204" pitchFamily="34" charset="-128"/>
                <a:cs typeface="Myriad Pro" pitchFamily="34" charset="0"/>
              </a:rPr>
              <a:t>…</a:t>
            </a:r>
          </a:p>
        </p:txBody>
      </p:sp>
      <p:pic>
        <p:nvPicPr>
          <p:cNvPr id="11266" name="Picture 2" descr="Prehistoric tools hi-res stock photography and images - Alamy">
            <a:extLst>
              <a:ext uri="{FF2B5EF4-FFF2-40B4-BE49-F238E27FC236}">
                <a16:creationId xmlns:a16="http://schemas.microsoft.com/office/drawing/2014/main" id="{E37994F7-1632-CB81-BBA8-FE8B41E12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013" y="1922736"/>
            <a:ext cx="3262623" cy="435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03368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1120" y="0"/>
            <a:ext cx="9509760" cy="897198"/>
          </a:xfrm>
        </p:spPr>
        <p:txBody>
          <a:bodyPr>
            <a:normAutofit/>
          </a:bodyPr>
          <a:lstStyle/>
          <a:p>
            <a:r>
              <a:rPr lang="en-US" altLang="zh-CN" dirty="0"/>
              <a:t>Privacy Model</a:t>
            </a:r>
            <a:endParaRPr lang="zh-CN" altLang="en-US" dirty="0"/>
          </a:p>
        </p:txBody>
      </p:sp>
      <p:sp>
        <p:nvSpPr>
          <p:cNvPr id="50" name="内容占位符 2"/>
          <p:cNvSpPr>
            <a:spLocks noGrp="1"/>
          </p:cNvSpPr>
          <p:nvPr>
            <p:ph idx="1"/>
          </p:nvPr>
        </p:nvSpPr>
        <p:spPr>
          <a:xfrm>
            <a:off x="1186073" y="1024614"/>
            <a:ext cx="9509760" cy="1083247"/>
          </a:xfrm>
        </p:spPr>
        <p:txBody>
          <a:bodyPr>
            <a:normAutofit fontScale="85000" lnSpcReduction="20000"/>
          </a:bodyPr>
          <a:lstStyle/>
          <a:p>
            <a:r>
              <a:rPr lang="en-AU" dirty="0"/>
              <a:t>A set of rules/assumptions to describe/measure the privacy of a dataset.</a:t>
            </a:r>
            <a:endParaRPr lang="en-US" dirty="0"/>
          </a:p>
          <a:p>
            <a:r>
              <a:rPr lang="en-US" altLang="zh-CN" dirty="0"/>
              <a:t>Privacy: (informal definition) adversary cannot learn anything new about particular individual after </a:t>
            </a:r>
            <a:r>
              <a:rPr lang="en-AU" altLang="zh-CN" dirty="0"/>
              <a:t>(</a:t>
            </a:r>
            <a:r>
              <a:rPr lang="en-US" altLang="zh-CN" dirty="0"/>
              <a:t>multiple</a:t>
            </a:r>
            <a:r>
              <a:rPr lang="en-AU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accessing to the dataset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879517" y="2407100"/>
            <a:ext cx="7435881" cy="2822103"/>
            <a:chOff x="1370014" y="1764161"/>
            <a:chExt cx="5576911" cy="2822103"/>
          </a:xfrm>
        </p:grpSpPr>
        <p:grpSp>
          <p:nvGrpSpPr>
            <p:cNvPr id="25" name="组合 24"/>
            <p:cNvGrpSpPr/>
            <p:nvPr/>
          </p:nvGrpSpPr>
          <p:grpSpPr>
            <a:xfrm>
              <a:off x="1370014" y="1764161"/>
              <a:ext cx="5244661" cy="2200853"/>
              <a:chOff x="1370014" y="2636912"/>
              <a:chExt cx="5244661" cy="2200853"/>
            </a:xfrm>
          </p:grpSpPr>
          <p:pic>
            <p:nvPicPr>
              <p:cNvPr id="28" name="Picture 3" descr="C:\Program Files\Microsoft Office\MEDIA\CAGCAT10\j0292020.wmf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989945" y="2636912"/>
                <a:ext cx="624730" cy="592883"/>
              </a:xfrm>
              <a:prstGeom prst="rect">
                <a:avLst/>
              </a:prstGeom>
              <a:noFill/>
            </p:spPr>
          </p:pic>
          <p:sp>
            <p:nvSpPr>
              <p:cNvPr id="29" name="Flowchart: Magnetic Disk 5"/>
              <p:cNvSpPr/>
              <p:nvPr/>
            </p:nvSpPr>
            <p:spPr>
              <a:xfrm>
                <a:off x="3614936" y="3287040"/>
                <a:ext cx="1066800" cy="685800"/>
              </a:xfrm>
              <a:prstGeom prst="flowChartMagneticDisk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Original Dataset D</a:t>
                </a:r>
                <a:endParaRPr lang="en-AU" sz="1600" dirty="0"/>
              </a:p>
            </p:txBody>
          </p:sp>
          <p:sp>
            <p:nvSpPr>
              <p:cNvPr id="31" name="Rounded Rectangle 6"/>
              <p:cNvSpPr/>
              <p:nvPr/>
            </p:nvSpPr>
            <p:spPr>
              <a:xfrm>
                <a:off x="1370014" y="2826175"/>
                <a:ext cx="914400" cy="304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Alice</a:t>
                </a:r>
                <a:endParaRPr lang="en-AU" sz="1600" dirty="0"/>
              </a:p>
            </p:txBody>
          </p:sp>
          <p:sp>
            <p:nvSpPr>
              <p:cNvPr id="35" name="Rounded Rectangle 7"/>
              <p:cNvSpPr/>
              <p:nvPr/>
            </p:nvSpPr>
            <p:spPr>
              <a:xfrm>
                <a:off x="1370014" y="3511975"/>
                <a:ext cx="914400" cy="304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Bob</a:t>
                </a:r>
                <a:endParaRPr lang="en-AU" sz="1600" dirty="0"/>
              </a:p>
            </p:txBody>
          </p:sp>
          <p:sp>
            <p:nvSpPr>
              <p:cNvPr id="36" name="Rounded Rectangle 8"/>
              <p:cNvSpPr/>
              <p:nvPr/>
            </p:nvSpPr>
            <p:spPr>
              <a:xfrm>
                <a:off x="1370014" y="4197775"/>
                <a:ext cx="914400" cy="3048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Cathy</a:t>
                </a:r>
                <a:endParaRPr lang="en-AU" sz="1600" dirty="0"/>
              </a:p>
            </p:txBody>
          </p:sp>
          <p:pic>
            <p:nvPicPr>
              <p:cNvPr id="37" name="Picture 3" descr="C:\Program Files\Microsoft Office\MEDIA\CAGCAT10\j0292020.wmf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989945" y="4244882"/>
                <a:ext cx="624730" cy="592883"/>
              </a:xfrm>
              <a:prstGeom prst="rect">
                <a:avLst/>
              </a:prstGeom>
              <a:noFill/>
            </p:spPr>
          </p:pic>
          <p:cxnSp>
            <p:nvCxnSpPr>
              <p:cNvPr id="38" name="Elbow Connector 14"/>
              <p:cNvCxnSpPr>
                <a:stCxn id="31" idx="3"/>
                <a:endCxn id="36" idx="3"/>
              </p:cNvCxnSpPr>
              <p:nvPr/>
            </p:nvCxnSpPr>
            <p:spPr>
              <a:xfrm>
                <a:off x="2284414" y="2978575"/>
                <a:ext cx="12700" cy="1371600"/>
              </a:xfrm>
              <a:prstGeom prst="bentConnector3">
                <a:avLst>
                  <a:gd name="adj1" fmla="val 180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18"/>
              <p:cNvCxnSpPr>
                <a:stCxn id="35" idx="3"/>
              </p:cNvCxnSpPr>
              <p:nvPr/>
            </p:nvCxnSpPr>
            <p:spPr>
              <a:xfrm>
                <a:off x="2284414" y="3664375"/>
                <a:ext cx="228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3"/>
              <p:cNvCxnSpPr/>
              <p:nvPr/>
            </p:nvCxnSpPr>
            <p:spPr>
              <a:xfrm flipV="1">
                <a:off x="2513012" y="3664374"/>
                <a:ext cx="2318663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肘形连接符 40"/>
              <p:cNvCxnSpPr/>
              <p:nvPr/>
            </p:nvCxnSpPr>
            <p:spPr>
              <a:xfrm rot="10800000" flipV="1">
                <a:off x="5920095" y="2933354"/>
                <a:ext cx="12700" cy="1607970"/>
              </a:xfrm>
              <a:prstGeom prst="bentConnector3">
                <a:avLst>
                  <a:gd name="adj1" fmla="val 180000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/>
              <p:nvPr/>
            </p:nvCxnSpPr>
            <p:spPr>
              <a:xfrm>
                <a:off x="3635896" y="3664374"/>
                <a:ext cx="2633490" cy="123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3" descr="C:\Program Files\Microsoft Office\MEDIA\CAGCAT10\j0292020.wmf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957021" y="3406682"/>
                <a:ext cx="624730" cy="592883"/>
              </a:xfrm>
              <a:prstGeom prst="rect">
                <a:avLst/>
              </a:prstGeom>
              <a:noFill/>
            </p:spPr>
          </p:pic>
        </p:grpSp>
        <p:sp>
          <p:nvSpPr>
            <p:cNvPr id="43" name="左大括号 42"/>
            <p:cNvSpPr/>
            <p:nvPr/>
          </p:nvSpPr>
          <p:spPr>
            <a:xfrm rot="16200000">
              <a:off x="2571872" y="2998121"/>
              <a:ext cx="491928" cy="2684357"/>
            </a:xfrm>
            <a:prstGeom prst="leftBrace">
              <a:avLst>
                <a:gd name="adj1" fmla="val 23333"/>
                <a:gd name="adj2" fmla="val 5311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eaVert"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4" name="左大括号 43"/>
            <p:cNvSpPr/>
            <p:nvPr/>
          </p:nvSpPr>
          <p:spPr>
            <a:xfrm rot="16200000">
              <a:off x="5296891" y="2936229"/>
              <a:ext cx="513158" cy="2786910"/>
            </a:xfrm>
            <a:prstGeom prst="leftBrace">
              <a:avLst>
                <a:gd name="adj1" fmla="val 23333"/>
                <a:gd name="adj2" fmla="val 5311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eaVert" rtlCol="0" anchor="ctr"/>
            <a:lstStyle/>
            <a:p>
              <a:pPr algn="ctr"/>
              <a:endParaRPr lang="zh-CN" altLang="en-US" sz="2400" dirty="0"/>
            </a:p>
          </p:txBody>
        </p:sp>
      </p:grpSp>
      <p:sp>
        <p:nvSpPr>
          <p:cNvPr id="5" name="Rectangle 4"/>
          <p:cNvSpPr/>
          <p:nvPr/>
        </p:nvSpPr>
        <p:spPr>
          <a:xfrm>
            <a:off x="3069067" y="5247868"/>
            <a:ext cx="21103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Data Collecting</a:t>
            </a:r>
            <a:endParaRPr lang="zh-CN" alt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5940953" y="5229203"/>
            <a:ext cx="29314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/>
              <a:t>Data Release/Sharing</a:t>
            </a:r>
            <a:endParaRPr lang="zh-CN" altLang="en-US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179453" y="3781808"/>
            <a:ext cx="996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Curator</a:t>
            </a:r>
          </a:p>
        </p:txBody>
      </p:sp>
      <p:sp>
        <p:nvSpPr>
          <p:cNvPr id="7" name="Oval 6"/>
          <p:cNvSpPr/>
          <p:nvPr/>
        </p:nvSpPr>
        <p:spPr>
          <a:xfrm>
            <a:off x="6578596" y="3015294"/>
            <a:ext cx="800793" cy="757388"/>
          </a:xfrm>
          <a:prstGeom prst="ellipse">
            <a:avLst/>
          </a:prstGeom>
          <a:solidFill>
            <a:srgbClr val="8926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PM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989" y="2355537"/>
            <a:ext cx="786452" cy="786452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1468982" y="3041091"/>
            <a:ext cx="772160" cy="774000"/>
            <a:chOff x="7406434" y="3195692"/>
            <a:chExt cx="772160" cy="774000"/>
          </a:xfrm>
        </p:grpSpPr>
        <p:sp>
          <p:nvSpPr>
            <p:cNvPr id="45" name="Oval 44"/>
            <p:cNvSpPr/>
            <p:nvPr/>
          </p:nvSpPr>
          <p:spPr>
            <a:xfrm>
              <a:off x="7406434" y="3195692"/>
              <a:ext cx="772160" cy="774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5545" y="3295723"/>
              <a:ext cx="573938" cy="573938"/>
            </a:xfrm>
            <a:prstGeom prst="rect">
              <a:avLst/>
            </a:prstGeom>
          </p:spPr>
        </p:pic>
      </p:grpSp>
      <p:grpSp>
        <p:nvGrpSpPr>
          <p:cNvPr id="47" name="Group 46"/>
          <p:cNvGrpSpPr/>
          <p:nvPr/>
        </p:nvGrpSpPr>
        <p:grpSpPr>
          <a:xfrm>
            <a:off x="1465387" y="3694063"/>
            <a:ext cx="772160" cy="774000"/>
            <a:chOff x="7835848" y="4910040"/>
            <a:chExt cx="772160" cy="774000"/>
          </a:xfrm>
        </p:grpSpPr>
        <p:sp>
          <p:nvSpPr>
            <p:cNvPr id="49" name="Oval 48"/>
            <p:cNvSpPr/>
            <p:nvPr/>
          </p:nvSpPr>
          <p:spPr>
            <a:xfrm>
              <a:off x="7835848" y="4910040"/>
              <a:ext cx="772160" cy="774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85554" y="5078600"/>
              <a:ext cx="436880" cy="436880"/>
            </a:xfrm>
            <a:prstGeom prst="rect">
              <a:avLst/>
            </a:prstGeom>
          </p:spPr>
        </p:pic>
      </p:grpSp>
      <p:sp>
        <p:nvSpPr>
          <p:cNvPr id="53" name="TextBox 52"/>
          <p:cNvSpPr txBox="1"/>
          <p:nvPr/>
        </p:nvSpPr>
        <p:spPr>
          <a:xfrm>
            <a:off x="7598571" y="2919150"/>
            <a:ext cx="23278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Public </a:t>
            </a:r>
            <a:r>
              <a:rPr lang="en-AU" sz="1600" dirty="0"/>
              <a:t>Users or Entities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6890"/>
    </mc:Choice>
    <mc:Fallback xmlns="">
      <p:transition advTm="2689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Differential Privacy Definition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41429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Definition:</a:t>
                </a:r>
                <a:endParaRPr lang="en-US" altLang="zh-CN" i="1" dirty="0"/>
              </a:p>
              <a:p>
                <a:pPr lvl="1"/>
                <a:r>
                  <a:rPr lang="en-US" altLang="zh-CN" dirty="0"/>
                  <a:t>a </a:t>
                </a:r>
                <a:r>
                  <a:rPr lang="en-US" altLang="zh-CN" u="sng" dirty="0"/>
                  <a:t>mechanism </a:t>
                </a:r>
                <a:r>
                  <a:rPr lang="en-US" altLang="zh-CN" b="1" i="1" u="sng" dirty="0"/>
                  <a:t>M</a:t>
                </a:r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r>
                      <a:rPr lang="zh-CN" altLang="el-GR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CN" i="1" u="sng" dirty="0"/>
                  <a:t>-differential privacy </a:t>
                </a:r>
                <a:r>
                  <a:rPr lang="en-US" altLang="zh-CN" dirty="0"/>
                  <a:t>if for all pairs of neighboring datasets </a:t>
                </a:r>
                <a:r>
                  <a:rPr lang="en-US" altLang="zh-CN" b="1" i="1" dirty="0"/>
                  <a:t>D</a:t>
                </a:r>
                <a:r>
                  <a:rPr lang="en-US" altLang="zh-CN" dirty="0"/>
                  <a:t> and </a:t>
                </a:r>
                <a:r>
                  <a:rPr lang="en-US" altLang="zh-CN" b="1" i="1" dirty="0"/>
                  <a:t>D’</a:t>
                </a:r>
                <a:r>
                  <a:rPr lang="en-US" altLang="zh-CN" dirty="0"/>
                  <a:t>, and for all possible output </a:t>
                </a:r>
                <a:r>
                  <a:rPr lang="en-US" altLang="zh-CN" b="1" i="1" dirty="0"/>
                  <a:t>S</a:t>
                </a:r>
                <a:r>
                  <a:rPr lang="en-US" altLang="zh-CN" dirty="0"/>
                  <a:t>, satisfy with:  </a:t>
                </a:r>
              </a:p>
              <a:p>
                <a:endParaRPr lang="en-US" altLang="zh-CN" sz="3200" dirty="0"/>
              </a:p>
              <a:p>
                <a:endParaRPr lang="en-US" altLang="zh-CN" sz="3200" dirty="0"/>
              </a:p>
              <a:p>
                <a:endParaRPr lang="en-US" altLang="zh-CN" sz="3200" dirty="0"/>
              </a:p>
              <a:p>
                <a:endParaRPr lang="zh-CN" altLang="en-US" sz="32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41429"/>
              </a:xfrm>
              <a:blipFill>
                <a:blip r:embed="rId4"/>
                <a:stretch>
                  <a:fillRect l="-1043" t="-2057" r="-2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 dirty="0"/>
          </a:p>
        </p:txBody>
      </p:sp>
      <p:grpSp>
        <p:nvGrpSpPr>
          <p:cNvPr id="4" name="Group 42"/>
          <p:cNvGrpSpPr/>
          <p:nvPr/>
        </p:nvGrpSpPr>
        <p:grpSpPr>
          <a:xfrm>
            <a:off x="6672064" y="3903439"/>
            <a:ext cx="4720294" cy="2168295"/>
            <a:chOff x="1547664" y="3851175"/>
            <a:chExt cx="3540221" cy="2168295"/>
          </a:xfrm>
        </p:grpSpPr>
        <p:sp>
          <p:nvSpPr>
            <p:cNvPr id="5" name="Freeform 17"/>
            <p:cNvSpPr/>
            <p:nvPr/>
          </p:nvSpPr>
          <p:spPr>
            <a:xfrm>
              <a:off x="1642188" y="4338607"/>
              <a:ext cx="3004457" cy="1179919"/>
            </a:xfrm>
            <a:custGeom>
              <a:avLst/>
              <a:gdLst>
                <a:gd name="connsiteX0" fmla="*/ 0 w 3004457"/>
                <a:gd name="connsiteY0" fmla="*/ 989173 h 1179919"/>
                <a:gd name="connsiteX1" fmla="*/ 690465 w 3004457"/>
                <a:gd name="connsiteY1" fmla="*/ 128 h 1179919"/>
                <a:gd name="connsiteX2" fmla="*/ 1828800 w 3004457"/>
                <a:gd name="connsiteY2" fmla="*/ 1045156 h 1179919"/>
                <a:gd name="connsiteX3" fmla="*/ 3004457 w 3004457"/>
                <a:gd name="connsiteY3" fmla="*/ 1166454 h 1179919"/>
                <a:gd name="connsiteX4" fmla="*/ 3004457 w 3004457"/>
                <a:gd name="connsiteY4" fmla="*/ 1166454 h 117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4457" h="1179919">
                  <a:moveTo>
                    <a:pt x="0" y="989173"/>
                  </a:moveTo>
                  <a:cubicBezTo>
                    <a:pt x="192832" y="489985"/>
                    <a:pt x="385665" y="-9202"/>
                    <a:pt x="690465" y="128"/>
                  </a:cubicBezTo>
                  <a:cubicBezTo>
                    <a:pt x="995265" y="9458"/>
                    <a:pt x="1443135" y="850768"/>
                    <a:pt x="1828800" y="1045156"/>
                  </a:cubicBezTo>
                  <a:cubicBezTo>
                    <a:pt x="2214465" y="1239544"/>
                    <a:pt x="3004457" y="1166454"/>
                    <a:pt x="3004457" y="1166454"/>
                  </a:cubicBezTo>
                  <a:lnTo>
                    <a:pt x="3004457" y="1166454"/>
                  </a:lnTo>
                </a:path>
              </a:pathLst>
            </a:custGeom>
            <a:ln w="254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2400"/>
            </a:p>
          </p:txBody>
        </p:sp>
        <p:sp>
          <p:nvSpPr>
            <p:cNvPr id="6" name="Freeform 19"/>
            <p:cNvSpPr/>
            <p:nvPr/>
          </p:nvSpPr>
          <p:spPr>
            <a:xfrm>
              <a:off x="1829707" y="4334035"/>
              <a:ext cx="3004457" cy="1179919"/>
            </a:xfrm>
            <a:custGeom>
              <a:avLst/>
              <a:gdLst>
                <a:gd name="connsiteX0" fmla="*/ 0 w 3004457"/>
                <a:gd name="connsiteY0" fmla="*/ 989173 h 1179919"/>
                <a:gd name="connsiteX1" fmla="*/ 690465 w 3004457"/>
                <a:gd name="connsiteY1" fmla="*/ 128 h 1179919"/>
                <a:gd name="connsiteX2" fmla="*/ 1828800 w 3004457"/>
                <a:gd name="connsiteY2" fmla="*/ 1045156 h 1179919"/>
                <a:gd name="connsiteX3" fmla="*/ 3004457 w 3004457"/>
                <a:gd name="connsiteY3" fmla="*/ 1166454 h 1179919"/>
                <a:gd name="connsiteX4" fmla="*/ 3004457 w 3004457"/>
                <a:gd name="connsiteY4" fmla="*/ 1166454 h 117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4457" h="1179919">
                  <a:moveTo>
                    <a:pt x="0" y="989173"/>
                  </a:moveTo>
                  <a:cubicBezTo>
                    <a:pt x="192832" y="489985"/>
                    <a:pt x="385665" y="-9202"/>
                    <a:pt x="690465" y="128"/>
                  </a:cubicBezTo>
                  <a:cubicBezTo>
                    <a:pt x="995265" y="9458"/>
                    <a:pt x="1443135" y="850768"/>
                    <a:pt x="1828800" y="1045156"/>
                  </a:cubicBezTo>
                  <a:cubicBezTo>
                    <a:pt x="2214465" y="1239544"/>
                    <a:pt x="3004457" y="1166454"/>
                    <a:pt x="3004457" y="1166454"/>
                  </a:cubicBezTo>
                  <a:lnTo>
                    <a:pt x="3004457" y="1166454"/>
                  </a:lnTo>
                </a:path>
              </a:pathLst>
            </a:custGeom>
            <a:ln w="25400">
              <a:solidFill>
                <a:srgbClr val="00B0F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2400"/>
            </a:p>
          </p:txBody>
        </p:sp>
        <p:cxnSp>
          <p:nvCxnSpPr>
            <p:cNvPr id="7" name="Straight Arrow Connector 30"/>
            <p:cNvCxnSpPr/>
            <p:nvPr/>
          </p:nvCxnSpPr>
          <p:spPr>
            <a:xfrm>
              <a:off x="1547664" y="5589240"/>
              <a:ext cx="3540221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32"/>
            <p:cNvCxnSpPr/>
            <p:nvPr/>
          </p:nvCxnSpPr>
          <p:spPr>
            <a:xfrm flipV="1">
              <a:off x="1547664" y="3861048"/>
              <a:ext cx="0" cy="1728192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34"/>
            <p:cNvCxnSpPr/>
            <p:nvPr/>
          </p:nvCxnSpPr>
          <p:spPr>
            <a:xfrm>
              <a:off x="2987824" y="4005064"/>
              <a:ext cx="0" cy="1584176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648973" y="3851175"/>
              <a:ext cx="665086" cy="379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865" i="1" dirty="0" err="1"/>
                <a:t>Pr</a:t>
              </a:r>
              <a:r>
                <a:rPr lang="en-AU" sz="1865" i="1" dirty="0"/>
                <a:t>[M()]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67632" y="5639814"/>
              <a:ext cx="220253" cy="379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865" i="1" dirty="0"/>
                <a:t>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ounded Rectangular Callout 39"/>
                <p:cNvSpPr/>
                <p:nvPr/>
              </p:nvSpPr>
              <p:spPr>
                <a:xfrm>
                  <a:off x="3458509" y="4158952"/>
                  <a:ext cx="1545539" cy="350168"/>
                </a:xfrm>
                <a:prstGeom prst="wedgeRoundRectCallout">
                  <a:avLst>
                    <a:gd name="adj1" fmla="val -76598"/>
                    <a:gd name="adj2" fmla="val 74378"/>
                    <a:gd name="adj3" fmla="val 16667"/>
                  </a:avLst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sz="1865" dirty="0"/>
                    <a:t>Ratio Bounded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sz="186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865" i="1">
                              <a:latin typeface="Cambria Math" panose="02040503050406030204"/>
                            </a:rPr>
                            <m:t>𝑒</m:t>
                          </m:r>
                        </m:e>
                        <m:sup>
                          <m:r>
                            <a:rPr lang="en-AU" sz="1865" i="1">
                              <a:latin typeface="Cambria Math" panose="02040503050406030204"/>
                              <a:ea typeface="Cambria Math" panose="02040503050406030204"/>
                            </a:rPr>
                            <m:t>𝜖</m:t>
                          </m:r>
                        </m:sup>
                      </m:sSup>
                    </m:oMath>
                  </a14:m>
                  <a:endParaRPr lang="en-AU" sz="1865" dirty="0"/>
                </a:p>
              </p:txBody>
            </p:sp>
          </mc:Choice>
          <mc:Fallback xmlns="">
            <p:sp>
              <p:nvSpPr>
                <p:cNvPr id="12" name="Rounded Rectangular Callout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509" y="4158952"/>
                  <a:ext cx="1545539" cy="350168"/>
                </a:xfrm>
                <a:prstGeom prst="wedgeRoundRectCallout">
                  <a:avLst>
                    <a:gd name="adj1" fmla="val -76598"/>
                    <a:gd name="adj2" fmla="val 74378"/>
                    <a:gd name="adj3" fmla="val 16667"/>
                  </a:avLst>
                </a:prstGeom>
                <a:blipFill rotWithShape="1">
                  <a:blip r:embed="rId5"/>
                </a:blipFill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/>
            <p:cNvSpPr txBox="1"/>
            <p:nvPr/>
          </p:nvSpPr>
          <p:spPr>
            <a:xfrm>
              <a:off x="2190569" y="4037790"/>
              <a:ext cx="249107" cy="379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865" i="1" dirty="0"/>
                <a:t>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40823" y="4067199"/>
              <a:ext cx="293591" cy="379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865" i="1" dirty="0"/>
                <a:t>D’</a:t>
              </a:r>
            </a:p>
          </p:txBody>
        </p:sp>
      </p:grpSp>
      <p:sp>
        <p:nvSpPr>
          <p:cNvPr id="15" name="圆角矩形标注 14"/>
          <p:cNvSpPr/>
          <p:nvPr/>
        </p:nvSpPr>
        <p:spPr>
          <a:xfrm>
            <a:off x="2285902" y="5088709"/>
            <a:ext cx="2319275" cy="360039"/>
          </a:xfrm>
          <a:prstGeom prst="wedgeRoundRectCallout">
            <a:avLst>
              <a:gd name="adj1" fmla="val -9581"/>
              <a:gd name="adj2" fmla="val -87234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65" dirty="0"/>
              <a:t>DP-Mechanism</a:t>
            </a:r>
            <a:endParaRPr lang="zh-CN" altLang="en-US" sz="186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圆角矩形标注 17"/>
              <p:cNvSpPr/>
              <p:nvPr/>
            </p:nvSpPr>
            <p:spPr>
              <a:xfrm>
                <a:off x="3908531" y="3478543"/>
                <a:ext cx="2319275" cy="360039"/>
              </a:xfrm>
              <a:prstGeom prst="wedgeRoundRectCallout">
                <a:avLst>
                  <a:gd name="adj1" fmla="val 6417"/>
                  <a:gd name="adj2" fmla="val 111526"/>
                  <a:gd name="adj3" fmla="val 16667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865" i="1">
                        <a:latin typeface="Cambria Math" panose="02040503050406030204"/>
                        <a:ea typeface="Cambria Math" panose="02040503050406030204"/>
                      </a:rPr>
                      <m:t>𝜖</m:t>
                    </m:r>
                    <m:r>
                      <a:rPr lang="en-US" altLang="zh-CN" sz="1865" i="1">
                        <a:latin typeface="Cambria Math" panose="02040503050406030204" pitchFamily="18" charset="0"/>
                        <a:ea typeface="Cambria Math" panose="02040503050406030204"/>
                      </a:rPr>
                      <m:t> </m:t>
                    </m:r>
                  </m:oMath>
                </a14:m>
                <a:r>
                  <a:rPr lang="en-US" altLang="zh-CN" sz="1865" dirty="0"/>
                  <a:t>is Privacy Budget</a:t>
                </a:r>
                <a:endParaRPr lang="zh-CN" altLang="en-US" sz="1865" dirty="0"/>
              </a:p>
            </p:txBody>
          </p:sp>
        </mc:Choice>
        <mc:Fallback xmlns="">
          <p:sp>
            <p:nvSpPr>
              <p:cNvPr id="18" name="圆角矩形标注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531" y="3478543"/>
                <a:ext cx="2319275" cy="360039"/>
              </a:xfrm>
              <a:prstGeom prst="wedgeRoundRectCallout">
                <a:avLst>
                  <a:gd name="adj1" fmla="val 6417"/>
                  <a:gd name="adj2" fmla="val 111526"/>
                  <a:gd name="adj3" fmla="val 16667"/>
                </a:avLst>
              </a:prstGeom>
              <a:blipFill>
                <a:blip r:embed="rId6"/>
                <a:stretch>
                  <a:fillRect t="-72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对象 22"/>
          <p:cNvGraphicFramePr>
            <a:graphicFrameLocks noChangeAspect="1"/>
          </p:cNvGraphicFramePr>
          <p:nvPr/>
        </p:nvGraphicFramePr>
        <p:xfrm>
          <a:off x="1684338" y="3986213"/>
          <a:ext cx="3443287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100000" imgH="10058400" progId="Equation.3">
                  <p:embed/>
                </p:oleObj>
              </mc:Choice>
              <mc:Fallback>
                <p:oleObj name="Equation" r:id="rId7" imgW="38100000" imgH="10058400" progId="Equation.3">
                  <p:embed/>
                  <p:pic>
                    <p:nvPicPr>
                      <p:cNvPr id="19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38" y="3986213"/>
                        <a:ext cx="3443287" cy="909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C2D82D5-8E79-9AB6-AC5D-9B68A0A3F155}"/>
              </a:ext>
            </a:extLst>
          </p:cNvPr>
          <p:cNvSpPr txBox="1"/>
          <p:nvPr/>
        </p:nvSpPr>
        <p:spPr>
          <a:xfrm>
            <a:off x="959650" y="5894684"/>
            <a:ext cx="100944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neighboring datasets</a:t>
            </a:r>
            <a:r>
              <a:rPr lang="en-US" altLang="zh-CN" sz="2400" dirty="0"/>
              <a:t>: there is maximum one item difference between D and D’</a:t>
            </a:r>
            <a:endParaRPr lang="en-AU" sz="2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82065"/>
    </mc:Choice>
    <mc:Fallback xmlns="">
      <p:transition advTm="1820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Typical Privacy Model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68CBD-616A-4BE1-AA39-352E5E690952}" type="slidenum">
              <a:rPr lang="en-AU" smtClean="0"/>
              <a:t>11</a:t>
            </a:fld>
            <a:endParaRPr lang="en-AU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74728" y="2207778"/>
          <a:ext cx="9132313" cy="3048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9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963">
                <a:tc>
                  <a:txBody>
                    <a:bodyPr/>
                    <a:lstStyle/>
                    <a:p>
                      <a:r>
                        <a:rPr lang="en-AU" sz="1600" dirty="0"/>
                        <a:t>Method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Advantage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Disadvantage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6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AU" sz="1600" dirty="0"/>
                        <a:t>Cryptography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AU" sz="1600" dirty="0"/>
                        <a:t>Not</a:t>
                      </a:r>
                      <a:r>
                        <a:rPr lang="en-AU" sz="1600" baseline="0" dirty="0"/>
                        <a:t> decreasing </a:t>
                      </a:r>
                      <a:r>
                        <a:rPr lang="en-AU" sz="1600" dirty="0"/>
                        <a:t>accuracy; 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AU" sz="1600" dirty="0"/>
                        <a:t>suitable for multiple parties computation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AU" sz="1600" dirty="0"/>
                        <a:t>Computation</a:t>
                      </a:r>
                      <a:r>
                        <a:rPr lang="en-AU" sz="1600" baseline="0" dirty="0"/>
                        <a:t> complexity; 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AU" sz="1600" baseline="0" dirty="0"/>
                        <a:t>people may not want to participant</a:t>
                      </a:r>
                      <a:endParaRPr lang="en-AU" sz="16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54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AU" sz="1600" dirty="0"/>
                        <a:t>Anonymization</a:t>
                      </a:r>
                    </a:p>
                    <a:p>
                      <a:endParaRPr lang="en-AU" sz="16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AU" sz="1600" dirty="0"/>
                        <a:t>Easy to understand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AU" sz="1600" dirty="0"/>
                        <a:t>Easy</a:t>
                      </a:r>
                      <a:r>
                        <a:rPr lang="en-AU" sz="1600" baseline="0" dirty="0"/>
                        <a:t> to implement for low dimensional dataset</a:t>
                      </a:r>
                      <a:endParaRPr lang="en-AU" sz="1600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A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guarantee on the</a:t>
                      </a:r>
                    </a:p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A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quality of the dataset;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A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NP-hard for high dimensional dataset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AU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Weak</a:t>
                      </a:r>
                      <a:r>
                        <a:rPr lang="en-AU" sz="16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privacy guarantee</a:t>
                      </a:r>
                      <a:endParaRPr lang="en-AU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153">
                <a:tc>
                  <a:txBody>
                    <a:bodyPr/>
                    <a:lstStyle/>
                    <a:p>
                      <a:r>
                        <a:rPr lang="en-AU" sz="1600" dirty="0"/>
                        <a:t>Perturbation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Provide high privacy level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AU" sz="1600" dirty="0"/>
                        <a:t>Noise size is subjective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6248"/>
    </mc:Choice>
    <mc:Fallback xmlns="">
      <p:transition advTm="2624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 of Traditional Privacy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Privacy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difficult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measured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compared</a:t>
            </a:r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privacy</a:t>
            </a:r>
            <a:r>
              <a:rPr lang="zh-CN" altLang="en-US" dirty="0"/>
              <a:t> </a:t>
            </a:r>
            <a:r>
              <a:rPr lang="en-US" altLang="zh-CN" dirty="0"/>
              <a:t>guarantee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hardly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proved</a:t>
            </a:r>
            <a:r>
              <a:rPr lang="zh-CN" altLang="en-US" dirty="0"/>
              <a:t> </a:t>
            </a:r>
            <a:r>
              <a:rPr lang="en-US" altLang="zh-CN" dirty="0"/>
              <a:t>theoretically</a:t>
            </a:r>
          </a:p>
          <a:p>
            <a:r>
              <a:rPr lang="en-AU" altLang="zh-CN" dirty="0"/>
              <a:t>Vulnerable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background</a:t>
            </a:r>
            <a:r>
              <a:rPr lang="zh-CN" altLang="en-US" dirty="0"/>
              <a:t> </a:t>
            </a:r>
            <a:r>
              <a:rPr lang="en-US" altLang="zh-CN" dirty="0"/>
              <a:t>attack</a:t>
            </a:r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2452"/>
    </mc:Choice>
    <mc:Fallback xmlns="">
      <p:transition advTm="9245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Differential Privacy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7191895" cy="4159539"/>
          </a:xfrm>
        </p:spPr>
        <p:txBody>
          <a:bodyPr/>
          <a:lstStyle/>
          <a:p>
            <a:r>
              <a:rPr lang="en-US" altLang="zh-CN" dirty="0"/>
              <a:t>Typical scenario for differential privacy</a:t>
            </a:r>
            <a:endParaRPr lang="zh-CN" altLang="en-US" i="1" dirty="0"/>
          </a:p>
          <a:p>
            <a:pPr lvl="2"/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i="1" dirty="0"/>
              <a:t>Other scenarios ?</a:t>
            </a:r>
            <a:endParaRPr lang="zh-CN" altLang="en-US" i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496469" y="2662647"/>
            <a:ext cx="42227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Statistical  information retrieval</a:t>
            </a:r>
          </a:p>
          <a:p>
            <a:endParaRPr lang="en-US" sz="2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85EA3B-B2D2-83B8-1790-1C1407501659}"/>
              </a:ext>
            </a:extLst>
          </p:cNvPr>
          <p:cNvSpPr txBox="1"/>
          <p:nvPr/>
        </p:nvSpPr>
        <p:spPr>
          <a:xfrm>
            <a:off x="1660468" y="4836272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Maybe suitable, maybe not</a:t>
            </a:r>
            <a:endParaRPr lang="en-AU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152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9901"/>
    </mc:Choice>
    <mc:Fallback xmlns="">
      <p:transition advTm="1599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Differential Privacy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14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846"/>
    </mc:Choice>
    <mc:Fallback xmlns="">
      <p:transition advTm="584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C83D-10B1-B5B7-574C-E979B327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4BC1D-950C-DCB2-12F4-F945DC8A5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Differential Privacy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D5F5AC-9021-1949-0CAE-7567B52E6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 individual is </a:t>
            </a:r>
            <a:r>
              <a:rPr lang="en-US" altLang="zh-CN" b="1" dirty="0"/>
              <a:t>in</a:t>
            </a:r>
            <a:r>
              <a:rPr lang="en-US" altLang="zh-CN" dirty="0"/>
              <a:t> or </a:t>
            </a:r>
            <a:r>
              <a:rPr lang="en-US" altLang="zh-CN" b="1" dirty="0"/>
              <a:t>out</a:t>
            </a:r>
            <a:r>
              <a:rPr lang="en-US" altLang="zh-CN" dirty="0"/>
              <a:t> of the database should make </a:t>
            </a:r>
            <a:r>
              <a:rPr lang="en-US" altLang="zh-CN" b="1" dirty="0"/>
              <a:t>little difference </a:t>
            </a:r>
            <a:r>
              <a:rPr lang="en-US" altLang="zh-CN" dirty="0"/>
              <a:t>of the analytical output.   </a:t>
            </a:r>
            <a:r>
              <a:rPr lang="en-US" altLang="zh-CN" i="1" dirty="0" err="1"/>
              <a:t>Dwork</a:t>
            </a:r>
            <a:r>
              <a:rPr lang="en-US" altLang="zh-CN" i="1" dirty="0"/>
              <a:t>, C. (2006). Differential Privacy</a:t>
            </a:r>
            <a:endParaRPr lang="zh-CN" altLang="en-US" i="1" dirty="0"/>
          </a:p>
          <a:p>
            <a:pPr lvl="2"/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99B9E7-E8DB-9935-BF93-594265F5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7" name="圆角矩形标注 6">
            <a:extLst>
              <a:ext uri="{FF2B5EF4-FFF2-40B4-BE49-F238E27FC236}">
                <a16:creationId xmlns:a16="http://schemas.microsoft.com/office/drawing/2014/main" id="{76264C4E-FADC-24B5-4DA6-0B44BDB18DEF}"/>
              </a:ext>
            </a:extLst>
          </p:cNvPr>
          <p:cNvSpPr/>
          <p:nvPr/>
        </p:nvSpPr>
        <p:spPr>
          <a:xfrm>
            <a:off x="7880724" y="4556189"/>
            <a:ext cx="2851007" cy="1584176"/>
          </a:xfrm>
          <a:prstGeom prst="wedgeRoundRectCallout">
            <a:avLst>
              <a:gd name="adj1" fmla="val -20643"/>
              <a:gd name="adj2" fmla="val -63451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95885" lvl="1"/>
            <a:r>
              <a:rPr lang="en-US" altLang="zh-CN" dirty="0"/>
              <a:t>If adversary cannot tell the difference between the output of D and D’, then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en-US" altLang="zh-CN" dirty="0"/>
              <a:t> is safe. </a:t>
            </a:r>
          </a:p>
        </p:txBody>
      </p:sp>
      <p:sp>
        <p:nvSpPr>
          <p:cNvPr id="8" name="圆角矩形标注 7">
            <a:extLst>
              <a:ext uri="{FF2B5EF4-FFF2-40B4-BE49-F238E27FC236}">
                <a16:creationId xmlns:a16="http://schemas.microsoft.com/office/drawing/2014/main" id="{1EBC0EF2-E594-8961-EF00-128CC8149F01}"/>
              </a:ext>
            </a:extLst>
          </p:cNvPr>
          <p:cNvSpPr/>
          <p:nvPr/>
        </p:nvSpPr>
        <p:spPr>
          <a:xfrm>
            <a:off x="7880724" y="3298914"/>
            <a:ext cx="2851007" cy="720080"/>
          </a:xfrm>
          <a:prstGeom prst="wedgeRoundRectCallout">
            <a:avLst>
              <a:gd name="adj1" fmla="val -20833"/>
              <a:gd name="adj2" fmla="val 73542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altLang="zh-CN" sz="2000" dirty="0"/>
              <a:t>Why does it work?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662DA1EA-57FB-F068-8307-8AD7B98F1C4F}"/>
              </a:ext>
            </a:extLst>
          </p:cNvPr>
          <p:cNvSpPr/>
          <p:nvPr/>
        </p:nvSpPr>
        <p:spPr>
          <a:xfrm>
            <a:off x="5371880" y="3815182"/>
            <a:ext cx="1225459" cy="230833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778628-28EE-9F9F-BA70-5DCB97BBAB2E}"/>
              </a:ext>
            </a:extLst>
          </p:cNvPr>
          <p:cNvSpPr txBox="1"/>
          <p:nvPr/>
        </p:nvSpPr>
        <p:spPr>
          <a:xfrm>
            <a:off x="5528142" y="3518858"/>
            <a:ext cx="55015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65" i="1" dirty="0"/>
              <a:t>f(D)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D743A0-7BDF-4720-0A34-D45F8E25A6A3}"/>
              </a:ext>
            </a:extLst>
          </p:cNvPr>
          <p:cNvSpPr txBox="1"/>
          <p:nvPr/>
        </p:nvSpPr>
        <p:spPr>
          <a:xfrm>
            <a:off x="6639974" y="3754317"/>
            <a:ext cx="1106393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65" dirty="0"/>
              <a:t>Output=</a:t>
            </a:r>
            <a:r>
              <a:rPr lang="en-AU" sz="1865" i="1" dirty="0"/>
              <a:t>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249E231-6E30-0C31-1C81-691F18340D8B}"/>
              </a:ext>
            </a:extLst>
          </p:cNvPr>
          <p:cNvGrpSpPr/>
          <p:nvPr/>
        </p:nvGrpSpPr>
        <p:grpSpPr>
          <a:xfrm>
            <a:off x="4061798" y="3005846"/>
            <a:ext cx="1257303" cy="1406328"/>
            <a:chOff x="2715917" y="3030785"/>
            <a:chExt cx="942977" cy="140632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AFE5352-83FD-C173-E10E-75B3FEF288FA}"/>
                </a:ext>
              </a:extLst>
            </p:cNvPr>
            <p:cNvGrpSpPr/>
            <p:nvPr/>
          </p:nvGrpSpPr>
          <p:grpSpPr>
            <a:xfrm>
              <a:off x="2715917" y="3400117"/>
              <a:ext cx="942977" cy="1036996"/>
              <a:chOff x="751139" y="4005062"/>
              <a:chExt cx="942977" cy="1036996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85F61A8-D349-89CD-A22E-9C75F5840E84}"/>
                  </a:ext>
                </a:extLst>
              </p:cNvPr>
              <p:cNvSpPr/>
              <p:nvPr/>
            </p:nvSpPr>
            <p:spPr>
              <a:xfrm>
                <a:off x="751141" y="4005062"/>
                <a:ext cx="942975" cy="2160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65" dirty="0"/>
                  <a:t>X</a:t>
                </a:r>
                <a:r>
                  <a:rPr lang="en-US" altLang="zh-CN" sz="1465" dirty="0"/>
                  <a:t>1</a:t>
                </a:r>
                <a:endParaRPr lang="zh-CN" altLang="en-US" sz="1465" dirty="0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56E117C-3855-17E8-B54D-8A88A4502DC3}"/>
                  </a:ext>
                </a:extLst>
              </p:cNvPr>
              <p:cNvSpPr/>
              <p:nvPr/>
            </p:nvSpPr>
            <p:spPr>
              <a:xfrm>
                <a:off x="751141" y="4221087"/>
                <a:ext cx="942975" cy="2160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65" dirty="0"/>
                  <a:t>X</a:t>
                </a:r>
                <a:r>
                  <a:rPr lang="en-US" altLang="zh-CN" sz="1465" dirty="0"/>
                  <a:t>2</a:t>
                </a:r>
                <a:endParaRPr lang="zh-CN" altLang="en-US" sz="1465" dirty="0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2A79D31-6405-DA9E-AC97-1FC185D92731}"/>
                  </a:ext>
                </a:extLst>
              </p:cNvPr>
              <p:cNvSpPr/>
              <p:nvPr/>
            </p:nvSpPr>
            <p:spPr>
              <a:xfrm>
                <a:off x="751140" y="4432853"/>
                <a:ext cx="942975" cy="2160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/>
                  <a:t>…</a:t>
                </a:r>
                <a:endParaRPr lang="zh-CN" altLang="en-US" sz="2400" dirty="0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E67DDBF-173E-E809-253A-E4821C802A23}"/>
                  </a:ext>
                </a:extLst>
              </p:cNvPr>
              <p:cNvSpPr/>
              <p:nvPr/>
            </p:nvSpPr>
            <p:spPr>
              <a:xfrm>
                <a:off x="751141" y="4648878"/>
                <a:ext cx="942975" cy="2160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65" dirty="0"/>
                  <a:t>X</a:t>
                </a:r>
                <a:r>
                  <a:rPr lang="en-US" altLang="zh-CN" sz="1465" dirty="0"/>
                  <a:t>n-1</a:t>
                </a:r>
                <a:endParaRPr lang="zh-CN" altLang="en-US" sz="1465" dirty="0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D593522-616B-F432-EF31-D38ED07A0336}"/>
                  </a:ext>
                </a:extLst>
              </p:cNvPr>
              <p:cNvSpPr/>
              <p:nvPr/>
            </p:nvSpPr>
            <p:spPr>
              <a:xfrm>
                <a:off x="751139" y="4826033"/>
                <a:ext cx="942975" cy="2160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65" dirty="0" err="1"/>
                  <a:t>X</a:t>
                </a:r>
                <a:r>
                  <a:rPr lang="en-US" altLang="zh-CN" sz="1465" dirty="0" err="1"/>
                  <a:t>n</a:t>
                </a:r>
                <a:endParaRPr lang="zh-CN" altLang="en-US" sz="1465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E82763-21E0-D510-615C-F39F86AA0B29}"/>
                </a:ext>
              </a:extLst>
            </p:cNvPr>
            <p:cNvSpPr txBox="1"/>
            <p:nvPr/>
          </p:nvSpPr>
          <p:spPr>
            <a:xfrm>
              <a:off x="3023737" y="3030785"/>
              <a:ext cx="2803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</p:grpSp>
      <p:grpSp>
        <p:nvGrpSpPr>
          <p:cNvPr id="20" name="组合 31">
            <a:extLst>
              <a:ext uri="{FF2B5EF4-FFF2-40B4-BE49-F238E27FC236}">
                <a16:creationId xmlns:a16="http://schemas.microsoft.com/office/drawing/2014/main" id="{7846619F-11D2-7877-82EF-136CDB022549}"/>
              </a:ext>
            </a:extLst>
          </p:cNvPr>
          <p:cNvGrpSpPr/>
          <p:nvPr/>
        </p:nvGrpSpPr>
        <p:grpSpPr>
          <a:xfrm>
            <a:off x="4110022" y="4636914"/>
            <a:ext cx="1257303" cy="1431447"/>
            <a:chOff x="2752082" y="4661850"/>
            <a:chExt cx="942977" cy="1431447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C91806CC-D97D-2D5D-A7A9-41BE57678F4C}"/>
                </a:ext>
              </a:extLst>
            </p:cNvPr>
            <p:cNvGrpSpPr/>
            <p:nvPr/>
          </p:nvGrpSpPr>
          <p:grpSpPr>
            <a:xfrm>
              <a:off x="2752082" y="5046989"/>
              <a:ext cx="942977" cy="1046308"/>
              <a:chOff x="751139" y="4005062"/>
              <a:chExt cx="942977" cy="1046308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70A0BBE4-2EAB-4D01-7830-486580C2C8E7}"/>
                  </a:ext>
                </a:extLst>
              </p:cNvPr>
              <p:cNvSpPr/>
              <p:nvPr/>
            </p:nvSpPr>
            <p:spPr>
              <a:xfrm>
                <a:off x="751141" y="4005062"/>
                <a:ext cx="942975" cy="2160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65" dirty="0"/>
                  <a:t>X</a:t>
                </a:r>
                <a:r>
                  <a:rPr lang="en-US" altLang="zh-CN" sz="1465" dirty="0"/>
                  <a:t>1</a:t>
                </a:r>
                <a:endParaRPr lang="zh-CN" altLang="en-US" sz="1465" dirty="0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E6873ACC-F048-ECF6-2FFC-79CBA42CF77C}"/>
                  </a:ext>
                </a:extLst>
              </p:cNvPr>
              <p:cNvSpPr/>
              <p:nvPr/>
            </p:nvSpPr>
            <p:spPr>
              <a:xfrm>
                <a:off x="751141" y="4221087"/>
                <a:ext cx="942975" cy="2160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65" dirty="0"/>
                  <a:t>X</a:t>
                </a:r>
                <a:r>
                  <a:rPr lang="en-US" altLang="zh-CN" sz="1465" dirty="0"/>
                  <a:t>2</a:t>
                </a:r>
                <a:endParaRPr lang="zh-CN" altLang="en-US" sz="1465" dirty="0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81707DC6-4882-9C8D-6546-D0AC681B09B3}"/>
                  </a:ext>
                </a:extLst>
              </p:cNvPr>
              <p:cNvSpPr/>
              <p:nvPr/>
            </p:nvSpPr>
            <p:spPr>
              <a:xfrm>
                <a:off x="751140" y="4432853"/>
                <a:ext cx="942975" cy="2160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/>
                  <a:t>…</a:t>
                </a:r>
                <a:endParaRPr lang="zh-CN" altLang="en-US" sz="2400" dirty="0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4CC64C98-5BAD-3DD5-C890-3F83C228A70B}"/>
                  </a:ext>
                </a:extLst>
              </p:cNvPr>
              <p:cNvSpPr/>
              <p:nvPr/>
            </p:nvSpPr>
            <p:spPr>
              <a:xfrm>
                <a:off x="751141" y="4648878"/>
                <a:ext cx="942975" cy="2160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65" dirty="0"/>
                  <a:t>X</a:t>
                </a:r>
                <a:r>
                  <a:rPr lang="en-US" altLang="zh-CN" sz="1465" dirty="0"/>
                  <a:t>n-1</a:t>
                </a:r>
                <a:endParaRPr lang="zh-CN" altLang="en-US" sz="1465" dirty="0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8F270A23-4B02-BD47-D7B8-ED9C2AC03FCB}"/>
                  </a:ext>
                </a:extLst>
              </p:cNvPr>
              <p:cNvSpPr/>
              <p:nvPr/>
            </p:nvSpPr>
            <p:spPr>
              <a:xfrm>
                <a:off x="751139" y="4835345"/>
                <a:ext cx="942975" cy="21602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65" dirty="0" err="1"/>
                  <a:t>X</a:t>
                </a:r>
                <a:r>
                  <a:rPr lang="en-US" altLang="zh-CN" sz="1465" dirty="0" err="1"/>
                  <a:t>n</a:t>
                </a:r>
                <a:endParaRPr lang="zh-CN" altLang="en-US" sz="1465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9AB1F3D-98B8-D8F1-DC96-A3B709B83B72}"/>
                </a:ext>
              </a:extLst>
            </p:cNvPr>
            <p:cNvSpPr txBox="1"/>
            <p:nvPr/>
          </p:nvSpPr>
          <p:spPr>
            <a:xfrm>
              <a:off x="3059904" y="4661850"/>
              <a:ext cx="3384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D’</a:t>
              </a:r>
              <a:endParaRPr lang="zh-CN" altLang="en-US" sz="2400" dirty="0"/>
            </a:p>
          </p:txBody>
        </p:sp>
      </p:grpSp>
      <p:sp>
        <p:nvSpPr>
          <p:cNvPr id="24" name="Left-Right Arrow 9">
            <a:extLst>
              <a:ext uri="{FF2B5EF4-FFF2-40B4-BE49-F238E27FC236}">
                <a16:creationId xmlns:a16="http://schemas.microsoft.com/office/drawing/2014/main" id="{CD9B05A5-5E08-8D2F-F1B5-D07BAD6B5B22}"/>
              </a:ext>
            </a:extLst>
          </p:cNvPr>
          <p:cNvSpPr/>
          <p:nvPr/>
        </p:nvSpPr>
        <p:spPr>
          <a:xfrm>
            <a:off x="5438810" y="5464831"/>
            <a:ext cx="1225459" cy="230833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B93A51-CBC6-312A-21AC-4C3216FD6158}"/>
              </a:ext>
            </a:extLst>
          </p:cNvPr>
          <p:cNvSpPr txBox="1"/>
          <p:nvPr/>
        </p:nvSpPr>
        <p:spPr>
          <a:xfrm>
            <a:off x="5595070" y="5168508"/>
            <a:ext cx="60946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65" i="1" dirty="0"/>
              <a:t>f(D’)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43C502-E047-91C8-594F-313D2D74DC23}"/>
              </a:ext>
            </a:extLst>
          </p:cNvPr>
          <p:cNvSpPr txBox="1"/>
          <p:nvPr/>
        </p:nvSpPr>
        <p:spPr>
          <a:xfrm>
            <a:off x="6706904" y="5403966"/>
            <a:ext cx="1106393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65" dirty="0"/>
              <a:t>Output=</a:t>
            </a:r>
            <a:r>
              <a:rPr lang="en-AU" sz="1865" i="1" dirty="0"/>
              <a:t>S</a:t>
            </a:r>
          </a:p>
        </p:txBody>
      </p:sp>
      <p:grpSp>
        <p:nvGrpSpPr>
          <p:cNvPr id="32" name="组合 33">
            <a:extLst>
              <a:ext uri="{FF2B5EF4-FFF2-40B4-BE49-F238E27FC236}">
                <a16:creationId xmlns:a16="http://schemas.microsoft.com/office/drawing/2014/main" id="{10C15107-DF55-DBD9-1A3F-AC5EC6CEE42D}"/>
              </a:ext>
            </a:extLst>
          </p:cNvPr>
          <p:cNvGrpSpPr/>
          <p:nvPr/>
        </p:nvGrpSpPr>
        <p:grpSpPr>
          <a:xfrm>
            <a:off x="1548399" y="3672745"/>
            <a:ext cx="2513402" cy="2101133"/>
            <a:chOff x="830865" y="3697684"/>
            <a:chExt cx="1885051" cy="2101133"/>
          </a:xfrm>
        </p:grpSpPr>
        <p:sp>
          <p:nvSpPr>
            <p:cNvPr id="6" name="左大括号 5">
              <a:extLst>
                <a:ext uri="{FF2B5EF4-FFF2-40B4-BE49-F238E27FC236}">
                  <a16:creationId xmlns:a16="http://schemas.microsoft.com/office/drawing/2014/main" id="{3CDE5B5F-FDFD-9F29-C570-A7AF6E944608}"/>
                </a:ext>
              </a:extLst>
            </p:cNvPr>
            <p:cNvSpPr/>
            <p:nvPr/>
          </p:nvSpPr>
          <p:spPr>
            <a:xfrm>
              <a:off x="2377697" y="3697684"/>
              <a:ext cx="338219" cy="2101133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3" name="圆角矩形标注 32">
              <a:extLst>
                <a:ext uri="{FF2B5EF4-FFF2-40B4-BE49-F238E27FC236}">
                  <a16:creationId xmlns:a16="http://schemas.microsoft.com/office/drawing/2014/main" id="{C342DA8D-9E4E-49A6-D2AA-4203228EC705}"/>
                </a:ext>
              </a:extLst>
            </p:cNvPr>
            <p:cNvSpPr/>
            <p:nvPr/>
          </p:nvSpPr>
          <p:spPr>
            <a:xfrm>
              <a:off x="830865" y="4120114"/>
              <a:ext cx="1546831" cy="1215153"/>
            </a:xfrm>
            <a:prstGeom prst="wedgeRoundRectCallout">
              <a:avLst>
                <a:gd name="adj1" fmla="val 49058"/>
                <a:gd name="adj2" fmla="val -846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b="1" dirty="0"/>
                <a:t>Neighboring datasets</a:t>
              </a:r>
              <a:r>
                <a:rPr lang="en-US" altLang="zh-CN" dirty="0"/>
                <a:t>: differ in a single record</a:t>
              </a:r>
              <a:endParaRPr lang="zh-CN" altLang="en-US" dirty="0"/>
            </a:p>
          </p:txBody>
        </p:sp>
      </p:grpSp>
      <p:cxnSp>
        <p:nvCxnSpPr>
          <p:cNvPr id="22" name="Straight Connector 16">
            <a:extLst>
              <a:ext uri="{FF2B5EF4-FFF2-40B4-BE49-F238E27FC236}">
                <a16:creationId xmlns:a16="http://schemas.microsoft.com/office/drawing/2014/main" id="{A72DC08B-1689-9BE5-2CFB-D9449B0DDB4D}"/>
              </a:ext>
            </a:extLst>
          </p:cNvPr>
          <p:cNvCxnSpPr/>
          <p:nvPr/>
        </p:nvCxnSpPr>
        <p:spPr>
          <a:xfrm>
            <a:off x="3988904" y="5960345"/>
            <a:ext cx="1499531" cy="0"/>
          </a:xfrm>
          <a:prstGeom prst="line">
            <a:avLst/>
          </a:prstGeom>
          <a:ln w="31750">
            <a:solidFill>
              <a:srgbClr val="89260B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4781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9901"/>
    </mc:Choice>
    <mc:Fallback xmlns="">
      <p:transition advTm="1599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/>
      <p:bldP spid="12" grpId="0"/>
      <p:bldP spid="24" grpId="0" animBg="1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AD09F-2DE1-2F76-CF5F-9137F8AB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7120-EB5B-BBE3-9798-D2783493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C071B-4C97-77F5-526B-5EB1D3F3C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10 people’s salary D={6000, 7000, 6500, 8000, 7200, 9000, </a:t>
            </a:r>
          </a:p>
          <a:p>
            <a:pPr marL="0" indent="0">
              <a:buNone/>
            </a:pPr>
            <a:r>
              <a:rPr lang="en-US" dirty="0"/>
              <a:t>7500, 6800, 7100, 7900}, their belongs to A, B, C,…</a:t>
            </a:r>
          </a:p>
          <a:p>
            <a:pPr marL="0" indent="0">
              <a:buNone/>
            </a:pPr>
            <a:r>
              <a:rPr lang="en-US" dirty="0"/>
              <a:t>Attack: </a:t>
            </a:r>
          </a:p>
          <a:p>
            <a:pPr marL="514350" indent="-514350">
              <a:buAutoNum type="arabicPeriod"/>
            </a:pPr>
            <a:r>
              <a:rPr lang="en-US" dirty="0"/>
              <a:t>avg= 7300 for 10 people (dataset D)</a:t>
            </a:r>
          </a:p>
          <a:p>
            <a:pPr marL="514350" indent="-514350">
              <a:buAutoNum type="arabicPeriod"/>
            </a:pPr>
            <a:r>
              <a:rPr lang="en-US" dirty="0"/>
              <a:t>Remove A’s salary (6000 in this case) have dataset D’, what is the average? 804.4</a:t>
            </a:r>
          </a:p>
          <a:p>
            <a:pPr marL="514350" indent="-514350">
              <a:buAutoNum type="arabicPeriod"/>
            </a:pPr>
            <a:r>
              <a:rPr lang="en-US" dirty="0"/>
              <a:t> attacker can figure out A’s Salary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6DCDF-6CED-1183-2EBE-BEEAAAFD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02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74270"/>
    </mc:Choice>
    <mc:Fallback xmlns="">
      <p:transition advTm="7427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Differential Privacy Definition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41429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Definition:</a:t>
                </a:r>
                <a:endParaRPr lang="en-US" altLang="zh-CN" i="1" dirty="0"/>
              </a:p>
              <a:p>
                <a:pPr lvl="1"/>
                <a:r>
                  <a:rPr lang="en-US" altLang="zh-CN" dirty="0"/>
                  <a:t>a </a:t>
                </a:r>
                <a:r>
                  <a:rPr lang="en-US" altLang="zh-CN" u="sng" dirty="0"/>
                  <a:t>mechanism </a:t>
                </a:r>
                <a:r>
                  <a:rPr lang="en-US" altLang="zh-CN" b="1" i="1" u="sng" dirty="0"/>
                  <a:t>M</a:t>
                </a:r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r>
                      <a:rPr lang="zh-CN" altLang="el-GR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CN" i="1" u="sng" dirty="0"/>
                  <a:t>-differential privacy </a:t>
                </a:r>
                <a:r>
                  <a:rPr lang="en-US" altLang="zh-CN" dirty="0"/>
                  <a:t>if for all pairs of neighboring datasets </a:t>
                </a:r>
                <a:r>
                  <a:rPr lang="en-US" altLang="zh-CN" b="1" i="1" dirty="0"/>
                  <a:t>D</a:t>
                </a:r>
                <a:r>
                  <a:rPr lang="en-US" altLang="zh-CN" dirty="0"/>
                  <a:t> and </a:t>
                </a:r>
                <a:r>
                  <a:rPr lang="en-US" altLang="zh-CN" b="1" i="1" dirty="0"/>
                  <a:t>D’</a:t>
                </a:r>
                <a:r>
                  <a:rPr lang="en-US" altLang="zh-CN" dirty="0"/>
                  <a:t>, and for all possible output </a:t>
                </a:r>
                <a:r>
                  <a:rPr lang="en-US" altLang="zh-CN" b="1" i="1" dirty="0"/>
                  <a:t>S</a:t>
                </a:r>
                <a:r>
                  <a:rPr lang="en-US" altLang="zh-CN" dirty="0"/>
                  <a:t>, satisfy with:  </a:t>
                </a:r>
              </a:p>
              <a:p>
                <a:endParaRPr lang="en-US" altLang="zh-CN" sz="3200" dirty="0"/>
              </a:p>
              <a:p>
                <a:endParaRPr lang="en-US" altLang="zh-CN" sz="3200" dirty="0"/>
              </a:p>
              <a:p>
                <a:endParaRPr lang="en-US" altLang="zh-CN" sz="3200" dirty="0"/>
              </a:p>
              <a:p>
                <a:endParaRPr lang="zh-CN" altLang="en-US" sz="32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41429"/>
              </a:xfrm>
              <a:blipFill>
                <a:blip r:embed="rId4"/>
                <a:stretch>
                  <a:fillRect l="-1043" t="-2057" r="-2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 dirty="0"/>
          </a:p>
        </p:txBody>
      </p:sp>
      <p:grpSp>
        <p:nvGrpSpPr>
          <p:cNvPr id="4" name="Group 42"/>
          <p:cNvGrpSpPr/>
          <p:nvPr/>
        </p:nvGrpSpPr>
        <p:grpSpPr>
          <a:xfrm>
            <a:off x="6672064" y="3903439"/>
            <a:ext cx="4720294" cy="2168295"/>
            <a:chOff x="1547664" y="3851175"/>
            <a:chExt cx="3540221" cy="2168295"/>
          </a:xfrm>
        </p:grpSpPr>
        <p:sp>
          <p:nvSpPr>
            <p:cNvPr id="5" name="Freeform 17"/>
            <p:cNvSpPr/>
            <p:nvPr/>
          </p:nvSpPr>
          <p:spPr>
            <a:xfrm>
              <a:off x="1642188" y="4338607"/>
              <a:ext cx="3004457" cy="1179919"/>
            </a:xfrm>
            <a:custGeom>
              <a:avLst/>
              <a:gdLst>
                <a:gd name="connsiteX0" fmla="*/ 0 w 3004457"/>
                <a:gd name="connsiteY0" fmla="*/ 989173 h 1179919"/>
                <a:gd name="connsiteX1" fmla="*/ 690465 w 3004457"/>
                <a:gd name="connsiteY1" fmla="*/ 128 h 1179919"/>
                <a:gd name="connsiteX2" fmla="*/ 1828800 w 3004457"/>
                <a:gd name="connsiteY2" fmla="*/ 1045156 h 1179919"/>
                <a:gd name="connsiteX3" fmla="*/ 3004457 w 3004457"/>
                <a:gd name="connsiteY3" fmla="*/ 1166454 h 1179919"/>
                <a:gd name="connsiteX4" fmla="*/ 3004457 w 3004457"/>
                <a:gd name="connsiteY4" fmla="*/ 1166454 h 117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4457" h="1179919">
                  <a:moveTo>
                    <a:pt x="0" y="989173"/>
                  </a:moveTo>
                  <a:cubicBezTo>
                    <a:pt x="192832" y="489985"/>
                    <a:pt x="385665" y="-9202"/>
                    <a:pt x="690465" y="128"/>
                  </a:cubicBezTo>
                  <a:cubicBezTo>
                    <a:pt x="995265" y="9458"/>
                    <a:pt x="1443135" y="850768"/>
                    <a:pt x="1828800" y="1045156"/>
                  </a:cubicBezTo>
                  <a:cubicBezTo>
                    <a:pt x="2214465" y="1239544"/>
                    <a:pt x="3004457" y="1166454"/>
                    <a:pt x="3004457" y="1166454"/>
                  </a:cubicBezTo>
                  <a:lnTo>
                    <a:pt x="3004457" y="1166454"/>
                  </a:lnTo>
                </a:path>
              </a:pathLst>
            </a:custGeom>
            <a:ln w="254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2400"/>
            </a:p>
          </p:txBody>
        </p:sp>
        <p:sp>
          <p:nvSpPr>
            <p:cNvPr id="6" name="Freeform 19"/>
            <p:cNvSpPr/>
            <p:nvPr/>
          </p:nvSpPr>
          <p:spPr>
            <a:xfrm>
              <a:off x="1829707" y="4334035"/>
              <a:ext cx="3004457" cy="1179919"/>
            </a:xfrm>
            <a:custGeom>
              <a:avLst/>
              <a:gdLst>
                <a:gd name="connsiteX0" fmla="*/ 0 w 3004457"/>
                <a:gd name="connsiteY0" fmla="*/ 989173 h 1179919"/>
                <a:gd name="connsiteX1" fmla="*/ 690465 w 3004457"/>
                <a:gd name="connsiteY1" fmla="*/ 128 h 1179919"/>
                <a:gd name="connsiteX2" fmla="*/ 1828800 w 3004457"/>
                <a:gd name="connsiteY2" fmla="*/ 1045156 h 1179919"/>
                <a:gd name="connsiteX3" fmla="*/ 3004457 w 3004457"/>
                <a:gd name="connsiteY3" fmla="*/ 1166454 h 1179919"/>
                <a:gd name="connsiteX4" fmla="*/ 3004457 w 3004457"/>
                <a:gd name="connsiteY4" fmla="*/ 1166454 h 117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4457" h="1179919">
                  <a:moveTo>
                    <a:pt x="0" y="989173"/>
                  </a:moveTo>
                  <a:cubicBezTo>
                    <a:pt x="192832" y="489985"/>
                    <a:pt x="385665" y="-9202"/>
                    <a:pt x="690465" y="128"/>
                  </a:cubicBezTo>
                  <a:cubicBezTo>
                    <a:pt x="995265" y="9458"/>
                    <a:pt x="1443135" y="850768"/>
                    <a:pt x="1828800" y="1045156"/>
                  </a:cubicBezTo>
                  <a:cubicBezTo>
                    <a:pt x="2214465" y="1239544"/>
                    <a:pt x="3004457" y="1166454"/>
                    <a:pt x="3004457" y="1166454"/>
                  </a:cubicBezTo>
                  <a:lnTo>
                    <a:pt x="3004457" y="1166454"/>
                  </a:lnTo>
                </a:path>
              </a:pathLst>
            </a:custGeom>
            <a:ln w="25400">
              <a:solidFill>
                <a:srgbClr val="00B0F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2400"/>
            </a:p>
          </p:txBody>
        </p:sp>
        <p:cxnSp>
          <p:nvCxnSpPr>
            <p:cNvPr id="7" name="Straight Arrow Connector 30"/>
            <p:cNvCxnSpPr/>
            <p:nvPr/>
          </p:nvCxnSpPr>
          <p:spPr>
            <a:xfrm>
              <a:off x="1547664" y="5589240"/>
              <a:ext cx="3540221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32"/>
            <p:cNvCxnSpPr/>
            <p:nvPr/>
          </p:nvCxnSpPr>
          <p:spPr>
            <a:xfrm flipV="1">
              <a:off x="1547664" y="3861048"/>
              <a:ext cx="0" cy="1728192"/>
            </a:xfrm>
            <a:prstGeom prst="straightConnector1">
              <a:avLst/>
            </a:prstGeom>
            <a:ln>
              <a:solidFill>
                <a:schemeClr val="tx1">
                  <a:lumMod val="95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34"/>
            <p:cNvCxnSpPr/>
            <p:nvPr/>
          </p:nvCxnSpPr>
          <p:spPr>
            <a:xfrm>
              <a:off x="2987824" y="4005064"/>
              <a:ext cx="0" cy="1584176"/>
            </a:xfrm>
            <a:prstGeom prst="line">
              <a:avLst/>
            </a:prstGeom>
            <a:ln>
              <a:solidFill>
                <a:schemeClr val="tx1">
                  <a:lumMod val="95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648973" y="3851175"/>
              <a:ext cx="665086" cy="379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865" i="1" dirty="0" err="1"/>
                <a:t>Pr</a:t>
              </a:r>
              <a:r>
                <a:rPr lang="en-AU" sz="1865" i="1" dirty="0"/>
                <a:t>[M()]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67632" y="5639814"/>
              <a:ext cx="220253" cy="379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865" i="1" dirty="0"/>
                <a:t>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ounded Rectangular Callout 39"/>
                <p:cNvSpPr/>
                <p:nvPr/>
              </p:nvSpPr>
              <p:spPr>
                <a:xfrm>
                  <a:off x="3458509" y="4158952"/>
                  <a:ext cx="1545539" cy="350168"/>
                </a:xfrm>
                <a:prstGeom prst="wedgeRoundRectCallout">
                  <a:avLst>
                    <a:gd name="adj1" fmla="val -76598"/>
                    <a:gd name="adj2" fmla="val 74378"/>
                    <a:gd name="adj3" fmla="val 16667"/>
                  </a:avLst>
                </a:prstGeom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AU" sz="1865" dirty="0"/>
                    <a:t>Ratio Bounded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AU" sz="186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865" i="1">
                              <a:latin typeface="Cambria Math" panose="02040503050406030204"/>
                            </a:rPr>
                            <m:t>𝑒</m:t>
                          </m:r>
                        </m:e>
                        <m:sup>
                          <m:r>
                            <a:rPr lang="en-AU" sz="1865" i="1">
                              <a:latin typeface="Cambria Math" panose="02040503050406030204"/>
                              <a:ea typeface="Cambria Math" panose="02040503050406030204"/>
                            </a:rPr>
                            <m:t>𝜖</m:t>
                          </m:r>
                        </m:sup>
                      </m:sSup>
                    </m:oMath>
                  </a14:m>
                  <a:endParaRPr lang="en-AU" sz="1865" dirty="0"/>
                </a:p>
              </p:txBody>
            </p:sp>
          </mc:Choice>
          <mc:Fallback xmlns="">
            <p:sp>
              <p:nvSpPr>
                <p:cNvPr id="12" name="Rounded Rectangular Callout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509" y="4158952"/>
                  <a:ext cx="1545539" cy="350168"/>
                </a:xfrm>
                <a:prstGeom prst="wedgeRoundRectCallout">
                  <a:avLst>
                    <a:gd name="adj1" fmla="val -76598"/>
                    <a:gd name="adj2" fmla="val 74378"/>
                    <a:gd name="adj3" fmla="val 16667"/>
                  </a:avLst>
                </a:prstGeom>
                <a:blipFill rotWithShape="1">
                  <a:blip r:embed="rId5"/>
                </a:blipFill>
                <a:ln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/>
            <p:cNvSpPr txBox="1"/>
            <p:nvPr/>
          </p:nvSpPr>
          <p:spPr>
            <a:xfrm>
              <a:off x="2190569" y="4037790"/>
              <a:ext cx="249107" cy="379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865" i="1" dirty="0"/>
                <a:t>D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40823" y="4067199"/>
              <a:ext cx="293591" cy="379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865" i="1" dirty="0"/>
                <a:t>D’</a:t>
              </a:r>
            </a:p>
          </p:txBody>
        </p:sp>
      </p:grpSp>
      <p:sp>
        <p:nvSpPr>
          <p:cNvPr id="15" name="圆角矩形标注 14"/>
          <p:cNvSpPr/>
          <p:nvPr/>
        </p:nvSpPr>
        <p:spPr>
          <a:xfrm>
            <a:off x="2285902" y="5088709"/>
            <a:ext cx="2319275" cy="360039"/>
          </a:xfrm>
          <a:prstGeom prst="wedgeRoundRectCallout">
            <a:avLst>
              <a:gd name="adj1" fmla="val -9581"/>
              <a:gd name="adj2" fmla="val -87234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65" dirty="0"/>
              <a:t>DP-Mechanism</a:t>
            </a:r>
            <a:endParaRPr lang="zh-CN" altLang="en-US" sz="186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圆角矩形标注 17"/>
              <p:cNvSpPr/>
              <p:nvPr/>
            </p:nvSpPr>
            <p:spPr>
              <a:xfrm>
                <a:off x="3908531" y="3478543"/>
                <a:ext cx="2319275" cy="360039"/>
              </a:xfrm>
              <a:prstGeom prst="wedgeRoundRectCallout">
                <a:avLst>
                  <a:gd name="adj1" fmla="val 6417"/>
                  <a:gd name="adj2" fmla="val 111526"/>
                  <a:gd name="adj3" fmla="val 16667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865" i="1">
                        <a:latin typeface="Cambria Math" panose="02040503050406030204"/>
                        <a:ea typeface="Cambria Math" panose="02040503050406030204"/>
                      </a:rPr>
                      <m:t>𝜖</m:t>
                    </m:r>
                    <m:r>
                      <a:rPr lang="en-US" altLang="zh-CN" sz="1865" i="1">
                        <a:latin typeface="Cambria Math" panose="02040503050406030204" pitchFamily="18" charset="0"/>
                        <a:ea typeface="Cambria Math" panose="02040503050406030204"/>
                      </a:rPr>
                      <m:t> </m:t>
                    </m:r>
                  </m:oMath>
                </a14:m>
                <a:r>
                  <a:rPr lang="en-US" altLang="zh-CN" sz="1865" dirty="0"/>
                  <a:t>is Privacy Budget</a:t>
                </a:r>
                <a:endParaRPr lang="zh-CN" altLang="en-US" sz="1865" dirty="0"/>
              </a:p>
            </p:txBody>
          </p:sp>
        </mc:Choice>
        <mc:Fallback xmlns="">
          <p:sp>
            <p:nvSpPr>
              <p:cNvPr id="18" name="圆角矩形标注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531" y="3478543"/>
                <a:ext cx="2319275" cy="360039"/>
              </a:xfrm>
              <a:prstGeom prst="wedgeRoundRectCallout">
                <a:avLst>
                  <a:gd name="adj1" fmla="val 6417"/>
                  <a:gd name="adj2" fmla="val 111526"/>
                  <a:gd name="adj3" fmla="val 16667"/>
                </a:avLst>
              </a:prstGeom>
              <a:blipFill>
                <a:blip r:embed="rId6"/>
                <a:stretch>
                  <a:fillRect t="-72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对象 22"/>
          <p:cNvGraphicFramePr>
            <a:graphicFrameLocks noChangeAspect="1"/>
          </p:cNvGraphicFramePr>
          <p:nvPr/>
        </p:nvGraphicFramePr>
        <p:xfrm>
          <a:off x="1684338" y="3986213"/>
          <a:ext cx="3443287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100000" imgH="10058400" progId="Equation.3">
                  <p:embed/>
                </p:oleObj>
              </mc:Choice>
              <mc:Fallback>
                <p:oleObj name="Equation" r:id="rId7" imgW="38100000" imgH="10058400" progId="Equation.3">
                  <p:embed/>
                  <p:pic>
                    <p:nvPicPr>
                      <p:cNvPr id="19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38" y="3986213"/>
                        <a:ext cx="3443287" cy="909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C2D82D5-8E79-9AB6-AC5D-9B68A0A3F155}"/>
              </a:ext>
            </a:extLst>
          </p:cNvPr>
          <p:cNvSpPr txBox="1"/>
          <p:nvPr/>
        </p:nvSpPr>
        <p:spPr>
          <a:xfrm>
            <a:off x="959650" y="5894684"/>
            <a:ext cx="100944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neighboring datasets</a:t>
            </a:r>
            <a:r>
              <a:rPr lang="en-US" altLang="zh-CN" sz="2400" dirty="0"/>
              <a:t>: there is maximum one item difference between D and D’</a:t>
            </a:r>
            <a:endParaRPr lang="en-AU" sz="2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82065"/>
    </mc:Choice>
    <mc:Fallback xmlns="">
      <p:transition advTm="1820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achieve the definition?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Curator does not release a </a:t>
            </a:r>
            <a:r>
              <a:rPr lang="en-US" b="1" dirty="0"/>
              <a:t>dataset</a:t>
            </a:r>
            <a:r>
              <a:rPr lang="en-US" dirty="0"/>
              <a:t>, instead, a user submits statistical queries to the curator, and curator replies with </a:t>
            </a:r>
            <a:r>
              <a:rPr lang="en-US" b="1" dirty="0"/>
              <a:t>query answers</a:t>
            </a:r>
            <a:r>
              <a:rPr lang="en-US" dirty="0"/>
              <a:t>. </a:t>
            </a:r>
          </a:p>
          <a:p>
            <a:r>
              <a:rPr lang="en-US" dirty="0"/>
              <a:t>Add perturbation to the output</a:t>
            </a:r>
          </a:p>
          <a:p>
            <a:pPr lvl="1"/>
            <a:r>
              <a:rPr lang="en-US" dirty="0"/>
              <a:t>True answer is unique, but DP answer is a distribution.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Freeform 19"/>
          <p:cNvSpPr/>
          <p:nvPr/>
        </p:nvSpPr>
        <p:spPr>
          <a:xfrm>
            <a:off x="3296750" y="4187660"/>
            <a:ext cx="4005943" cy="1179919"/>
          </a:xfrm>
          <a:custGeom>
            <a:avLst/>
            <a:gdLst>
              <a:gd name="connsiteX0" fmla="*/ 0 w 3004457"/>
              <a:gd name="connsiteY0" fmla="*/ 989173 h 1179919"/>
              <a:gd name="connsiteX1" fmla="*/ 690465 w 3004457"/>
              <a:gd name="connsiteY1" fmla="*/ 128 h 1179919"/>
              <a:gd name="connsiteX2" fmla="*/ 1828800 w 3004457"/>
              <a:gd name="connsiteY2" fmla="*/ 1045156 h 1179919"/>
              <a:gd name="connsiteX3" fmla="*/ 3004457 w 3004457"/>
              <a:gd name="connsiteY3" fmla="*/ 1166454 h 1179919"/>
              <a:gd name="connsiteX4" fmla="*/ 3004457 w 3004457"/>
              <a:gd name="connsiteY4" fmla="*/ 1166454 h 117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4457" h="1179919">
                <a:moveTo>
                  <a:pt x="0" y="989173"/>
                </a:moveTo>
                <a:cubicBezTo>
                  <a:pt x="192832" y="489985"/>
                  <a:pt x="385665" y="-9202"/>
                  <a:pt x="690465" y="128"/>
                </a:cubicBezTo>
                <a:cubicBezTo>
                  <a:pt x="995265" y="9458"/>
                  <a:pt x="1443135" y="850768"/>
                  <a:pt x="1828800" y="1045156"/>
                </a:cubicBezTo>
                <a:cubicBezTo>
                  <a:pt x="2214465" y="1239544"/>
                  <a:pt x="3004457" y="1166454"/>
                  <a:pt x="3004457" y="1166454"/>
                </a:cubicBezTo>
                <a:lnTo>
                  <a:pt x="3004457" y="1166454"/>
                </a:lnTo>
              </a:path>
            </a:pathLst>
          </a:cu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" name="Straight Arrow Connector 30"/>
          <p:cNvCxnSpPr/>
          <p:nvPr/>
        </p:nvCxnSpPr>
        <p:spPr>
          <a:xfrm>
            <a:off x="2242690" y="5538872"/>
            <a:ext cx="49461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32"/>
          <p:cNvCxnSpPr/>
          <p:nvPr/>
        </p:nvCxnSpPr>
        <p:spPr>
          <a:xfrm flipV="1">
            <a:off x="2242690" y="3810680"/>
            <a:ext cx="0" cy="17281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79866" y="5567813"/>
            <a:ext cx="136922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65" i="1" dirty="0"/>
              <a:t>True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3705" y="5534448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i="1" dirty="0"/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1644" y="3720336"/>
            <a:ext cx="478016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665" i="1" dirty="0" err="1"/>
              <a:t>Pr</a:t>
            </a:r>
            <a:endParaRPr lang="en-AU" sz="2665" i="1" dirty="0"/>
          </a:p>
        </p:txBody>
      </p:sp>
      <p:sp>
        <p:nvSpPr>
          <p:cNvPr id="24" name="Oval 23"/>
          <p:cNvSpPr/>
          <p:nvPr/>
        </p:nvSpPr>
        <p:spPr>
          <a:xfrm>
            <a:off x="4066897" y="5427940"/>
            <a:ext cx="228127" cy="221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26" name="Straight Connector 25"/>
          <p:cNvCxnSpPr/>
          <p:nvPr/>
        </p:nvCxnSpPr>
        <p:spPr>
          <a:xfrm flipH="1" flipV="1">
            <a:off x="4129495" y="3810682"/>
            <a:ext cx="33408" cy="164975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0136"/>
    </mc:Choice>
    <mc:Fallback xmlns="">
      <p:transition advTm="1101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achieve the definition?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uncertainty to the output</a:t>
            </a:r>
          </a:p>
          <a:p>
            <a:pPr lvl="1"/>
            <a:r>
              <a:rPr lang="en-US" dirty="0"/>
              <a:t>perturbation: how much is enough?</a:t>
            </a:r>
          </a:p>
          <a:p>
            <a:pPr lvl="2"/>
            <a:r>
              <a:rPr lang="en-US" dirty="0"/>
              <a:t>Which Privacy Level?    </a:t>
            </a:r>
            <a:r>
              <a:rPr lang="en-US" u="sng" dirty="0"/>
              <a:t>Privacy Budget </a:t>
            </a:r>
            <a:r>
              <a:rPr lang="en-AU" dirty="0"/>
              <a:t>ε</a:t>
            </a:r>
            <a:endParaRPr lang="en-US" u="sng" dirty="0"/>
          </a:p>
          <a:p>
            <a:pPr lvl="2"/>
            <a:r>
              <a:rPr lang="en-US" dirty="0"/>
              <a:t>How much the difference (between query results on neighboring datasets) should be hide?   </a:t>
            </a:r>
            <a:r>
              <a:rPr lang="en-US" u="sng" dirty="0"/>
              <a:t>Sensitivity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Freeform 19"/>
          <p:cNvSpPr/>
          <p:nvPr/>
        </p:nvSpPr>
        <p:spPr>
          <a:xfrm>
            <a:off x="3870699" y="4334948"/>
            <a:ext cx="4005943" cy="1179919"/>
          </a:xfrm>
          <a:custGeom>
            <a:avLst/>
            <a:gdLst>
              <a:gd name="connsiteX0" fmla="*/ 0 w 3004457"/>
              <a:gd name="connsiteY0" fmla="*/ 989173 h 1179919"/>
              <a:gd name="connsiteX1" fmla="*/ 690465 w 3004457"/>
              <a:gd name="connsiteY1" fmla="*/ 128 h 1179919"/>
              <a:gd name="connsiteX2" fmla="*/ 1828800 w 3004457"/>
              <a:gd name="connsiteY2" fmla="*/ 1045156 h 1179919"/>
              <a:gd name="connsiteX3" fmla="*/ 3004457 w 3004457"/>
              <a:gd name="connsiteY3" fmla="*/ 1166454 h 1179919"/>
              <a:gd name="connsiteX4" fmla="*/ 3004457 w 3004457"/>
              <a:gd name="connsiteY4" fmla="*/ 1166454 h 117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4457" h="1179919">
                <a:moveTo>
                  <a:pt x="0" y="989173"/>
                </a:moveTo>
                <a:cubicBezTo>
                  <a:pt x="192832" y="489985"/>
                  <a:pt x="385665" y="-9202"/>
                  <a:pt x="690465" y="128"/>
                </a:cubicBezTo>
                <a:cubicBezTo>
                  <a:pt x="995265" y="9458"/>
                  <a:pt x="1443135" y="850768"/>
                  <a:pt x="1828800" y="1045156"/>
                </a:cubicBezTo>
                <a:cubicBezTo>
                  <a:pt x="2214465" y="1239544"/>
                  <a:pt x="3004457" y="1166454"/>
                  <a:pt x="3004457" y="1166454"/>
                </a:cubicBezTo>
                <a:lnTo>
                  <a:pt x="3004457" y="1166454"/>
                </a:lnTo>
              </a:path>
            </a:pathLst>
          </a:custGeom>
          <a:ln w="254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6" name="Straight Arrow Connector 30"/>
          <p:cNvCxnSpPr/>
          <p:nvPr/>
        </p:nvCxnSpPr>
        <p:spPr>
          <a:xfrm>
            <a:off x="2816638" y="5686161"/>
            <a:ext cx="4946173" cy="0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32"/>
          <p:cNvCxnSpPr/>
          <p:nvPr/>
        </p:nvCxnSpPr>
        <p:spPr>
          <a:xfrm flipV="1">
            <a:off x="2816638" y="3957969"/>
            <a:ext cx="0" cy="1728192"/>
          </a:xfrm>
          <a:prstGeom prst="straightConnector1">
            <a:avLst/>
          </a:prstGeom>
          <a:ln>
            <a:solidFill>
              <a:schemeClr val="tx2">
                <a:lumMod val="9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05208" y="5804498"/>
            <a:ext cx="1369221" cy="66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65" i="1" dirty="0"/>
              <a:t>True answer</a:t>
            </a:r>
          </a:p>
          <a:p>
            <a:r>
              <a:rPr lang="en-AU" sz="1865" i="1" dirty="0"/>
              <a:t>For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3262" y="5736737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i="1" dirty="0"/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5593" y="3867625"/>
            <a:ext cx="478016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665" i="1" dirty="0" err="1"/>
              <a:t>Pr</a:t>
            </a:r>
            <a:endParaRPr lang="en-AU" sz="2665" i="1" dirty="0"/>
          </a:p>
        </p:txBody>
      </p:sp>
      <p:cxnSp>
        <p:nvCxnSpPr>
          <p:cNvPr id="11" name="Straight Connector 10"/>
          <p:cNvCxnSpPr/>
          <p:nvPr/>
        </p:nvCxnSpPr>
        <p:spPr>
          <a:xfrm flipH="1" flipV="1">
            <a:off x="4703443" y="3957971"/>
            <a:ext cx="33408" cy="1649751"/>
          </a:xfrm>
          <a:prstGeom prst="line">
            <a:avLst/>
          </a:prstGeom>
          <a:ln w="158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9"/>
          <p:cNvSpPr/>
          <p:nvPr/>
        </p:nvSpPr>
        <p:spPr>
          <a:xfrm>
            <a:off x="4924753" y="4300366"/>
            <a:ext cx="4005943" cy="1179919"/>
          </a:xfrm>
          <a:custGeom>
            <a:avLst/>
            <a:gdLst>
              <a:gd name="connsiteX0" fmla="*/ 0 w 3004457"/>
              <a:gd name="connsiteY0" fmla="*/ 989173 h 1179919"/>
              <a:gd name="connsiteX1" fmla="*/ 690465 w 3004457"/>
              <a:gd name="connsiteY1" fmla="*/ 128 h 1179919"/>
              <a:gd name="connsiteX2" fmla="*/ 1828800 w 3004457"/>
              <a:gd name="connsiteY2" fmla="*/ 1045156 h 1179919"/>
              <a:gd name="connsiteX3" fmla="*/ 3004457 w 3004457"/>
              <a:gd name="connsiteY3" fmla="*/ 1166454 h 1179919"/>
              <a:gd name="connsiteX4" fmla="*/ 3004457 w 3004457"/>
              <a:gd name="connsiteY4" fmla="*/ 1166454 h 117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4457" h="1179919">
                <a:moveTo>
                  <a:pt x="0" y="989173"/>
                </a:moveTo>
                <a:cubicBezTo>
                  <a:pt x="192832" y="489985"/>
                  <a:pt x="385665" y="-9202"/>
                  <a:pt x="690465" y="128"/>
                </a:cubicBezTo>
                <a:cubicBezTo>
                  <a:pt x="995265" y="9458"/>
                  <a:pt x="1443135" y="850768"/>
                  <a:pt x="1828800" y="1045156"/>
                </a:cubicBezTo>
                <a:cubicBezTo>
                  <a:pt x="2214465" y="1239544"/>
                  <a:pt x="3004457" y="1166454"/>
                  <a:pt x="3004457" y="1166454"/>
                </a:cubicBezTo>
                <a:lnTo>
                  <a:pt x="3004457" y="1166454"/>
                </a:lnTo>
              </a:path>
            </a:pathLst>
          </a:custGeom>
          <a:ln w="25400">
            <a:solidFill>
              <a:srgbClr val="0070C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13" name="Straight Connector 12"/>
          <p:cNvCxnSpPr/>
          <p:nvPr/>
        </p:nvCxnSpPr>
        <p:spPr>
          <a:xfrm flipH="1" flipV="1">
            <a:off x="5889614" y="4065448"/>
            <a:ext cx="33408" cy="1649751"/>
          </a:xfrm>
          <a:prstGeom prst="line">
            <a:avLst/>
          </a:prstGeom>
          <a:ln w="15875">
            <a:prstDash val="dash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98539" y="5804498"/>
            <a:ext cx="1369221" cy="66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65" i="1" dirty="0"/>
              <a:t>True answer</a:t>
            </a:r>
          </a:p>
          <a:p>
            <a:r>
              <a:rPr lang="en-AU" sz="1865" i="1" dirty="0"/>
              <a:t>For D’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4754904" y="5477288"/>
            <a:ext cx="1170221" cy="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7639" y="5604167"/>
            <a:ext cx="228127" cy="22187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Oval 16"/>
          <p:cNvSpPr/>
          <p:nvPr/>
        </p:nvSpPr>
        <p:spPr>
          <a:xfrm>
            <a:off x="4640845" y="5575228"/>
            <a:ext cx="228127" cy="2218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227039" y="3926461"/>
                <a:ext cx="2242187" cy="510778"/>
              </a:xfrm>
              <a:prstGeom prst="wedgeRoundRectCallout">
                <a:avLst>
                  <a:gd name="adj1" fmla="val -157775"/>
                  <a:gd name="adj2" fmla="val 248034"/>
                  <a:gd name="adj3" fmla="val 16667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039" y="3926461"/>
                <a:ext cx="2242187" cy="510778"/>
              </a:xfrm>
              <a:prstGeom prst="wedgeRoundRectCallout">
                <a:avLst>
                  <a:gd name="adj1" fmla="val -157775"/>
                  <a:gd name="adj2" fmla="val 248034"/>
                  <a:gd name="adj3" fmla="val 16667"/>
                </a:avLst>
              </a:prstGeom>
              <a:blipFill rotWithShape="1">
                <a:blip r:embed="rId3"/>
                <a:stretch>
                  <a:fillRect l="-109458" t="-1045" r="-199" b="-201053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203101" y="3921863"/>
                <a:ext cx="2832385" cy="510778"/>
              </a:xfrm>
              <a:prstGeom prst="wedgeRoundRectCallout">
                <a:avLst>
                  <a:gd name="adj1" fmla="val -135901"/>
                  <a:gd name="adj2" fmla="val 240447"/>
                  <a:gd name="adj3" fmla="val 16667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101" y="3921863"/>
                <a:ext cx="2832385" cy="510778"/>
              </a:xfrm>
              <a:prstGeom prst="wedgeRoundRectCallout">
                <a:avLst>
                  <a:gd name="adj1" fmla="val -135901"/>
                  <a:gd name="adj2" fmla="val 240447"/>
                  <a:gd name="adj3" fmla="val 16667"/>
                </a:avLst>
              </a:prstGeom>
              <a:blipFill rotWithShape="1">
                <a:blip r:embed="rId4"/>
                <a:stretch>
                  <a:fillRect l="-87239" t="-1015" r="-163" b="-193251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39438"/>
    </mc:Choice>
    <mc:Fallback xmlns="">
      <p:transition advTm="1394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2" grpId="0" animBg="1"/>
      <p:bldP spid="14" grpId="0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2DBA9-7092-7ED8-53EA-EB0D226F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97CF-8B8A-53DC-7C4A-BC170732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(continue)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BA7A71-11FB-0770-4169-EB40176C64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There are 10 people’s salary D={6000, 7000, 6500, 8000, 7200, 9000, </a:t>
                </a:r>
              </a:p>
              <a:p>
                <a:pPr marL="0" indent="0">
                  <a:buNone/>
                </a:pPr>
                <a:r>
                  <a:rPr lang="en-US" dirty="0"/>
                  <a:t>7500, 6800, 7100, 7900}, their belongs to A, B, C,…</a:t>
                </a:r>
              </a:p>
              <a:p>
                <a:pPr marL="0" indent="0">
                  <a:buNone/>
                </a:pPr>
                <a:r>
                  <a:rPr lang="en-US" dirty="0"/>
                  <a:t>Defense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/>
                      </a:rPr>
                      <m:t>∆</m:t>
                    </m:r>
                    <m:r>
                      <a:rPr lang="en-US" altLang="zh-CN">
                        <a:latin typeface="Cambria Math" panose="02040503050406030204"/>
                      </a:rPr>
                      <m:t>𝑓</m:t>
                    </m:r>
                    <m:r>
                      <a:rPr lang="en-US" altLang="zh-CN" i="1">
                        <a:latin typeface="Cambria Math" panose="02040503050406030204"/>
                      </a:rPr>
                      <m:t> </m:t>
                    </m:r>
                  </m:oMath>
                </a14:m>
                <a:r>
                  <a:rPr lang="en-US" dirty="0"/>
                  <a:t>= (9000-6000)/10 = 300 ( the sensitive of variation)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Set the privacy budget </a:t>
                </a:r>
                <a:r>
                  <a:rPr lang="en-AU" dirty="0"/>
                  <a:t>ε (e.g. =1)</a:t>
                </a: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 Then the random noise arrange b=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/>
                      </a:rPr>
                      <m:t>∆</m:t>
                    </m:r>
                    <m:r>
                      <a:rPr lang="en-US" altLang="zh-CN">
                        <a:latin typeface="Cambria Math" panose="02040503050406030204"/>
                      </a:rPr>
                      <m:t>𝑓</m:t>
                    </m:r>
                    <m:r>
                      <a:rPr lang="en-AU" altLang="zh-CN" b="0" i="0" smtClean="0"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AU" dirty="0"/>
                  <a:t> ε   (300 in this case)</a:t>
                </a:r>
              </a:p>
              <a:p>
                <a:pPr marL="514350" indent="-514350">
                  <a:buAutoNum type="arabicPeriod"/>
                </a:pPr>
                <a:r>
                  <a:rPr lang="en-AU" dirty="0"/>
                  <a:t>For any dataset D’’, the output is the real value + or - b</a:t>
                </a:r>
              </a:p>
              <a:p>
                <a:pPr marL="514350" indent="-514350">
                  <a:buAutoNum type="arabicPeriod"/>
                </a:pPr>
                <a:r>
                  <a:rPr lang="en-AU" dirty="0"/>
                  <a:t>In this way, we can control the privacy protection.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i="1" dirty="0"/>
                  <a:t>* This randomness is vulnerable against aggregation attacks *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BA7A71-11FB-0770-4169-EB40176C64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35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19A2E-5730-BA45-EEF9-DA1430BA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5217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74270"/>
    </mc:Choice>
    <mc:Fallback xmlns="">
      <p:transition advTm="7427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 Budget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40590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controls the privacy guarantee level of mechanism. </a:t>
                </a:r>
              </a:p>
              <a:p>
                <a:pPr lvl="1"/>
                <a:r>
                  <a:rPr lang="en-US" dirty="0"/>
                  <a:t>A smaller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indicates a higher privacy level</a:t>
                </a:r>
              </a:p>
              <a:p>
                <a:pPr lvl="1"/>
                <a:r>
                  <a:rPr lang="en-US" dirty="0"/>
                  <a:t>Normally, it is less than 1. 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approach a large number, there is no noise (meaning no protection)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405907"/>
              </a:xfrm>
              <a:blipFill>
                <a:blip r:embed="rId2"/>
                <a:stretch>
                  <a:fillRect t="-40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74270"/>
    </mc:Choice>
    <mc:Fallback xmlns="">
      <p:transition advTm="7427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Primary noises for DP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i="1" dirty="0"/>
              <a:t>Laplace</a:t>
            </a:r>
            <a:r>
              <a:rPr lang="en-US" altLang="zh-CN" dirty="0"/>
              <a:t> Mechanism: </a:t>
            </a:r>
          </a:p>
          <a:p>
            <a:pPr lvl="1"/>
            <a:r>
              <a:rPr lang="en-US" altLang="zh-CN" dirty="0"/>
              <a:t>suitable for numeric output</a:t>
            </a:r>
          </a:p>
          <a:p>
            <a:pPr lvl="2"/>
            <a:r>
              <a:rPr lang="en-US" altLang="zh-CN" dirty="0"/>
              <a:t>How many people in this room have blue eyes?</a:t>
            </a:r>
          </a:p>
          <a:p>
            <a:pPr lvl="2"/>
            <a:endParaRPr lang="en-US" altLang="zh-CN" dirty="0"/>
          </a:p>
          <a:p>
            <a:r>
              <a:rPr lang="en-US" altLang="zh-CN" b="1" i="1" dirty="0"/>
              <a:t>Exponential</a:t>
            </a:r>
            <a:r>
              <a:rPr lang="en-US" altLang="zh-CN" dirty="0"/>
              <a:t> Mechanism: </a:t>
            </a:r>
          </a:p>
          <a:p>
            <a:pPr lvl="1"/>
            <a:r>
              <a:rPr lang="en-US" altLang="zh-CN" dirty="0"/>
              <a:t>suitable for non-numeric output</a:t>
            </a:r>
          </a:p>
          <a:p>
            <a:pPr lvl="2"/>
            <a:r>
              <a:rPr lang="en-US" altLang="zh-CN" dirty="0"/>
              <a:t>What is the most common eye color in this rooms? 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11424" y="5373216"/>
            <a:ext cx="10177131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65" i="1" dirty="0" err="1"/>
              <a:t>Dwork</a:t>
            </a:r>
            <a:r>
              <a:rPr lang="en-US" altLang="zh-CN" sz="1865" i="1" dirty="0"/>
              <a:t>, C., </a:t>
            </a:r>
            <a:r>
              <a:rPr lang="en-US" altLang="zh-CN" sz="1865" i="1" dirty="0" err="1"/>
              <a:t>Mcsherry</a:t>
            </a:r>
            <a:r>
              <a:rPr lang="en-US" altLang="zh-CN" sz="1865" i="1" dirty="0"/>
              <a:t>, F., </a:t>
            </a:r>
            <a:r>
              <a:rPr lang="en-US" altLang="zh-CN" sz="1865" i="1" dirty="0" err="1"/>
              <a:t>Nissim</a:t>
            </a:r>
            <a:r>
              <a:rPr lang="en-US" altLang="zh-CN" sz="1865" i="1" dirty="0"/>
              <a:t>, K., &amp; Smith, A. (2006). Calibrating Noise to Sensitivity in Private Data Analysis,  Theory of Cryptography , 265-284.</a:t>
            </a:r>
          </a:p>
          <a:p>
            <a:r>
              <a:rPr lang="en-US" altLang="zh-CN" sz="1865" i="1" dirty="0" err="1"/>
              <a:t>McSherry</a:t>
            </a:r>
            <a:r>
              <a:rPr lang="en-US" altLang="zh-CN" sz="1865" i="1" dirty="0"/>
              <a:t>, F., &amp; </a:t>
            </a:r>
            <a:r>
              <a:rPr lang="en-US" altLang="zh-CN" sz="1865" i="1" dirty="0" err="1"/>
              <a:t>Talwar</a:t>
            </a:r>
            <a:r>
              <a:rPr lang="en-US" altLang="zh-CN" sz="1865" i="1" dirty="0"/>
              <a:t>, K. (2007). Mechanism Design via Differential Privacy. (FOCS’07)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Laplace Mechanism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2800" dirty="0"/>
                  <a:t>Let </a:t>
                </a:r>
                <a:r>
                  <a:rPr lang="en-US" altLang="zh-CN" sz="2800" i="1" dirty="0"/>
                  <a:t>f(D) </a:t>
                </a:r>
                <a:r>
                  <a:rPr lang="en-US" altLang="zh-CN" sz="2800" dirty="0"/>
                  <a:t>be a numeric query on dataset </a:t>
                </a:r>
                <a:r>
                  <a:rPr lang="en-US" altLang="zh-CN" sz="2800" i="1" dirty="0"/>
                  <a:t>D</a:t>
                </a:r>
              </a:p>
              <a:p>
                <a:pPr lvl="1"/>
                <a:r>
                  <a:rPr lang="en-US" altLang="zh-CN" sz="2400" dirty="0"/>
                  <a:t>How many people in this room have blue eyes?</a:t>
                </a:r>
              </a:p>
              <a:p>
                <a:pPr lvl="1"/>
                <a:r>
                  <a:rPr lang="en-US" altLang="zh-CN" sz="2400" dirty="0"/>
                  <a:t>The sensitivity of </a:t>
                </a:r>
                <a:r>
                  <a:rPr lang="en-US" altLang="zh-CN" sz="2400" i="1" dirty="0"/>
                  <a:t>f</a:t>
                </a:r>
                <a:r>
                  <a:rPr lang="en-US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/>
                      </a:rPr>
                      <m:t>∆</m:t>
                    </m:r>
                    <m:r>
                      <a:rPr lang="en-US" altLang="zh-CN" sz="2400">
                        <a:latin typeface="Cambria Math" panose="02040503050406030204"/>
                      </a:rPr>
                      <m:t>𝑓</m:t>
                    </m:r>
                    <m:r>
                      <a:rPr lang="en-US" altLang="zh-CN" sz="2400">
                        <a:latin typeface="Cambria Math" panose="02040503050406030204"/>
                      </a:rPr>
                      <m:t>=</m:t>
                    </m:r>
                    <m:r>
                      <a:rPr lang="en-US" altLang="zh-CN" sz="2400">
                        <a:latin typeface="Cambria Math" panose="02040503050406030204"/>
                      </a:rPr>
                      <m:t>𝑚𝑎𝑥</m:t>
                    </m:r>
                    <m:r>
                      <a:rPr lang="en-US" altLang="zh-CN" sz="2400">
                        <a:latin typeface="Cambria Math" panose="02040503050406030204"/>
                      </a:rPr>
                      <m:t>∥</m:t>
                    </m:r>
                    <m:r>
                      <a:rPr lang="en-US" altLang="zh-CN" sz="2400">
                        <a:latin typeface="Cambria Math" panose="02040503050406030204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/>
                          </a:rPr>
                          <m:t>𝐷</m:t>
                        </m:r>
                      </m:e>
                    </m:d>
                    <m:r>
                      <a:rPr lang="en-US" altLang="zh-CN" sz="2400">
                        <a:latin typeface="Cambria Math" panose="02040503050406030204"/>
                      </a:rPr>
                      <m:t>−</m:t>
                    </m:r>
                    <m:r>
                      <a:rPr lang="en-US" altLang="zh-CN" sz="2400">
                        <a:latin typeface="Cambria Math" panose="02040503050406030204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/>
                              </a:rPr>
                              <m:t>𝐷</m:t>
                            </m:r>
                          </m:e>
                          <m:sup>
                            <m:r>
                              <a:rPr lang="en-AU" altLang="zh-CN" sz="2400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/>
                          </a:rPr>
                          <m:t>∥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95601" y="4957422"/>
                <a:ext cx="3924921" cy="6276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/>
                          </a:rPr>
                          <m:t>𝐷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/>
                          </a:rPr>
                          <m:t>𝐷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/>
                      </a:rPr>
                      <m:t>𝐿𝑎𝑝𝑙𝑎𝑐𝑒</m:t>
                    </m:r>
                    <m:r>
                      <a:rPr lang="en-US" altLang="zh-CN" sz="2400" i="1">
                        <a:latin typeface="Cambria Math" panose="02040503050406030204"/>
                      </a:rPr>
                      <m:t>(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∆</m:t>
                        </m:r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/>
                            <a:ea typeface="Cambria Math" panose="02040503050406030204"/>
                          </a:rPr>
                          <m:t>𝜖</m:t>
                        </m:r>
                      </m:den>
                    </m:f>
                  </m:oMath>
                </a14:m>
                <a:r>
                  <a:rPr lang="en-US" altLang="zh-CN" sz="2400" dirty="0"/>
                  <a:t>)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1" y="4957422"/>
                <a:ext cx="3924921" cy="627672"/>
              </a:xfrm>
              <a:prstGeom prst="rect">
                <a:avLst/>
              </a:prstGeom>
              <a:blipFill rotWithShape="1">
                <a:blip r:embed="rId5"/>
                <a:stretch>
                  <a:fillRect l="-1" t="-98" r="1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/>
          <p:cNvGrpSpPr/>
          <p:nvPr/>
        </p:nvGrpSpPr>
        <p:grpSpPr>
          <a:xfrm>
            <a:off x="2877125" y="3228334"/>
            <a:ext cx="4446488" cy="1056479"/>
            <a:chOff x="946926" y="3321038"/>
            <a:chExt cx="4446488" cy="1056479"/>
          </a:xfrm>
        </p:grpSpPr>
        <p:grpSp>
          <p:nvGrpSpPr>
            <p:cNvPr id="5" name="组合 4"/>
            <p:cNvGrpSpPr/>
            <p:nvPr/>
          </p:nvGrpSpPr>
          <p:grpSpPr>
            <a:xfrm>
              <a:off x="946926" y="3321038"/>
              <a:ext cx="2601768" cy="1056479"/>
              <a:chOff x="735507" y="2276872"/>
              <a:chExt cx="2601768" cy="1056479"/>
            </a:xfrm>
          </p:grpSpPr>
          <p:sp>
            <p:nvSpPr>
              <p:cNvPr id="6" name="Left-Right Arrow 9"/>
              <p:cNvSpPr/>
              <p:nvPr/>
            </p:nvSpPr>
            <p:spPr>
              <a:xfrm>
                <a:off x="1718069" y="2728328"/>
                <a:ext cx="573858" cy="219378"/>
              </a:xfrm>
              <a:prstGeom prst="leftRightArrow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1766037" y="2401145"/>
                <a:ext cx="4587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1400" i="1" dirty="0"/>
                  <a:t>f(D)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218892" y="2684127"/>
                <a:ext cx="11183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1400" dirty="0"/>
                  <a:t>True answer</a:t>
                </a:r>
                <a:endParaRPr lang="en-AU" sz="1400" i="1" dirty="0"/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735507" y="2276872"/>
                <a:ext cx="942977" cy="1056479"/>
                <a:chOff x="751139" y="4005062"/>
                <a:chExt cx="942977" cy="1056479"/>
              </a:xfrm>
            </p:grpSpPr>
            <p:sp>
              <p:nvSpPr>
                <p:cNvPr id="11" name="矩形 10"/>
                <p:cNvSpPr/>
                <p:nvPr/>
              </p:nvSpPr>
              <p:spPr>
                <a:xfrm>
                  <a:off x="751141" y="4005062"/>
                  <a:ext cx="942975" cy="2160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/>
                    <a:t>X</a:t>
                  </a:r>
                  <a:r>
                    <a:rPr lang="en-US" altLang="zh-CN" sz="1100" dirty="0"/>
                    <a:t>1</a:t>
                  </a:r>
                  <a:endParaRPr lang="zh-CN" altLang="en-US" sz="1100" dirty="0"/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751141" y="4221087"/>
                  <a:ext cx="942975" cy="2160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/>
                    <a:t>X</a:t>
                  </a:r>
                  <a:r>
                    <a:rPr lang="en-US" altLang="zh-CN" sz="1100" dirty="0"/>
                    <a:t>2</a:t>
                  </a:r>
                  <a:endParaRPr lang="zh-CN" altLang="en-US" sz="1100" dirty="0"/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751140" y="4432853"/>
                  <a:ext cx="942975" cy="2160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751141" y="4648878"/>
                  <a:ext cx="942975" cy="2160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/>
                    <a:t>X</a:t>
                  </a:r>
                  <a:r>
                    <a:rPr lang="en-US" altLang="zh-CN" sz="1100" dirty="0"/>
                    <a:t>n-1</a:t>
                  </a:r>
                  <a:endParaRPr lang="zh-CN" altLang="en-US" sz="1100" dirty="0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751139" y="4845516"/>
                  <a:ext cx="942975" cy="21602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 err="1"/>
                    <a:t>X</a:t>
                  </a:r>
                  <a:r>
                    <a:rPr lang="en-US" altLang="zh-CN" sz="1100" dirty="0" err="1"/>
                    <a:t>n</a:t>
                  </a:r>
                  <a:endParaRPr lang="zh-CN" altLang="en-US" sz="1100" dirty="0"/>
                </a:p>
              </p:txBody>
            </p:sp>
          </p:grpSp>
        </p:grpSp>
        <p:sp>
          <p:nvSpPr>
            <p:cNvPr id="16" name="Left-Right Arrow 9"/>
            <p:cNvSpPr/>
            <p:nvPr/>
          </p:nvSpPr>
          <p:spPr>
            <a:xfrm>
              <a:off x="3441940" y="3775141"/>
              <a:ext cx="573858" cy="219378"/>
            </a:xfrm>
            <a:prstGeom prst="left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00894" y="3464717"/>
              <a:ext cx="6559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i="1" dirty="0"/>
                <a:t>+noise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46021" y="3729928"/>
              <a:ext cx="12473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/>
                <a:t>Noisy output </a:t>
              </a:r>
              <a:r>
                <a:rPr lang="en-AU" sz="1400" i="1" dirty="0"/>
                <a:t>S</a:t>
              </a:r>
            </a:p>
          </p:txBody>
        </p:sp>
      </p:grpSp>
      <p:sp>
        <p:nvSpPr>
          <p:cNvPr id="20" name="圆角矩形标注 19"/>
          <p:cNvSpPr/>
          <p:nvPr/>
        </p:nvSpPr>
        <p:spPr>
          <a:xfrm>
            <a:off x="2771121" y="5581183"/>
            <a:ext cx="1596630" cy="440105"/>
          </a:xfrm>
          <a:prstGeom prst="wedgeRoundRectCallout">
            <a:avLst>
              <a:gd name="adj1" fmla="val 20566"/>
              <a:gd name="adj2" fmla="val -87972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True Answer</a:t>
            </a:r>
            <a:endParaRPr lang="zh-CN" altLang="en-US" sz="1600" dirty="0"/>
          </a:p>
        </p:txBody>
      </p:sp>
      <p:sp>
        <p:nvSpPr>
          <p:cNvPr id="23" name="圆角矩形 22"/>
          <p:cNvSpPr/>
          <p:nvPr/>
        </p:nvSpPr>
        <p:spPr>
          <a:xfrm>
            <a:off x="3868617" y="3378859"/>
            <a:ext cx="2200623" cy="8114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6001578" y="3074446"/>
            <a:ext cx="567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b="1" i="1" dirty="0">
                <a:solidFill>
                  <a:srgbClr val="FF0000"/>
                </a:solidFill>
              </a:rPr>
              <a:t>M(D)</a:t>
            </a:r>
          </a:p>
        </p:txBody>
      </p:sp>
      <p:sp>
        <p:nvSpPr>
          <p:cNvPr id="63" name="圆角矩形标注 19"/>
          <p:cNvSpPr/>
          <p:nvPr/>
        </p:nvSpPr>
        <p:spPr>
          <a:xfrm>
            <a:off x="4899007" y="5636365"/>
            <a:ext cx="1490874" cy="384923"/>
          </a:xfrm>
          <a:prstGeom prst="wedgeRoundRectCallout">
            <a:avLst>
              <a:gd name="adj1" fmla="val -20209"/>
              <a:gd name="adj2" fmla="val -92675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Noise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95668" y="4422375"/>
                <a:ext cx="7564956" cy="800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A Laplace Mechanism </a:t>
                </a:r>
                <a:r>
                  <a:rPr lang="en-US" altLang="zh-CN" sz="2800" i="1" dirty="0"/>
                  <a:t>M</a:t>
                </a:r>
                <a:r>
                  <a:rPr lang="en-US" altLang="zh-CN" sz="2800" dirty="0"/>
                  <a:t> is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/>
                        <a:ea typeface="Cambria Math" panose="02040503050406030204"/>
                      </a:rPr>
                      <m:t>𝜖</m:t>
                    </m:r>
                  </m:oMath>
                </a14:m>
                <a:r>
                  <a:rPr lang="en-US" altLang="zh-CN" sz="2800" dirty="0"/>
                  <a:t>-differential privacy:</a:t>
                </a:r>
                <a:r>
                  <a:rPr lang="en-US" altLang="zh-CN" dirty="0"/>
                  <a:t> 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68" y="4422375"/>
                <a:ext cx="7564956" cy="800219"/>
              </a:xfrm>
              <a:prstGeom prst="rect">
                <a:avLst/>
              </a:prstGeom>
              <a:blipFill rotWithShape="1">
                <a:blip r:embed="rId6"/>
                <a:stretch>
                  <a:fillRect l="-4" t="-29" r="7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2869"/>
    </mc:Choice>
    <mc:Fallback xmlns="">
      <p:transition advTm="928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20" grpId="0" animBg="1"/>
      <p:bldP spid="23" grpId="0" animBg="1"/>
      <p:bldP spid="62" grpId="0"/>
      <p:bldP spid="63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>
            <a:extLst>
              <a:ext uri="{FF2B5EF4-FFF2-40B4-BE49-F238E27FC236}">
                <a16:creationId xmlns:a16="http://schemas.microsoft.com/office/drawing/2014/main" id="{9207D575-D988-7326-F658-131261F29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2558" y="1114984"/>
            <a:ext cx="8269288" cy="5048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latin typeface="Myriad Pro" pitchFamily="34" charset="0"/>
                <a:cs typeface="Myriad Pro" pitchFamily="34" charset="0"/>
              </a:rPr>
              <a:t>Laplacian noise</a:t>
            </a:r>
          </a:p>
        </p:txBody>
      </p:sp>
      <p:pic>
        <p:nvPicPr>
          <p:cNvPr id="49156" name="Picture 1">
            <a:extLst>
              <a:ext uri="{FF2B5EF4-FFF2-40B4-BE49-F238E27FC236}">
                <a16:creationId xmlns:a16="http://schemas.microsoft.com/office/drawing/2014/main" id="{3240EB76-A1CA-DB5F-422E-E905A4D48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2636839"/>
            <a:ext cx="5124450" cy="363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9AC3789F-3F66-1F11-ADFA-3D8452E42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636373"/>
            <a:ext cx="7543800" cy="1143000"/>
          </a:xfrm>
        </p:spPr>
        <p:txBody>
          <a:bodyPr/>
          <a:lstStyle/>
          <a:p>
            <a:pPr eaLnBrk="1" hangingPunct="1"/>
            <a:r>
              <a:rPr altLang="zh-CN" dirty="0">
                <a:latin typeface="Myriad Pro" pitchFamily="34" charset="0"/>
                <a:cs typeface="Myriad Pro" pitchFamily="34" charset="0"/>
              </a:rPr>
              <a:t>Laplace distribution noise</a:t>
            </a:r>
          </a:p>
        </p:txBody>
      </p:sp>
      <p:pic>
        <p:nvPicPr>
          <p:cNvPr id="50179" name="Picture 6" descr="File:Laplace distribution pdf.png">
            <a:hlinkClick r:id="rId2"/>
            <a:extLst>
              <a:ext uri="{FF2B5EF4-FFF2-40B4-BE49-F238E27FC236}">
                <a16:creationId xmlns:a16="http://schemas.microsoft.com/office/drawing/2014/main" id="{FAC0F92A-EF87-5CA0-8B2D-D05903A0C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133600"/>
            <a:ext cx="510540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7">
            <a:extLst>
              <a:ext uri="{FF2B5EF4-FFF2-40B4-BE49-F238E27FC236}">
                <a16:creationId xmlns:a16="http://schemas.microsoft.com/office/drawing/2014/main" id="{AC95E3E8-634E-02BC-C6C2-BFB2FFFA2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33" t="51111" r="4167" b="14444"/>
          <a:stretch>
            <a:fillRect/>
          </a:stretch>
        </p:blipFill>
        <p:spPr bwMode="auto">
          <a:xfrm>
            <a:off x="7391400" y="2438400"/>
            <a:ext cx="3017838" cy="283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of Differential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Differential privacy is a promising privacy model that can provide </a:t>
            </a:r>
            <a:r>
              <a:rPr lang="en-AU" b="1" u="sng" dirty="0"/>
              <a:t>provable</a:t>
            </a:r>
            <a:r>
              <a:rPr lang="en-AU" dirty="0"/>
              <a:t> privacy guarantee.</a:t>
            </a:r>
          </a:p>
          <a:p>
            <a:r>
              <a:rPr lang="en-AU" dirty="0"/>
              <a:t>It also has potential development on various research communities such as data mining, machine learning, etc.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9734"/>
    </mc:Choice>
    <mc:Fallback xmlns="">
      <p:transition advTm="59734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 of Differential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It is quite successful on the mathematical theory,  but </a:t>
            </a:r>
            <a:r>
              <a:rPr lang="en-AU"/>
              <a:t>brings (huge) </a:t>
            </a:r>
            <a:r>
              <a:rPr lang="en-AU" dirty="0"/>
              <a:t>utility loss in real applications. </a:t>
            </a:r>
          </a:p>
          <a:p>
            <a:pPr lvl="1"/>
            <a:r>
              <a:rPr lang="en-AU" dirty="0"/>
              <a:t>High noise </a:t>
            </a:r>
          </a:p>
          <a:p>
            <a:pPr lvl="1"/>
            <a:r>
              <a:rPr lang="en-AU" dirty="0"/>
              <a:t>Large sensitivity</a:t>
            </a:r>
          </a:p>
          <a:p>
            <a:pPr lvl="1"/>
            <a:r>
              <a:rPr lang="en-AU" dirty="0"/>
              <a:t>Sparse Dataset</a:t>
            </a:r>
          </a:p>
          <a:p>
            <a:pPr lvl="1"/>
            <a:r>
              <a:rPr lang="en-AU" dirty="0"/>
              <a:t>Limited privacy budget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7915"/>
    </mc:Choice>
    <mc:Fallback xmlns="">
      <p:transition advTm="117915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E04D60-A456-7B74-ACE3-BBCD2BE9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53F9-7E6B-49C4-B7EA-75CC2B8CAD67}"/>
              </a:ext>
            </a:extLst>
          </p:cNvPr>
          <p:cNvSpPr txBox="1">
            <a:spLocks/>
          </p:cNvSpPr>
          <p:nvPr/>
        </p:nvSpPr>
        <p:spPr>
          <a:xfrm>
            <a:off x="2003162" y="639193"/>
            <a:ext cx="3309067" cy="3573516"/>
          </a:xfrm>
          <a:prstGeom prst="rect">
            <a:avLst/>
          </a:prstGeom>
        </p:spPr>
        <p:txBody>
          <a:bodyPr vert="horz" lIns="45720" tIns="22860" rIns="45720" bIns="22860" rtlCol="0" anchor="b" anchorCtr="0">
            <a:normAutofit/>
          </a:bodyPr>
          <a:lstStyle>
            <a:lvl1pPr marL="0" indent="0" algn="l" defTabSz="1828709" rtl="0" eaLnBrk="1" latinLnBrk="0" hangingPunct="1">
              <a:lnSpc>
                <a:spcPts val="6600"/>
              </a:lnSpc>
              <a:spcBef>
                <a:spcPct val="0"/>
              </a:spcBef>
              <a:buNone/>
              <a:tabLst>
                <a:tab pos="2524125" algn="l"/>
                <a:tab pos="3730625" algn="l"/>
              </a:tabLst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90000"/>
              </a:lnSpc>
              <a:spcAft>
                <a:spcPts val="300"/>
              </a:spcAft>
            </a:pPr>
            <a:r>
              <a:rPr lang="en-US" altLang="en-US" sz="2300" dirty="0">
                <a:solidFill>
                  <a:schemeClr val="tx1"/>
                </a:solidFill>
              </a:rPr>
              <a:t>                 Thank you </a:t>
            </a:r>
            <a:br>
              <a:rPr lang="en-US" altLang="en-US" sz="2300" dirty="0">
                <a:solidFill>
                  <a:schemeClr val="tx1"/>
                </a:solidFill>
              </a:rPr>
            </a:br>
            <a:r>
              <a:rPr lang="en-US" altLang="en-US" sz="2300" dirty="0">
                <a:solidFill>
                  <a:schemeClr val="tx1"/>
                </a:solidFill>
              </a:rPr>
              <a:t>                        &amp;</a:t>
            </a:r>
            <a:br>
              <a:rPr lang="en-US" altLang="en-US" sz="2300" dirty="0">
                <a:solidFill>
                  <a:schemeClr val="tx1"/>
                </a:solidFill>
              </a:rPr>
            </a:br>
            <a:r>
              <a:rPr lang="en-US" altLang="en-US" sz="2300" dirty="0">
                <a:solidFill>
                  <a:schemeClr val="tx1"/>
                </a:solidFill>
              </a:rPr>
              <a:t>                Questions</a:t>
            </a:r>
            <a:br>
              <a:rPr lang="en-US" altLang="en-US" sz="2300" dirty="0">
                <a:solidFill>
                  <a:schemeClr val="tx1"/>
                </a:solidFill>
              </a:rPr>
            </a:br>
            <a:br>
              <a:rPr lang="en-US" altLang="en-US" sz="2300" dirty="0">
                <a:solidFill>
                  <a:schemeClr val="tx1"/>
                </a:solidFill>
              </a:rPr>
            </a:br>
            <a:br>
              <a:rPr lang="en-US" altLang="en-US" sz="2300" dirty="0">
                <a:solidFill>
                  <a:schemeClr val="tx1"/>
                </a:solidFill>
              </a:rPr>
            </a:br>
            <a:r>
              <a:rPr lang="en-US" altLang="en-US" sz="2300" dirty="0">
                <a:solidFill>
                  <a:schemeClr val="tx1"/>
                </a:solidFill>
              </a:rPr>
              <a:t>http://www.uts.edu.au/syu</a:t>
            </a:r>
            <a:br>
              <a:rPr lang="en-US" altLang="en-US" sz="2300" dirty="0">
                <a:solidFill>
                  <a:schemeClr val="tx1"/>
                </a:solidFill>
              </a:rPr>
            </a:br>
            <a:r>
              <a:rPr lang="en-US" altLang="en-US" sz="2300" dirty="0">
                <a:solidFill>
                  <a:schemeClr val="tx1"/>
                </a:solidFill>
              </a:rPr>
              <a:t>email: shui.yu@uts.edu.au</a:t>
            </a:r>
          </a:p>
        </p:txBody>
      </p:sp>
      <p:pic>
        <p:nvPicPr>
          <p:cNvPr id="3" name="Picture 5" descr="monet paintings">
            <a:hlinkClick r:id="rId3"/>
            <a:extLst>
              <a:ext uri="{FF2B5EF4-FFF2-40B4-BE49-F238E27FC236}">
                <a16:creationId xmlns:a16="http://schemas.microsoft.com/office/drawing/2014/main" id="{04CEFA23-B0D5-0CB8-CC59-D3222A737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7973" y="1631364"/>
            <a:ext cx="5097711" cy="380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929956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hlMmM0ZTE5N2Q4OGNiMzc0Y2U0ZDRhY2I4OWUzZD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.3|25|9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1|16.7|9.6|11.7|7.9|54.1|1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1|16.7|9.6|11.7|7.9|54.1|1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.3|25|9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2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1|3.9|12.1|2.2|5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7.8|1.3|12.8|1.1|11.6|3.1"/>
</p:tagLst>
</file>

<file path=ppt/theme/theme1.xml><?xml version="1.0" encoding="utf-8"?>
<a:theme xmlns:a="http://schemas.openxmlformats.org/drawingml/2006/main" name="CSP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CSPtemplate</Template>
  <TotalTime>639</TotalTime>
  <Words>1360</Words>
  <Application>Microsoft Office PowerPoint</Application>
  <PresentationFormat>Widescreen</PresentationFormat>
  <Paragraphs>254</Paragraphs>
  <Slides>28</Slides>
  <Notes>11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.AppleSystemUIFont</vt:lpstr>
      <vt:lpstr>Myriad Pro</vt:lpstr>
      <vt:lpstr>Arial</vt:lpstr>
      <vt:lpstr>Calibri</vt:lpstr>
      <vt:lpstr>Calibri Light</vt:lpstr>
      <vt:lpstr>Cambria Math</vt:lpstr>
      <vt:lpstr>CSPtemplate</vt:lpstr>
      <vt:lpstr>Equation</vt:lpstr>
      <vt:lpstr>41183 PRIVACY PRESERVING</vt:lpstr>
      <vt:lpstr>Notice </vt:lpstr>
      <vt:lpstr>Outline</vt:lpstr>
      <vt:lpstr>The Birth of Differential Privacy</vt:lpstr>
      <vt:lpstr>Information Retrieval (IR)</vt:lpstr>
      <vt:lpstr>Information Retrieval (IR)</vt:lpstr>
      <vt:lpstr>Dwork and Differential Privacy</vt:lpstr>
      <vt:lpstr>PowerPoint Presentation</vt:lpstr>
      <vt:lpstr>Privacy Model</vt:lpstr>
      <vt:lpstr>Differential Privacy Definition</vt:lpstr>
      <vt:lpstr>Typical Privacy Model</vt:lpstr>
      <vt:lpstr>Weakness of Traditional Privacy Model</vt:lpstr>
      <vt:lpstr>Differential Privacy</vt:lpstr>
      <vt:lpstr>2. Differential Privacy</vt:lpstr>
      <vt:lpstr>Differential Privacy</vt:lpstr>
      <vt:lpstr>An Example</vt:lpstr>
      <vt:lpstr>Differential Privacy Definition</vt:lpstr>
      <vt:lpstr>How to achieve the definition?</vt:lpstr>
      <vt:lpstr>How to achieve the definition?</vt:lpstr>
      <vt:lpstr>An Example (continue)</vt:lpstr>
      <vt:lpstr>Privacy Budget</vt:lpstr>
      <vt:lpstr>Primary noises for DP</vt:lpstr>
      <vt:lpstr>Laplace Mechanism</vt:lpstr>
      <vt:lpstr>PowerPoint Presentation</vt:lpstr>
      <vt:lpstr>Laplace distribution noise</vt:lpstr>
      <vt:lpstr>Advantage of Differential Privacy</vt:lpstr>
      <vt:lpstr>Disadvantage of Differential Privacy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Differential privacy and its Applications</dc:title>
  <dc:creator>tianqing zhu</dc:creator>
  <cp:lastModifiedBy>Shui Yu</cp:lastModifiedBy>
  <cp:revision>141</cp:revision>
  <dcterms:created xsi:type="dcterms:W3CDTF">2017-06-08T01:46:00Z</dcterms:created>
  <dcterms:modified xsi:type="dcterms:W3CDTF">2026-08-03T23:50:34Z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ICV">
    <vt:lpwstr>A2B2342914834625B17D59231C47CF8A</vt:lpwstr>
  </property>
  <property fmtid="{D5CDD505-2E9C-101B-9397-08002B2CF9AE}" pid="9" name="KSOProductBuildVer">
    <vt:lpwstr>2052-11.1.0.12313</vt:lpwstr>
  </property>
  <property fmtid="{D5CDD505-2E9C-101B-9397-08002B2CF9AE}" pid="10" name="MSIP_Label_51a6c3db-1667-4f49-995a-8b9973972958_Enabled">
    <vt:lpwstr>true</vt:lpwstr>
  </property>
  <property fmtid="{D5CDD505-2E9C-101B-9397-08002B2CF9AE}" pid="11" name="MSIP_Label_51a6c3db-1667-4f49-995a-8b9973972958_SetDate">
    <vt:lpwstr>2023-08-08T05:02:05Z</vt:lpwstr>
  </property>
  <property fmtid="{D5CDD505-2E9C-101B-9397-08002B2CF9AE}" pid="12" name="MSIP_Label_51a6c3db-1667-4f49-995a-8b9973972958_Method">
    <vt:lpwstr>Standard</vt:lpwstr>
  </property>
  <property fmtid="{D5CDD505-2E9C-101B-9397-08002B2CF9AE}" pid="13" name="MSIP_Label_51a6c3db-1667-4f49-995a-8b9973972958_Name">
    <vt:lpwstr>UTS-Internal</vt:lpwstr>
  </property>
  <property fmtid="{D5CDD505-2E9C-101B-9397-08002B2CF9AE}" pid="14" name="MSIP_Label_51a6c3db-1667-4f49-995a-8b9973972958_SiteId">
    <vt:lpwstr>e8911c26-cf9f-4a9c-878e-527807be8791</vt:lpwstr>
  </property>
  <property fmtid="{D5CDD505-2E9C-101B-9397-08002B2CF9AE}" pid="15" name="MSIP_Label_51a6c3db-1667-4f49-995a-8b9973972958_ActionId">
    <vt:lpwstr>2d7fac0b-517e-4500-a951-b25c185f4be2</vt:lpwstr>
  </property>
  <property fmtid="{D5CDD505-2E9C-101B-9397-08002B2CF9AE}" pid="16" name="MSIP_Label_51a6c3db-1667-4f49-995a-8b9973972958_ContentBits">
    <vt:lpwstr>0</vt:lpwstr>
  </property>
</Properties>
</file>