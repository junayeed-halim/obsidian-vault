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99" r:id="rId2"/>
    <p:sldId id="384" r:id="rId3"/>
    <p:sldId id="409" r:id="rId4"/>
    <p:sldId id="401" r:id="rId5"/>
    <p:sldId id="402" r:id="rId6"/>
    <p:sldId id="407" r:id="rId7"/>
    <p:sldId id="403" r:id="rId8"/>
    <p:sldId id="404" r:id="rId9"/>
    <p:sldId id="398" r:id="rId10"/>
    <p:sldId id="496" r:id="rId11"/>
    <p:sldId id="392" r:id="rId12"/>
    <p:sldId id="322" r:id="rId13"/>
    <p:sldId id="323" r:id="rId14"/>
    <p:sldId id="370" r:id="rId15"/>
    <p:sldId id="257" r:id="rId16"/>
    <p:sldId id="261" r:id="rId17"/>
    <p:sldId id="408" r:id="rId18"/>
    <p:sldId id="264" r:id="rId19"/>
    <p:sldId id="265" r:id="rId20"/>
    <p:sldId id="495" r:id="rId21"/>
    <p:sldId id="273" r:id="rId22"/>
    <p:sldId id="275" r:id="rId23"/>
    <p:sldId id="277" r:id="rId24"/>
    <p:sldId id="284" r:id="rId25"/>
    <p:sldId id="290" r:id="rId26"/>
    <p:sldId id="292" r:id="rId27"/>
    <p:sldId id="395" r:id="rId28"/>
    <p:sldId id="405" r:id="rId29"/>
    <p:sldId id="33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9A8D5-3B2E-4D37-8BC1-2407ADB67EAA}" v="7" dt="2026-08-18T00:50:03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6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i Yu" userId="c938b994-a30e-4cc7-a189-187a9b224868" providerId="ADAL" clId="{D378DF58-4452-4BC8-839A-4D178FE0AA68}"/>
    <pc:docChg chg="custSel addSld delSld modSld">
      <pc:chgData name="Shui Yu" userId="c938b994-a30e-4cc7-a189-187a9b224868" providerId="ADAL" clId="{D378DF58-4452-4BC8-839A-4D178FE0AA68}" dt="2026-08-18T02:53:24.920" v="260" actId="20577"/>
      <pc:docMkLst>
        <pc:docMk/>
      </pc:docMkLst>
      <pc:sldChg chg="del">
        <pc:chgData name="Shui Yu" userId="c938b994-a30e-4cc7-a189-187a9b224868" providerId="ADAL" clId="{D378DF58-4452-4BC8-839A-4D178FE0AA68}" dt="2026-08-18T00:35:12.133" v="8" actId="47"/>
        <pc:sldMkLst>
          <pc:docMk/>
          <pc:sldMk cId="3373633363" sldId="272"/>
        </pc:sldMkLst>
      </pc:sldChg>
      <pc:sldChg chg="modSp mod">
        <pc:chgData name="Shui Yu" userId="c938b994-a30e-4cc7-a189-187a9b224868" providerId="ADAL" clId="{D378DF58-4452-4BC8-839A-4D178FE0AA68}" dt="2026-08-18T00:36:37.839" v="25" actId="5793"/>
        <pc:sldMkLst>
          <pc:docMk/>
          <pc:sldMk cId="3764963515" sldId="275"/>
        </pc:sldMkLst>
        <pc:spChg chg="mod">
          <ac:chgData name="Shui Yu" userId="c938b994-a30e-4cc7-a189-187a9b224868" providerId="ADAL" clId="{D378DF58-4452-4BC8-839A-4D178FE0AA68}" dt="2026-08-18T00:36:37.839" v="25" actId="5793"/>
          <ac:spMkLst>
            <pc:docMk/>
            <pc:sldMk cId="3764963515" sldId="275"/>
            <ac:spMk id="4" creationId="{43732A77-5E83-C95D-38CA-450211060EE9}"/>
          </ac:spMkLst>
        </pc:spChg>
      </pc:sldChg>
      <pc:sldChg chg="del">
        <pc:chgData name="Shui Yu" userId="c938b994-a30e-4cc7-a189-187a9b224868" providerId="ADAL" clId="{D378DF58-4452-4BC8-839A-4D178FE0AA68}" dt="2026-08-18T00:34:57.302" v="7" actId="47"/>
        <pc:sldMkLst>
          <pc:docMk/>
          <pc:sldMk cId="2245872722" sldId="276"/>
        </pc:sldMkLst>
      </pc:sldChg>
      <pc:sldChg chg="del">
        <pc:chgData name="Shui Yu" userId="c938b994-a30e-4cc7-a189-187a9b224868" providerId="ADAL" clId="{D378DF58-4452-4BC8-839A-4D178FE0AA68}" dt="2026-08-18T00:37:32.641" v="26" actId="47"/>
        <pc:sldMkLst>
          <pc:docMk/>
          <pc:sldMk cId="4027505072" sldId="288"/>
        </pc:sldMkLst>
      </pc:sldChg>
      <pc:sldChg chg="modSp mod">
        <pc:chgData name="Shui Yu" userId="c938b994-a30e-4cc7-a189-187a9b224868" providerId="ADAL" clId="{D378DF58-4452-4BC8-839A-4D178FE0AA68}" dt="2026-08-18T00:43:06.725" v="96" actId="255"/>
        <pc:sldMkLst>
          <pc:docMk/>
          <pc:sldMk cId="1375090021" sldId="290"/>
        </pc:sldMkLst>
        <pc:spChg chg="mod">
          <ac:chgData name="Shui Yu" userId="c938b994-a30e-4cc7-a189-187a9b224868" providerId="ADAL" clId="{D378DF58-4452-4BC8-839A-4D178FE0AA68}" dt="2026-08-18T00:43:06.725" v="96" actId="255"/>
          <ac:spMkLst>
            <pc:docMk/>
            <pc:sldMk cId="1375090021" sldId="290"/>
            <ac:spMk id="3" creationId="{00000000-0000-0000-0000-000000000000}"/>
          </ac:spMkLst>
        </pc:spChg>
      </pc:sldChg>
      <pc:sldChg chg="del">
        <pc:chgData name="Shui Yu" userId="c938b994-a30e-4cc7-a189-187a9b224868" providerId="ADAL" clId="{D378DF58-4452-4BC8-839A-4D178FE0AA68}" dt="2026-08-18T00:33:38.773" v="4" actId="47"/>
        <pc:sldMkLst>
          <pc:docMk/>
          <pc:sldMk cId="2172394041" sldId="291"/>
        </pc:sldMkLst>
      </pc:sldChg>
      <pc:sldChg chg="del">
        <pc:chgData name="Shui Yu" userId="c938b994-a30e-4cc7-a189-187a9b224868" providerId="ADAL" clId="{D378DF58-4452-4BC8-839A-4D178FE0AA68}" dt="2026-08-18T00:33:43.551" v="5" actId="47"/>
        <pc:sldMkLst>
          <pc:docMk/>
          <pc:sldMk cId="3034526660" sldId="293"/>
        </pc:sldMkLst>
      </pc:sldChg>
      <pc:sldChg chg="del">
        <pc:chgData name="Shui Yu" userId="c938b994-a30e-4cc7-a189-187a9b224868" providerId="ADAL" clId="{D378DF58-4452-4BC8-839A-4D178FE0AA68}" dt="2026-08-18T00:33:49.724" v="6" actId="47"/>
        <pc:sldMkLst>
          <pc:docMk/>
          <pc:sldMk cId="2291134360" sldId="295"/>
        </pc:sldMkLst>
      </pc:sldChg>
      <pc:sldChg chg="modSp add mod modNotes">
        <pc:chgData name="Shui Yu" userId="c938b994-a30e-4cc7-a189-187a9b224868" providerId="ADAL" clId="{D378DF58-4452-4BC8-839A-4D178FE0AA68}" dt="2026-08-18T00:50:03.966" v="199" actId="14100"/>
        <pc:sldMkLst>
          <pc:docMk/>
          <pc:sldMk cId="4289086417" sldId="339"/>
        </pc:sldMkLst>
        <pc:spChg chg="mod">
          <ac:chgData name="Shui Yu" userId="c938b994-a30e-4cc7-a189-187a9b224868" providerId="ADAL" clId="{D378DF58-4452-4BC8-839A-4D178FE0AA68}" dt="2026-08-18T00:50:00.350" v="198" actId="14100"/>
          <ac:spMkLst>
            <pc:docMk/>
            <pc:sldMk cId="4289086417" sldId="339"/>
            <ac:spMk id="2" creationId="{00000000-0000-0000-0000-000000000000}"/>
          </ac:spMkLst>
        </pc:spChg>
        <pc:picChg chg="mod">
          <ac:chgData name="Shui Yu" userId="c938b994-a30e-4cc7-a189-187a9b224868" providerId="ADAL" clId="{D378DF58-4452-4BC8-839A-4D178FE0AA68}" dt="2026-08-18T00:50:03.966" v="199" actId="14100"/>
          <ac:picMkLst>
            <pc:docMk/>
            <pc:sldMk cId="4289086417" sldId="339"/>
            <ac:picMk id="3" creationId="{00000000-0000-0000-0000-000000000000}"/>
          </ac:picMkLst>
        </pc:picChg>
      </pc:sldChg>
      <pc:sldChg chg="modSp mod">
        <pc:chgData name="Shui Yu" userId="c938b994-a30e-4cc7-a189-187a9b224868" providerId="ADAL" clId="{D378DF58-4452-4BC8-839A-4D178FE0AA68}" dt="2026-08-18T02:53:24.920" v="260" actId="20577"/>
        <pc:sldMkLst>
          <pc:docMk/>
          <pc:sldMk cId="0" sldId="384"/>
        </pc:sldMkLst>
        <pc:spChg chg="mod">
          <ac:chgData name="Shui Yu" userId="c938b994-a30e-4cc7-a189-187a9b224868" providerId="ADAL" clId="{D378DF58-4452-4BC8-839A-4D178FE0AA68}" dt="2026-08-18T02:53:24.920" v="260" actId="20577"/>
          <ac:spMkLst>
            <pc:docMk/>
            <pc:sldMk cId="0" sldId="384"/>
            <ac:spMk id="3" creationId="{00000000-0000-0000-0000-000000000000}"/>
          </ac:spMkLst>
        </pc:spChg>
      </pc:sldChg>
      <pc:sldChg chg="modSp add mod">
        <pc:chgData name="Shui Yu" userId="c938b994-a30e-4cc7-a189-187a9b224868" providerId="ADAL" clId="{D378DF58-4452-4BC8-839A-4D178FE0AA68}" dt="2026-08-18T00:41:15.188" v="43" actId="255"/>
        <pc:sldMkLst>
          <pc:docMk/>
          <pc:sldMk cId="4024205586" sldId="395"/>
        </pc:sldMkLst>
        <pc:spChg chg="mod">
          <ac:chgData name="Shui Yu" userId="c938b994-a30e-4cc7-a189-187a9b224868" providerId="ADAL" clId="{D378DF58-4452-4BC8-839A-4D178FE0AA68}" dt="2026-08-18T00:41:15.188" v="43" actId="255"/>
          <ac:spMkLst>
            <pc:docMk/>
            <pc:sldMk cId="4024205586" sldId="395"/>
            <ac:spMk id="2" creationId="{00000000-0000-0000-0000-000000000000}"/>
          </ac:spMkLst>
        </pc:spChg>
      </pc:sldChg>
      <pc:sldChg chg="add">
        <pc:chgData name="Shui Yu" userId="c938b994-a30e-4cc7-a189-187a9b224868" providerId="ADAL" clId="{D378DF58-4452-4BC8-839A-4D178FE0AA68}" dt="2026-08-18T00:35:46.230" v="9"/>
        <pc:sldMkLst>
          <pc:docMk/>
          <pc:sldMk cId="1426145049" sldId="495"/>
        </pc:sldMkLst>
      </pc:sldChg>
      <pc:sldChg chg="addSp delSp modSp add mod">
        <pc:chgData name="Shui Yu" userId="c938b994-a30e-4cc7-a189-187a9b224868" providerId="ADAL" clId="{D378DF58-4452-4BC8-839A-4D178FE0AA68}" dt="2026-08-18T00:47:35.697" v="192" actId="1076"/>
        <pc:sldMkLst>
          <pc:docMk/>
          <pc:sldMk cId="887088458" sldId="496"/>
        </pc:sldMkLst>
        <pc:spChg chg="del">
          <ac:chgData name="Shui Yu" userId="c938b994-a30e-4cc7-a189-187a9b224868" providerId="ADAL" clId="{D378DF58-4452-4BC8-839A-4D178FE0AA68}" dt="2026-08-18T00:45:30.931" v="108" actId="478"/>
          <ac:spMkLst>
            <pc:docMk/>
            <pc:sldMk cId="887088458" sldId="496"/>
            <ac:spMk id="5" creationId="{9D55D67E-8C07-5387-AD6A-16FC85720381}"/>
          </ac:spMkLst>
        </pc:spChg>
        <pc:spChg chg="del">
          <ac:chgData name="Shui Yu" userId="c938b994-a30e-4cc7-a189-187a9b224868" providerId="ADAL" clId="{D378DF58-4452-4BC8-839A-4D178FE0AA68}" dt="2026-08-18T00:45:32.801" v="109" actId="478"/>
          <ac:spMkLst>
            <pc:docMk/>
            <pc:sldMk cId="887088458" sldId="496"/>
            <ac:spMk id="6" creationId="{7DB88784-6CD4-FC5D-2A7D-778F9FA98E9D}"/>
          </ac:spMkLst>
        </pc:spChg>
        <pc:spChg chg="mod">
          <ac:chgData name="Shui Yu" userId="c938b994-a30e-4cc7-a189-187a9b224868" providerId="ADAL" clId="{D378DF58-4452-4BC8-839A-4D178FE0AA68}" dt="2026-08-18T00:47:28.521" v="190" actId="20577"/>
          <ac:spMkLst>
            <pc:docMk/>
            <pc:sldMk cId="887088458" sldId="496"/>
            <ac:spMk id="8" creationId="{7217CC6B-A464-4D47-C678-BE81767B9310}"/>
          </ac:spMkLst>
        </pc:spChg>
        <pc:spChg chg="del mod">
          <ac:chgData name="Shui Yu" userId="c938b994-a30e-4cc7-a189-187a9b224868" providerId="ADAL" clId="{D378DF58-4452-4BC8-839A-4D178FE0AA68}" dt="2026-08-18T00:45:26.584" v="106" actId="478"/>
          <ac:spMkLst>
            <pc:docMk/>
            <pc:sldMk cId="887088458" sldId="496"/>
            <ac:spMk id="27" creationId="{F4428D9B-C188-FFEF-2CB4-C03627955C7F}"/>
          </ac:spMkLst>
        </pc:spChg>
        <pc:spChg chg="del mod">
          <ac:chgData name="Shui Yu" userId="c938b994-a30e-4cc7-a189-187a9b224868" providerId="ADAL" clId="{D378DF58-4452-4BC8-839A-4D178FE0AA68}" dt="2026-08-18T00:44:45.631" v="104" actId="478"/>
          <ac:spMkLst>
            <pc:docMk/>
            <pc:sldMk cId="887088458" sldId="496"/>
            <ac:spMk id="32" creationId="{77ED6BF5-1C0E-12A5-2B90-8C040A3FFBC4}"/>
          </ac:spMkLst>
        </pc:spChg>
        <pc:spChg chg="mod">
          <ac:chgData name="Shui Yu" userId="c938b994-a30e-4cc7-a189-187a9b224868" providerId="ADAL" clId="{D378DF58-4452-4BC8-839A-4D178FE0AA68}" dt="2026-08-18T00:44:32.446" v="98" actId="6549"/>
          <ac:spMkLst>
            <pc:docMk/>
            <pc:sldMk cId="887088458" sldId="496"/>
            <ac:spMk id="35" creationId="{3F5A141A-DA10-DCFD-C550-C4E217F5B486}"/>
          </ac:spMkLst>
        </pc:spChg>
        <pc:spChg chg="del">
          <ac:chgData name="Shui Yu" userId="c938b994-a30e-4cc7-a189-187a9b224868" providerId="ADAL" clId="{D378DF58-4452-4BC8-839A-4D178FE0AA68}" dt="2026-08-18T00:45:28.679" v="107" actId="478"/>
          <ac:spMkLst>
            <pc:docMk/>
            <pc:sldMk cId="887088458" sldId="496"/>
            <ac:spMk id="53" creationId="{13D10968-46EE-3E2C-95A7-E3EB8625E04D}"/>
          </ac:spMkLst>
        </pc:spChg>
        <pc:grpChg chg="del">
          <ac:chgData name="Shui Yu" userId="c938b994-a30e-4cc7-a189-187a9b224868" providerId="ADAL" clId="{D378DF58-4452-4BC8-839A-4D178FE0AA68}" dt="2026-08-18T00:44:35.415" v="99" actId="478"/>
          <ac:grpSpMkLst>
            <pc:docMk/>
            <pc:sldMk cId="887088458" sldId="496"/>
            <ac:grpSpMk id="3" creationId="{D92066CE-09A8-D506-B2E5-7FEF1D6849DF}"/>
          </ac:grpSpMkLst>
        </pc:grpChg>
        <pc:grpChg chg="del">
          <ac:chgData name="Shui Yu" userId="c938b994-a30e-4cc7-a189-187a9b224868" providerId="ADAL" clId="{D378DF58-4452-4BC8-839A-4D178FE0AA68}" dt="2026-08-18T00:44:39.769" v="101" actId="478"/>
          <ac:grpSpMkLst>
            <pc:docMk/>
            <pc:sldMk cId="887088458" sldId="496"/>
            <ac:grpSpMk id="34" creationId="{AD4F5609-30E5-74E4-E9C5-70F0D88F9B4E}"/>
          </ac:grpSpMkLst>
        </pc:grpChg>
        <pc:grpChg chg="del">
          <ac:chgData name="Shui Yu" userId="c938b994-a30e-4cc7-a189-187a9b224868" providerId="ADAL" clId="{D378DF58-4452-4BC8-839A-4D178FE0AA68}" dt="2026-08-18T00:44:40.498" v="102" actId="478"/>
          <ac:grpSpMkLst>
            <pc:docMk/>
            <pc:sldMk cId="887088458" sldId="496"/>
            <ac:grpSpMk id="47" creationId="{0E63DEDB-4135-93D1-42A0-DDF9DA10927D}"/>
          </ac:grpSpMkLst>
        </pc:grpChg>
        <pc:picChg chg="add mod">
          <ac:chgData name="Shui Yu" userId="c938b994-a30e-4cc7-a189-187a9b224868" providerId="ADAL" clId="{D378DF58-4452-4BC8-839A-4D178FE0AA68}" dt="2026-08-18T00:47:35.697" v="192" actId="1076"/>
          <ac:picMkLst>
            <pc:docMk/>
            <pc:sldMk cId="887088458" sldId="496"/>
            <ac:picMk id="9" creationId="{F2F37E64-0B33-50F6-73DE-F54C3525BCF5}"/>
          </ac:picMkLst>
        </pc:picChg>
        <pc:picChg chg="del">
          <ac:chgData name="Shui Yu" userId="c938b994-a30e-4cc7-a189-187a9b224868" providerId="ADAL" clId="{D378DF58-4452-4BC8-839A-4D178FE0AA68}" dt="2026-08-18T00:44:38.869" v="100" actId="478"/>
          <ac:picMkLst>
            <pc:docMk/>
            <pc:sldMk cId="887088458" sldId="496"/>
            <ac:picMk id="33" creationId="{00EB2BF4-4A82-9D20-82F3-CD7D3FBE161F}"/>
          </ac:picMkLst>
        </pc:picChg>
        <pc:cxnChg chg="mod">
          <ac:chgData name="Shui Yu" userId="c938b994-a30e-4cc7-a189-187a9b224868" providerId="ADAL" clId="{D378DF58-4452-4BC8-839A-4D178FE0AA68}" dt="2026-08-18T00:44:35.415" v="99" actId="478"/>
          <ac:cxnSpMkLst>
            <pc:docMk/>
            <pc:sldMk cId="887088458" sldId="496"/>
            <ac:cxnSpMk id="38" creationId="{71A80449-8B1C-0C28-4F55-E3BB001702EA}"/>
          </ac:cxnSpMkLst>
        </pc:cxnChg>
        <pc:cxnChg chg="mod">
          <ac:chgData name="Shui Yu" userId="c938b994-a30e-4cc7-a189-187a9b224868" providerId="ADAL" clId="{D378DF58-4452-4BC8-839A-4D178FE0AA68}" dt="2026-08-18T00:44:35.415" v="99" actId="478"/>
          <ac:cxnSpMkLst>
            <pc:docMk/>
            <pc:sldMk cId="887088458" sldId="496"/>
            <ac:cxnSpMk id="39" creationId="{BBCD0D2A-B7F7-8DC4-5A85-571513A33A8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2C468-91E1-4DCD-937E-1C399232D48F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81EF-49F5-4199-BE4E-3F90F7140D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36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28C508-9378-416B-A78D-286D5528740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68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A3D6A-2D2A-4013-9C66-3B37E953BCD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5CEC-DFE1-A5D2-10B8-8C39EA61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1B689-0987-92FE-7C29-DB7537C9D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55B4A-0313-4881-1A84-83E6F2333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7310F-138D-8D14-3EB4-56D541F24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A3D6A-2D2A-4013-9C66-3B37E953BCD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74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IOS 10, http://</a:t>
            </a:r>
            <a:r>
              <a:rPr lang="en-US" dirty="0" err="1"/>
              <a:t>www.theverge.com</a:t>
            </a:r>
            <a:r>
              <a:rPr lang="en-US" dirty="0"/>
              <a:t>/2016/6/17/11957782/apple-differential-privacy-ios-10-wwdc-2016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Starting with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iOS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10, Apple is using Differential Privacy technology to help discover the usage patterns of a large number of users without compromising individual privacy. To obscure an individual’s identity, Differential Privacy adds mathematical noise to a small sample of the individual’s usage pattern. As more people share the same pattern, general patterns begin to emerge, which can inform and enhance the user experience. In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iOS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10, this technology will help improve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QuickType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emoji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suggestions, Spotlight deep link suggestions and Lookup Hints in Notes.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49154-463D-445E-8075-C77CE80FCF43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47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49154-463D-445E-8075-C77CE80FCF43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1418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C19A9-32A9-484D-B09C-D36619F0147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044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C19A9-32A9-484D-B09C-D36619F0147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258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83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40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00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98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92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23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84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60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17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04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635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7417 UTS Corp PPT 16x9_new 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90513" y="3039415"/>
            <a:ext cx="7344912" cy="1231107"/>
          </a:xfrm>
        </p:spPr>
        <p:txBody>
          <a:bodyPr/>
          <a:lstStyle>
            <a:lvl1pPr>
              <a:lnSpc>
                <a:spcPts val="4800"/>
              </a:lnSpc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7934313" y="6370147"/>
            <a:ext cx="3860800" cy="3077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uts.edu.au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3434369" y="6429884"/>
            <a:ext cx="3777801" cy="222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lang="en-AU" sz="1467" cap="all" baseline="0" noProof="0" dirty="0">
                <a:solidFill>
                  <a:schemeClr val="bg1"/>
                </a:solidFill>
              </a:rPr>
              <a:t>uts cricos provider code: 00099f</a:t>
            </a:r>
          </a:p>
        </p:txBody>
      </p:sp>
    </p:spTree>
    <p:extLst>
      <p:ext uri="{BB962C8B-B14F-4D97-AF65-F5344CB8AC3E}">
        <p14:creationId xmlns:p14="http://schemas.microsoft.com/office/powerpoint/2010/main" val="3025250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 userDrawn="1"/>
        </p:nvGrpSpPr>
        <p:grpSpPr>
          <a:xfrm>
            <a:off x="266718" y="1"/>
            <a:ext cx="11914963" cy="2274888"/>
            <a:chOff x="533400" y="0"/>
            <a:chExt cx="23828375" cy="4549775"/>
          </a:xfrm>
        </p:grpSpPr>
        <p:sp>
          <p:nvSpPr>
            <p:cNvPr id="164" name="AutoShape 1"/>
            <p:cNvSpPr>
              <a:spLocks/>
            </p:cNvSpPr>
            <p:nvPr userDrawn="1"/>
          </p:nvSpPr>
          <p:spPr bwMode="auto">
            <a:xfrm>
              <a:off x="5118100" y="0"/>
              <a:ext cx="511175" cy="4508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66" y="21600"/>
                  </a:lnTo>
                  <a:lnTo>
                    <a:pt x="21600" y="21515"/>
                  </a:lnTo>
                  <a:lnTo>
                    <a:pt x="21534" y="0"/>
                  </a:lnTo>
                  <a:cubicBezTo>
                    <a:pt x="21534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5" name="AutoShape 2"/>
            <p:cNvSpPr>
              <a:spLocks/>
            </p:cNvSpPr>
            <p:nvPr userDrawn="1"/>
          </p:nvSpPr>
          <p:spPr bwMode="auto">
            <a:xfrm>
              <a:off x="3581400" y="0"/>
              <a:ext cx="511175" cy="4572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68" y="21600"/>
                  </a:lnTo>
                  <a:lnTo>
                    <a:pt x="21600" y="21516"/>
                  </a:lnTo>
                  <a:lnTo>
                    <a:pt x="21533" y="0"/>
                  </a:lnTo>
                  <a:cubicBezTo>
                    <a:pt x="21533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6" name="AutoShape 3"/>
            <p:cNvSpPr>
              <a:spLocks/>
            </p:cNvSpPr>
            <p:nvPr userDrawn="1"/>
          </p:nvSpPr>
          <p:spPr bwMode="auto">
            <a:xfrm>
              <a:off x="4610100" y="9652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5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7" name="AutoShape 4"/>
            <p:cNvSpPr>
              <a:spLocks/>
            </p:cNvSpPr>
            <p:nvPr userDrawn="1"/>
          </p:nvSpPr>
          <p:spPr bwMode="auto">
            <a:xfrm>
              <a:off x="533400" y="40386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9" name="AutoShape 6"/>
            <p:cNvSpPr>
              <a:spLocks/>
            </p:cNvSpPr>
            <p:nvPr userDrawn="1"/>
          </p:nvSpPr>
          <p:spPr bwMode="auto">
            <a:xfrm>
              <a:off x="16700500" y="25400"/>
              <a:ext cx="511175" cy="47783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71" y="21600"/>
                  </a:lnTo>
                  <a:lnTo>
                    <a:pt x="21600" y="21520"/>
                  </a:lnTo>
                  <a:lnTo>
                    <a:pt x="21530" y="0"/>
                  </a:lnTo>
                  <a:cubicBezTo>
                    <a:pt x="21530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0" name="AutoShape 7"/>
            <p:cNvSpPr>
              <a:spLocks/>
            </p:cNvSpPr>
            <p:nvPr userDrawn="1"/>
          </p:nvSpPr>
          <p:spPr bwMode="auto">
            <a:xfrm>
              <a:off x="16192500" y="25400"/>
              <a:ext cx="511175" cy="4794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71" y="21600"/>
                  </a:lnTo>
                  <a:lnTo>
                    <a:pt x="21600" y="21519"/>
                  </a:lnTo>
                  <a:lnTo>
                    <a:pt x="21529" y="0"/>
                  </a:lnTo>
                  <a:cubicBezTo>
                    <a:pt x="21529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1" name="AutoShape 8"/>
            <p:cNvSpPr>
              <a:spLocks/>
            </p:cNvSpPr>
            <p:nvPr userDrawn="1"/>
          </p:nvSpPr>
          <p:spPr bwMode="auto">
            <a:xfrm>
              <a:off x="20789900" y="4826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2" name="AutoShape 9"/>
            <p:cNvSpPr>
              <a:spLocks/>
            </p:cNvSpPr>
            <p:nvPr userDrawn="1"/>
          </p:nvSpPr>
          <p:spPr bwMode="auto">
            <a:xfrm>
              <a:off x="15684500" y="495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3" name="AutoShape 10"/>
            <p:cNvSpPr>
              <a:spLocks/>
            </p:cNvSpPr>
            <p:nvPr userDrawn="1"/>
          </p:nvSpPr>
          <p:spPr bwMode="auto">
            <a:xfrm>
              <a:off x="14655800" y="5080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4" name="AutoShape 11"/>
            <p:cNvSpPr>
              <a:spLocks/>
            </p:cNvSpPr>
            <p:nvPr userDrawn="1"/>
          </p:nvSpPr>
          <p:spPr bwMode="auto">
            <a:xfrm>
              <a:off x="19253200" y="1003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5" name="AutoShape 12"/>
            <p:cNvSpPr>
              <a:spLocks/>
            </p:cNvSpPr>
            <p:nvPr userDrawn="1"/>
          </p:nvSpPr>
          <p:spPr bwMode="auto">
            <a:xfrm>
              <a:off x="21297900" y="1497013"/>
              <a:ext cx="511175" cy="512762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6" name="AutoShape 13"/>
            <p:cNvSpPr>
              <a:spLocks/>
            </p:cNvSpPr>
            <p:nvPr userDrawn="1"/>
          </p:nvSpPr>
          <p:spPr bwMode="auto">
            <a:xfrm>
              <a:off x="20281900" y="1511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7" name="AutoShape 14"/>
            <p:cNvSpPr>
              <a:spLocks/>
            </p:cNvSpPr>
            <p:nvPr userDrawn="1"/>
          </p:nvSpPr>
          <p:spPr bwMode="auto">
            <a:xfrm>
              <a:off x="19253200" y="1509713"/>
              <a:ext cx="511175" cy="512762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8" name="AutoShape 15"/>
            <p:cNvSpPr>
              <a:spLocks/>
            </p:cNvSpPr>
            <p:nvPr userDrawn="1"/>
          </p:nvSpPr>
          <p:spPr bwMode="auto">
            <a:xfrm>
              <a:off x="17729200" y="1509713"/>
              <a:ext cx="511175" cy="512762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9" name="AutoShape 16"/>
            <p:cNvSpPr>
              <a:spLocks/>
            </p:cNvSpPr>
            <p:nvPr userDrawn="1"/>
          </p:nvSpPr>
          <p:spPr bwMode="auto">
            <a:xfrm>
              <a:off x="15176500" y="15240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0" name="AutoShape 17"/>
            <p:cNvSpPr>
              <a:spLocks/>
            </p:cNvSpPr>
            <p:nvPr userDrawn="1"/>
          </p:nvSpPr>
          <p:spPr bwMode="auto">
            <a:xfrm>
              <a:off x="20789900" y="2019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1" name="AutoShape 18"/>
            <p:cNvSpPr>
              <a:spLocks/>
            </p:cNvSpPr>
            <p:nvPr userDrawn="1"/>
          </p:nvSpPr>
          <p:spPr bwMode="auto">
            <a:xfrm>
              <a:off x="18745200" y="2019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2" name="AutoShape 19"/>
            <p:cNvSpPr>
              <a:spLocks/>
            </p:cNvSpPr>
            <p:nvPr userDrawn="1"/>
          </p:nvSpPr>
          <p:spPr bwMode="auto">
            <a:xfrm>
              <a:off x="21297900" y="2527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3" name="AutoShape 20"/>
            <p:cNvSpPr>
              <a:spLocks/>
            </p:cNvSpPr>
            <p:nvPr userDrawn="1"/>
          </p:nvSpPr>
          <p:spPr bwMode="auto">
            <a:xfrm>
              <a:off x="20789900" y="2527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4" name="AutoShape 21"/>
            <p:cNvSpPr>
              <a:spLocks/>
            </p:cNvSpPr>
            <p:nvPr userDrawn="1"/>
          </p:nvSpPr>
          <p:spPr bwMode="auto">
            <a:xfrm>
              <a:off x="23850600" y="3022600"/>
              <a:ext cx="511175" cy="4794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0"/>
                  </a:moveTo>
                  <a:lnTo>
                    <a:pt x="71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  <a:moveTo>
                    <a:pt x="0" y="80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5" name="AutoShape 22"/>
            <p:cNvSpPr>
              <a:spLocks/>
            </p:cNvSpPr>
            <p:nvPr userDrawn="1"/>
          </p:nvSpPr>
          <p:spPr bwMode="auto">
            <a:xfrm>
              <a:off x="23342600" y="3021013"/>
              <a:ext cx="511175" cy="4794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0"/>
                  </a:moveTo>
                  <a:lnTo>
                    <a:pt x="70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  <a:moveTo>
                    <a:pt x="0" y="8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72696" y="1205942"/>
            <a:ext cx="5224225" cy="104644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3300"/>
              </a:lnSpc>
              <a:tabLst>
                <a:tab pos="1262063" algn="l"/>
                <a:tab pos="1865313" algn="l"/>
              </a:tabLst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42923" y="2370326"/>
            <a:ext cx="10926502" cy="2915117"/>
          </a:xfrm>
        </p:spPr>
        <p:txBody>
          <a:bodyPr lIns="0" tIns="0" rIns="0" bIns="0" numCol="1" spcCol="720000">
            <a:noAutofit/>
          </a:bodyPr>
          <a:lstStyle>
            <a:lvl1pPr marL="341313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tabLst/>
              <a:defRPr sz="2000">
                <a:solidFill>
                  <a:schemeClr val="tx1"/>
                </a:solidFill>
              </a:defRPr>
            </a:lvl1pPr>
            <a:lvl2pPr marL="317500" indent="-3175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 marL="539750" indent="-182563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tabLst/>
              <a:defRPr sz="2000">
                <a:solidFill>
                  <a:schemeClr val="tx1"/>
                </a:solidFill>
              </a:defRPr>
            </a:lvl3pPr>
            <a:lvl4pPr marL="825500" indent="-26193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.AppleSystemUIFont" charset="-120"/>
              <a:buChar char="–"/>
              <a:tabLst/>
              <a:defRPr sz="2000">
                <a:solidFill>
                  <a:schemeClr val="tx1"/>
                </a:solidFill>
              </a:defRPr>
            </a:lvl4pPr>
            <a:lvl5pPr marL="825500" indent="-2857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26881" y="294774"/>
            <a:ext cx="5401821" cy="26908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7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7" name="TextBox 186"/>
          <p:cNvSpPr txBox="1"/>
          <p:nvPr userDrawn="1"/>
        </p:nvSpPr>
        <p:spPr>
          <a:xfrm>
            <a:off x="10677661" y="372036"/>
            <a:ext cx="11714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00FCE-1FC4-5243-BFE3-0A2F0D5084C4}" type="slidenum">
              <a:rPr lang="en-US" sz="700" smtClean="0">
                <a:solidFill>
                  <a:schemeClr val="accent1"/>
                </a:solidFill>
              </a:rPr>
              <a:pPr marL="0" marR="0" lvl="0" indent="0" algn="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30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3DDD2-5D5D-4F2E-A43D-A5B3200CE74E}" type="datetimeFigureOut">
              <a:rPr lang="en-AU" smtClean="0"/>
              <a:t>18/08/2026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57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affiliates.art.com/get.art?T=15029119&amp;A=934828&amp;L=8&amp;P=10078681&amp;S=2&amp;Y=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950741" y="2000132"/>
            <a:ext cx="8176665" cy="1231107"/>
          </a:xfrm>
        </p:spPr>
        <p:txBody>
          <a:bodyPr/>
          <a:lstStyle/>
          <a:p>
            <a:r>
              <a:rPr lang="en-US" dirty="0"/>
              <a:t>41183 PRIVACY PRESERVING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uts.edu.au</a:t>
            </a:r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4699215" y="3404008"/>
            <a:ext cx="5673788" cy="44550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2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33" cap="none" dirty="0"/>
              <a:t>Lecture 5. Differential Privacy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About Assignment 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Due on September 11, 2026, Friday.</a:t>
            </a:r>
          </a:p>
          <a:p>
            <a:r>
              <a:rPr lang="en-AU" dirty="0"/>
              <a:t>Group work (learning – attitude of learning or training).</a:t>
            </a:r>
          </a:p>
          <a:p>
            <a:r>
              <a:rPr lang="en-AU" dirty="0"/>
              <a:t>One submission per group at Canvas</a:t>
            </a:r>
          </a:p>
          <a:p>
            <a:pPr marL="0" indent="0">
              <a:buNone/>
            </a:pPr>
            <a:r>
              <a:rPr lang="en-AU" dirty="0"/>
              <a:t>  - include clearly the student ID, name of group members at the first page</a:t>
            </a:r>
          </a:p>
          <a:p>
            <a:pPr marL="0" indent="0">
              <a:buNone/>
            </a:pPr>
            <a:r>
              <a:rPr lang="en-AU" dirty="0"/>
              <a:t>   - include the percentage of contribution at the end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2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Sensitive data collecting</a:t>
            </a:r>
          </a:p>
          <a:p>
            <a:r>
              <a:rPr lang="en-AU" dirty="0"/>
              <a:t>Local differential privacy </a:t>
            </a:r>
          </a:p>
          <a:p>
            <a:r>
              <a:rPr lang="en-AU" dirty="0"/>
              <a:t>Applications of differential privacy</a:t>
            </a:r>
          </a:p>
          <a:p>
            <a:r>
              <a:rPr lang="en-AU" dirty="0"/>
              <a:t>Differential privacy for deep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40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Sensitive information collection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We do survey on sensitive data online or offline </a:t>
            </a:r>
          </a:p>
          <a:p>
            <a:r>
              <a:rPr lang="en-US" dirty="0"/>
              <a:t>Political opinions</a:t>
            </a:r>
          </a:p>
          <a:p>
            <a:r>
              <a:rPr lang="en-US" dirty="0"/>
              <a:t>Religious beliefs</a:t>
            </a:r>
          </a:p>
          <a:p>
            <a:r>
              <a:rPr lang="en-US" dirty="0"/>
              <a:t>Trade Union membership</a:t>
            </a:r>
          </a:p>
          <a:p>
            <a:r>
              <a:rPr lang="en-US" dirty="0"/>
              <a:t>Health data</a:t>
            </a:r>
          </a:p>
          <a:p>
            <a:r>
              <a:rPr lang="en-US" dirty="0"/>
              <a:t>Data about sexual orientation</a:t>
            </a:r>
          </a:p>
          <a:p>
            <a:r>
              <a:rPr lang="en-US" dirty="0"/>
              <a:t>Have you cheated last semester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order to make sure the data accuracy, we have to make it concern free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2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Sensitive information collection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general, we have to guarantee privacy concern free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Hide the content </a:t>
            </a:r>
          </a:p>
          <a:p>
            <a:pPr marL="0" indent="0">
              <a:buNone/>
            </a:pPr>
            <a:r>
              <a:rPr lang="en-US" dirty="0"/>
              <a:t> e.g., encrypt the content, however, you have to trust the server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Hide the identification of the users (a better solution for privacy)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171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Sensitive information collection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surveying technique – </a:t>
            </a:r>
            <a:r>
              <a:rPr lang="en-US" i="1" dirty="0"/>
              <a:t>randomized response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 to answer the questions, the respondent</a:t>
            </a:r>
          </a:p>
          <a:p>
            <a:pPr marL="514350" indent="-514350">
              <a:buAutoNum type="arabicPeriod"/>
            </a:pPr>
            <a:r>
              <a:rPr lang="en-US" dirty="0"/>
              <a:t>Toss a coin in secret, if it is head, answer truthfully</a:t>
            </a:r>
          </a:p>
          <a:p>
            <a:pPr marL="514350" indent="-514350">
              <a:buAutoNum type="arabicPeriod"/>
            </a:pPr>
            <a:r>
              <a:rPr lang="en-US" dirty="0"/>
              <a:t>In case of tails, toss the coin in secret again</a:t>
            </a:r>
          </a:p>
          <a:p>
            <a:pPr marL="0" indent="0">
              <a:buNone/>
            </a:pPr>
            <a:r>
              <a:rPr lang="en-US" dirty="0"/>
              <a:t>          if it is tail again, answer “Yes”</a:t>
            </a:r>
          </a:p>
          <a:p>
            <a:pPr marL="0" indent="0">
              <a:buNone/>
            </a:pPr>
            <a:r>
              <a:rPr lang="en-US" dirty="0"/>
              <a:t>          if it is head, answer “No”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Following the protocol, we can collect sensitive information while keep the privacy of the respondents.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353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Hide ID for Privacy Protection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778919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Anonymous communication </a:t>
            </a:r>
          </a:p>
          <a:p>
            <a:pPr marL="0" indent="0">
              <a:buNone/>
            </a:pPr>
            <a:r>
              <a:rPr lang="en-US" dirty="0"/>
              <a:t> e.g., use 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dirty="0"/>
              <a:t>Refer to Chapter 8 of the reference book (Security and Privacy in Federated Learning)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7E42A-BE78-4DA1-4DF5-08CF73F59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440" y="3098967"/>
            <a:ext cx="6915211" cy="23963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783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Hide ID for Privacy Protection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778919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Shuffle model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dirty="0"/>
              <a:t>Refer to Chapter 8 of the reference book (Security and Privacy in Federated Learning)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8</a:t>
            </a:fld>
            <a:endParaRPr lang="en-US"/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6F211712-80C9-C55B-353E-EF41D2DAA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4356" y="2326104"/>
            <a:ext cx="5001801" cy="29838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856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9066" y="664139"/>
            <a:ext cx="9509760" cy="897198"/>
          </a:xfrm>
        </p:spPr>
        <p:txBody>
          <a:bodyPr>
            <a:normAutofit/>
          </a:bodyPr>
          <a:lstStyle/>
          <a:p>
            <a:r>
              <a:rPr lang="en-US" altLang="zh-CN" dirty="0"/>
              <a:t>Local Differential Privacy (LDP)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879517" y="2840234"/>
            <a:ext cx="7435881" cy="2822103"/>
            <a:chOff x="1370014" y="1764161"/>
            <a:chExt cx="5576911" cy="2822103"/>
          </a:xfrm>
        </p:grpSpPr>
        <p:grpSp>
          <p:nvGrpSpPr>
            <p:cNvPr id="25" name="组合 24"/>
            <p:cNvGrpSpPr/>
            <p:nvPr/>
          </p:nvGrpSpPr>
          <p:grpSpPr>
            <a:xfrm>
              <a:off x="1370014" y="1764161"/>
              <a:ext cx="5244661" cy="2200853"/>
              <a:chOff x="1370014" y="2636912"/>
              <a:chExt cx="5244661" cy="2200853"/>
            </a:xfrm>
          </p:grpSpPr>
          <p:pic>
            <p:nvPicPr>
              <p:cNvPr id="28" name="Picture 3" descr="C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989945" y="2636912"/>
                <a:ext cx="624730" cy="592883"/>
              </a:xfrm>
              <a:prstGeom prst="rect">
                <a:avLst/>
              </a:prstGeom>
              <a:noFill/>
            </p:spPr>
          </p:pic>
          <p:sp>
            <p:nvSpPr>
              <p:cNvPr id="29" name="Flowchart: Magnetic Disk 5"/>
              <p:cNvSpPr/>
              <p:nvPr/>
            </p:nvSpPr>
            <p:spPr>
              <a:xfrm>
                <a:off x="3614936" y="3287040"/>
                <a:ext cx="1066800" cy="685800"/>
              </a:xfrm>
              <a:prstGeom prst="flowChartMagneticDisk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Original Dataset D</a:t>
                </a:r>
                <a:endParaRPr lang="en-AU" sz="1600" dirty="0"/>
              </a:p>
            </p:txBody>
          </p:sp>
          <p:sp>
            <p:nvSpPr>
              <p:cNvPr id="31" name="Rounded Rectangle 6"/>
              <p:cNvSpPr/>
              <p:nvPr/>
            </p:nvSpPr>
            <p:spPr>
              <a:xfrm>
                <a:off x="1370014" y="2826175"/>
                <a:ext cx="914400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Alice</a:t>
                </a:r>
                <a:endParaRPr lang="en-AU" sz="1600" dirty="0"/>
              </a:p>
            </p:txBody>
          </p:sp>
          <p:sp>
            <p:nvSpPr>
              <p:cNvPr id="35" name="Rounded Rectangle 7"/>
              <p:cNvSpPr/>
              <p:nvPr/>
            </p:nvSpPr>
            <p:spPr>
              <a:xfrm>
                <a:off x="1370014" y="3511975"/>
                <a:ext cx="914400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Bob</a:t>
                </a:r>
                <a:endParaRPr lang="en-AU" sz="1600" dirty="0"/>
              </a:p>
            </p:txBody>
          </p:sp>
          <p:sp>
            <p:nvSpPr>
              <p:cNvPr id="36" name="Rounded Rectangle 8"/>
              <p:cNvSpPr/>
              <p:nvPr/>
            </p:nvSpPr>
            <p:spPr>
              <a:xfrm>
                <a:off x="1370014" y="4197775"/>
                <a:ext cx="914400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Cathy</a:t>
                </a:r>
                <a:endParaRPr lang="en-AU" sz="1600" dirty="0"/>
              </a:p>
            </p:txBody>
          </p:sp>
          <p:pic>
            <p:nvPicPr>
              <p:cNvPr id="37" name="Picture 3" descr="C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989945" y="4244882"/>
                <a:ext cx="624730" cy="592883"/>
              </a:xfrm>
              <a:prstGeom prst="rect">
                <a:avLst/>
              </a:prstGeom>
              <a:noFill/>
            </p:spPr>
          </p:pic>
          <p:cxnSp>
            <p:nvCxnSpPr>
              <p:cNvPr id="38" name="Elbow Connector 14"/>
              <p:cNvCxnSpPr>
                <a:stCxn id="31" idx="3"/>
                <a:endCxn id="36" idx="3"/>
              </p:cNvCxnSpPr>
              <p:nvPr/>
            </p:nvCxnSpPr>
            <p:spPr>
              <a:xfrm>
                <a:off x="2284414" y="2978575"/>
                <a:ext cx="12700" cy="1371600"/>
              </a:xfrm>
              <a:prstGeom prst="bentConnector3">
                <a:avLst>
                  <a:gd name="adj1" fmla="val 180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18"/>
              <p:cNvCxnSpPr>
                <a:stCxn id="35" idx="3"/>
              </p:cNvCxnSpPr>
              <p:nvPr/>
            </p:nvCxnSpPr>
            <p:spPr>
              <a:xfrm>
                <a:off x="2284414" y="3664375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3"/>
              <p:cNvCxnSpPr/>
              <p:nvPr/>
            </p:nvCxnSpPr>
            <p:spPr>
              <a:xfrm flipV="1">
                <a:off x="2513012" y="3664374"/>
                <a:ext cx="231866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/>
              <p:cNvCxnSpPr/>
              <p:nvPr/>
            </p:nvCxnSpPr>
            <p:spPr>
              <a:xfrm rot="10800000" flipV="1">
                <a:off x="5920095" y="2933354"/>
                <a:ext cx="12700" cy="1607970"/>
              </a:xfrm>
              <a:prstGeom prst="bentConnector3">
                <a:avLst>
                  <a:gd name="adj1" fmla="val 180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/>
            </p:nvCxnSpPr>
            <p:spPr>
              <a:xfrm>
                <a:off x="3635896" y="3664374"/>
                <a:ext cx="2633490" cy="123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3" descr="C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957021" y="3406682"/>
                <a:ext cx="624730" cy="592883"/>
              </a:xfrm>
              <a:prstGeom prst="rect">
                <a:avLst/>
              </a:prstGeom>
              <a:noFill/>
            </p:spPr>
          </p:pic>
        </p:grpSp>
        <p:sp>
          <p:nvSpPr>
            <p:cNvPr id="43" name="左大括号 42"/>
            <p:cNvSpPr/>
            <p:nvPr/>
          </p:nvSpPr>
          <p:spPr>
            <a:xfrm rot="16200000">
              <a:off x="2571872" y="2998121"/>
              <a:ext cx="491928" cy="2684357"/>
            </a:xfrm>
            <a:prstGeom prst="leftBrace">
              <a:avLst>
                <a:gd name="adj1" fmla="val 23333"/>
                <a:gd name="adj2" fmla="val 5311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eaVert"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4" name="左大括号 43"/>
            <p:cNvSpPr/>
            <p:nvPr/>
          </p:nvSpPr>
          <p:spPr>
            <a:xfrm rot="16200000">
              <a:off x="5296891" y="2936229"/>
              <a:ext cx="513158" cy="2786910"/>
            </a:xfrm>
            <a:prstGeom prst="leftBrace">
              <a:avLst>
                <a:gd name="adj1" fmla="val 23333"/>
                <a:gd name="adj2" fmla="val 5311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eaVert"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5" name="Rectangle 4"/>
          <p:cNvSpPr/>
          <p:nvPr/>
        </p:nvSpPr>
        <p:spPr>
          <a:xfrm>
            <a:off x="3069067" y="5681002"/>
            <a:ext cx="21103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Data Collecting</a:t>
            </a:r>
            <a:endParaRPr lang="zh-CN" alt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5940953" y="5662337"/>
            <a:ext cx="2931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Data Release/Sharing</a:t>
            </a:r>
            <a:endParaRPr lang="zh-CN" altLang="en-US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179453" y="4214942"/>
            <a:ext cx="996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Curator</a:t>
            </a:r>
          </a:p>
        </p:txBody>
      </p:sp>
      <p:sp>
        <p:nvSpPr>
          <p:cNvPr id="32" name="Oval 31"/>
          <p:cNvSpPr/>
          <p:nvPr/>
        </p:nvSpPr>
        <p:spPr>
          <a:xfrm>
            <a:off x="3707846" y="3431613"/>
            <a:ext cx="800793" cy="757388"/>
          </a:xfrm>
          <a:prstGeom prst="ellipse">
            <a:avLst/>
          </a:prstGeom>
          <a:solidFill>
            <a:srgbClr val="8926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LDP</a:t>
            </a:r>
            <a:endParaRPr lang="en-AU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989" y="2788671"/>
            <a:ext cx="786452" cy="786452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1468982" y="3474225"/>
            <a:ext cx="772160" cy="774000"/>
            <a:chOff x="7406434" y="3195692"/>
            <a:chExt cx="772160" cy="774000"/>
          </a:xfrm>
        </p:grpSpPr>
        <p:sp>
          <p:nvSpPr>
            <p:cNvPr id="45" name="Oval 44"/>
            <p:cNvSpPr/>
            <p:nvPr/>
          </p:nvSpPr>
          <p:spPr>
            <a:xfrm>
              <a:off x="7406434" y="3195692"/>
              <a:ext cx="772160" cy="774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545" y="3295723"/>
              <a:ext cx="573938" cy="573938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1465387" y="4127197"/>
            <a:ext cx="772160" cy="774000"/>
            <a:chOff x="7835848" y="4910040"/>
            <a:chExt cx="772160" cy="774000"/>
          </a:xfrm>
        </p:grpSpPr>
        <p:sp>
          <p:nvSpPr>
            <p:cNvPr id="49" name="Oval 48"/>
            <p:cNvSpPr/>
            <p:nvPr/>
          </p:nvSpPr>
          <p:spPr>
            <a:xfrm>
              <a:off x="7835848" y="4910040"/>
              <a:ext cx="772160" cy="774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85554" y="5078600"/>
              <a:ext cx="436880" cy="436880"/>
            </a:xfrm>
            <a:prstGeom prst="rect">
              <a:avLst/>
            </a:prstGeom>
          </p:spPr>
        </p:pic>
      </p:grpSp>
      <p:sp>
        <p:nvSpPr>
          <p:cNvPr id="53" name="TextBox 52"/>
          <p:cNvSpPr txBox="1"/>
          <p:nvPr/>
        </p:nvSpPr>
        <p:spPr>
          <a:xfrm>
            <a:off x="7598571" y="3352284"/>
            <a:ext cx="232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Public </a:t>
            </a:r>
            <a:r>
              <a:rPr lang="en-AU" sz="1600" dirty="0"/>
              <a:t>Users or Entities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C8EED-2FE2-DAEF-8B8E-82B2F8995421}"/>
              </a:ext>
            </a:extLst>
          </p:cNvPr>
          <p:cNvSpPr txBox="1"/>
          <p:nvPr/>
        </p:nvSpPr>
        <p:spPr>
          <a:xfrm>
            <a:off x="1060242" y="1723678"/>
            <a:ext cx="7233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Using differential privacy to work on the content part for privacy preserving</a:t>
            </a:r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1077"/>
    </mc:Choice>
    <mc:Fallback xmlns="">
      <p:transition advTm="8107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8BB1-63F0-6D8F-5975-C2B3BB86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4EA2E-6ADD-CC62-994D-3DA68F5E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66" y="664139"/>
            <a:ext cx="9509760" cy="897198"/>
          </a:xfrm>
        </p:spPr>
        <p:txBody>
          <a:bodyPr>
            <a:normAutofit/>
          </a:bodyPr>
          <a:lstStyle/>
          <a:p>
            <a:r>
              <a:rPr lang="en-US" altLang="zh-CN" dirty="0"/>
              <a:t>Local Differential Privacy (LDP)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162554-AF9A-2FFC-BD15-EE3CE0B0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7CC6B-A464-4D47-C678-BE81767B9310}"/>
              </a:ext>
            </a:extLst>
          </p:cNvPr>
          <p:cNvSpPr txBox="1"/>
          <p:nvPr/>
        </p:nvSpPr>
        <p:spPr>
          <a:xfrm>
            <a:off x="1060242" y="1723678"/>
            <a:ext cx="7233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Application Examples: f</a:t>
            </a:r>
            <a:r>
              <a:rPr lang="en-US" dirty="0"/>
              <a:t>ederated learning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F37E64-0B33-50F6-73DE-F54C3525B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53" y="2743200"/>
            <a:ext cx="5723669" cy="262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8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1077"/>
    </mc:Choice>
    <mc:Fallback xmlns="">
      <p:transition advTm="8107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Key difference between DP and LDP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DP is used to protect the privacy of a statistical information retrieval services, in other words, the attackers are the users.</a:t>
            </a:r>
          </a:p>
          <a:p>
            <a:r>
              <a:rPr lang="en-US" dirty="0"/>
              <a:t>LDP is used to protect the privacy of users against malicious servers, e.g. in sensitive information collection (did you cheat in the exam?)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 Differential Privacy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820" y="2170827"/>
            <a:ext cx="5484009" cy="30847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2050" name="Picture 2" descr="Apple Differential Privacy WWDC 2016 slide 009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18"/>
          <a:stretch>
            <a:fillRect/>
          </a:stretch>
        </p:blipFill>
        <p:spPr bwMode="auto">
          <a:xfrm>
            <a:off x="5793526" y="2170827"/>
            <a:ext cx="6227275" cy="307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3579"/>
    </mc:Choice>
    <mc:Fallback xmlns="">
      <p:transition advTm="5357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 Differential Privacy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1026" name="Picture 2" descr="Image result for differential privac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47" y="1521029"/>
            <a:ext cx="5752203" cy="459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9931"/>
    </mc:Choice>
    <mc:Fallback xmlns="">
      <p:transition advTm="1993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adoptions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14</a:t>
            </a:fld>
            <a:endParaRPr lang="en-AU"/>
          </a:p>
        </p:txBody>
      </p:sp>
      <p:pic>
        <p:nvPicPr>
          <p:cNvPr id="3074" name="Picture 2" descr="https://9to5google.com/wp-content/uploads/sites/4/2019/03/tensorflow-logo.jpg?quality=82&amp;strip=all&amp;w=160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784" y="1745039"/>
            <a:ext cx="7269126" cy="363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google differential privac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31" y="2466794"/>
            <a:ext cx="5955445" cy="29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133"/>
    </mc:Choice>
    <mc:Fallback xmlns="">
      <p:transition advTm="913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Differential Private Applications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89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945"/>
    </mc:Choice>
    <mc:Fallback xmlns="">
      <p:transition advTm="694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Applications: </a:t>
            </a:r>
            <a:r>
              <a:rPr lang="en-AU" dirty="0"/>
              <a:t>Location Privacy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011" y="2717048"/>
            <a:ext cx="10515600" cy="22169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Locations visited, e.g., hospitals, banks </a:t>
            </a:r>
          </a:p>
          <a:p>
            <a:r>
              <a:rPr lang="en-US" dirty="0"/>
              <a:t>Trajectories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DP solutions: add “noise” the to real locations or trajectories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04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6752"/>
    </mc:Choice>
    <mc:Fallback xmlns="">
      <p:transition advTm="8675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Applications: Privacy Preserving </a:t>
            </a:r>
            <a:r>
              <a:rPr lang="en-AU" sz="3600" dirty="0"/>
              <a:t>Location Proof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011" y="2717047"/>
            <a:ext cx="10515600" cy="32666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Location based services:</a:t>
            </a:r>
          </a:p>
          <a:p>
            <a:pPr marL="0" indent="0">
              <a:buNone/>
            </a:pPr>
            <a:r>
              <a:rPr lang="en-US" dirty="0"/>
              <a:t>  - reward offered to users in a certain geographical location</a:t>
            </a:r>
          </a:p>
          <a:p>
            <a:pPr marL="0" indent="0">
              <a:buNone/>
            </a:pPr>
            <a:r>
              <a:rPr lang="en-US" dirty="0"/>
              <a:t>  - doctors or nurses have to prove they are in a specific room, then they can access the related information of the specific patient. </a:t>
            </a:r>
          </a:p>
          <a:p>
            <a:pPr marL="0" indent="0">
              <a:buNone/>
            </a:pPr>
            <a:r>
              <a:rPr lang="en-US" dirty="0"/>
              <a:t>  - car insurance company requests night parking location for calculating the price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Sometimes, users want to prove they are somewhere, but not to reveal the location. </a:t>
            </a:r>
          </a:p>
          <a:p>
            <a:pPr marL="0" indent="0">
              <a:buNone/>
            </a:pPr>
            <a:r>
              <a:rPr lang="en-US" dirty="0"/>
              <a:t>   E.g., I want to prove that I am in McDonald’s, but not willing to show the exact location.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29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6752"/>
    </mc:Choice>
    <mc:Fallback xmlns="">
      <p:transition advTm="8675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Database</a:t>
            </a:r>
          </a:p>
          <a:p>
            <a:r>
              <a:rPr lang="en-AU" dirty="0" err="1"/>
              <a:t>IoT</a:t>
            </a:r>
            <a:r>
              <a:rPr lang="en-AU" dirty="0"/>
              <a:t>: Edge computing </a:t>
            </a:r>
          </a:p>
          <a:p>
            <a:r>
              <a:rPr lang="en-AU" dirty="0"/>
              <a:t>Crowdsourcing </a:t>
            </a:r>
          </a:p>
          <a:p>
            <a:r>
              <a:rPr lang="en-AU" dirty="0"/>
              <a:t>Machine learning</a:t>
            </a:r>
          </a:p>
          <a:p>
            <a:r>
              <a:rPr lang="en-AU" dirty="0"/>
              <a:t>……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72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6539"/>
    </mc:Choice>
    <mc:Fallback xmlns="">
      <p:transition advTm="1653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Differential privacy in Artificial Intelligence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4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342"/>
    </mc:Choice>
    <mc:Fallback xmlns="">
      <p:transition advTm="1034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B768F-9729-4A98-ADBE-5E0E2AC0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Federated learning framework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B0A70-D443-478D-B59C-107EE2AD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FF225-02C4-7A32-45BD-E52C053378FF}"/>
              </a:ext>
            </a:extLst>
          </p:cNvPr>
          <p:cNvSpPr txBox="1"/>
          <p:nvPr/>
        </p:nvSpPr>
        <p:spPr>
          <a:xfrm>
            <a:off x="2963917" y="47401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8F1DBE-F645-D49C-33BB-58959A25E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89" y="2225449"/>
            <a:ext cx="6284411" cy="288404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A3C920-AE14-8B00-FD93-E16DADBC4CC1}"/>
              </a:ext>
            </a:extLst>
          </p:cNvPr>
          <p:cNvSpPr txBox="1">
            <a:spLocks/>
          </p:cNvSpPr>
          <p:nvPr/>
        </p:nvSpPr>
        <p:spPr>
          <a:xfrm>
            <a:off x="4135016" y="5545587"/>
            <a:ext cx="4475584" cy="680963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28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(diagram from the Internet)</a:t>
            </a:r>
          </a:p>
        </p:txBody>
      </p:sp>
    </p:spTree>
    <p:extLst>
      <p:ext uri="{BB962C8B-B14F-4D97-AF65-F5344CB8AC3E}">
        <p14:creationId xmlns:p14="http://schemas.microsoft.com/office/powerpoint/2010/main" val="1426145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in AI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ym typeface="+mn-ea"/>
              </a:rPr>
              <a:t>Deep learning adversary attack</a:t>
            </a:r>
            <a:r>
              <a:rPr lang="en-US" dirty="0"/>
              <a:t>: An attacker may attack a learning model using adversarial samples.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96400" y="6472836"/>
            <a:ext cx="2895600" cy="23083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uts.edu.au</a:t>
            </a:r>
            <a:endParaRPr lang="en-AU" noProof="0" dirty="0">
              <a:solidFill>
                <a:schemeClr val="bg1"/>
              </a:solidFill>
            </a:endParaRPr>
          </a:p>
        </p:txBody>
      </p:sp>
      <p:pic>
        <p:nvPicPr>
          <p:cNvPr id="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56" y="3034431"/>
            <a:ext cx="6131536" cy="308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66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E6E9-72EF-46B7-9E8E-043F3CDA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Privacy concerns in AI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AE8586-AB50-4653-96BD-D452DC00CA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903" y="3873297"/>
            <a:ext cx="5257800" cy="202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78801-4989-4450-B7DB-66F6A1ECD6B2}"/>
              </a:ext>
            </a:extLst>
          </p:cNvPr>
          <p:cNvSpPr txBox="1"/>
          <p:nvPr/>
        </p:nvSpPr>
        <p:spPr>
          <a:xfrm>
            <a:off x="3455151" y="6199063"/>
            <a:ext cx="8309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 screen demonstrates facial-recognition technology at the World Artificial Intelligence Conference in Shanghai on Aug. 29, 2019.</a:t>
            </a:r>
          </a:p>
          <a:p>
            <a:r>
              <a:rPr lang="en-AU" sz="1200" dirty="0"/>
              <a:t>https://news.bloomberglaw.com/privacy-and-data-security/clearview-ai-faces-biometric-privacy-claims-in-illinois-court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32A77-5E83-C95D-38CA-450211060EE9}"/>
              </a:ext>
            </a:extLst>
          </p:cNvPr>
          <p:cNvSpPr txBox="1"/>
          <p:nvPr/>
        </p:nvSpPr>
        <p:spPr>
          <a:xfrm>
            <a:off x="1002630" y="1995488"/>
            <a:ext cx="81894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familiar"/>
              </a:rPr>
              <a:t>Identification (face, voice, gait,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i="0" dirty="0">
                <a:effectLst/>
                <a:latin typeface="familiar"/>
              </a:rPr>
              <a:t>Linked attacks (link with social networks)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i="0" dirty="0">
                <a:effectLst/>
                <a:latin typeface="familiar"/>
              </a:rPr>
              <a:t>Deepfake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familiar"/>
              </a:rPr>
              <a:t>…</a:t>
            </a:r>
            <a:endParaRPr lang="en-GB" sz="2800" i="0" dirty="0">
              <a:effectLst/>
              <a:latin typeface="familiar"/>
            </a:endParaRPr>
          </a:p>
        </p:txBody>
      </p:sp>
    </p:spTree>
    <p:extLst>
      <p:ext uri="{BB962C8B-B14F-4D97-AF65-F5344CB8AC3E}">
        <p14:creationId xmlns:p14="http://schemas.microsoft.com/office/powerpoint/2010/main" val="3764963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and Privacy in AI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Challenges:</a:t>
            </a:r>
          </a:p>
          <a:p>
            <a:pPr lvl="1" algn="just"/>
            <a:r>
              <a:rPr lang="en-US" dirty="0"/>
              <a:t>Attacks on models </a:t>
            </a:r>
          </a:p>
          <a:p>
            <a:pPr lvl="1" algn="just"/>
            <a:r>
              <a:rPr lang="en-US" dirty="0"/>
              <a:t>Malicious participants</a:t>
            </a:r>
          </a:p>
          <a:p>
            <a:pPr lvl="1" algn="just"/>
            <a:r>
              <a:rPr lang="en-US" dirty="0"/>
              <a:t>Model fairness and robustness</a:t>
            </a:r>
          </a:p>
          <a:p>
            <a:pPr lvl="1" algn="just"/>
            <a:r>
              <a:rPr lang="en-US" dirty="0"/>
              <a:t>……</a:t>
            </a:r>
          </a:p>
          <a:p>
            <a:pPr algn="just"/>
            <a:r>
              <a:rPr lang="en-US" sz="3200" dirty="0"/>
              <a:t>Possible solutions:</a:t>
            </a:r>
          </a:p>
          <a:p>
            <a:pPr lvl="1" algn="just"/>
            <a:r>
              <a:rPr lang="en-US" dirty="0"/>
              <a:t>Cryptography</a:t>
            </a:r>
          </a:p>
          <a:p>
            <a:pPr lvl="1" algn="just"/>
            <a:r>
              <a:rPr lang="en-US" dirty="0"/>
              <a:t>Differential privacy</a:t>
            </a:r>
          </a:p>
          <a:p>
            <a:pPr lvl="1" algn="just"/>
            <a:r>
              <a:rPr lang="en-US" dirty="0"/>
              <a:t>Federated learning framework</a:t>
            </a:r>
          </a:p>
          <a:p>
            <a:pPr lvl="1" algn="just"/>
            <a:r>
              <a:rPr lang="en-US" dirty="0"/>
              <a:t>…</a:t>
            </a:r>
          </a:p>
          <a:p>
            <a:pPr marL="457200" lvl="1" indent="0" algn="just">
              <a:buNone/>
            </a:pPr>
            <a:endParaRPr lang="en-US" sz="4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96400" y="6472836"/>
            <a:ext cx="2895600" cy="23083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uts.edu.au</a:t>
            </a:r>
            <a:endParaRPr lang="en-AU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062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C0D5-A62D-4CA2-A1E5-6393FCDC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properties of differential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97BE4-A891-458F-9B0D-4176D6C13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85361" cy="4351338"/>
          </a:xfrm>
        </p:spPr>
        <p:txBody>
          <a:bodyPr>
            <a:noAutofit/>
          </a:bodyPr>
          <a:lstStyle/>
          <a:p>
            <a:pPr algn="l"/>
            <a:r>
              <a:rPr lang="en-GB" sz="2200" b="1" i="0" u="none" strike="noStrike" baseline="0" dirty="0">
                <a:latin typeface="URWPalladioL-Bold"/>
              </a:rPr>
              <a:t>Preserving privacy</a:t>
            </a:r>
            <a:r>
              <a:rPr lang="en-GB" sz="2200" b="0" i="0" u="none" strike="noStrike" baseline="0" dirty="0">
                <a:latin typeface="URWPalladioL-Roma"/>
              </a:rPr>
              <a:t>. This is the original purpose of differential privacy. By hiding an individual in the </a:t>
            </a:r>
            <a:r>
              <a:rPr lang="en-AU" sz="2200" b="0" i="0" u="none" strike="noStrike" baseline="0" dirty="0">
                <a:latin typeface="URWPalladioL-Roma"/>
              </a:rPr>
              <a:t>aggregate information, differential privacy can preserve </a:t>
            </a:r>
            <a:r>
              <a:rPr lang="en-GB" sz="2200" b="0" i="0" u="none" strike="noStrike" baseline="0" dirty="0">
                <a:latin typeface="URWPalladioL-Roma"/>
              </a:rPr>
              <a:t>the privacy of participants in a dataset. </a:t>
            </a:r>
          </a:p>
          <a:p>
            <a:pPr algn="l"/>
            <a:r>
              <a:rPr lang="en-GB" sz="2200" b="1" i="0" u="none" strike="noStrike" baseline="0" dirty="0">
                <a:latin typeface="URWPalladioL-Bold"/>
              </a:rPr>
              <a:t>Stability</a:t>
            </a:r>
            <a:r>
              <a:rPr lang="en-GB" sz="2200" b="0" i="0" u="none" strike="noStrike" baseline="0" dirty="0">
                <a:latin typeface="URWPalladioL-Roma"/>
              </a:rPr>
              <a:t>. Differential privacy mechanisms ensure that the probability of any outcome from a learning</a:t>
            </a:r>
            <a:r>
              <a:rPr lang="en-GB" sz="2200" dirty="0">
                <a:latin typeface="URWPalladioL-Roma"/>
              </a:rPr>
              <a:t> </a:t>
            </a:r>
            <a:r>
              <a:rPr lang="en-GB" sz="2200" b="0" i="0" u="none" strike="noStrike" baseline="0" dirty="0">
                <a:latin typeface="URWPalladioL-Roma"/>
              </a:rPr>
              <a:t>algorithm is unchanged by modifying any individual record in the training data. </a:t>
            </a:r>
            <a:endParaRPr lang="en-AU" sz="2200" b="0" i="0" u="none" strike="noStrike" baseline="0" dirty="0">
              <a:latin typeface="URWPalladioL-Roma"/>
            </a:endParaRPr>
          </a:p>
          <a:p>
            <a:pPr algn="l"/>
            <a:r>
              <a:rPr lang="en-GB" sz="2200" b="1" i="0" u="none" strike="noStrike" baseline="0" dirty="0">
                <a:latin typeface="URWPalladioL-Bold"/>
              </a:rPr>
              <a:t>Security</a:t>
            </a:r>
            <a:r>
              <a:rPr lang="en-GB" sz="2200" b="0" i="0" u="none" strike="noStrike" baseline="0" dirty="0">
                <a:latin typeface="URWPalladioL-Roma"/>
              </a:rPr>
              <a:t>. Security relates to malicious participants in a system. Differential privacy mechanisms can reduce the impact of malicious participants in AI tasks. </a:t>
            </a:r>
          </a:p>
          <a:p>
            <a:pPr algn="l"/>
            <a:r>
              <a:rPr lang="en-GB" sz="2200" b="1" i="0" u="none" strike="noStrike" baseline="0" dirty="0">
                <a:latin typeface="URWPalladioL-Bold"/>
              </a:rPr>
              <a:t>Fairness</a:t>
            </a:r>
            <a:r>
              <a:rPr lang="en-GB" sz="2200" b="0" i="0" u="none" strike="noStrike" baseline="0" dirty="0">
                <a:latin typeface="URWPalladioL-Roma"/>
              </a:rPr>
              <a:t>. In machine learning, a given algorithm is said to be fair, or to have fairness, if its results are independent of sensitive attributes, like race and gender. </a:t>
            </a:r>
          </a:p>
          <a:p>
            <a:pPr algn="l"/>
            <a:r>
              <a:rPr lang="en-GB" sz="2200" b="1" i="0" u="none" strike="noStrike" baseline="0" dirty="0">
                <a:latin typeface="URWPalladioL-Bold"/>
              </a:rPr>
              <a:t>Composition</a:t>
            </a:r>
            <a:r>
              <a:rPr lang="en-GB" sz="2200" b="0" i="0" u="none" strike="noStrike" baseline="0" dirty="0">
                <a:latin typeface="URWPalladioL-Roma"/>
              </a:rPr>
              <a:t>. Differential privacy mechanisms can guarantee that any step that satisfies differential privacy can construct a new algorithm that also satisfies differential privacy. 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600448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Differential privacy in fairness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Fairness in Model: systems trained to make decisions based on historical data will naturally inherit the past biases.</a:t>
            </a:r>
          </a:p>
          <a:p>
            <a:pPr lvl="1"/>
            <a:r>
              <a:rPr lang="en-AU" dirty="0"/>
              <a:t>Differential privacy mechanisms attempt to achieve fairness by defining probabilistic mapping from individuals to an intermediate representation.</a:t>
            </a:r>
          </a:p>
          <a:p>
            <a:pPr lvl="1"/>
            <a:r>
              <a:rPr lang="en-AU" dirty="0"/>
              <a:t>Exponential mechanism can be used to re-sample the universal data to avoid bias.  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marL="457200" lvl="1" indent="0">
              <a:buNone/>
            </a:pPr>
            <a:r>
              <a:rPr lang="en-AU" sz="2800" b="1" dirty="0"/>
              <a:t>Dataset Assurance, data verification, ….</a:t>
            </a:r>
          </a:p>
        </p:txBody>
      </p:sp>
    </p:spTree>
    <p:extLst>
      <p:ext uri="{BB962C8B-B14F-4D97-AF65-F5344CB8AC3E}">
        <p14:creationId xmlns:p14="http://schemas.microsoft.com/office/powerpoint/2010/main" val="1375090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2D13-EA50-4327-BC67-5BCE7C4A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Attacks in the deep neural networks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61FF2-B549-4AC2-962C-3E7637C9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400" b="0" i="0" u="none" strike="noStrike" baseline="0" dirty="0">
                <a:latin typeface="URWPalladioL-Roma"/>
              </a:rPr>
              <a:t>Membership inference attack. </a:t>
            </a:r>
          </a:p>
          <a:p>
            <a:pPr lvl="1"/>
            <a:r>
              <a:rPr lang="en-GB" b="0" i="0" u="none" strike="noStrike" baseline="0" dirty="0">
                <a:latin typeface="URWPalladioL-Roma"/>
              </a:rPr>
              <a:t>infer whether or not a given record is in the </a:t>
            </a:r>
            <a:r>
              <a:rPr lang="en-AU" b="0" i="0" u="none" strike="noStrike" baseline="0" dirty="0">
                <a:latin typeface="URWPalladioL-Roma"/>
              </a:rPr>
              <a:t>present training dataset</a:t>
            </a:r>
          </a:p>
          <a:p>
            <a:pPr algn="l"/>
            <a:r>
              <a:rPr lang="en-GB" sz="2400" dirty="0">
                <a:latin typeface="URWPalladioL-Roma"/>
              </a:rPr>
              <a:t>A</a:t>
            </a:r>
            <a:r>
              <a:rPr lang="en-GB" sz="2400" b="0" i="0" u="none" strike="noStrike" baseline="0" dirty="0">
                <a:latin typeface="URWPalladioL-Roma"/>
              </a:rPr>
              <a:t>ttribute inference attack.</a:t>
            </a:r>
          </a:p>
          <a:p>
            <a:pPr lvl="1"/>
            <a:r>
              <a:rPr lang="en-GB" b="0" i="0" u="none" strike="noStrike" baseline="0" dirty="0">
                <a:latin typeface="URWPalladioL-Roma"/>
              </a:rPr>
              <a:t>learn hidden sensitive attributes of a test input given access to the model and information about the non-sensitive attributes. 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7C797-EFFD-9A71-2FEF-97CC3FAF9D88}"/>
              </a:ext>
            </a:extLst>
          </p:cNvPr>
          <p:cNvSpPr txBox="1"/>
          <p:nvPr/>
        </p:nvSpPr>
        <p:spPr>
          <a:xfrm>
            <a:off x="1219200" y="5215372"/>
            <a:ext cx="993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Refer to Chapter 2 of the reference book (Security and Privacy in Federated Learning)</a:t>
            </a:r>
          </a:p>
        </p:txBody>
      </p:sp>
    </p:spTree>
    <p:extLst>
      <p:ext uri="{BB962C8B-B14F-4D97-AF65-F5344CB8AC3E}">
        <p14:creationId xmlns:p14="http://schemas.microsoft.com/office/powerpoint/2010/main" val="3145288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 txBox="1">
            <a:spLocks/>
          </p:cNvSpPr>
          <p:nvPr/>
        </p:nvSpPr>
        <p:spPr>
          <a:xfrm>
            <a:off x="2139950" y="1409700"/>
            <a:ext cx="75438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ts val="6600"/>
              </a:lnSpc>
              <a:spcBef>
                <a:spcPct val="0"/>
              </a:spcBef>
              <a:buNone/>
              <a:tabLst>
                <a:tab pos="2524125" algn="l"/>
                <a:tab pos="3730625" algn="l"/>
              </a:tabLst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90000"/>
              </a:lnSpc>
              <a:spcAft>
                <a:spcPts val="300"/>
              </a:spcAft>
            </a:pPr>
            <a:r>
              <a:rPr lang="en-US" altLang="en-US" sz="4000" b="1" dirty="0">
                <a:solidFill>
                  <a:schemeClr val="tx1"/>
                </a:solidFill>
              </a:rPr>
              <a:t>Privacy Trading</a:t>
            </a:r>
          </a:p>
        </p:txBody>
      </p:sp>
      <p:sp>
        <p:nvSpPr>
          <p:cNvPr id="3" name="Content Placeholder 8"/>
          <p:cNvSpPr txBox="1">
            <a:spLocks/>
          </p:cNvSpPr>
          <p:nvPr/>
        </p:nvSpPr>
        <p:spPr>
          <a:xfrm>
            <a:off x="2230146" y="2417234"/>
            <a:ext cx="7453604" cy="64165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28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Privacy pricing (cybersecurity + economics)</a:t>
            </a:r>
          </a:p>
          <a:p>
            <a:pPr>
              <a:defRPr/>
            </a:pPr>
            <a:endParaRPr lang="en-US" altLang="en-US" sz="2800" dirty="0">
              <a:latin typeface="Myriad Pro" pitchFamily="34" charset="0"/>
              <a:ea typeface="ＭＳ Ｐゴシック" panose="020B0600070205080204" pitchFamily="34" charset="-128"/>
              <a:cs typeface="Myriad Pro" pitchFamily="34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474ADEF-C8A8-1018-FC69-BB3AE80E7722}"/>
              </a:ext>
            </a:extLst>
          </p:cNvPr>
          <p:cNvSpPr txBox="1">
            <a:spLocks/>
          </p:cNvSpPr>
          <p:nvPr/>
        </p:nvSpPr>
        <p:spPr>
          <a:xfrm>
            <a:off x="2487385" y="3119551"/>
            <a:ext cx="7309758" cy="311280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pricing mechanism and tools</a:t>
            </a:r>
          </a:p>
          <a:p>
            <a:r>
              <a:rPr kumimoji="1" lang="en-AU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execution – market construction</a:t>
            </a:r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617B6C-D705-9212-0474-6D53ECB79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582" y="4066419"/>
            <a:ext cx="6545471" cy="25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05586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2D13-EA50-4327-BC67-5BCE7C4A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in AI Privacy and Security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61FF2-B549-4AC2-962C-3E7637C93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82796"/>
          </a:xfrm>
        </p:spPr>
        <p:txBody>
          <a:bodyPr>
            <a:normAutofit/>
          </a:bodyPr>
          <a:lstStyle/>
          <a:p>
            <a:pPr algn="l"/>
            <a:r>
              <a:rPr lang="en-GB" sz="2400" b="0" i="0" u="none" strike="noStrike" baseline="0" dirty="0">
                <a:latin typeface="URWPalladioL-Roma"/>
              </a:rPr>
              <a:t>Dimension curse (challenges) </a:t>
            </a:r>
          </a:p>
          <a:p>
            <a:pPr lvl="1"/>
            <a:r>
              <a:rPr lang="en-US" b="0" i="0" u="none" strike="noStrike" baseline="0" dirty="0">
                <a:latin typeface="URWPalladioL-Roma"/>
              </a:rPr>
              <a:t>Algorithms work in low dimension, may NOT work in high dimension</a:t>
            </a:r>
            <a:endParaRPr lang="en-AU" b="0" i="0" u="none" strike="noStrike" baseline="0" dirty="0">
              <a:latin typeface="URWPalladioL-Rom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049C0-E6FE-E6EE-FC80-F570C3EBD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506" y="3056563"/>
            <a:ext cx="3155910" cy="3322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07F98E-B1D8-8824-459F-2B8D877FDB5C}"/>
              </a:ext>
            </a:extLst>
          </p:cNvPr>
          <p:cNvSpPr txBox="1"/>
          <p:nvPr/>
        </p:nvSpPr>
        <p:spPr>
          <a:xfrm>
            <a:off x="6485021" y="3621506"/>
            <a:ext cx="3428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i="0" u="none" strike="noStrike" baseline="0" dirty="0">
                <a:latin typeface="URWPalladioL-Roma"/>
              </a:rPr>
              <a:t>Current hot topics</a:t>
            </a:r>
          </a:p>
          <a:p>
            <a:pPr lvl="1"/>
            <a:endParaRPr lang="en-US" b="0" i="0" u="none" strike="noStrike" baseline="0" dirty="0">
              <a:latin typeface="URWPalladioL-Roma"/>
            </a:endParaRPr>
          </a:p>
          <a:p>
            <a:pPr lvl="1"/>
            <a:r>
              <a:rPr lang="en-US" b="0" i="0" u="none" strike="noStrike" baseline="0" dirty="0">
                <a:latin typeface="URWPalladioL-Roma"/>
              </a:rPr>
              <a:t>Explainable AI   (XAI)</a:t>
            </a:r>
          </a:p>
          <a:p>
            <a:pPr lvl="1"/>
            <a:r>
              <a:rPr lang="en-US" dirty="0">
                <a:latin typeface="URWPalladioL-Roma"/>
              </a:rPr>
              <a:t>Explainable Security (</a:t>
            </a:r>
            <a:r>
              <a:rPr lang="en-US" dirty="0" err="1">
                <a:latin typeface="URWPalladioL-Roma"/>
              </a:rPr>
              <a:t>XSec</a:t>
            </a:r>
            <a:r>
              <a:rPr lang="en-US" dirty="0">
                <a:latin typeface="URWPalladioL-Roma"/>
              </a:rPr>
              <a:t>)</a:t>
            </a:r>
          </a:p>
          <a:p>
            <a:pPr lvl="1"/>
            <a:r>
              <a:rPr lang="en-US" b="0" i="0" u="none" strike="noStrike" baseline="0" dirty="0">
                <a:latin typeface="URWPalladioL-Roma"/>
              </a:rPr>
              <a:t>…</a:t>
            </a:r>
            <a:endParaRPr lang="en-AU" b="0" i="0" u="none" strike="noStrike" baseline="0" dirty="0">
              <a:latin typeface="URWPalladioL-Roma"/>
            </a:endParaRPr>
          </a:p>
        </p:txBody>
      </p:sp>
    </p:spTree>
    <p:extLst>
      <p:ext uri="{BB962C8B-B14F-4D97-AF65-F5344CB8AC3E}">
        <p14:creationId xmlns:p14="http://schemas.microsoft.com/office/powerpoint/2010/main" val="1071898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08918" y="2025906"/>
            <a:ext cx="4964296" cy="28061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ts val="6600"/>
              </a:lnSpc>
              <a:spcBef>
                <a:spcPct val="0"/>
              </a:spcBef>
              <a:buNone/>
              <a:tabLst>
                <a:tab pos="2524125" algn="l"/>
                <a:tab pos="3730625" algn="l"/>
              </a:tabLst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                 Thank you </a:t>
            </a:r>
            <a:b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</a:br>
            <a: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                        &amp;</a:t>
            </a:r>
            <a:b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</a:br>
            <a: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                Questions</a:t>
            </a:r>
            <a:b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</a:br>
            <a:b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</a:br>
            <a:br>
              <a:rPr lang="en-AU" altLang="en-US" sz="30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</a:br>
            <a:endParaRPr lang="en-AU" altLang="en-US" sz="3000" dirty="0">
              <a:latin typeface="Myriad Pro" pitchFamily="34" charset="0"/>
              <a:ea typeface="ＭＳ Ｐゴシック" panose="020B0600070205080204" pitchFamily="34" charset="-128"/>
              <a:cs typeface="Myriad Pro" pitchFamily="34" charset="0"/>
            </a:endParaRPr>
          </a:p>
        </p:txBody>
      </p:sp>
      <p:pic>
        <p:nvPicPr>
          <p:cNvPr id="3" name="Picture 5" descr="monet paintings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554" y="1577974"/>
            <a:ext cx="4732155" cy="3528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908641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1179</Words>
  <Application>Microsoft Office PowerPoint</Application>
  <PresentationFormat>Widescreen</PresentationFormat>
  <Paragraphs>191</Paragraphs>
  <Slides>29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.AppleSystemUIFont</vt:lpstr>
      <vt:lpstr>familiar</vt:lpstr>
      <vt:lpstr>Myriad Pro</vt:lpstr>
      <vt:lpstr>URWPalladioL-Bold</vt:lpstr>
      <vt:lpstr>URWPalladioL-Roma</vt:lpstr>
      <vt:lpstr>Arial</vt:lpstr>
      <vt:lpstr>Calibri</vt:lpstr>
      <vt:lpstr>Calibri Light</vt:lpstr>
      <vt:lpstr>Times New Roman</vt:lpstr>
      <vt:lpstr>Office Theme</vt:lpstr>
      <vt:lpstr>Equation</vt:lpstr>
      <vt:lpstr>41183 PRIVACY PRESERVING</vt:lpstr>
      <vt:lpstr>About Assignment 1</vt:lpstr>
      <vt:lpstr>Outline</vt:lpstr>
      <vt:lpstr>Sensitive information collection</vt:lpstr>
      <vt:lpstr>Sensitive information collection</vt:lpstr>
      <vt:lpstr>Sensitive information collection</vt:lpstr>
      <vt:lpstr>Hide ID for Privacy Protection</vt:lpstr>
      <vt:lpstr>Hide ID for Privacy Protection</vt:lpstr>
      <vt:lpstr>Local Differential Privacy (LDP)</vt:lpstr>
      <vt:lpstr>Local Differential Privacy (LDP)</vt:lpstr>
      <vt:lpstr>Key difference between DP and LDP</vt:lpstr>
      <vt:lpstr>Apple Differential Privacy</vt:lpstr>
      <vt:lpstr>Apple Differential Privacy</vt:lpstr>
      <vt:lpstr>Other adoptions</vt:lpstr>
      <vt:lpstr>Differential Private Applications</vt:lpstr>
      <vt:lpstr>Applications: Location Privacy </vt:lpstr>
      <vt:lpstr>Applications: Privacy Preserving Location Proof </vt:lpstr>
      <vt:lpstr>Other applications</vt:lpstr>
      <vt:lpstr>Differential privacy in Artificial Intelligence</vt:lpstr>
      <vt:lpstr>Federated learning framework</vt:lpstr>
      <vt:lpstr>Security in AI</vt:lpstr>
      <vt:lpstr>Privacy concerns in AI</vt:lpstr>
      <vt:lpstr>Security and Privacy in AI</vt:lpstr>
      <vt:lpstr>The properties of differential privacy</vt:lpstr>
      <vt:lpstr>Differential privacy in fairness </vt:lpstr>
      <vt:lpstr>Attacks in the deep neural networks</vt:lpstr>
      <vt:lpstr>PowerPoint Presentation</vt:lpstr>
      <vt:lpstr>Challenges in AI Privacy and Security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Differentially Private Applications</dc:title>
  <dc:creator>Tianqing Zhu</dc:creator>
  <cp:lastModifiedBy>Shui Yu</cp:lastModifiedBy>
  <cp:revision>6</cp:revision>
  <dcterms:created xsi:type="dcterms:W3CDTF">2020-07-15T11:15:21Z</dcterms:created>
  <dcterms:modified xsi:type="dcterms:W3CDTF">2026-08-18T02:53:31Z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2022-08-10T06:48:14Z</vt:lpwstr>
  </property>
  <property fmtid="{D5CDD505-2E9C-101B-9397-08002B2CF9AE}" pid="4" name="MSIP_Label_51a6c3db-1667-4f49-995a-8b9973972958_Method">
    <vt:lpwstr>Standard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693e2f14-b8fb-4305-9ece-c57d6ed9d904</vt:lpwstr>
  </property>
  <property fmtid="{D5CDD505-2E9C-101B-9397-08002B2CF9AE}" pid="8" name="MSIP_Label_51a6c3db-1667-4f49-995a-8b9973972958_ContentBits">
    <vt:lpwstr>0</vt:lpwstr>
  </property>
</Properties>
</file>